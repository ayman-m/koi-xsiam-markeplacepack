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OFFICIAL Marketplace KOI pack, demisto/content/Packs/Koi/Integrations/Koi/Koi.yml, version 1.2.3. Integration only: 13 commands, 5 context prefixes, no playbooks, no parsing or modeling rules, no dashboard. Command facts in this deck are generated at build time from the pinned YAML (md5 5497cdddedeb0c0d7d0b371aa075a64c). Two other packs get mentioned in this deck and must not be confused with each other: the custom in-house v1.3.0 pack, which CONFLICTS with this one (one overwrites the other), and KoiContentExtension ("KOI Content Extension", v1.0.0, community support), an optional ADDITIVE companion that adds parsing &amp; modeling rules, 10 playbooks and a dashboard on top of this integration. The companion pack ships no integration and no commands of its own and depends on this pack being installed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marketplace enum has 22 values and the platform enum 45 — these are argument filter vocabularies, not a measured coverage figure. Attribute them precisely: 7 commands declare marketplace (koi-allowlist-items-remove, koi-allowlist-items-add, koi-blocklist-items-remove, koi-blocklist-items-add, koi-inventory-list, koi-inventory-item-get, koi-inventory-item-endpoints-list), and koi-inventory-list alone declares platform. The five family headings are mine, for reading; the tokens in them are verbatim from the marketplace enum. The view card is different — it is the API's accepted set, and mcp_servers, all_items and repositories appear in it but not in the pack's own view enum. All twelve values were probed individually on both instances, so nothing about the view enum is unprobed: the nine the API names return 200, and browser_extensions, ide_extensions and packages return 400. all_items is accepted but returns zero rows on both instances, while omitting view entirely returned 3,447 items on KOI_PAET and 5,644 on KOI_PLTS. KOI_PAET returned 3,447 in both sweeps; only KOI_PLTS drifted, to 5,646 in a sweep hours later on 20 July 2026 — real inventory growth on that one tenant, not an unstable API. Always name the instance when you quote either number, and treat both as a snapshot of one day, never as a count a reader should expect to reproduce.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Integration only. 13 commands, 67 arguments, 131 output declarations, 68 distinct context paths, 9 configuration parameters. No playbooks, no parsing or modeling rules, no dashboard. The event collector is XSIAM / platform only: the YAML sets isfetchevents: true and then overrides it with isfetchevents:xsoar: false, and every Collect-section parameter is hidden on XSOAR. On an XSOAR tenant this pack is a command integration and nothing else. On the required parameters: three carry required: true — url, api_key, event_types_to_fetch — but event_types_to_fetch sits in the Collect section with hidden: [xsoar]. So an XSOAR tenant is asked only for url and api_key, which is consistent with the collector being XSIAM / platform only; on XSIAM all three are asked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prefixes, and the five cards add up: 4 + 9 + 9 + 9 + 37 = 68. The Koi.Inventory card carries 27 item paths plus the 10 nested Koi.Inventory.Endpoint.* paths shown in the flow. 131 output declarations collapse to 68 distinct paths: 63 of the declarations are redundant, which is a count of declarations, not of paths — the number of distinct paths declared by more than one command is 36. Consequence: the three inventory commands that declare the item paths (koi-inventory-list, koi-inventory-item-get, koi-inventory-search) write the same prefix, so the last to run overwrites the previous context. koi-inventory-item-endpoints-list is NOT part of that collision — it declares only the nested Koi.Inventory.Endpoint.* paths and shares no path with the other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Events: koi-get-events | Policy: koi-policy-list, koi-policy-status-update | Allowlist: koi-allowlist-get, koi-allowlist-items-remove, koi-allowlist-items-add | Blocklist: koi-blocklist-get, koi-blocklist-items-remove, koi-blocklist-items-add | Inventory: koi-inventory-list, koi-inventory-item-get, koi-inventory-search, koi-inventory-item-endpoints-list. Non-mutating (8) — koi-get-events, koi-policy-list, koi-allowlist-get, koi-blocklist-get, koi-inventory-list, koi-inventory-item-get, koi-inventory-search, koi-inventory-item-endpoints-list. State-changing (5) — koi-allowlist-items-remove, koi-allowlist-items-add, koi-blocklist-items-remove, koi-blocklist-items-add, koi-policy-status-update. execution:true is set on only 2 of those: koi-allowlist-items-remove, koi-blocklist-items-remove; koi-allowlist-items-add, koi-blocklist-items-add, koi-policy-status-update mutate governance state with no such flag, so do not read "not flagged" as "safe". Do not read the 8 as "safe to repeat" either: koi-get-events is non-mutating but the pack's own description says it is for development and debugging only, as it may produce duplicate events, exceed API rate limits or disrupt the fetch mechanism, and its should_push_events argument writes events into koi_koi_raw when set to true. So 7 of the 8 are freely repeatable and that one is not. No declared outputs — koi-allowlist-items-remove, koi-allowlist-items-add, koi-blocklist-items-remove, koi-blocklist-items-add. 63 is a count of redundant declarations; 36 is the number of distinct paths declared by more than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koi_koi_raw is verified live, not inferred from the vendor/product convention. Audit rows are flat and KOI-native, Alert rows are OCSF; the two share a dataset and nothing else. No XDM mapping at all. Counts are from one tenant over one 30-day window — quote the tenant whenever you quote a number. Note that everything on this slide applies to XSIAM / platform only: isfetchevents is overridden by isfetchevents:xsoar: false, and every Collect parameter is hidden on XSOAR.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facts that change every query against koi_koi_raw. First, Alerts are duplicated: the integration re-sends every still-open alert on each 1-minute fetch, so the dataset holds one row per alert per fetch. Over the last 24 h that is 734 rows for 3 distinct alerts — 244.7×. Audit is point-in-time and unaffected (1.0×). The only correct dedupe key is metadata.notification_event_id, applied inline as json_extract_scalar(metadata, "$.notification_event_id"); every count() over Alerts must become count_distinct on that id. finding_uid is NOT an alert identity — it is the policy/finding definition, 3 distinct across 1,048 rows. Second, the marketplace vocabularies differ: events use short forms (software_windows, chrome, vsc, ...), the command argument uses long forms (windows, chrome_web_store, vscode, ...). Only npm and pypi are spelled the same. Pass an event value to a command unmapped and it returns HTTP 400. built_in and side_loaded are installation_method values that leak into the marketplace field, and ollama is not in the API list at all — none of the three is a marketplace, so they must never be forwarded.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level these into one word — the legend gives each kind its own colour. Only cards 1 and 2 are defects in the shipped pack (orange) — the incomplete view dropdown and the broken command_examples.txt — and both would be present on any tenant. Card 3 is amber: a documentation gap, not a bug. The API's 400 names exactly which keys are wrong, so the error message is usable; what is missing is an example of the filter shape. Its other half — that omitting the filter is stopped inside Koi.py before any API call — was read from the integration source, not executed, and is labelled that way. Cards 4 and 5 are the same kind, cyan, and share a badge for that reason: two observations about how the API answers. Card 4 is the response shape of two endpoints; card 5 is behaviour — 401 was verified with a deliberately invalid key, and no 403 was ever seen, so do not claim 403 means anything here. Card 6 is violet because it is not about the pack at all — it is how this tenant happens to be configured, two instances set to fetch into one dataset; the pack's only contribution is that it ships no field naming the instance, which is why rows cannot be attributed to an instance. On card 1: all twelve view values were probed on both instances, so nothing about the view enum is unprobed. all_items is accepted and returns zero rows on both instances, while omitting view entirely returned 3,447 items on KOI_PAET and 5,644 on KOI_PLTS. Name the instance whenever you quote either. KOI_PAET returned 3,447 in both sweeps; only KOI_PLTS moved, to 5,646 hours later the same day, so treat that one as a drifting snapshot, not a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the two packs are indistinguishable to a reader: same name, same integration id, same category, same author, same command prefix. The right-hand column was verified by reading the custom pack checkout directly, not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Framed as scope. Each of the four items points back at a specific verified gap rather than a general complaint.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KoiContentExtension ("KOI Content Extension") is an optional companion pack, v1.0.0, community support, author Ayman Mahmoud. It adds parsing and modeling rules, 10 playbooks and 1 dashboard on top of the installed KOI integration, and it ships no integration and no commands of its own. It must not be confused with the custom v1.3.0 pack on the comparison slide: that pack conflicts with this one, whereas the companion pack is additive and declares a mandatory dependency on the KOI pack. Its playbooks are the KOI Ext - ... set referenced in VERIFIED_FACTS §7c and §7d.3, and they bake in the two 'know before you query' caveats: the event→API marketplace mapping, and treating an empty inventory lookup as inconclusive because the inventory index lags the event stream. Counts on this slide are read from the pack directory at build time, not hand-typed.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behind 8 of the 13 commands was exercised, none of which change tenant state: koi-get-events, koi-policy-list, koi-allowlist-get, koi-blocklist-get, koi-inventory-list, koi-inventory-item-get, koi-inventory-search, koi-inventory-item-endpoints-list. Of those, 7 are freely repeatable; koi-get-events is not — its own description warns it may duplicate events, exceed rate limits or disrupt the fetch mechanism, and should_push_events writes into koi_koi_raw when true. The 5 state-changing commands were deliberately not run: koi-allowlist-items-remove, koi-allowlist-items-add, koi-blocklist-items-remove, koi-blocklist-items-add, koi-policy-status-update. Separately, none of the 13 was ever executed through XSIAM — a tenant limitation, recorded rather than papered over. So no human-readable output, no war-room table and no context mapping was observed; those are asserted from the YAML and Koi.py.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Three decisions: install it for the API client and — on XSIAM, where the collector is enabled — the event collector; budget for the content layer; and check for the other pack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8321040" y="-1371600"/>
            <a:ext cx="5669280" cy="5669280"/>
          </a:xfrm>
          <a:prstGeom prst="ellipse">
            <a:avLst/>
          </a:prstGeom>
          <a:solidFill>
            <a:srgbClr val="E8551F">
              <a:alpha val="8000"/>
            </a:srgbClr>
          </a:solidFill>
          <a:ln w="12700">
            <a:solidFill>
              <a:srgbClr val="E8551F"/>
            </a:solidFill>
            <a:prstDash val="solid"/>
          </a:ln>
        </p:spPr>
      </p:sp>
      <p:sp>
        <p:nvSpPr>
          <p:cNvPr id="3" name="Shape 1"/>
          <p:cNvSpPr/>
          <p:nvPr/>
        </p:nvSpPr>
        <p:spPr>
          <a:xfrm>
            <a:off x="9692640" y="3108960"/>
            <a:ext cx="3291840" cy="3291840"/>
          </a:xfrm>
          <a:prstGeom prst="ellipse">
            <a:avLst/>
          </a:prstGeom>
          <a:solidFill>
            <a:srgbClr val="22D3EE">
              <a:alpha val="6000"/>
            </a:srgbClr>
          </a:solidFill>
          <a:ln w="12700">
            <a:solidFill>
              <a:srgbClr val="22D3EE"/>
            </a:solidFill>
            <a:prstDash val="solid"/>
          </a:ln>
        </p:spPr>
      </p:sp>
      <p:sp>
        <p:nvSpPr>
          <p:cNvPr id="4" name="Text 2"/>
          <p:cNvSpPr/>
          <p:nvPr/>
        </p:nvSpPr>
        <p:spPr>
          <a:xfrm>
            <a:off x="548640" y="1389888"/>
            <a:ext cx="11064240" cy="210312"/>
          </a:xfrm>
          <a:prstGeom prst="rect">
            <a:avLst/>
          </a:prstGeom>
          <a:noFill/>
          <a:ln/>
        </p:spPr>
        <p:txBody>
          <a:bodyPr wrap="square" lIns="0" tIns="0" rIns="0" bIns="0" rtlCol="0" anchor="ctr"/>
          <a:lstStyle/>
          <a:p>
            <a:pPr indent="0" marL="0">
              <a:buNone/>
            </a:pPr>
            <a:r>
              <a:rPr lang="en-US" sz="1200" b="1" spc="300" kern="0" dirty="0">
                <a:solidFill>
                  <a:srgbClr val="E8551F"/>
                </a:solidFill>
                <a:latin typeface="Calibri" pitchFamily="34" charset="0"/>
                <a:ea typeface="Calibri" pitchFamily="34" charset="-122"/>
                <a:cs typeface="Calibri" pitchFamily="34" charset="-120"/>
              </a:rPr>
              <a:t>CORTEX XSIAM  ·  OFFICIAL MARKETPLACE CONTENT PACK</a:t>
            </a:r>
            <a:endParaRPr lang="en-US" sz="1200" dirty="0"/>
          </a:p>
        </p:txBody>
      </p:sp>
      <p:sp>
        <p:nvSpPr>
          <p:cNvPr id="5" name="Text 3"/>
          <p:cNvSpPr/>
          <p:nvPr/>
        </p:nvSpPr>
        <p:spPr>
          <a:xfrm>
            <a:off x="548640" y="1591056"/>
            <a:ext cx="6858000" cy="1463040"/>
          </a:xfrm>
          <a:prstGeom prst="rect">
            <a:avLst/>
          </a:prstGeom>
          <a:noFill/>
          <a:ln/>
        </p:spPr>
        <p:txBody>
          <a:bodyPr wrap="square" lIns="0" tIns="0" rIns="0" bIns="0" rtlCol="0" anchor="ctr"/>
          <a:lstStyle/>
          <a:p>
            <a:pPr indent="0" marL="0">
              <a:buNone/>
            </a:pPr>
            <a:r>
              <a:rPr lang="en-US" sz="9000" b="1" dirty="0">
                <a:solidFill>
                  <a:srgbClr val="FFFFFF"/>
                </a:solidFill>
                <a:latin typeface="Calibri" pitchFamily="34" charset="0"/>
                <a:ea typeface="Calibri" pitchFamily="34" charset="-122"/>
                <a:cs typeface="Calibri" pitchFamily="34" charset="-120"/>
              </a:rPr>
              <a:t>KOI</a:t>
            </a:r>
            <a:endParaRPr lang="en-US" sz="9000" dirty="0"/>
          </a:p>
        </p:txBody>
      </p:sp>
      <p:sp>
        <p:nvSpPr>
          <p:cNvPr id="6" name="Text 4"/>
          <p:cNvSpPr/>
          <p:nvPr/>
        </p:nvSpPr>
        <p:spPr>
          <a:xfrm>
            <a:off x="548640" y="3072384"/>
            <a:ext cx="8595360" cy="640080"/>
          </a:xfrm>
          <a:prstGeom prst="rect">
            <a:avLst/>
          </a:prstGeom>
          <a:noFill/>
          <a:ln/>
        </p:spPr>
        <p:txBody>
          <a:bodyPr wrap="square" lIns="0" tIns="0" rIns="0" bIns="0" rtlCol="0" anchor="t"/>
          <a:lstStyle/>
          <a:p>
            <a:pPr indent="0" marL="0">
              <a:lnSpc>
                <a:spcPts val="1700"/>
              </a:lnSpc>
              <a:buNone/>
            </a:pPr>
            <a:r>
              <a:rPr lang="en-US" sz="1300" dirty="0">
                <a:solidFill>
                  <a:srgbClr val="22D3EE"/>
                </a:solidFill>
                <a:latin typeface="Courier New" pitchFamily="34" charset="0"/>
                <a:ea typeface="Courier New" pitchFamily="34" charset="-122"/>
                <a:cs typeface="Courier New" pitchFamily="34" charset="-120"/>
              </a:rPr>
              <a:t>demisto/content  ·  Packs/Koi  ·  v1.2.3</a:t>
            </a:r>
            <a:endParaRPr lang="en-US" sz="1300" dirty="0"/>
          </a:p>
          <a:p>
            <a:pPr indent="0" marL="0">
              <a:lnSpc>
                <a:spcPts val="1700"/>
              </a:lnSpc>
              <a:buNone/>
            </a:pPr>
            <a:r>
              <a:rPr lang="en-US" sz="1050" dirty="0">
                <a:solidFill>
                  <a:srgbClr val="6E747E"/>
                </a:solidFill>
                <a:latin typeface="Courier New" pitchFamily="34" charset="0"/>
                <a:ea typeface="Courier New" pitchFamily="34" charset="-122"/>
                <a:cs typeface="Courier New" pitchFamily="34" charset="-120"/>
              </a:rPr>
              <a:t>support: xsoar   author: Cortex XSOAR   category: Endpoint   from XSOAR 6.10.0</a:t>
            </a:r>
            <a:endParaRPr lang="en-US" sz="1300" dirty="0"/>
          </a:p>
        </p:txBody>
      </p:sp>
      <p:sp>
        <p:nvSpPr>
          <p:cNvPr id="7" name="Text 5"/>
          <p:cNvSpPr/>
          <p:nvPr/>
        </p:nvSpPr>
        <p:spPr>
          <a:xfrm>
            <a:off x="548640" y="3785616"/>
            <a:ext cx="7863840" cy="749808"/>
          </a:xfrm>
          <a:prstGeom prst="rect">
            <a:avLst/>
          </a:prstGeom>
          <a:noFill/>
          <a:ln/>
        </p:spPr>
        <p:txBody>
          <a:bodyPr wrap="square" lIns="0" tIns="0" rIns="0" bIns="0" rtlCol="0" anchor="ctr"/>
          <a:lstStyle/>
          <a:p>
            <a:pPr indent="0" marL="0">
              <a:lnSpc>
                <a:spcPts val="2100"/>
              </a:lnSpc>
              <a:buNone/>
            </a:pPr>
            <a:r>
              <a:rPr lang="en-US" sz="1500" dirty="0">
                <a:solidFill>
                  <a:srgbClr val="B4B7BD"/>
                </a:solidFill>
                <a:latin typeface="Calibri" pitchFamily="34" charset="0"/>
                <a:ea typeface="Calibri" pitchFamily="34" charset="-122"/>
                <a:cs typeface="Calibri" pitchFamily="34" charset="-120"/>
              </a:rPr>
              <a:t>Visibility over the software your workforce installs itself — browser and IDE extensions, MCP servers, code packages and OS software — across every endpoint KOI sees.</a:t>
            </a:r>
            <a:endParaRPr lang="en-US" sz="1500" dirty="0"/>
          </a:p>
        </p:txBody>
      </p:sp>
      <p:sp>
        <p:nvSpPr>
          <p:cNvPr id="8" name="Text 6"/>
          <p:cNvSpPr/>
          <p:nvPr/>
        </p:nvSpPr>
        <p:spPr>
          <a:xfrm>
            <a:off x="548640" y="4681728"/>
            <a:ext cx="2011680" cy="548640"/>
          </a:xfrm>
          <a:prstGeom prst="rect">
            <a:avLst/>
          </a:prstGeom>
          <a:noFill/>
          <a:ln/>
        </p:spPr>
        <p:txBody>
          <a:bodyPr wrap="square" lIns="0" tIns="0" rIns="0" bIns="0" rtlCol="0" anchor="ctr"/>
          <a:lstStyle/>
          <a:p>
            <a:pPr indent="0" marL="0">
              <a:buNone/>
            </a:pPr>
            <a:r>
              <a:rPr lang="en-US" sz="3600" b="1" dirty="0">
                <a:solidFill>
                  <a:srgbClr val="E8551F"/>
                </a:solidFill>
                <a:latin typeface="Calibri" pitchFamily="34" charset="0"/>
                <a:ea typeface="Calibri" pitchFamily="34" charset="-122"/>
                <a:cs typeface="Calibri" pitchFamily="34" charset="-120"/>
              </a:rPr>
              <a:t>13</a:t>
            </a:r>
            <a:endParaRPr lang="en-US" sz="3600" dirty="0"/>
          </a:p>
        </p:txBody>
      </p:sp>
      <p:sp>
        <p:nvSpPr>
          <p:cNvPr id="9" name="Text 7"/>
          <p:cNvSpPr/>
          <p:nvPr/>
        </p:nvSpPr>
        <p:spPr>
          <a:xfrm>
            <a:off x="548640" y="5230368"/>
            <a:ext cx="2011680" cy="274320"/>
          </a:xfrm>
          <a:prstGeom prst="rect">
            <a:avLst/>
          </a:prstGeom>
          <a:noFill/>
          <a:ln/>
        </p:spPr>
        <p:txBody>
          <a:bodyPr wrap="square" lIns="0" tIns="0" rIns="0" bIns="0" rtlCol="0" anchor="ctr"/>
          <a:lstStyle/>
          <a:p>
            <a:pPr indent="0" marL="0">
              <a:buNone/>
            </a:pPr>
            <a:r>
              <a:rPr lang="en-US" sz="1100" dirty="0">
                <a:solidFill>
                  <a:srgbClr val="6E747E"/>
                </a:solidFill>
                <a:latin typeface="Calibri" pitchFamily="34" charset="0"/>
                <a:ea typeface="Calibri" pitchFamily="34" charset="-122"/>
                <a:cs typeface="Calibri" pitchFamily="34" charset="-120"/>
              </a:rPr>
              <a:t>commands</a:t>
            </a:r>
            <a:endParaRPr lang="en-US" sz="1100" dirty="0"/>
          </a:p>
        </p:txBody>
      </p:sp>
      <p:sp>
        <p:nvSpPr>
          <p:cNvPr id="10" name="Text 8"/>
          <p:cNvSpPr/>
          <p:nvPr/>
        </p:nvSpPr>
        <p:spPr>
          <a:xfrm>
            <a:off x="2697480" y="4681728"/>
            <a:ext cx="2011680" cy="548640"/>
          </a:xfrm>
          <a:prstGeom prst="rect">
            <a:avLst/>
          </a:prstGeom>
          <a:noFill/>
          <a:ln/>
        </p:spPr>
        <p:txBody>
          <a:bodyPr wrap="square" lIns="0" tIns="0" rIns="0" bIns="0" rtlCol="0" anchor="ctr"/>
          <a:lstStyle/>
          <a:p>
            <a:pPr indent="0" marL="0">
              <a:buNone/>
            </a:pPr>
            <a:r>
              <a:rPr lang="en-US" sz="3600" b="1" dirty="0">
                <a:solidFill>
                  <a:srgbClr val="E8551F"/>
                </a:solidFill>
                <a:latin typeface="Calibri" pitchFamily="34" charset="0"/>
                <a:ea typeface="Calibri" pitchFamily="34" charset="-122"/>
                <a:cs typeface="Calibri" pitchFamily="34" charset="-120"/>
              </a:rPr>
              <a:t>5</a:t>
            </a:r>
            <a:endParaRPr lang="en-US" sz="3600" dirty="0"/>
          </a:p>
        </p:txBody>
      </p:sp>
      <p:sp>
        <p:nvSpPr>
          <p:cNvPr id="11" name="Text 9"/>
          <p:cNvSpPr/>
          <p:nvPr/>
        </p:nvSpPr>
        <p:spPr>
          <a:xfrm>
            <a:off x="2697480" y="5230368"/>
            <a:ext cx="2011680" cy="274320"/>
          </a:xfrm>
          <a:prstGeom prst="rect">
            <a:avLst/>
          </a:prstGeom>
          <a:noFill/>
          <a:ln/>
        </p:spPr>
        <p:txBody>
          <a:bodyPr wrap="square" lIns="0" tIns="0" rIns="0" bIns="0" rtlCol="0" anchor="ctr"/>
          <a:lstStyle/>
          <a:p>
            <a:pPr indent="0" marL="0">
              <a:buNone/>
            </a:pPr>
            <a:r>
              <a:rPr lang="en-US" sz="1100" dirty="0">
                <a:solidFill>
                  <a:srgbClr val="6E747E"/>
                </a:solidFill>
                <a:latin typeface="Calibri" pitchFamily="34" charset="0"/>
                <a:ea typeface="Calibri" pitchFamily="34" charset="-122"/>
                <a:cs typeface="Calibri" pitchFamily="34" charset="-120"/>
              </a:rPr>
              <a:t>context prefixes</a:t>
            </a:r>
            <a:endParaRPr lang="en-US" sz="1100" dirty="0"/>
          </a:p>
        </p:txBody>
      </p:sp>
      <p:sp>
        <p:nvSpPr>
          <p:cNvPr id="12" name="Text 10"/>
          <p:cNvSpPr/>
          <p:nvPr/>
        </p:nvSpPr>
        <p:spPr>
          <a:xfrm>
            <a:off x="4846320" y="4681728"/>
            <a:ext cx="2011680" cy="548640"/>
          </a:xfrm>
          <a:prstGeom prst="rect">
            <a:avLst/>
          </a:prstGeom>
          <a:noFill/>
          <a:ln/>
        </p:spPr>
        <p:txBody>
          <a:bodyPr wrap="square" lIns="0" tIns="0" rIns="0" bIns="0" rtlCol="0" anchor="ctr"/>
          <a:lstStyle/>
          <a:p>
            <a:pPr indent="0" marL="0">
              <a:buNone/>
            </a:pPr>
            <a:r>
              <a:rPr lang="en-US" sz="3600" b="1" dirty="0">
                <a:solidFill>
                  <a:srgbClr val="E8551F"/>
                </a:solidFill>
                <a:latin typeface="Calibri" pitchFamily="34" charset="0"/>
                <a:ea typeface="Calibri" pitchFamily="34" charset="-122"/>
                <a:cs typeface="Calibri" pitchFamily="34" charset="-120"/>
              </a:rPr>
              <a:t>1</a:t>
            </a:r>
            <a:endParaRPr lang="en-US" sz="3600" dirty="0"/>
          </a:p>
        </p:txBody>
      </p:sp>
      <p:sp>
        <p:nvSpPr>
          <p:cNvPr id="13" name="Text 11"/>
          <p:cNvSpPr/>
          <p:nvPr/>
        </p:nvSpPr>
        <p:spPr>
          <a:xfrm>
            <a:off x="4846320" y="5230368"/>
            <a:ext cx="2011680" cy="274320"/>
          </a:xfrm>
          <a:prstGeom prst="rect">
            <a:avLst/>
          </a:prstGeom>
          <a:noFill/>
          <a:ln/>
        </p:spPr>
        <p:txBody>
          <a:bodyPr wrap="square" lIns="0" tIns="0" rIns="0" bIns="0" rtlCol="0" anchor="ctr"/>
          <a:lstStyle/>
          <a:p>
            <a:pPr indent="0" marL="0">
              <a:buNone/>
            </a:pPr>
            <a:r>
              <a:rPr lang="en-US" sz="1100" dirty="0">
                <a:solidFill>
                  <a:srgbClr val="6E747E"/>
                </a:solidFill>
                <a:latin typeface="Calibri" pitchFamily="34" charset="0"/>
                <a:ea typeface="Calibri" pitchFamily="34" charset="-122"/>
                <a:cs typeface="Calibri" pitchFamily="34" charset="-120"/>
              </a:rPr>
              <a:t>integration</a:t>
            </a:r>
            <a:endParaRPr lang="en-US" sz="1100" dirty="0"/>
          </a:p>
        </p:txBody>
      </p:sp>
      <p:sp>
        <p:nvSpPr>
          <p:cNvPr id="14" name="Text 12"/>
          <p:cNvSpPr/>
          <p:nvPr/>
        </p:nvSpPr>
        <p:spPr>
          <a:xfrm>
            <a:off x="6995160" y="4681728"/>
            <a:ext cx="2011680" cy="548640"/>
          </a:xfrm>
          <a:prstGeom prst="rect">
            <a:avLst/>
          </a:prstGeom>
          <a:noFill/>
          <a:ln/>
        </p:spPr>
        <p:txBody>
          <a:bodyPr wrap="square" lIns="0" tIns="0" rIns="0" bIns="0" rtlCol="0" anchor="ctr"/>
          <a:lstStyle/>
          <a:p>
            <a:pPr indent="0" marL="0">
              <a:buNone/>
            </a:pPr>
            <a:r>
              <a:rPr lang="en-US" sz="3600" b="1" dirty="0">
                <a:solidFill>
                  <a:srgbClr val="6E747E"/>
                </a:solidFill>
                <a:latin typeface="Calibri" pitchFamily="34" charset="0"/>
                <a:ea typeface="Calibri" pitchFamily="34" charset="-122"/>
                <a:cs typeface="Calibri" pitchFamily="34" charset="-120"/>
              </a:rPr>
              <a:t>0</a:t>
            </a:r>
            <a:endParaRPr lang="en-US" sz="3600" dirty="0"/>
          </a:p>
        </p:txBody>
      </p:sp>
      <p:sp>
        <p:nvSpPr>
          <p:cNvPr id="15" name="Text 13"/>
          <p:cNvSpPr/>
          <p:nvPr/>
        </p:nvSpPr>
        <p:spPr>
          <a:xfrm>
            <a:off x="6995160" y="5230368"/>
            <a:ext cx="2011680" cy="274320"/>
          </a:xfrm>
          <a:prstGeom prst="rect">
            <a:avLst/>
          </a:prstGeom>
          <a:noFill/>
          <a:ln/>
        </p:spPr>
        <p:txBody>
          <a:bodyPr wrap="square" lIns="0" tIns="0" rIns="0" bIns="0" rtlCol="0" anchor="ctr"/>
          <a:lstStyle/>
          <a:p>
            <a:pPr indent="0" marL="0">
              <a:buNone/>
            </a:pPr>
            <a:r>
              <a:rPr lang="en-US" sz="1100" dirty="0">
                <a:solidFill>
                  <a:srgbClr val="6E747E"/>
                </a:solidFill>
                <a:latin typeface="Calibri" pitchFamily="34" charset="0"/>
                <a:ea typeface="Calibri" pitchFamily="34" charset="-122"/>
                <a:cs typeface="Calibri" pitchFamily="34" charset="-120"/>
              </a:rPr>
              <a:t>playbooks or rules</a:t>
            </a:r>
            <a:endParaRPr lang="en-US" sz="1100" dirty="0"/>
          </a:p>
        </p:txBody>
      </p:sp>
      <p:sp>
        <p:nvSpPr>
          <p:cNvPr id="16" name="Text 14"/>
          <p:cNvSpPr/>
          <p:nvPr/>
        </p:nvSpPr>
        <p:spPr>
          <a:xfrm>
            <a:off x="548640" y="5614416"/>
            <a:ext cx="11064240" cy="713232"/>
          </a:xfrm>
          <a:prstGeom prst="rect">
            <a:avLst/>
          </a:prstGeom>
          <a:noFill/>
          <a:ln/>
        </p:spPr>
        <p:txBody>
          <a:bodyPr wrap="square" lIns="0" tIns="0" rIns="0" bIns="0" rtlCol="0" anchor="t"/>
          <a:lstStyle/>
          <a:p>
            <a:pPr indent="0" marL="0">
              <a:lnSpc>
                <a:spcPts val="1250"/>
              </a:lnSpc>
              <a:buNone/>
            </a:pPr>
            <a:r>
              <a:rPr lang="en-US" sz="1000" i="1" dirty="0">
                <a:solidFill>
                  <a:srgbClr val="F5A524"/>
                </a:solidFill>
                <a:latin typeface="Calibri" pitchFamily="34" charset="0"/>
                <a:ea typeface="Calibri" pitchFamily="34" charset="-122"/>
                <a:cs typeface="Calibri" pitchFamily="34" charset="-120"/>
              </a:rPr>
              <a:t>This is the Marketplace pack. A different, in-house KOI pack (v1.3.0, 26 commands) cannot coexist with it — one overwrites the other; see the comparison slide.</a:t>
            </a:r>
            <a:endParaRPr lang="en-US" sz="1000" dirty="0"/>
          </a:p>
          <a:p>
            <a:pPr indent="0" marL="0">
              <a:lnSpc>
                <a:spcPts val="1250"/>
              </a:lnSpc>
              <a:buNone/>
            </a:pPr>
            <a:r>
              <a:rPr lang="en-US" sz="1000" i="1" dirty="0">
                <a:solidFill>
                  <a:srgbClr val="3FB950"/>
                </a:solidFill>
                <a:latin typeface="Calibri" pitchFamily="34" charset="0"/>
                <a:ea typeface="Calibri" pitchFamily="34" charset="-122"/>
                <a:cs typeface="Calibri" pitchFamily="34" charset="-120"/>
              </a:rPr>
              <a:t>Separately — and additively — an optional companion pack KoiContentExtension ("KOI Content Extension") layers parsing &amp; modeling rules, 10 playbooks and a dashboard on top of this integration. It is additional content, not part of this pack.</a:t>
            </a:r>
            <a:endParaRPr lang="en-US" sz="1000" dirty="0"/>
          </a:p>
        </p:txBody>
      </p:sp>
      <p:sp>
        <p:nvSpPr>
          <p:cNvPr id="17" name="Text 15"/>
          <p:cNvSpPr/>
          <p:nvPr/>
        </p:nvSpPr>
        <p:spPr>
          <a:xfrm>
            <a:off x="548640" y="6419088"/>
            <a:ext cx="11064240" cy="237744"/>
          </a:xfrm>
          <a:prstGeom prst="rect">
            <a:avLst/>
          </a:prstGeom>
          <a:noFill/>
          <a:ln/>
        </p:spPr>
        <p:txBody>
          <a:bodyPr wrap="square" lIns="0" tIns="0" rIns="0" bIns="0" rtlCol="0" anchor="ctr"/>
          <a:lstStyle/>
          <a:p>
            <a:pPr indent="0" marL="0">
              <a:buNone/>
            </a:pPr>
            <a:r>
              <a:rPr lang="en-US" sz="800" dirty="0">
                <a:solidFill>
                  <a:srgbClr val="6E747E"/>
                </a:solidFill>
                <a:latin typeface="Calibri" pitchFamily="34" charset="0"/>
                <a:ea typeface="Calibri" pitchFamily="34" charset="-122"/>
                <a:cs typeface="Calibri" pitchFamily="34" charset="-120"/>
              </a:rPr>
              <a:t>Marketplace KOI pack v1.2.3  ·  demisto/content / Packs/Koi  ·  integration only, 13 commands  ·  not the custom v1.3.0 pack</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6419088"/>
            <a:ext cx="11064240" cy="237744"/>
          </a:xfrm>
          <a:prstGeom prst="rect">
            <a:avLst/>
          </a:prstGeom>
          <a:noFill/>
          <a:ln/>
        </p:spPr>
        <p:txBody>
          <a:bodyPr wrap="square" lIns="0" tIns="0" rIns="0" bIns="0" rtlCol="0" anchor="ctr"/>
          <a:lstStyle/>
          <a:p>
            <a:pPr indent="0" marL="0">
              <a:buNone/>
            </a:pPr>
            <a:r>
              <a:rPr lang="en-US" sz="800" dirty="0">
                <a:solidFill>
                  <a:srgbClr val="6E747E"/>
                </a:solidFill>
                <a:latin typeface="Calibri" pitchFamily="34" charset="0"/>
                <a:ea typeface="Calibri" pitchFamily="34" charset="-122"/>
                <a:cs typeface="Calibri" pitchFamily="34" charset="-120"/>
              </a:rPr>
              <a:t>Marketplace KOI pack v1.2.3  ·  demisto/content / Packs/Koi  ·  integration only, 13 commands  ·  not the custom v1.3.0 pack</a:t>
            </a:r>
            <a:endParaRPr lang="en-US" sz="800" dirty="0"/>
          </a:p>
        </p:txBody>
      </p:sp>
      <p:sp>
        <p:nvSpPr>
          <p:cNvPr id="3" name="Text 1"/>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200" kern="0" dirty="0">
                <a:solidFill>
                  <a:srgbClr val="E8551F"/>
                </a:solidFill>
                <a:latin typeface="Calibri" pitchFamily="34" charset="0"/>
                <a:ea typeface="Calibri" pitchFamily="34" charset="-122"/>
                <a:cs typeface="Calibri" pitchFamily="34" charset="-120"/>
              </a:rPr>
              <a:t>WHAT IT COVERS</a:t>
            </a:r>
            <a:endParaRPr lang="en-US" sz="1100" dirty="0"/>
          </a:p>
        </p:txBody>
      </p:sp>
      <p:sp>
        <p:nvSpPr>
          <p:cNvPr id="4" name="Text 2"/>
          <p:cNvSpPr/>
          <p:nvPr/>
        </p:nvSpPr>
        <p:spPr>
          <a:xfrm>
            <a:off x="548640" y="612648"/>
            <a:ext cx="11064240" cy="658368"/>
          </a:xfrm>
          <a:prstGeom prst="rect">
            <a:avLst/>
          </a:prstGeom>
          <a:noFill/>
          <a:ln/>
        </p:spPr>
        <p:txBody>
          <a:bodyPr wrap="square" lIns="0" tIns="0" rIns="0" bIns="0" rtlCol="0" anchor="ctr"/>
          <a:lstStyle/>
          <a:p>
            <a:pPr indent="0" marL="0">
              <a:buNone/>
            </a:pPr>
            <a:r>
              <a:rPr lang="en-US" sz="3100" b="1" dirty="0">
                <a:solidFill>
                  <a:srgbClr val="FFFFFF"/>
                </a:solidFill>
                <a:latin typeface="Calibri" pitchFamily="34" charset="0"/>
                <a:ea typeface="Calibri" pitchFamily="34" charset="-122"/>
                <a:cs typeface="Calibri" pitchFamily="34" charset="-120"/>
              </a:rPr>
              <a:t>The self-installed software surface</a:t>
            </a:r>
            <a:endParaRPr lang="en-US" sz="3100" dirty="0"/>
          </a:p>
        </p:txBody>
      </p:sp>
      <p:sp>
        <p:nvSpPr>
          <p:cNvPr id="5" name="Text 3"/>
          <p:cNvSpPr/>
          <p:nvPr/>
        </p:nvSpPr>
        <p:spPr>
          <a:xfrm>
            <a:off x="548640" y="1298448"/>
            <a:ext cx="10607040" cy="420624"/>
          </a:xfrm>
          <a:prstGeom prst="rect">
            <a:avLst/>
          </a:prstGeom>
          <a:noFill/>
          <a:ln/>
        </p:spPr>
        <p:txBody>
          <a:bodyPr wrap="square" lIns="0" tIns="0" rIns="0" bIns="0" rtlCol="0" anchor="t"/>
          <a:lstStyle/>
          <a:p>
            <a:pPr indent="0" marL="0">
              <a:lnSpc>
                <a:spcPts val="1500"/>
              </a:lnSpc>
              <a:buNone/>
            </a:pPr>
            <a:r>
              <a:rPr lang="en-US" sz="1200" dirty="0">
                <a:solidFill>
                  <a:srgbClr val="B4B7BD"/>
                </a:solidFill>
                <a:latin typeface="Calibri" pitchFamily="34" charset="0"/>
                <a:ea typeface="Calibri" pitchFamily="34" charset="-122"/>
                <a:cs typeface="Calibri" pitchFamily="34" charset="-120"/>
              </a:rPr>
              <a:t>7 of the 13 commands declare a marketplace filter (22 values); only koi-inventory-list declares a platform filter (45). Filter vocabularies, not measured reach. Tokens in the five family cards are verbatim from that marketplace enum; the view card is the API's list.</a:t>
            </a:r>
            <a:endParaRPr lang="en-US" sz="1200" dirty="0"/>
          </a:p>
        </p:txBody>
      </p:sp>
      <p:sp>
        <p:nvSpPr>
          <p:cNvPr id="6" name="Shape 4"/>
          <p:cNvSpPr/>
          <p:nvPr/>
        </p:nvSpPr>
        <p:spPr>
          <a:xfrm>
            <a:off x="548640" y="1755648"/>
            <a:ext cx="3474720" cy="1572768"/>
          </a:xfrm>
          <a:prstGeom prst="roundRect">
            <a:avLst>
              <a:gd name="adj" fmla="val 2907"/>
            </a:avLst>
          </a:prstGeom>
          <a:solidFill>
            <a:srgbClr val="15171B"/>
          </a:solidFill>
          <a:ln w="12700">
            <a:solidFill>
              <a:srgbClr val="15171B"/>
            </a:solidFill>
            <a:prstDash val="solid"/>
          </a:ln>
        </p:spPr>
      </p:sp>
      <p:sp>
        <p:nvSpPr>
          <p:cNvPr id="7" name="Shape 5"/>
          <p:cNvSpPr/>
          <p:nvPr/>
        </p:nvSpPr>
        <p:spPr>
          <a:xfrm>
            <a:off x="786384" y="1975104"/>
            <a:ext cx="310896" cy="310896"/>
          </a:xfrm>
          <a:prstGeom prst="roundRect">
            <a:avLst>
              <a:gd name="adj" fmla="val 26471"/>
            </a:avLst>
          </a:prstGeom>
          <a:solidFill>
            <a:srgbClr val="E8551F"/>
          </a:solidFill>
          <a:ln w="12700">
            <a:solidFill>
              <a:srgbClr val="E8551F"/>
            </a:solidFill>
            <a:prstDash val="solid"/>
          </a:ln>
        </p:spPr>
      </p:sp>
      <p:sp>
        <p:nvSpPr>
          <p:cNvPr id="8" name="Text 6"/>
          <p:cNvSpPr/>
          <p:nvPr/>
        </p:nvSpPr>
        <p:spPr>
          <a:xfrm>
            <a:off x="786384" y="197510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9" name="Text 7"/>
          <p:cNvSpPr/>
          <p:nvPr/>
        </p:nvSpPr>
        <p:spPr>
          <a:xfrm>
            <a:off x="1207008" y="1975104"/>
            <a:ext cx="2560320" cy="32918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Browser extensions</a:t>
            </a:r>
            <a:endParaRPr lang="en-US" sz="1350" dirty="0"/>
          </a:p>
        </p:txBody>
      </p:sp>
      <p:sp>
        <p:nvSpPr>
          <p:cNvPr id="10" name="Text 8"/>
          <p:cNvSpPr/>
          <p:nvPr/>
        </p:nvSpPr>
        <p:spPr>
          <a:xfrm>
            <a:off x="786384" y="2414016"/>
            <a:ext cx="2999232" cy="749808"/>
          </a:xfrm>
          <a:prstGeom prst="rect">
            <a:avLst/>
          </a:prstGeom>
          <a:noFill/>
          <a:ln/>
        </p:spPr>
        <p:txBody>
          <a:bodyPr wrap="square" lIns="0" tIns="0" rIns="0" bIns="0" rtlCol="0" anchor="t"/>
          <a:lstStyle/>
          <a:p>
            <a:pPr indent="0" marL="0">
              <a:lnSpc>
                <a:spcPts val="1300"/>
              </a:lnSpc>
              <a:buNone/>
            </a:pPr>
            <a:r>
              <a:rPr lang="en-US" sz="950" dirty="0">
                <a:solidFill>
                  <a:srgbClr val="B4B7BD"/>
                </a:solidFill>
                <a:latin typeface="Courier New" pitchFamily="34" charset="0"/>
                <a:ea typeface="Courier New" pitchFamily="34" charset="-122"/>
                <a:cs typeface="Courier New" pitchFamily="34" charset="-120"/>
              </a:rPr>
              <a:t>chrome_web_store  ·  edge_add_ons</a:t>
            </a:r>
            <a:endParaRPr lang="en-US" sz="950" dirty="0"/>
          </a:p>
          <a:p>
            <a:pPr indent="0" marL="0">
              <a:lnSpc>
                <a:spcPts val="1300"/>
              </a:lnSpc>
              <a:buNone/>
            </a:pPr>
            <a:r>
              <a:rPr lang="en-US" sz="950" dirty="0">
                <a:solidFill>
                  <a:srgbClr val="B4B7BD"/>
                </a:solidFill>
                <a:latin typeface="Courier New" pitchFamily="34" charset="0"/>
                <a:ea typeface="Courier New" pitchFamily="34" charset="-122"/>
                <a:cs typeface="Courier New" pitchFamily="34" charset="-120"/>
              </a:rPr>
              <a:t>firefox_add_ons</a:t>
            </a:r>
            <a:endParaRPr lang="en-US" sz="950" dirty="0"/>
          </a:p>
        </p:txBody>
      </p:sp>
      <p:sp>
        <p:nvSpPr>
          <p:cNvPr id="11" name="Shape 9"/>
          <p:cNvSpPr/>
          <p:nvPr/>
        </p:nvSpPr>
        <p:spPr>
          <a:xfrm>
            <a:off x="4343400" y="1755648"/>
            <a:ext cx="3474720" cy="1572768"/>
          </a:xfrm>
          <a:prstGeom prst="roundRect">
            <a:avLst>
              <a:gd name="adj" fmla="val 2907"/>
            </a:avLst>
          </a:prstGeom>
          <a:solidFill>
            <a:srgbClr val="15171B"/>
          </a:solidFill>
          <a:ln w="12700">
            <a:solidFill>
              <a:srgbClr val="15171B"/>
            </a:solidFill>
            <a:prstDash val="solid"/>
          </a:ln>
        </p:spPr>
      </p:sp>
      <p:sp>
        <p:nvSpPr>
          <p:cNvPr id="12" name="Shape 10"/>
          <p:cNvSpPr/>
          <p:nvPr/>
        </p:nvSpPr>
        <p:spPr>
          <a:xfrm>
            <a:off x="4581144" y="1975104"/>
            <a:ext cx="310896" cy="310896"/>
          </a:xfrm>
          <a:prstGeom prst="roundRect">
            <a:avLst>
              <a:gd name="adj" fmla="val 26471"/>
            </a:avLst>
          </a:prstGeom>
          <a:solidFill>
            <a:srgbClr val="22D3EE"/>
          </a:solidFill>
          <a:ln w="12700">
            <a:solidFill>
              <a:srgbClr val="22D3EE"/>
            </a:solidFill>
            <a:prstDash val="solid"/>
          </a:ln>
        </p:spPr>
      </p:sp>
      <p:sp>
        <p:nvSpPr>
          <p:cNvPr id="13" name="Text 11"/>
          <p:cNvSpPr/>
          <p:nvPr/>
        </p:nvSpPr>
        <p:spPr>
          <a:xfrm>
            <a:off x="4581144" y="197510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14" name="Text 12"/>
          <p:cNvSpPr/>
          <p:nvPr/>
        </p:nvSpPr>
        <p:spPr>
          <a:xfrm>
            <a:off x="5001768" y="1975104"/>
            <a:ext cx="2560320" cy="32918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IDE &amp; editor extensions</a:t>
            </a:r>
            <a:endParaRPr lang="en-US" sz="1350" dirty="0"/>
          </a:p>
        </p:txBody>
      </p:sp>
      <p:sp>
        <p:nvSpPr>
          <p:cNvPr id="15" name="Text 13"/>
          <p:cNvSpPr/>
          <p:nvPr/>
        </p:nvSpPr>
        <p:spPr>
          <a:xfrm>
            <a:off x="4581144" y="2414016"/>
            <a:ext cx="2999232" cy="749808"/>
          </a:xfrm>
          <a:prstGeom prst="rect">
            <a:avLst/>
          </a:prstGeom>
          <a:noFill/>
          <a:ln/>
        </p:spPr>
        <p:txBody>
          <a:bodyPr wrap="square" lIns="0" tIns="0" rIns="0" bIns="0" rtlCol="0" anchor="t"/>
          <a:lstStyle/>
          <a:p>
            <a:pPr indent="0" marL="0">
              <a:lnSpc>
                <a:spcPts val="1300"/>
              </a:lnSpc>
              <a:buNone/>
            </a:pPr>
            <a:r>
              <a:rPr lang="en-US" sz="950" dirty="0">
                <a:solidFill>
                  <a:srgbClr val="B4B7BD"/>
                </a:solidFill>
                <a:latin typeface="Courier New" pitchFamily="34" charset="0"/>
                <a:ea typeface="Courier New" pitchFamily="34" charset="-122"/>
                <a:cs typeface="Courier New" pitchFamily="34" charset="-120"/>
              </a:rPr>
              <a:t>vscode  ·  visual_studio  ·  jetbrains</a:t>
            </a:r>
            <a:endParaRPr lang="en-US" sz="950" dirty="0"/>
          </a:p>
          <a:p>
            <a:pPr indent="0" marL="0">
              <a:lnSpc>
                <a:spcPts val="1300"/>
              </a:lnSpc>
              <a:buNone/>
            </a:pPr>
            <a:r>
              <a:rPr lang="en-US" sz="950" dirty="0">
                <a:solidFill>
                  <a:srgbClr val="B4B7BD"/>
                </a:solidFill>
                <a:latin typeface="Courier New" pitchFamily="34" charset="0"/>
                <a:ea typeface="Courier New" pitchFamily="34" charset="-122"/>
                <a:cs typeface="Courier New" pitchFamily="34" charset="-120"/>
              </a:rPr>
              <a:t>cursor  ·  windsurf</a:t>
            </a:r>
            <a:endParaRPr lang="en-US" sz="950" dirty="0"/>
          </a:p>
          <a:p>
            <a:pPr indent="0" marL="0">
              <a:lnSpc>
                <a:spcPts val="1300"/>
              </a:lnSpc>
              <a:buNone/>
            </a:pPr>
            <a:r>
              <a:rPr lang="en-US" sz="950" dirty="0">
                <a:solidFill>
                  <a:srgbClr val="B4B7BD"/>
                </a:solidFill>
                <a:latin typeface="Courier New" pitchFamily="34" charset="0"/>
                <a:ea typeface="Courier New" pitchFamily="34" charset="-122"/>
                <a:cs typeface="Courier New" pitchFamily="34" charset="-120"/>
              </a:rPr>
              <a:t>open_vsx_registry  ·  notepad++</a:t>
            </a:r>
            <a:endParaRPr lang="en-US" sz="950" dirty="0"/>
          </a:p>
        </p:txBody>
      </p:sp>
      <p:sp>
        <p:nvSpPr>
          <p:cNvPr id="16" name="Shape 14"/>
          <p:cNvSpPr/>
          <p:nvPr/>
        </p:nvSpPr>
        <p:spPr>
          <a:xfrm>
            <a:off x="8138160" y="1755648"/>
            <a:ext cx="3474720" cy="1572768"/>
          </a:xfrm>
          <a:prstGeom prst="roundRect">
            <a:avLst>
              <a:gd name="adj" fmla="val 2907"/>
            </a:avLst>
          </a:prstGeom>
          <a:solidFill>
            <a:srgbClr val="15171B"/>
          </a:solidFill>
          <a:ln w="12700">
            <a:solidFill>
              <a:srgbClr val="15171B"/>
            </a:solidFill>
            <a:prstDash val="solid"/>
          </a:ln>
        </p:spPr>
      </p:sp>
      <p:sp>
        <p:nvSpPr>
          <p:cNvPr id="17" name="Shape 15"/>
          <p:cNvSpPr/>
          <p:nvPr/>
        </p:nvSpPr>
        <p:spPr>
          <a:xfrm>
            <a:off x="8375904" y="1975104"/>
            <a:ext cx="310896" cy="310896"/>
          </a:xfrm>
          <a:prstGeom prst="roundRect">
            <a:avLst>
              <a:gd name="adj" fmla="val 26471"/>
            </a:avLst>
          </a:prstGeom>
          <a:solidFill>
            <a:srgbClr val="E8551F"/>
          </a:solidFill>
          <a:ln w="12700">
            <a:solidFill>
              <a:srgbClr val="E8551F"/>
            </a:solidFill>
            <a:prstDash val="solid"/>
          </a:ln>
        </p:spPr>
      </p:sp>
      <p:sp>
        <p:nvSpPr>
          <p:cNvPr id="18" name="Text 16"/>
          <p:cNvSpPr/>
          <p:nvPr/>
        </p:nvSpPr>
        <p:spPr>
          <a:xfrm>
            <a:off x="8375904" y="197510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796528" y="1975104"/>
            <a:ext cx="2560320" cy="32918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Agentic AI &amp; MCP</a:t>
            </a:r>
            <a:endParaRPr lang="en-US" sz="1350" dirty="0"/>
          </a:p>
        </p:txBody>
      </p:sp>
      <p:sp>
        <p:nvSpPr>
          <p:cNvPr id="20" name="Text 18"/>
          <p:cNvSpPr/>
          <p:nvPr/>
        </p:nvSpPr>
        <p:spPr>
          <a:xfrm>
            <a:off x="8375904" y="2414016"/>
            <a:ext cx="2999232" cy="749808"/>
          </a:xfrm>
          <a:prstGeom prst="rect">
            <a:avLst/>
          </a:prstGeom>
          <a:noFill/>
          <a:ln/>
        </p:spPr>
        <p:txBody>
          <a:bodyPr wrap="square" lIns="0" tIns="0" rIns="0" bIns="0" rtlCol="0" anchor="t"/>
          <a:lstStyle/>
          <a:p>
            <a:pPr indent="0" marL="0">
              <a:lnSpc>
                <a:spcPts val="1300"/>
              </a:lnSpc>
              <a:buNone/>
            </a:pPr>
            <a:r>
              <a:rPr lang="en-US" sz="950" dirty="0">
                <a:solidFill>
                  <a:srgbClr val="B4B7BD"/>
                </a:solidFill>
                <a:latin typeface="Courier New" pitchFamily="34" charset="0"/>
                <a:ea typeface="Courier New" pitchFamily="34" charset="-122"/>
                <a:cs typeface="Courier New" pitchFamily="34" charset="-120"/>
              </a:rPr>
              <a:t>github_mcp_registry</a:t>
            </a:r>
            <a:endParaRPr lang="en-US" sz="950" dirty="0"/>
          </a:p>
          <a:p>
            <a:pPr indent="0" marL="0">
              <a:lnSpc>
                <a:spcPts val="1300"/>
              </a:lnSpc>
              <a:buNone/>
            </a:pPr>
            <a:r>
              <a:rPr lang="en-US" sz="950" dirty="0">
                <a:solidFill>
                  <a:srgbClr val="B4B7BD"/>
                </a:solidFill>
                <a:latin typeface="Courier New" pitchFamily="34" charset="0"/>
                <a:ea typeface="Courier New" pitchFamily="34" charset="-122"/>
                <a:cs typeface="Courier New" pitchFamily="34" charset="-120"/>
              </a:rPr>
              <a:t>claude_desktop_extensions</a:t>
            </a:r>
            <a:endParaRPr lang="en-US" sz="950" dirty="0"/>
          </a:p>
          <a:p>
            <a:pPr indent="0" marL="0">
              <a:lnSpc>
                <a:spcPts val="1300"/>
              </a:lnSpc>
              <a:buNone/>
            </a:pPr>
            <a:r>
              <a:rPr lang="en-US" sz="950" dirty="0">
                <a:solidFill>
                  <a:srgbClr val="B4B7BD"/>
                </a:solidFill>
                <a:latin typeface="Courier New" pitchFamily="34" charset="0"/>
                <a:ea typeface="Courier New" pitchFamily="34" charset="-122"/>
                <a:cs typeface="Courier New" pitchFamily="34" charset="-120"/>
              </a:rPr>
              <a:t>hugging_face</a:t>
            </a:r>
            <a:endParaRPr lang="en-US" sz="950" dirty="0"/>
          </a:p>
        </p:txBody>
      </p:sp>
      <p:sp>
        <p:nvSpPr>
          <p:cNvPr id="21" name="Shape 19"/>
          <p:cNvSpPr/>
          <p:nvPr/>
        </p:nvSpPr>
        <p:spPr>
          <a:xfrm>
            <a:off x="548640" y="3602736"/>
            <a:ext cx="3474720" cy="1572768"/>
          </a:xfrm>
          <a:prstGeom prst="roundRect">
            <a:avLst>
              <a:gd name="adj" fmla="val 2907"/>
            </a:avLst>
          </a:prstGeom>
          <a:solidFill>
            <a:srgbClr val="15171B"/>
          </a:solidFill>
          <a:ln w="12700">
            <a:solidFill>
              <a:srgbClr val="15171B"/>
            </a:solidFill>
            <a:prstDash val="solid"/>
          </a:ln>
        </p:spPr>
      </p:sp>
      <p:sp>
        <p:nvSpPr>
          <p:cNvPr id="22" name="Shape 20"/>
          <p:cNvSpPr/>
          <p:nvPr/>
        </p:nvSpPr>
        <p:spPr>
          <a:xfrm>
            <a:off x="786384" y="3822192"/>
            <a:ext cx="310896" cy="310896"/>
          </a:xfrm>
          <a:prstGeom prst="roundRect">
            <a:avLst>
              <a:gd name="adj" fmla="val 26471"/>
            </a:avLst>
          </a:prstGeom>
          <a:solidFill>
            <a:srgbClr val="22D3EE"/>
          </a:solidFill>
          <a:ln w="12700">
            <a:solidFill>
              <a:srgbClr val="22D3EE"/>
            </a:solidFill>
            <a:prstDash val="solid"/>
          </a:ln>
        </p:spPr>
      </p:sp>
      <p:sp>
        <p:nvSpPr>
          <p:cNvPr id="23" name="Text 21"/>
          <p:cNvSpPr/>
          <p:nvPr/>
        </p:nvSpPr>
        <p:spPr>
          <a:xfrm>
            <a:off x="786384" y="38221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4" name="Text 22"/>
          <p:cNvSpPr/>
          <p:nvPr/>
        </p:nvSpPr>
        <p:spPr>
          <a:xfrm>
            <a:off x="1207008" y="3822192"/>
            <a:ext cx="2560320" cy="32918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Code &amp; container packages</a:t>
            </a:r>
            <a:endParaRPr lang="en-US" sz="1350" dirty="0"/>
          </a:p>
        </p:txBody>
      </p:sp>
      <p:sp>
        <p:nvSpPr>
          <p:cNvPr id="25" name="Text 23"/>
          <p:cNvSpPr/>
          <p:nvPr/>
        </p:nvSpPr>
        <p:spPr>
          <a:xfrm>
            <a:off x="786384" y="4261104"/>
            <a:ext cx="2999232" cy="749808"/>
          </a:xfrm>
          <a:prstGeom prst="rect">
            <a:avLst/>
          </a:prstGeom>
          <a:noFill/>
          <a:ln/>
        </p:spPr>
        <p:txBody>
          <a:bodyPr wrap="square" lIns="0" tIns="0" rIns="0" bIns="0" rtlCol="0" anchor="t"/>
          <a:lstStyle/>
          <a:p>
            <a:pPr indent="0" marL="0">
              <a:lnSpc>
                <a:spcPts val="1300"/>
              </a:lnSpc>
              <a:buNone/>
            </a:pPr>
            <a:r>
              <a:rPr lang="en-US" sz="950" dirty="0">
                <a:solidFill>
                  <a:srgbClr val="B4B7BD"/>
                </a:solidFill>
                <a:latin typeface="Courier New" pitchFamily="34" charset="0"/>
                <a:ea typeface="Courier New" pitchFamily="34" charset="-122"/>
                <a:cs typeface="Courier New" pitchFamily="34" charset="-120"/>
              </a:rPr>
              <a:t>npm  ·  pypi  ·  docker</a:t>
            </a:r>
            <a:endParaRPr lang="en-US" sz="950" dirty="0"/>
          </a:p>
        </p:txBody>
      </p:sp>
      <p:sp>
        <p:nvSpPr>
          <p:cNvPr id="26" name="Shape 24"/>
          <p:cNvSpPr/>
          <p:nvPr/>
        </p:nvSpPr>
        <p:spPr>
          <a:xfrm>
            <a:off x="4343400" y="3602736"/>
            <a:ext cx="3474720" cy="1572768"/>
          </a:xfrm>
          <a:prstGeom prst="roundRect">
            <a:avLst>
              <a:gd name="adj" fmla="val 2907"/>
            </a:avLst>
          </a:prstGeom>
          <a:solidFill>
            <a:srgbClr val="15171B"/>
          </a:solidFill>
          <a:ln w="12700">
            <a:solidFill>
              <a:srgbClr val="15171B"/>
            </a:solidFill>
            <a:prstDash val="solid"/>
          </a:ln>
        </p:spPr>
      </p:sp>
      <p:sp>
        <p:nvSpPr>
          <p:cNvPr id="27" name="Shape 25"/>
          <p:cNvSpPr/>
          <p:nvPr/>
        </p:nvSpPr>
        <p:spPr>
          <a:xfrm>
            <a:off x="4581144" y="3822192"/>
            <a:ext cx="310896" cy="310896"/>
          </a:xfrm>
          <a:prstGeom prst="roundRect">
            <a:avLst>
              <a:gd name="adj" fmla="val 26471"/>
            </a:avLst>
          </a:prstGeom>
          <a:solidFill>
            <a:srgbClr val="E8551F"/>
          </a:solidFill>
          <a:ln w="12700">
            <a:solidFill>
              <a:srgbClr val="E8551F"/>
            </a:solidFill>
            <a:prstDash val="solid"/>
          </a:ln>
        </p:spPr>
      </p:sp>
      <p:sp>
        <p:nvSpPr>
          <p:cNvPr id="28" name="Text 26"/>
          <p:cNvSpPr/>
          <p:nvPr/>
        </p:nvSpPr>
        <p:spPr>
          <a:xfrm>
            <a:off x="4581144" y="38221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9" name="Text 27"/>
          <p:cNvSpPr/>
          <p:nvPr/>
        </p:nvSpPr>
        <p:spPr>
          <a:xfrm>
            <a:off x="5001768" y="3822192"/>
            <a:ext cx="2560320" cy="32918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OS software &amp; package managers</a:t>
            </a:r>
            <a:endParaRPr lang="en-US" sz="1350" dirty="0"/>
          </a:p>
        </p:txBody>
      </p:sp>
      <p:sp>
        <p:nvSpPr>
          <p:cNvPr id="30" name="Text 28"/>
          <p:cNvSpPr/>
          <p:nvPr/>
        </p:nvSpPr>
        <p:spPr>
          <a:xfrm>
            <a:off x="4581144" y="4261104"/>
            <a:ext cx="2999232" cy="749808"/>
          </a:xfrm>
          <a:prstGeom prst="rect">
            <a:avLst/>
          </a:prstGeom>
          <a:noFill/>
          <a:ln/>
        </p:spPr>
        <p:txBody>
          <a:bodyPr wrap="square" lIns="0" tIns="0" rIns="0" bIns="0" rtlCol="0" anchor="t"/>
          <a:lstStyle/>
          <a:p>
            <a:pPr indent="0" marL="0">
              <a:lnSpc>
                <a:spcPts val="1300"/>
              </a:lnSpc>
              <a:buNone/>
            </a:pPr>
            <a:r>
              <a:rPr lang="en-US" sz="950" dirty="0">
                <a:solidFill>
                  <a:srgbClr val="B4B7BD"/>
                </a:solidFill>
                <a:latin typeface="Courier New" pitchFamily="34" charset="0"/>
                <a:ea typeface="Courier New" pitchFamily="34" charset="-122"/>
                <a:cs typeface="Courier New" pitchFamily="34" charset="-120"/>
              </a:rPr>
              <a:t>windows  ·  mac  ·  linux  ·  homebrew</a:t>
            </a:r>
            <a:endParaRPr lang="en-US" sz="950" dirty="0"/>
          </a:p>
          <a:p>
            <a:pPr indent="0" marL="0">
              <a:lnSpc>
                <a:spcPts val="1300"/>
              </a:lnSpc>
              <a:buNone/>
            </a:pPr>
            <a:r>
              <a:rPr lang="en-US" sz="950" dirty="0">
                <a:solidFill>
                  <a:srgbClr val="B4B7BD"/>
                </a:solidFill>
                <a:latin typeface="Courier New" pitchFamily="34" charset="0"/>
                <a:ea typeface="Courier New" pitchFamily="34" charset="-122"/>
                <a:cs typeface="Courier New" pitchFamily="34" charset="-120"/>
              </a:rPr>
              <a:t>chocolatey  ·  office_add_ins</a:t>
            </a:r>
            <a:endParaRPr lang="en-US" sz="950" dirty="0"/>
          </a:p>
        </p:txBody>
      </p:sp>
      <p:sp>
        <p:nvSpPr>
          <p:cNvPr id="31" name="Shape 29"/>
          <p:cNvSpPr/>
          <p:nvPr/>
        </p:nvSpPr>
        <p:spPr>
          <a:xfrm>
            <a:off x="8138160" y="3602736"/>
            <a:ext cx="3474720" cy="1572768"/>
          </a:xfrm>
          <a:prstGeom prst="roundRect">
            <a:avLst>
              <a:gd name="adj" fmla="val 2907"/>
            </a:avLst>
          </a:prstGeom>
          <a:solidFill>
            <a:srgbClr val="1C2026"/>
          </a:solidFill>
          <a:ln w="12700">
            <a:solidFill>
              <a:srgbClr val="1C2026"/>
            </a:solidFill>
            <a:prstDash val="solid"/>
          </a:ln>
        </p:spPr>
      </p:sp>
      <p:sp>
        <p:nvSpPr>
          <p:cNvPr id="32" name="Text 30"/>
          <p:cNvSpPr/>
          <p:nvPr/>
        </p:nvSpPr>
        <p:spPr>
          <a:xfrm>
            <a:off x="8375904" y="3785616"/>
            <a:ext cx="2999232"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view — the API's 9 accepted values</a:t>
            </a:r>
            <a:endParaRPr lang="en-US" sz="1200" dirty="0"/>
          </a:p>
        </p:txBody>
      </p:sp>
      <p:sp>
        <p:nvSpPr>
          <p:cNvPr id="33" name="Text 31"/>
          <p:cNvSpPr/>
          <p:nvPr/>
        </p:nvSpPr>
        <p:spPr>
          <a:xfrm>
            <a:off x="8375904" y="4096512"/>
            <a:ext cx="2999232" cy="731520"/>
          </a:xfrm>
          <a:prstGeom prst="rect">
            <a:avLst/>
          </a:prstGeom>
          <a:noFill/>
          <a:ln/>
        </p:spPr>
        <p:txBody>
          <a:bodyPr wrap="square" lIns="0" tIns="0" rIns="0" bIns="0" rtlCol="0" anchor="t"/>
          <a:lstStyle/>
          <a:p>
            <a:pPr indent="0" marL="0">
              <a:lnSpc>
                <a:spcPts val="1200"/>
              </a:lnSpc>
              <a:buNone/>
            </a:pPr>
            <a:r>
              <a:rPr lang="en-US" sz="900" dirty="0">
                <a:solidFill>
                  <a:srgbClr val="B4B7BD"/>
                </a:solidFill>
                <a:latin typeface="Courier New" pitchFamily="34" charset="0"/>
                <a:ea typeface="Courier New" pitchFamily="34" charset="-122"/>
                <a:cs typeface="Courier New" pitchFamily="34" charset="-120"/>
              </a:rPr>
              <a:t>agentic_ai · ai_models · code_packages</a:t>
            </a:r>
            <a:endParaRPr lang="en-US" sz="900" dirty="0"/>
          </a:p>
          <a:p>
            <a:pPr indent="0" marL="0">
              <a:lnSpc>
                <a:spcPts val="1200"/>
              </a:lnSpc>
              <a:buNone/>
            </a:pPr>
            <a:r>
              <a:rPr lang="en-US" sz="900" dirty="0">
                <a:solidFill>
                  <a:srgbClr val="B4B7BD"/>
                </a:solidFill>
                <a:latin typeface="Courier New" pitchFamily="34" charset="0"/>
                <a:ea typeface="Courier New" pitchFamily="34" charset="-122"/>
                <a:cs typeface="Courier New" pitchFamily="34" charset="-120"/>
              </a:rPr>
              <a:t>extensions · os_packages · software</a:t>
            </a:r>
            <a:endParaRPr lang="en-US" sz="900" dirty="0"/>
          </a:p>
          <a:p>
            <a:pPr indent="0" marL="0">
              <a:lnSpc>
                <a:spcPts val="1200"/>
              </a:lnSpc>
              <a:buNone/>
            </a:pPr>
            <a:r>
              <a:rPr lang="en-US" sz="900" dirty="0">
                <a:solidFill>
                  <a:srgbClr val="F5A524"/>
                </a:solidFill>
                <a:latin typeface="Courier New" pitchFamily="34" charset="0"/>
                <a:ea typeface="Courier New" pitchFamily="34" charset="-122"/>
                <a:cs typeface="Courier New" pitchFamily="34" charset="-120"/>
              </a:rPr>
              <a:t>all_items · mcp_servers · repositories</a:t>
            </a:r>
            <a:endParaRPr lang="en-US" sz="900" dirty="0"/>
          </a:p>
        </p:txBody>
      </p:sp>
      <p:sp>
        <p:nvSpPr>
          <p:cNvPr id="34" name="Text 32"/>
          <p:cNvSpPr/>
          <p:nvPr/>
        </p:nvSpPr>
        <p:spPr>
          <a:xfrm>
            <a:off x="8375904" y="4846320"/>
            <a:ext cx="2999232" cy="256032"/>
          </a:xfrm>
          <a:prstGeom prst="rect">
            <a:avLst/>
          </a:prstGeom>
          <a:noFill/>
          <a:ln/>
        </p:spPr>
        <p:txBody>
          <a:bodyPr wrap="square" lIns="0" tIns="0" rIns="0" bIns="0" rtlCol="0" anchor="t"/>
          <a:lstStyle/>
          <a:p>
            <a:pPr indent="0" marL="0">
              <a:buNone/>
            </a:pPr>
            <a:r>
              <a:rPr lang="en-US" sz="850" i="1" dirty="0">
                <a:solidFill>
                  <a:srgbClr val="6E747E"/>
                </a:solidFill>
                <a:latin typeface="Calibri" pitchFamily="34" charset="0"/>
                <a:ea typeface="Calibri" pitchFamily="34" charset="-122"/>
                <a:cs typeface="Calibri" pitchFamily="34" charset="-120"/>
              </a:rPr>
              <a:t>grey = in the pack's view enum · amber = API-only, absent from it  [LIVE]</a:t>
            </a:r>
            <a:endParaRPr lang="en-US" sz="850" dirty="0"/>
          </a:p>
        </p:txBody>
      </p:sp>
      <p:sp>
        <p:nvSpPr>
          <p:cNvPr id="35" name="Text 33"/>
          <p:cNvSpPr/>
          <p:nvPr/>
        </p:nvSpPr>
        <p:spPr>
          <a:xfrm>
            <a:off x="548640" y="5431536"/>
            <a:ext cx="11064240" cy="457200"/>
          </a:xfrm>
          <a:prstGeom prst="rect">
            <a:avLst/>
          </a:prstGeom>
          <a:noFill/>
          <a:ln/>
        </p:spPr>
        <p:txBody>
          <a:bodyPr wrap="square" lIns="0" tIns="0" rIns="0" bIns="0" rtlCol="0" anchor="ctr"/>
          <a:lstStyle/>
          <a:p>
            <a:pPr indent="0" marL="0">
              <a:lnSpc>
                <a:spcPts val="1400"/>
              </a:lnSpc>
              <a:buNone/>
            </a:pPr>
            <a:r>
              <a:rPr lang="en-US" sz="1050" dirty="0">
                <a:solidFill>
                  <a:srgbClr val="B4B7BD"/>
                </a:solidFill>
                <a:latin typeface="Calibri" pitchFamily="34" charset="0"/>
                <a:ea typeface="Calibri" pitchFamily="34" charset="-122"/>
                <a:cs typeface="Calibri" pitchFamily="34" charset="-120"/>
              </a:rPr>
              <a:t>Filter and sort on top of that: risk_level (low, medium, high, critical, pending), installation_method (marketplace, manual, built_in, side_loaded), publisher, first-seen date and a query-builder search.</a:t>
            </a:r>
            <a:endParaRPr lang="en-US" sz="1050" dirty="0"/>
          </a:p>
        </p:txBody>
      </p:sp>
      <p:sp>
        <p:nvSpPr>
          <p:cNvPr id="36" name="Text 34"/>
          <p:cNvSpPr/>
          <p:nvPr/>
        </p:nvSpPr>
        <p:spPr>
          <a:xfrm>
            <a:off x="548640" y="5943600"/>
            <a:ext cx="11064240" cy="274320"/>
          </a:xfrm>
          <a:prstGeom prst="rect">
            <a:avLst/>
          </a:prstGeom>
          <a:noFill/>
          <a:ln/>
        </p:spPr>
        <p:txBody>
          <a:bodyPr wrap="square" lIns="0" tIns="0" rIns="0" bIns="0" rtlCol="0" anchor="ctr"/>
          <a:lstStyle/>
          <a:p>
            <a:pPr indent="0" marL="0">
              <a:buNone/>
            </a:pPr>
            <a:r>
              <a:rPr lang="en-US" sz="950" i="1" dirty="0">
                <a:solidFill>
                  <a:srgbClr val="6E747E"/>
                </a:solidFill>
                <a:latin typeface="Calibri" pitchFamily="34" charset="0"/>
                <a:ea typeface="Calibri" pitchFamily="34" charset="-122"/>
                <a:cs typeface="Calibri" pitchFamily="34" charset="-120"/>
              </a:rPr>
              <a:t>Family tokens: the marketplace argument enum in marketplace-pack.json; the headings are an editorial grouping, not a pack construct.  The view card lists the API's accepted set, three values of which the pack's own enum omits: VERIFIED_FACTS §5.1 [LIVE].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6419088"/>
            <a:ext cx="11064240" cy="237744"/>
          </a:xfrm>
          <a:prstGeom prst="rect">
            <a:avLst/>
          </a:prstGeom>
          <a:noFill/>
          <a:ln/>
        </p:spPr>
        <p:txBody>
          <a:bodyPr wrap="square" lIns="0" tIns="0" rIns="0" bIns="0" rtlCol="0" anchor="ctr"/>
          <a:lstStyle/>
          <a:p>
            <a:pPr indent="0" marL="0">
              <a:buNone/>
            </a:pPr>
            <a:r>
              <a:rPr lang="en-US" sz="800" dirty="0">
                <a:solidFill>
                  <a:srgbClr val="6E747E"/>
                </a:solidFill>
                <a:latin typeface="Calibri" pitchFamily="34" charset="0"/>
                <a:ea typeface="Calibri" pitchFamily="34" charset="-122"/>
                <a:cs typeface="Calibri" pitchFamily="34" charset="-120"/>
              </a:rPr>
              <a:t>Marketplace KOI pack v1.2.3  ·  demisto/content / Packs/Koi  ·  integration only, 13 commands  ·  not the custom v1.3.0 pack</a:t>
            </a:r>
            <a:endParaRPr lang="en-US" sz="800" dirty="0"/>
          </a:p>
        </p:txBody>
      </p:sp>
      <p:sp>
        <p:nvSpPr>
          <p:cNvPr id="3" name="Text 1"/>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200" kern="0" dirty="0">
                <a:solidFill>
                  <a:srgbClr val="E8551F"/>
                </a:solidFill>
                <a:latin typeface="Calibri" pitchFamily="34" charset="0"/>
                <a:ea typeface="Calibri" pitchFamily="34" charset="-122"/>
                <a:cs typeface="Calibri" pitchFamily="34" charset="-120"/>
              </a:rPr>
              <a:t>CONTENTS</a:t>
            </a:r>
            <a:endParaRPr lang="en-US" sz="1100" dirty="0"/>
          </a:p>
        </p:txBody>
      </p:sp>
      <p:sp>
        <p:nvSpPr>
          <p:cNvPr id="4" name="Text 2"/>
          <p:cNvSpPr/>
          <p:nvPr/>
        </p:nvSpPr>
        <p:spPr>
          <a:xfrm>
            <a:off x="548640" y="612648"/>
            <a:ext cx="11064240" cy="658368"/>
          </a:xfrm>
          <a:prstGeom prst="rect">
            <a:avLst/>
          </a:prstGeom>
          <a:noFill/>
          <a:ln/>
        </p:spPr>
        <p:txBody>
          <a:bodyPr wrap="square" lIns="0" tIns="0" rIns="0" bIns="0" rtlCol="0" anchor="ctr"/>
          <a:lstStyle/>
          <a:p>
            <a:pPr indent="0" marL="0">
              <a:buNone/>
            </a:pPr>
            <a:r>
              <a:rPr lang="en-US" sz="3100" b="1" dirty="0">
                <a:solidFill>
                  <a:srgbClr val="FFFFFF"/>
                </a:solidFill>
                <a:latin typeface="Calibri" pitchFamily="34" charset="0"/>
                <a:ea typeface="Calibri" pitchFamily="34" charset="-122"/>
                <a:cs typeface="Calibri" pitchFamily="34" charset="-120"/>
              </a:rPr>
              <a:t>What actually ships</a:t>
            </a:r>
            <a:endParaRPr lang="en-US" sz="3100" dirty="0"/>
          </a:p>
        </p:txBody>
      </p:sp>
      <p:sp>
        <p:nvSpPr>
          <p:cNvPr id="5" name="Shape 3"/>
          <p:cNvSpPr/>
          <p:nvPr/>
        </p:nvSpPr>
        <p:spPr>
          <a:xfrm>
            <a:off x="548640" y="1426464"/>
            <a:ext cx="6400800" cy="676656"/>
          </a:xfrm>
          <a:prstGeom prst="roundRect">
            <a:avLst>
              <a:gd name="adj" fmla="val 6757"/>
            </a:avLst>
          </a:prstGeom>
          <a:solidFill>
            <a:srgbClr val="15171B"/>
          </a:solidFill>
          <a:ln w="12700">
            <a:solidFill>
              <a:srgbClr val="15171B"/>
            </a:solidFill>
            <a:prstDash val="solid"/>
          </a:ln>
        </p:spPr>
      </p:sp>
      <p:sp>
        <p:nvSpPr>
          <p:cNvPr id="6" name="Shape 4"/>
          <p:cNvSpPr/>
          <p:nvPr/>
        </p:nvSpPr>
        <p:spPr>
          <a:xfrm>
            <a:off x="749808" y="1600200"/>
            <a:ext cx="329184" cy="329184"/>
          </a:xfrm>
          <a:prstGeom prst="roundRect">
            <a:avLst>
              <a:gd name="adj" fmla="val 25000"/>
            </a:avLst>
          </a:prstGeom>
          <a:solidFill>
            <a:srgbClr val="E8551F"/>
          </a:solidFill>
          <a:ln w="12700">
            <a:solidFill>
              <a:srgbClr val="E8551F"/>
            </a:solidFill>
            <a:prstDash val="solid"/>
          </a:ln>
        </p:spPr>
      </p:sp>
      <p:sp>
        <p:nvSpPr>
          <p:cNvPr id="7" name="Text 5"/>
          <p:cNvSpPr/>
          <p:nvPr/>
        </p:nvSpPr>
        <p:spPr>
          <a:xfrm>
            <a:off x="749808" y="16002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8" name="Text 6"/>
          <p:cNvSpPr/>
          <p:nvPr/>
        </p:nvSpPr>
        <p:spPr>
          <a:xfrm>
            <a:off x="1261872" y="1508760"/>
            <a:ext cx="54864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One integration</a:t>
            </a:r>
            <a:endParaRPr lang="en-US" sz="1350" dirty="0"/>
          </a:p>
        </p:txBody>
      </p:sp>
      <p:sp>
        <p:nvSpPr>
          <p:cNvPr id="9" name="Text 7"/>
          <p:cNvSpPr/>
          <p:nvPr/>
        </p:nvSpPr>
        <p:spPr>
          <a:xfrm>
            <a:off x="1261872" y="1792224"/>
            <a:ext cx="5486400" cy="256032"/>
          </a:xfrm>
          <a:prstGeom prst="rect">
            <a:avLst/>
          </a:prstGeom>
          <a:noFill/>
          <a:ln/>
        </p:spPr>
        <p:txBody>
          <a:bodyPr wrap="square" lIns="0" tIns="0" rIns="0" bIns="0" rtlCol="0" anchor="ctr"/>
          <a:lstStyle/>
          <a:p>
            <a:pPr indent="0" marL="0">
              <a:buNone/>
            </a:pPr>
            <a:r>
              <a:rPr lang="en-US" sz="1000" dirty="0">
                <a:solidFill>
                  <a:srgbClr val="B4B7BD"/>
                </a:solidFill>
                <a:latin typeface="Calibri" pitchFamily="34" charset="0"/>
                <a:ea typeface="Calibri" pitchFamily="34" charset="-122"/>
                <a:cs typeface="Calibri" pitchFamily="34" charset="-120"/>
              </a:rPr>
              <a:t>KOI — id KOI, category Endpoint.</a:t>
            </a:r>
            <a:endParaRPr lang="en-US" sz="1000" dirty="0"/>
          </a:p>
        </p:txBody>
      </p:sp>
      <p:sp>
        <p:nvSpPr>
          <p:cNvPr id="10" name="Shape 8"/>
          <p:cNvSpPr/>
          <p:nvPr/>
        </p:nvSpPr>
        <p:spPr>
          <a:xfrm>
            <a:off x="548640" y="2212848"/>
            <a:ext cx="6400800" cy="676656"/>
          </a:xfrm>
          <a:prstGeom prst="roundRect">
            <a:avLst>
              <a:gd name="adj" fmla="val 6757"/>
            </a:avLst>
          </a:prstGeom>
          <a:solidFill>
            <a:srgbClr val="15171B"/>
          </a:solidFill>
          <a:ln w="12700">
            <a:solidFill>
              <a:srgbClr val="15171B"/>
            </a:solidFill>
            <a:prstDash val="solid"/>
          </a:ln>
        </p:spPr>
      </p:sp>
      <p:sp>
        <p:nvSpPr>
          <p:cNvPr id="11" name="Shape 9"/>
          <p:cNvSpPr/>
          <p:nvPr/>
        </p:nvSpPr>
        <p:spPr>
          <a:xfrm>
            <a:off x="749808" y="2386584"/>
            <a:ext cx="329184" cy="329184"/>
          </a:xfrm>
          <a:prstGeom prst="roundRect">
            <a:avLst>
              <a:gd name="adj" fmla="val 25000"/>
            </a:avLst>
          </a:prstGeom>
          <a:solidFill>
            <a:srgbClr val="E8551F"/>
          </a:solidFill>
          <a:ln w="12700">
            <a:solidFill>
              <a:srgbClr val="E8551F"/>
            </a:solidFill>
            <a:prstDash val="solid"/>
          </a:ln>
        </p:spPr>
      </p:sp>
      <p:sp>
        <p:nvSpPr>
          <p:cNvPr id="12" name="Text 10"/>
          <p:cNvSpPr/>
          <p:nvPr/>
        </p:nvSpPr>
        <p:spPr>
          <a:xfrm>
            <a:off x="749808" y="23865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3" name="Text 11"/>
          <p:cNvSpPr/>
          <p:nvPr/>
        </p:nvSpPr>
        <p:spPr>
          <a:xfrm>
            <a:off x="1261872" y="2295144"/>
            <a:ext cx="54864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13 commands</a:t>
            </a:r>
            <a:endParaRPr lang="en-US" sz="1350" dirty="0"/>
          </a:p>
        </p:txBody>
      </p:sp>
      <p:sp>
        <p:nvSpPr>
          <p:cNvPr id="14" name="Text 12"/>
          <p:cNvSpPr/>
          <p:nvPr/>
        </p:nvSpPr>
        <p:spPr>
          <a:xfrm>
            <a:off x="1261872" y="2578608"/>
            <a:ext cx="5486400" cy="256032"/>
          </a:xfrm>
          <a:prstGeom prst="rect">
            <a:avLst/>
          </a:prstGeom>
          <a:noFill/>
          <a:ln/>
        </p:spPr>
        <p:txBody>
          <a:bodyPr wrap="square" lIns="0" tIns="0" rIns="0" bIns="0" rtlCol="0" anchor="ctr"/>
          <a:lstStyle/>
          <a:p>
            <a:pPr indent="0" marL="0">
              <a:buNone/>
            </a:pPr>
            <a:r>
              <a:rPr lang="en-US" sz="1000" dirty="0">
                <a:solidFill>
                  <a:srgbClr val="B4B7BD"/>
                </a:solidFill>
                <a:latin typeface="Calibri" pitchFamily="34" charset="0"/>
                <a:ea typeface="Calibri" pitchFamily="34" charset="-122"/>
                <a:cs typeface="Calibri" pitchFamily="34" charset="-120"/>
              </a:rPr>
              <a:t>67 arguments, 131 output declarations over 68 distinct context paths.</a:t>
            </a:r>
            <a:endParaRPr lang="en-US" sz="1000" dirty="0"/>
          </a:p>
        </p:txBody>
      </p:sp>
      <p:sp>
        <p:nvSpPr>
          <p:cNvPr id="15" name="Shape 13"/>
          <p:cNvSpPr/>
          <p:nvPr/>
        </p:nvSpPr>
        <p:spPr>
          <a:xfrm>
            <a:off x="548640" y="2999232"/>
            <a:ext cx="6400800" cy="676656"/>
          </a:xfrm>
          <a:prstGeom prst="roundRect">
            <a:avLst>
              <a:gd name="adj" fmla="val 6757"/>
            </a:avLst>
          </a:prstGeom>
          <a:solidFill>
            <a:srgbClr val="15171B"/>
          </a:solidFill>
          <a:ln w="12700">
            <a:solidFill>
              <a:srgbClr val="15171B"/>
            </a:solidFill>
            <a:prstDash val="solid"/>
          </a:ln>
        </p:spPr>
      </p:sp>
      <p:sp>
        <p:nvSpPr>
          <p:cNvPr id="16" name="Shape 14"/>
          <p:cNvSpPr/>
          <p:nvPr/>
        </p:nvSpPr>
        <p:spPr>
          <a:xfrm>
            <a:off x="749808" y="3172968"/>
            <a:ext cx="329184" cy="329184"/>
          </a:xfrm>
          <a:prstGeom prst="roundRect">
            <a:avLst>
              <a:gd name="adj" fmla="val 25000"/>
            </a:avLst>
          </a:prstGeom>
          <a:solidFill>
            <a:srgbClr val="E8551F"/>
          </a:solidFill>
          <a:ln w="12700">
            <a:solidFill>
              <a:srgbClr val="E8551F"/>
            </a:solidFill>
            <a:prstDash val="solid"/>
          </a:ln>
        </p:spPr>
      </p:sp>
      <p:sp>
        <p:nvSpPr>
          <p:cNvPr id="17" name="Text 15"/>
          <p:cNvSpPr/>
          <p:nvPr/>
        </p:nvSpPr>
        <p:spPr>
          <a:xfrm>
            <a:off x="749808" y="31729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8" name="Text 16"/>
          <p:cNvSpPr/>
          <p:nvPr/>
        </p:nvSpPr>
        <p:spPr>
          <a:xfrm>
            <a:off x="1261872" y="3081528"/>
            <a:ext cx="54864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An event collector — XSIAM / platform only</a:t>
            </a:r>
            <a:endParaRPr lang="en-US" sz="1350" dirty="0"/>
          </a:p>
        </p:txBody>
      </p:sp>
      <p:sp>
        <p:nvSpPr>
          <p:cNvPr id="19" name="Text 17"/>
          <p:cNvSpPr/>
          <p:nvPr/>
        </p:nvSpPr>
        <p:spPr>
          <a:xfrm>
            <a:off x="1261872" y="3364992"/>
            <a:ext cx="5486400" cy="256032"/>
          </a:xfrm>
          <a:prstGeom prst="rect">
            <a:avLst/>
          </a:prstGeom>
          <a:noFill/>
          <a:ln/>
        </p:spPr>
        <p:txBody>
          <a:bodyPr wrap="square" lIns="0" tIns="0" rIns="0" bIns="0" rtlCol="0" anchor="ctr"/>
          <a:lstStyle/>
          <a:p>
            <a:pPr indent="0" marL="0">
              <a:buNone/>
            </a:pPr>
            <a:r>
              <a:rPr lang="en-US" sz="1000" dirty="0">
                <a:solidFill>
                  <a:srgbClr val="B4B7BD"/>
                </a:solidFill>
                <a:latin typeface="Calibri" pitchFamily="34" charset="0"/>
                <a:ea typeface="Calibri" pitchFamily="34" charset="-122"/>
                <a:cs typeface="Calibri" pitchFamily="34" charset="-120"/>
              </a:rPr>
              <a:t>isfetchevents true, xsoar false — Alerts and Audit. Disabled on XSOAR.</a:t>
            </a:r>
            <a:endParaRPr lang="en-US" sz="1000" dirty="0"/>
          </a:p>
        </p:txBody>
      </p:sp>
      <p:sp>
        <p:nvSpPr>
          <p:cNvPr id="20" name="Shape 18"/>
          <p:cNvSpPr/>
          <p:nvPr/>
        </p:nvSpPr>
        <p:spPr>
          <a:xfrm>
            <a:off x="548640" y="3785616"/>
            <a:ext cx="6400800" cy="676656"/>
          </a:xfrm>
          <a:prstGeom prst="roundRect">
            <a:avLst>
              <a:gd name="adj" fmla="val 6757"/>
            </a:avLst>
          </a:prstGeom>
          <a:solidFill>
            <a:srgbClr val="15171B"/>
          </a:solidFill>
          <a:ln w="12700">
            <a:solidFill>
              <a:srgbClr val="15171B"/>
            </a:solidFill>
            <a:prstDash val="solid"/>
          </a:ln>
        </p:spPr>
      </p:sp>
      <p:sp>
        <p:nvSpPr>
          <p:cNvPr id="21" name="Shape 19"/>
          <p:cNvSpPr/>
          <p:nvPr/>
        </p:nvSpPr>
        <p:spPr>
          <a:xfrm>
            <a:off x="749808" y="3959352"/>
            <a:ext cx="329184" cy="329184"/>
          </a:xfrm>
          <a:prstGeom prst="roundRect">
            <a:avLst>
              <a:gd name="adj" fmla="val 25000"/>
            </a:avLst>
          </a:prstGeom>
          <a:solidFill>
            <a:srgbClr val="6E747E"/>
          </a:solidFill>
          <a:ln w="12700">
            <a:solidFill>
              <a:srgbClr val="6E747E"/>
            </a:solidFill>
            <a:prstDash val="solid"/>
          </a:ln>
        </p:spPr>
      </p:sp>
      <p:sp>
        <p:nvSpPr>
          <p:cNvPr id="22" name="Text 20"/>
          <p:cNvSpPr/>
          <p:nvPr/>
        </p:nvSpPr>
        <p:spPr>
          <a:xfrm>
            <a:off x="749808" y="39593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3" name="Text 21"/>
          <p:cNvSpPr/>
          <p:nvPr/>
        </p:nvSpPr>
        <p:spPr>
          <a:xfrm>
            <a:off x="1261872" y="3867912"/>
            <a:ext cx="5486400" cy="274320"/>
          </a:xfrm>
          <a:prstGeom prst="rect">
            <a:avLst/>
          </a:prstGeom>
          <a:noFill/>
          <a:ln/>
        </p:spPr>
        <p:txBody>
          <a:bodyPr wrap="square" lIns="0" tIns="0" rIns="0" bIns="0" rtlCol="0" anchor="ctr"/>
          <a:lstStyle/>
          <a:p>
            <a:pPr indent="0" marL="0">
              <a:buNone/>
            </a:pPr>
            <a:r>
              <a:rPr lang="en-US" sz="1350" b="1" dirty="0">
                <a:solidFill>
                  <a:srgbClr val="6E747E"/>
                </a:solidFill>
                <a:latin typeface="Calibri" pitchFamily="34" charset="0"/>
                <a:ea typeface="Calibri" pitchFamily="34" charset="-122"/>
                <a:cs typeface="Calibri" pitchFamily="34" charset="-120"/>
              </a:rPr>
              <a:t>No playbooks</a:t>
            </a:r>
            <a:endParaRPr lang="en-US" sz="1350" dirty="0"/>
          </a:p>
        </p:txBody>
      </p:sp>
      <p:sp>
        <p:nvSpPr>
          <p:cNvPr id="24" name="Text 22"/>
          <p:cNvSpPr/>
          <p:nvPr/>
        </p:nvSpPr>
        <p:spPr>
          <a:xfrm>
            <a:off x="1261872" y="4151376"/>
            <a:ext cx="5486400" cy="256032"/>
          </a:xfrm>
          <a:prstGeom prst="rect">
            <a:avLst/>
          </a:prstGeom>
          <a:noFill/>
          <a:ln/>
        </p:spPr>
        <p:txBody>
          <a:bodyPr wrap="square" lIns="0" tIns="0" rIns="0" bIns="0" rtlCol="0" anchor="ctr"/>
          <a:lstStyle/>
          <a:p>
            <a:pPr indent="0" marL="0">
              <a:buNone/>
            </a:pPr>
            <a:r>
              <a:rPr lang="en-US" sz="1000" dirty="0">
                <a:solidFill>
                  <a:srgbClr val="B4B7BD"/>
                </a:solidFill>
                <a:latin typeface="Calibri" pitchFamily="34" charset="0"/>
                <a:ea typeface="Calibri" pitchFamily="34" charset="-122"/>
                <a:cs typeface="Calibri" pitchFamily="34" charset="-120"/>
              </a:rPr>
              <a:t>Nothing orchestrates the commands. You supply the workflow.</a:t>
            </a:r>
            <a:endParaRPr lang="en-US" sz="1000" dirty="0"/>
          </a:p>
        </p:txBody>
      </p:sp>
      <p:sp>
        <p:nvSpPr>
          <p:cNvPr id="25" name="Shape 23"/>
          <p:cNvSpPr/>
          <p:nvPr/>
        </p:nvSpPr>
        <p:spPr>
          <a:xfrm>
            <a:off x="548640" y="4572000"/>
            <a:ext cx="6400800" cy="676656"/>
          </a:xfrm>
          <a:prstGeom prst="roundRect">
            <a:avLst>
              <a:gd name="adj" fmla="val 6757"/>
            </a:avLst>
          </a:prstGeom>
          <a:solidFill>
            <a:srgbClr val="15171B"/>
          </a:solidFill>
          <a:ln w="12700">
            <a:solidFill>
              <a:srgbClr val="15171B"/>
            </a:solidFill>
            <a:prstDash val="solid"/>
          </a:ln>
        </p:spPr>
      </p:sp>
      <p:sp>
        <p:nvSpPr>
          <p:cNvPr id="26" name="Shape 24"/>
          <p:cNvSpPr/>
          <p:nvPr/>
        </p:nvSpPr>
        <p:spPr>
          <a:xfrm>
            <a:off x="749808" y="4745736"/>
            <a:ext cx="329184" cy="329184"/>
          </a:xfrm>
          <a:prstGeom prst="roundRect">
            <a:avLst>
              <a:gd name="adj" fmla="val 25000"/>
            </a:avLst>
          </a:prstGeom>
          <a:solidFill>
            <a:srgbClr val="6E747E"/>
          </a:solidFill>
          <a:ln w="12700">
            <a:solidFill>
              <a:srgbClr val="6E747E"/>
            </a:solidFill>
            <a:prstDash val="solid"/>
          </a:ln>
        </p:spPr>
      </p:sp>
      <p:sp>
        <p:nvSpPr>
          <p:cNvPr id="27" name="Text 25"/>
          <p:cNvSpPr/>
          <p:nvPr/>
        </p:nvSpPr>
        <p:spPr>
          <a:xfrm>
            <a:off x="749808" y="4745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8" name="Text 26"/>
          <p:cNvSpPr/>
          <p:nvPr/>
        </p:nvSpPr>
        <p:spPr>
          <a:xfrm>
            <a:off x="1261872" y="4654296"/>
            <a:ext cx="5486400" cy="274320"/>
          </a:xfrm>
          <a:prstGeom prst="rect">
            <a:avLst/>
          </a:prstGeom>
          <a:noFill/>
          <a:ln/>
        </p:spPr>
        <p:txBody>
          <a:bodyPr wrap="square" lIns="0" tIns="0" rIns="0" bIns="0" rtlCol="0" anchor="ctr"/>
          <a:lstStyle/>
          <a:p>
            <a:pPr indent="0" marL="0">
              <a:buNone/>
            </a:pPr>
            <a:r>
              <a:rPr lang="en-US" sz="1350" b="1" dirty="0">
                <a:solidFill>
                  <a:srgbClr val="6E747E"/>
                </a:solidFill>
                <a:latin typeface="Calibri" pitchFamily="34" charset="0"/>
                <a:ea typeface="Calibri" pitchFamily="34" charset="-122"/>
                <a:cs typeface="Calibri" pitchFamily="34" charset="-120"/>
              </a:rPr>
              <a:t>No parsing or modeling rules</a:t>
            </a:r>
            <a:endParaRPr lang="en-US" sz="1350" dirty="0"/>
          </a:p>
        </p:txBody>
      </p:sp>
      <p:sp>
        <p:nvSpPr>
          <p:cNvPr id="29" name="Text 27"/>
          <p:cNvSpPr/>
          <p:nvPr/>
        </p:nvSpPr>
        <p:spPr>
          <a:xfrm>
            <a:off x="1261872" y="4937760"/>
            <a:ext cx="5486400" cy="256032"/>
          </a:xfrm>
          <a:prstGeom prst="rect">
            <a:avLst/>
          </a:prstGeom>
          <a:noFill/>
          <a:ln/>
        </p:spPr>
        <p:txBody>
          <a:bodyPr wrap="square" lIns="0" tIns="0" rIns="0" bIns="0" rtlCol="0" anchor="ctr"/>
          <a:lstStyle/>
          <a:p>
            <a:pPr indent="0" marL="0">
              <a:buNone/>
            </a:pPr>
            <a:r>
              <a:rPr lang="en-US" sz="1000" dirty="0">
                <a:solidFill>
                  <a:srgbClr val="B4B7BD"/>
                </a:solidFill>
                <a:latin typeface="Calibri" pitchFamily="34" charset="0"/>
                <a:ea typeface="Calibri" pitchFamily="34" charset="-122"/>
                <a:cs typeface="Calibri" pitchFamily="34" charset="-120"/>
              </a:rPr>
              <a:t>None ships in the pack, and no XDM field is populated in koi_koi_raw.</a:t>
            </a:r>
            <a:endParaRPr lang="en-US" sz="1000" dirty="0"/>
          </a:p>
        </p:txBody>
      </p:sp>
      <p:sp>
        <p:nvSpPr>
          <p:cNvPr id="30" name="Shape 28"/>
          <p:cNvSpPr/>
          <p:nvPr/>
        </p:nvSpPr>
        <p:spPr>
          <a:xfrm>
            <a:off x="548640" y="5358384"/>
            <a:ext cx="6400800" cy="676656"/>
          </a:xfrm>
          <a:prstGeom prst="roundRect">
            <a:avLst>
              <a:gd name="adj" fmla="val 6757"/>
            </a:avLst>
          </a:prstGeom>
          <a:solidFill>
            <a:srgbClr val="15171B"/>
          </a:solidFill>
          <a:ln w="12700">
            <a:solidFill>
              <a:srgbClr val="15171B"/>
            </a:solidFill>
            <a:prstDash val="solid"/>
          </a:ln>
        </p:spPr>
      </p:sp>
      <p:sp>
        <p:nvSpPr>
          <p:cNvPr id="31" name="Shape 29"/>
          <p:cNvSpPr/>
          <p:nvPr/>
        </p:nvSpPr>
        <p:spPr>
          <a:xfrm>
            <a:off x="749808" y="5532120"/>
            <a:ext cx="329184" cy="329184"/>
          </a:xfrm>
          <a:prstGeom prst="roundRect">
            <a:avLst>
              <a:gd name="adj" fmla="val 25000"/>
            </a:avLst>
          </a:prstGeom>
          <a:solidFill>
            <a:srgbClr val="6E747E"/>
          </a:solidFill>
          <a:ln w="12700">
            <a:solidFill>
              <a:srgbClr val="6E747E"/>
            </a:solidFill>
            <a:prstDash val="solid"/>
          </a:ln>
        </p:spPr>
      </p:sp>
      <p:sp>
        <p:nvSpPr>
          <p:cNvPr id="32" name="Text 30"/>
          <p:cNvSpPr/>
          <p:nvPr/>
        </p:nvSpPr>
        <p:spPr>
          <a:xfrm>
            <a:off x="749808" y="55321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3" name="Text 31"/>
          <p:cNvSpPr/>
          <p:nvPr/>
        </p:nvSpPr>
        <p:spPr>
          <a:xfrm>
            <a:off x="1261872" y="5440680"/>
            <a:ext cx="5486400" cy="274320"/>
          </a:xfrm>
          <a:prstGeom prst="rect">
            <a:avLst/>
          </a:prstGeom>
          <a:noFill/>
          <a:ln/>
        </p:spPr>
        <p:txBody>
          <a:bodyPr wrap="square" lIns="0" tIns="0" rIns="0" bIns="0" rtlCol="0" anchor="ctr"/>
          <a:lstStyle/>
          <a:p>
            <a:pPr indent="0" marL="0">
              <a:buNone/>
            </a:pPr>
            <a:r>
              <a:rPr lang="en-US" sz="1350" b="1" dirty="0">
                <a:solidFill>
                  <a:srgbClr val="6E747E"/>
                </a:solidFill>
                <a:latin typeface="Calibri" pitchFamily="34" charset="0"/>
                <a:ea typeface="Calibri" pitchFamily="34" charset="-122"/>
                <a:cs typeface="Calibri" pitchFamily="34" charset="-120"/>
              </a:rPr>
              <a:t>No dashboard, no layouts</a:t>
            </a:r>
            <a:endParaRPr lang="en-US" sz="1350" dirty="0"/>
          </a:p>
        </p:txBody>
      </p:sp>
      <p:sp>
        <p:nvSpPr>
          <p:cNvPr id="34" name="Text 32"/>
          <p:cNvSpPr/>
          <p:nvPr/>
        </p:nvSpPr>
        <p:spPr>
          <a:xfrm>
            <a:off x="1261872" y="5724144"/>
            <a:ext cx="5486400" cy="256032"/>
          </a:xfrm>
          <a:prstGeom prst="rect">
            <a:avLst/>
          </a:prstGeom>
          <a:noFill/>
          <a:ln/>
        </p:spPr>
        <p:txBody>
          <a:bodyPr wrap="square" lIns="0" tIns="0" rIns="0" bIns="0" rtlCol="0" anchor="ctr"/>
          <a:lstStyle/>
          <a:p>
            <a:pPr indent="0" marL="0">
              <a:buNone/>
            </a:pPr>
            <a:r>
              <a:rPr lang="en-US" sz="1000" dirty="0">
                <a:solidFill>
                  <a:srgbClr val="B4B7BD"/>
                </a:solidFill>
                <a:latin typeface="Calibri" pitchFamily="34" charset="0"/>
                <a:ea typeface="Calibri" pitchFamily="34" charset="-122"/>
                <a:cs typeface="Calibri" pitchFamily="34" charset="-120"/>
              </a:rPr>
              <a:t>Integration only. Everything else is yours to build.</a:t>
            </a:r>
            <a:endParaRPr lang="en-US" sz="1000" dirty="0"/>
          </a:p>
        </p:txBody>
      </p:sp>
      <p:sp>
        <p:nvSpPr>
          <p:cNvPr id="35" name="Shape 33"/>
          <p:cNvSpPr/>
          <p:nvPr/>
        </p:nvSpPr>
        <p:spPr>
          <a:xfrm>
            <a:off x="7315200" y="1426464"/>
            <a:ext cx="4297680" cy="4663440"/>
          </a:xfrm>
          <a:prstGeom prst="roundRect">
            <a:avLst>
              <a:gd name="adj" fmla="val 1064"/>
            </a:avLst>
          </a:prstGeom>
          <a:solidFill>
            <a:srgbClr val="1C2026"/>
          </a:solidFill>
          <a:ln w="12700">
            <a:solidFill>
              <a:srgbClr val="1C2026"/>
            </a:solidFill>
            <a:prstDash val="solid"/>
          </a:ln>
        </p:spPr>
      </p:sp>
      <p:sp>
        <p:nvSpPr>
          <p:cNvPr id="36" name="Text 34"/>
          <p:cNvSpPr/>
          <p:nvPr/>
        </p:nvSpPr>
        <p:spPr>
          <a:xfrm>
            <a:off x="7589520" y="1609344"/>
            <a:ext cx="374904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Build facts</a:t>
            </a:r>
            <a:endParaRPr lang="en-US" sz="1500" dirty="0"/>
          </a:p>
        </p:txBody>
      </p:sp>
      <p:sp>
        <p:nvSpPr>
          <p:cNvPr id="37" name="Text 35"/>
          <p:cNvSpPr/>
          <p:nvPr/>
        </p:nvSpPr>
        <p:spPr>
          <a:xfrm>
            <a:off x="7589520" y="1920240"/>
            <a:ext cx="3749040" cy="182880"/>
          </a:xfrm>
          <a:prstGeom prst="rect">
            <a:avLst/>
          </a:prstGeom>
          <a:noFill/>
          <a:ln/>
        </p:spPr>
        <p:txBody>
          <a:bodyPr wrap="square" lIns="0" tIns="0" rIns="0" bIns="0" rtlCol="0" anchor="ctr"/>
          <a:lstStyle/>
          <a:p>
            <a:pPr indent="0" marL="0">
              <a:buNone/>
            </a:pPr>
            <a:r>
              <a:rPr lang="en-US" sz="900" spc="100" kern="0" dirty="0">
                <a:solidFill>
                  <a:srgbClr val="6E747E"/>
                </a:solidFill>
                <a:latin typeface="Calibri" pitchFamily="34" charset="0"/>
                <a:ea typeface="Calibri" pitchFamily="34" charset="-122"/>
                <a:cs typeface="Calibri" pitchFamily="34" charset="-120"/>
              </a:rPr>
              <a:t>Pack version</a:t>
            </a:r>
            <a:endParaRPr lang="en-US" sz="900" dirty="0"/>
          </a:p>
        </p:txBody>
      </p:sp>
      <p:sp>
        <p:nvSpPr>
          <p:cNvPr id="38" name="Text 36"/>
          <p:cNvSpPr/>
          <p:nvPr/>
        </p:nvSpPr>
        <p:spPr>
          <a:xfrm>
            <a:off x="7589520" y="2084832"/>
            <a:ext cx="3749040" cy="274320"/>
          </a:xfrm>
          <a:prstGeom prst="rect">
            <a:avLst/>
          </a:prstGeom>
          <a:noFill/>
          <a:ln/>
        </p:spPr>
        <p:txBody>
          <a:bodyPr wrap="square" lIns="0" tIns="0" rIns="0" bIns="0" rtlCol="0" anchor="t"/>
          <a:lstStyle/>
          <a:p>
            <a:pPr indent="0" marL="0">
              <a:buNone/>
            </a:pPr>
            <a:r>
              <a:rPr lang="en-US" sz="1050" dirty="0">
                <a:solidFill>
                  <a:srgbClr val="22D3EE"/>
                </a:solidFill>
                <a:latin typeface="Courier New" pitchFamily="34" charset="0"/>
                <a:ea typeface="Courier New" pitchFamily="34" charset="-122"/>
                <a:cs typeface="Courier New" pitchFamily="34" charset="-120"/>
              </a:rPr>
              <a:t>1.2.3</a:t>
            </a:r>
            <a:endParaRPr lang="en-US" sz="1050" dirty="0"/>
          </a:p>
        </p:txBody>
      </p:sp>
      <p:sp>
        <p:nvSpPr>
          <p:cNvPr id="39" name="Text 37"/>
          <p:cNvSpPr/>
          <p:nvPr/>
        </p:nvSpPr>
        <p:spPr>
          <a:xfrm>
            <a:off x="7589520" y="2359152"/>
            <a:ext cx="3749040" cy="182880"/>
          </a:xfrm>
          <a:prstGeom prst="rect">
            <a:avLst/>
          </a:prstGeom>
          <a:noFill/>
          <a:ln/>
        </p:spPr>
        <p:txBody>
          <a:bodyPr wrap="square" lIns="0" tIns="0" rIns="0" bIns="0" rtlCol="0" anchor="ctr"/>
          <a:lstStyle/>
          <a:p>
            <a:pPr indent="0" marL="0">
              <a:buNone/>
            </a:pPr>
            <a:r>
              <a:rPr lang="en-US" sz="900" spc="100" kern="0" dirty="0">
                <a:solidFill>
                  <a:srgbClr val="6E747E"/>
                </a:solidFill>
                <a:latin typeface="Calibri" pitchFamily="34" charset="0"/>
                <a:ea typeface="Calibri" pitchFamily="34" charset="-122"/>
                <a:cs typeface="Calibri" pitchFamily="34" charset="-120"/>
              </a:rPr>
              <a:t>Integration id</a:t>
            </a:r>
            <a:endParaRPr lang="en-US" sz="900" dirty="0"/>
          </a:p>
        </p:txBody>
      </p:sp>
      <p:sp>
        <p:nvSpPr>
          <p:cNvPr id="40" name="Text 38"/>
          <p:cNvSpPr/>
          <p:nvPr/>
        </p:nvSpPr>
        <p:spPr>
          <a:xfrm>
            <a:off x="7589520" y="2523744"/>
            <a:ext cx="3749040" cy="274320"/>
          </a:xfrm>
          <a:prstGeom prst="rect">
            <a:avLst/>
          </a:prstGeom>
          <a:noFill/>
          <a:ln/>
        </p:spPr>
        <p:txBody>
          <a:bodyPr wrap="square" lIns="0" tIns="0" rIns="0" bIns="0" rtlCol="0" anchor="t"/>
          <a:lstStyle/>
          <a:p>
            <a:pPr indent="0" marL="0">
              <a:buNone/>
            </a:pPr>
            <a:r>
              <a:rPr lang="en-US" sz="1050" dirty="0">
                <a:solidFill>
                  <a:srgbClr val="22D3EE"/>
                </a:solidFill>
                <a:latin typeface="Courier New" pitchFamily="34" charset="0"/>
                <a:ea typeface="Courier New" pitchFamily="34" charset="-122"/>
                <a:cs typeface="Courier New" pitchFamily="34" charset="-120"/>
              </a:rPr>
              <a:t>KOI</a:t>
            </a:r>
            <a:endParaRPr lang="en-US" sz="1050" dirty="0"/>
          </a:p>
        </p:txBody>
      </p:sp>
      <p:sp>
        <p:nvSpPr>
          <p:cNvPr id="41" name="Text 39"/>
          <p:cNvSpPr/>
          <p:nvPr/>
        </p:nvSpPr>
        <p:spPr>
          <a:xfrm>
            <a:off x="7589520" y="2798064"/>
            <a:ext cx="3749040" cy="182880"/>
          </a:xfrm>
          <a:prstGeom prst="rect">
            <a:avLst/>
          </a:prstGeom>
          <a:noFill/>
          <a:ln/>
        </p:spPr>
        <p:txBody>
          <a:bodyPr wrap="square" lIns="0" tIns="0" rIns="0" bIns="0" rtlCol="0" anchor="ctr"/>
          <a:lstStyle/>
          <a:p>
            <a:pPr indent="0" marL="0">
              <a:buNone/>
            </a:pPr>
            <a:r>
              <a:rPr lang="en-US" sz="900" spc="100" kern="0" dirty="0">
                <a:solidFill>
                  <a:srgbClr val="6E747E"/>
                </a:solidFill>
                <a:latin typeface="Calibri" pitchFamily="34" charset="0"/>
                <a:ea typeface="Calibri" pitchFamily="34" charset="-122"/>
                <a:cs typeface="Calibri" pitchFamily="34" charset="-120"/>
              </a:rPr>
              <a:t>From version</a:t>
            </a:r>
            <a:endParaRPr lang="en-US" sz="900" dirty="0"/>
          </a:p>
        </p:txBody>
      </p:sp>
      <p:sp>
        <p:nvSpPr>
          <p:cNvPr id="42" name="Text 40"/>
          <p:cNvSpPr/>
          <p:nvPr/>
        </p:nvSpPr>
        <p:spPr>
          <a:xfrm>
            <a:off x="7589520" y="2962656"/>
            <a:ext cx="3749040" cy="274320"/>
          </a:xfrm>
          <a:prstGeom prst="rect">
            <a:avLst/>
          </a:prstGeom>
          <a:noFill/>
          <a:ln/>
        </p:spPr>
        <p:txBody>
          <a:bodyPr wrap="square" lIns="0" tIns="0" rIns="0" bIns="0" rtlCol="0" anchor="t"/>
          <a:lstStyle/>
          <a:p>
            <a:pPr indent="0" marL="0">
              <a:buNone/>
            </a:pPr>
            <a:r>
              <a:rPr lang="en-US" sz="1050" dirty="0">
                <a:solidFill>
                  <a:srgbClr val="22D3EE"/>
                </a:solidFill>
                <a:latin typeface="Courier New" pitchFamily="34" charset="0"/>
                <a:ea typeface="Courier New" pitchFamily="34" charset="-122"/>
                <a:cs typeface="Courier New" pitchFamily="34" charset="-120"/>
              </a:rPr>
              <a:t>6.10.0</a:t>
            </a:r>
            <a:endParaRPr lang="en-US" sz="1050" dirty="0"/>
          </a:p>
        </p:txBody>
      </p:sp>
      <p:sp>
        <p:nvSpPr>
          <p:cNvPr id="43" name="Text 41"/>
          <p:cNvSpPr/>
          <p:nvPr/>
        </p:nvSpPr>
        <p:spPr>
          <a:xfrm>
            <a:off x="7589520" y="3236976"/>
            <a:ext cx="3749040" cy="182880"/>
          </a:xfrm>
          <a:prstGeom prst="rect">
            <a:avLst/>
          </a:prstGeom>
          <a:noFill/>
          <a:ln/>
        </p:spPr>
        <p:txBody>
          <a:bodyPr wrap="square" lIns="0" tIns="0" rIns="0" bIns="0" rtlCol="0" anchor="ctr"/>
          <a:lstStyle/>
          <a:p>
            <a:pPr indent="0" marL="0">
              <a:buNone/>
            </a:pPr>
            <a:r>
              <a:rPr lang="en-US" sz="900" spc="100" kern="0" dirty="0">
                <a:solidFill>
                  <a:srgbClr val="6E747E"/>
                </a:solidFill>
                <a:latin typeface="Calibri" pitchFamily="34" charset="0"/>
                <a:ea typeface="Calibri" pitchFamily="34" charset="-122"/>
                <a:cs typeface="Calibri" pitchFamily="34" charset="-120"/>
              </a:rPr>
              <a:t>Docker image</a:t>
            </a:r>
            <a:endParaRPr lang="en-US" sz="900" dirty="0"/>
          </a:p>
        </p:txBody>
      </p:sp>
      <p:sp>
        <p:nvSpPr>
          <p:cNvPr id="44" name="Text 42"/>
          <p:cNvSpPr/>
          <p:nvPr/>
        </p:nvSpPr>
        <p:spPr>
          <a:xfrm>
            <a:off x="7589520" y="3401568"/>
            <a:ext cx="3749040" cy="274320"/>
          </a:xfrm>
          <a:prstGeom prst="rect">
            <a:avLst/>
          </a:prstGeom>
          <a:noFill/>
          <a:ln/>
        </p:spPr>
        <p:txBody>
          <a:bodyPr wrap="square" lIns="0" tIns="0" rIns="0" bIns="0" rtlCol="0" anchor="t"/>
          <a:lstStyle/>
          <a:p>
            <a:pPr indent="0" marL="0">
              <a:buNone/>
            </a:pPr>
            <a:r>
              <a:rPr lang="en-US" sz="1050" dirty="0">
                <a:solidFill>
                  <a:srgbClr val="22D3EE"/>
                </a:solidFill>
                <a:latin typeface="Courier New" pitchFamily="34" charset="0"/>
                <a:ea typeface="Courier New" pitchFamily="34" charset="-122"/>
                <a:cs typeface="Courier New" pitchFamily="34" charset="-120"/>
              </a:rPr>
              <a:t>demisto/fastapi:0.125.0.10158186</a:t>
            </a:r>
            <a:endParaRPr lang="en-US" sz="1050" dirty="0"/>
          </a:p>
        </p:txBody>
      </p:sp>
      <p:sp>
        <p:nvSpPr>
          <p:cNvPr id="45" name="Text 43"/>
          <p:cNvSpPr/>
          <p:nvPr/>
        </p:nvSpPr>
        <p:spPr>
          <a:xfrm>
            <a:off x="7589520" y="3675888"/>
            <a:ext cx="3749040" cy="182880"/>
          </a:xfrm>
          <a:prstGeom prst="rect">
            <a:avLst/>
          </a:prstGeom>
          <a:noFill/>
          <a:ln/>
        </p:spPr>
        <p:txBody>
          <a:bodyPr wrap="square" lIns="0" tIns="0" rIns="0" bIns="0" rtlCol="0" anchor="ctr"/>
          <a:lstStyle/>
          <a:p>
            <a:pPr indent="0" marL="0">
              <a:buNone/>
            </a:pPr>
            <a:r>
              <a:rPr lang="en-US" sz="900" spc="100" kern="0" dirty="0">
                <a:solidFill>
                  <a:srgbClr val="6E747E"/>
                </a:solidFill>
                <a:latin typeface="Calibri" pitchFamily="34" charset="0"/>
                <a:ea typeface="Calibri" pitchFamily="34" charset="-122"/>
                <a:cs typeface="Calibri" pitchFamily="34" charset="-120"/>
              </a:rPr>
              <a:t>Marketplaces</a:t>
            </a:r>
            <a:endParaRPr lang="en-US" sz="900" dirty="0"/>
          </a:p>
        </p:txBody>
      </p:sp>
      <p:sp>
        <p:nvSpPr>
          <p:cNvPr id="46" name="Text 44"/>
          <p:cNvSpPr/>
          <p:nvPr/>
        </p:nvSpPr>
        <p:spPr>
          <a:xfrm>
            <a:off x="7589520" y="3840480"/>
            <a:ext cx="3749040" cy="274320"/>
          </a:xfrm>
          <a:prstGeom prst="rect">
            <a:avLst/>
          </a:prstGeom>
          <a:noFill/>
          <a:ln/>
        </p:spPr>
        <p:txBody>
          <a:bodyPr wrap="square" lIns="0" tIns="0" rIns="0" bIns="0" rtlCol="0" anchor="t"/>
          <a:lstStyle/>
          <a:p>
            <a:pPr indent="0" marL="0">
              <a:buNone/>
            </a:pPr>
            <a:r>
              <a:rPr lang="en-US" sz="1050" dirty="0">
                <a:solidFill>
                  <a:srgbClr val="22D3EE"/>
                </a:solidFill>
                <a:latin typeface="Courier New" pitchFamily="34" charset="0"/>
                <a:ea typeface="Courier New" pitchFamily="34" charset="-122"/>
                <a:cs typeface="Courier New" pitchFamily="34" charset="-120"/>
              </a:rPr>
              <a:t>xsoar, marketplacev2, platform</a:t>
            </a:r>
            <a:endParaRPr lang="en-US" sz="1050" dirty="0"/>
          </a:p>
        </p:txBody>
      </p:sp>
      <p:sp>
        <p:nvSpPr>
          <p:cNvPr id="47" name="Text 45"/>
          <p:cNvSpPr/>
          <p:nvPr/>
        </p:nvSpPr>
        <p:spPr>
          <a:xfrm>
            <a:off x="7589520" y="4114800"/>
            <a:ext cx="3749040" cy="182880"/>
          </a:xfrm>
          <a:prstGeom prst="rect">
            <a:avLst/>
          </a:prstGeom>
          <a:noFill/>
          <a:ln/>
        </p:spPr>
        <p:txBody>
          <a:bodyPr wrap="square" lIns="0" tIns="0" rIns="0" bIns="0" rtlCol="0" anchor="ctr"/>
          <a:lstStyle/>
          <a:p>
            <a:pPr indent="0" marL="0">
              <a:buNone/>
            </a:pPr>
            <a:r>
              <a:rPr lang="en-US" sz="900" spc="100" kern="0" dirty="0">
                <a:solidFill>
                  <a:srgbClr val="6E747E"/>
                </a:solidFill>
                <a:latin typeface="Calibri" pitchFamily="34" charset="0"/>
                <a:ea typeface="Calibri" pitchFamily="34" charset="-122"/>
                <a:cs typeface="Calibri" pitchFamily="34" charset="-120"/>
              </a:rPr>
              <a:t>Support</a:t>
            </a:r>
            <a:endParaRPr lang="en-US" sz="900" dirty="0"/>
          </a:p>
        </p:txBody>
      </p:sp>
      <p:sp>
        <p:nvSpPr>
          <p:cNvPr id="48" name="Text 46"/>
          <p:cNvSpPr/>
          <p:nvPr/>
        </p:nvSpPr>
        <p:spPr>
          <a:xfrm>
            <a:off x="7589520" y="4279392"/>
            <a:ext cx="3749040" cy="274320"/>
          </a:xfrm>
          <a:prstGeom prst="rect">
            <a:avLst/>
          </a:prstGeom>
          <a:noFill/>
          <a:ln/>
        </p:spPr>
        <p:txBody>
          <a:bodyPr wrap="square" lIns="0" tIns="0" rIns="0" bIns="0" rtlCol="0" anchor="t"/>
          <a:lstStyle/>
          <a:p>
            <a:pPr indent="0" marL="0">
              <a:buNone/>
            </a:pPr>
            <a:r>
              <a:rPr lang="en-US" sz="1050" dirty="0">
                <a:solidFill>
                  <a:srgbClr val="22D3EE"/>
                </a:solidFill>
                <a:latin typeface="Courier New" pitchFamily="34" charset="0"/>
                <a:ea typeface="Courier New" pitchFamily="34" charset="-122"/>
                <a:cs typeface="Courier New" pitchFamily="34" charset="-120"/>
              </a:rPr>
              <a:t>xsoar</a:t>
            </a:r>
            <a:endParaRPr lang="en-US" sz="1050" dirty="0"/>
          </a:p>
        </p:txBody>
      </p:sp>
      <p:sp>
        <p:nvSpPr>
          <p:cNvPr id="49" name="Text 47"/>
          <p:cNvSpPr/>
          <p:nvPr/>
        </p:nvSpPr>
        <p:spPr>
          <a:xfrm>
            <a:off x="7589520" y="4553712"/>
            <a:ext cx="3749040" cy="182880"/>
          </a:xfrm>
          <a:prstGeom prst="rect">
            <a:avLst/>
          </a:prstGeom>
          <a:noFill/>
          <a:ln/>
        </p:spPr>
        <p:txBody>
          <a:bodyPr wrap="square" lIns="0" tIns="0" rIns="0" bIns="0" rtlCol="0" anchor="ctr"/>
          <a:lstStyle/>
          <a:p>
            <a:pPr indent="0" marL="0">
              <a:buNone/>
            </a:pPr>
            <a:r>
              <a:rPr lang="en-US" sz="900" spc="100" kern="0" dirty="0">
                <a:solidFill>
                  <a:srgbClr val="6E747E"/>
                </a:solidFill>
                <a:latin typeface="Calibri" pitchFamily="34" charset="0"/>
                <a:ea typeface="Calibri" pitchFamily="34" charset="-122"/>
                <a:cs typeface="Calibri" pitchFamily="34" charset="-120"/>
              </a:rPr>
              <a:t>Config parameters</a:t>
            </a:r>
            <a:endParaRPr lang="en-US" sz="900" dirty="0"/>
          </a:p>
        </p:txBody>
      </p:sp>
      <p:sp>
        <p:nvSpPr>
          <p:cNvPr id="50" name="Text 48"/>
          <p:cNvSpPr/>
          <p:nvPr/>
        </p:nvSpPr>
        <p:spPr>
          <a:xfrm>
            <a:off x="7589520" y="4718304"/>
            <a:ext cx="3749040" cy="274320"/>
          </a:xfrm>
          <a:prstGeom prst="rect">
            <a:avLst/>
          </a:prstGeom>
          <a:noFill/>
          <a:ln/>
        </p:spPr>
        <p:txBody>
          <a:bodyPr wrap="square" lIns="0" tIns="0" rIns="0" bIns="0" rtlCol="0" anchor="t"/>
          <a:lstStyle/>
          <a:p>
            <a:pPr indent="0" marL="0">
              <a:buNone/>
            </a:pPr>
            <a:r>
              <a:rPr lang="en-US" sz="1050" dirty="0">
                <a:solidFill>
                  <a:srgbClr val="22D3EE"/>
                </a:solidFill>
                <a:latin typeface="Courier New" pitchFamily="34" charset="0"/>
                <a:ea typeface="Courier New" pitchFamily="34" charset="-122"/>
                <a:cs typeface="Courier New" pitchFamily="34" charset="-120"/>
              </a:rPr>
              <a:t>9</a:t>
            </a:r>
            <a:endParaRPr lang="en-US" sz="1050" dirty="0"/>
          </a:p>
        </p:txBody>
      </p:sp>
      <p:sp>
        <p:nvSpPr>
          <p:cNvPr id="51" name="Text 49"/>
          <p:cNvSpPr/>
          <p:nvPr/>
        </p:nvSpPr>
        <p:spPr>
          <a:xfrm>
            <a:off x="7589520" y="4992624"/>
            <a:ext cx="3749040" cy="182880"/>
          </a:xfrm>
          <a:prstGeom prst="rect">
            <a:avLst/>
          </a:prstGeom>
          <a:noFill/>
          <a:ln/>
        </p:spPr>
        <p:txBody>
          <a:bodyPr wrap="square" lIns="0" tIns="0" rIns="0" bIns="0" rtlCol="0" anchor="ctr"/>
          <a:lstStyle/>
          <a:p>
            <a:pPr indent="0" marL="0">
              <a:buNone/>
            </a:pPr>
            <a:r>
              <a:rPr lang="en-US" sz="900" spc="100" kern="0" dirty="0">
                <a:solidFill>
                  <a:srgbClr val="6E747E"/>
                </a:solidFill>
                <a:latin typeface="Calibri" pitchFamily="34" charset="0"/>
                <a:ea typeface="Calibri" pitchFamily="34" charset="-122"/>
                <a:cs typeface="Calibri" pitchFamily="34" charset="-120"/>
              </a:rPr>
              <a:t>Required at setup — Connect</a:t>
            </a:r>
            <a:endParaRPr lang="en-US" sz="900" dirty="0"/>
          </a:p>
        </p:txBody>
      </p:sp>
      <p:sp>
        <p:nvSpPr>
          <p:cNvPr id="52" name="Text 50"/>
          <p:cNvSpPr/>
          <p:nvPr/>
        </p:nvSpPr>
        <p:spPr>
          <a:xfrm>
            <a:off x="7589520" y="5157216"/>
            <a:ext cx="3749040" cy="274320"/>
          </a:xfrm>
          <a:prstGeom prst="rect">
            <a:avLst/>
          </a:prstGeom>
          <a:noFill/>
          <a:ln/>
        </p:spPr>
        <p:txBody>
          <a:bodyPr wrap="square" lIns="0" tIns="0" rIns="0" bIns="0" rtlCol="0" anchor="t"/>
          <a:lstStyle/>
          <a:p>
            <a:pPr indent="0" marL="0">
              <a:buNone/>
            </a:pPr>
            <a:r>
              <a:rPr lang="en-US" sz="1050" dirty="0">
                <a:solidFill>
                  <a:srgbClr val="22D3EE"/>
                </a:solidFill>
                <a:latin typeface="Courier New" pitchFamily="34" charset="0"/>
                <a:ea typeface="Courier New" pitchFamily="34" charset="-122"/>
                <a:cs typeface="Courier New" pitchFamily="34" charset="-120"/>
              </a:rPr>
              <a:t>url, api_key</a:t>
            </a:r>
            <a:endParaRPr lang="en-US" sz="1050" dirty="0"/>
          </a:p>
        </p:txBody>
      </p:sp>
      <p:sp>
        <p:nvSpPr>
          <p:cNvPr id="53" name="Text 51"/>
          <p:cNvSpPr/>
          <p:nvPr/>
        </p:nvSpPr>
        <p:spPr>
          <a:xfrm>
            <a:off x="7589520" y="5413248"/>
            <a:ext cx="3749040" cy="402336"/>
          </a:xfrm>
          <a:prstGeom prst="rect">
            <a:avLst/>
          </a:prstGeom>
          <a:noFill/>
          <a:ln/>
        </p:spPr>
        <p:txBody>
          <a:bodyPr wrap="square" lIns="0" tIns="0" rIns="0" bIns="0" rtlCol="0" anchor="t"/>
          <a:lstStyle/>
          <a:p>
            <a:pPr indent="0" marL="0">
              <a:lnSpc>
                <a:spcPts val="1150"/>
              </a:lnSpc>
              <a:buNone/>
            </a:pPr>
            <a:r>
              <a:rPr lang="en-US" sz="900" dirty="0">
                <a:solidFill>
                  <a:srgbClr val="F5A524"/>
                </a:solidFill>
                <a:latin typeface="Calibri" pitchFamily="34" charset="0"/>
                <a:ea typeface="Calibri" pitchFamily="34" charset="-122"/>
                <a:cs typeface="Calibri" pitchFamily="34" charset="-120"/>
              </a:rPr>
              <a:t>event_types_to_fetch is required too, but it is a Collect parameter hidden on XSOAR — there it is not a setup input at all.</a:t>
            </a:r>
            <a:endParaRPr lang="en-US" sz="900" dirty="0"/>
          </a:p>
        </p:txBody>
      </p:sp>
      <p:sp>
        <p:nvSpPr>
          <p:cNvPr id="54" name="Text 52"/>
          <p:cNvSpPr/>
          <p:nvPr/>
        </p:nvSpPr>
        <p:spPr>
          <a:xfrm>
            <a:off x="7589520" y="5779008"/>
            <a:ext cx="3749040" cy="274320"/>
          </a:xfrm>
          <a:prstGeom prst="rect">
            <a:avLst/>
          </a:prstGeom>
          <a:noFill/>
          <a:ln/>
        </p:spPr>
        <p:txBody>
          <a:bodyPr wrap="square" lIns="0" tIns="0" rIns="0" bIns="0" rtlCol="0" anchor="t"/>
          <a:lstStyle/>
          <a:p>
            <a:pPr indent="0" marL="0">
              <a:lnSpc>
                <a:spcPts val="1150"/>
              </a:lnSpc>
              <a:buNone/>
            </a:pPr>
            <a:r>
              <a:rPr lang="en-US" sz="900" i="1" dirty="0">
                <a:solidFill>
                  <a:srgbClr val="6E747E"/>
                </a:solidFill>
                <a:latin typeface="Calibri" pitchFamily="34" charset="0"/>
                <a:ea typeface="Calibri" pitchFamily="34" charset="-122"/>
                <a:cs typeface="Calibri" pitchFamily="34" charset="-120"/>
              </a:rPr>
              <a:t>4 Connect and 5 Collect parameters; every Collect one is hidden on XSOAR.</a:t>
            </a:r>
            <a:endParaRPr lang="en-US" sz="900" dirty="0"/>
          </a:p>
        </p:txBody>
      </p:sp>
      <p:sp>
        <p:nvSpPr>
          <p:cNvPr id="55" name="Text 53"/>
          <p:cNvSpPr/>
          <p:nvPr/>
        </p:nvSpPr>
        <p:spPr>
          <a:xfrm>
            <a:off x="548640" y="6089904"/>
            <a:ext cx="11064240" cy="274320"/>
          </a:xfrm>
          <a:prstGeom prst="rect">
            <a:avLst/>
          </a:prstGeom>
          <a:noFill/>
          <a:ln/>
        </p:spPr>
        <p:txBody>
          <a:bodyPr wrap="square" lIns="0" tIns="0" rIns="0" bIns="0" rtlCol="0" anchor="ctr"/>
          <a:lstStyle/>
          <a:p>
            <a:pPr indent="0" marL="0">
              <a:buNone/>
            </a:pPr>
            <a:r>
              <a:rPr lang="en-US" sz="950" i="1" dirty="0">
                <a:solidFill>
                  <a:srgbClr val="6E747E"/>
                </a:solidFill>
                <a:latin typeface="Calibri" pitchFamily="34" charset="0"/>
                <a:ea typeface="Calibri" pitchFamily="34" charset="-122"/>
                <a:cs typeface="Calibri" pitchFamily="34" charset="-120"/>
              </a:rPr>
              <a:t>All values, including required and hidden: [xsoar], generated at build time from marketplace-pack.json [YAML]; isfetchevents XSOAR override, YAML lines 990–991.  "Integration only" — no playbooks, rules or dashboard — is an inspection of the pack directory, not a tenant observation.  That no XDM field is populated in koi_koi_raw is [LIVE]: VERIFIED_FACTS §3.2.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6419088"/>
            <a:ext cx="11064240" cy="237744"/>
          </a:xfrm>
          <a:prstGeom prst="rect">
            <a:avLst/>
          </a:prstGeom>
          <a:noFill/>
          <a:ln/>
        </p:spPr>
        <p:txBody>
          <a:bodyPr wrap="square" lIns="0" tIns="0" rIns="0" bIns="0" rtlCol="0" anchor="ctr"/>
          <a:lstStyle/>
          <a:p>
            <a:pPr indent="0" marL="0">
              <a:buNone/>
            </a:pPr>
            <a:r>
              <a:rPr lang="en-US" sz="800" dirty="0">
                <a:solidFill>
                  <a:srgbClr val="6E747E"/>
                </a:solidFill>
                <a:latin typeface="Calibri" pitchFamily="34" charset="0"/>
                <a:ea typeface="Calibri" pitchFamily="34" charset="-122"/>
                <a:cs typeface="Calibri" pitchFamily="34" charset="-120"/>
              </a:rPr>
              <a:t>Marketplace KOI pack v1.2.3  ·  demisto/content / Packs/Koi  ·  integration only, 13 commands  ·  not the custom v1.3.0 pack</a:t>
            </a:r>
            <a:endParaRPr lang="en-US" sz="800" dirty="0"/>
          </a:p>
        </p:txBody>
      </p:sp>
      <p:sp>
        <p:nvSpPr>
          <p:cNvPr id="3" name="Text 1"/>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200" kern="0" dirty="0">
                <a:solidFill>
                  <a:srgbClr val="E8551F"/>
                </a:solidFill>
                <a:latin typeface="Calibri" pitchFamily="34" charset="0"/>
                <a:ea typeface="Calibri" pitchFamily="34" charset="-122"/>
                <a:cs typeface="Calibri" pitchFamily="34" charset="-120"/>
              </a:rPr>
              <a:t>DATA MODEL</a:t>
            </a:r>
            <a:endParaRPr lang="en-US" sz="1100" dirty="0"/>
          </a:p>
        </p:txBody>
      </p:sp>
      <p:sp>
        <p:nvSpPr>
          <p:cNvPr id="4" name="Text 2"/>
          <p:cNvSpPr/>
          <p:nvPr/>
        </p:nvSpPr>
        <p:spPr>
          <a:xfrm>
            <a:off x="548640" y="612648"/>
            <a:ext cx="11064240" cy="658368"/>
          </a:xfrm>
          <a:prstGeom prst="rect">
            <a:avLst/>
          </a:prstGeom>
          <a:noFill/>
          <a:ln/>
        </p:spPr>
        <p:txBody>
          <a:bodyPr wrap="square" lIns="0" tIns="0" rIns="0" bIns="0" rtlCol="0" anchor="ctr"/>
          <a:lstStyle/>
          <a:p>
            <a:pPr indent="0" marL="0">
              <a:buNone/>
            </a:pPr>
            <a:r>
              <a:rPr lang="en-US" sz="3100" b="1" dirty="0">
                <a:solidFill>
                  <a:srgbClr val="FFFFFF"/>
                </a:solidFill>
                <a:latin typeface="Calibri" pitchFamily="34" charset="0"/>
                <a:ea typeface="Calibri" pitchFamily="34" charset="-122"/>
                <a:cs typeface="Calibri" pitchFamily="34" charset="-120"/>
              </a:rPr>
              <a:t>Five context prefixes, and an item-centric shape</a:t>
            </a:r>
            <a:endParaRPr lang="en-US" sz="3100" dirty="0"/>
          </a:p>
        </p:txBody>
      </p:sp>
      <p:sp>
        <p:nvSpPr>
          <p:cNvPr id="5" name="Shape 3"/>
          <p:cNvSpPr/>
          <p:nvPr/>
        </p:nvSpPr>
        <p:spPr>
          <a:xfrm>
            <a:off x="548640" y="1389888"/>
            <a:ext cx="2008022" cy="1481328"/>
          </a:xfrm>
          <a:prstGeom prst="roundRect">
            <a:avLst>
              <a:gd name="adj" fmla="val 3086"/>
            </a:avLst>
          </a:prstGeom>
          <a:solidFill>
            <a:srgbClr val="15171B"/>
          </a:solidFill>
          <a:ln w="12700">
            <a:solidFill>
              <a:srgbClr val="15171B"/>
            </a:solidFill>
            <a:prstDash val="solid"/>
          </a:ln>
        </p:spPr>
      </p:sp>
      <p:sp>
        <p:nvSpPr>
          <p:cNvPr id="6" name="Text 4"/>
          <p:cNvSpPr/>
          <p:nvPr/>
        </p:nvSpPr>
        <p:spPr>
          <a:xfrm>
            <a:off x="731520" y="1554480"/>
            <a:ext cx="1642262" cy="292608"/>
          </a:xfrm>
          <a:prstGeom prst="rect">
            <a:avLst/>
          </a:prstGeom>
          <a:noFill/>
          <a:ln/>
        </p:spPr>
        <p:txBody>
          <a:bodyPr wrap="square" lIns="0" tIns="0" rIns="0" bIns="0" rtlCol="0" anchor="ctr"/>
          <a:lstStyle/>
          <a:p>
            <a:pPr indent="0" marL="0">
              <a:buNone/>
            </a:pPr>
            <a:r>
              <a:rPr lang="en-US" sz="1250" b="1" dirty="0">
                <a:solidFill>
                  <a:srgbClr val="E8551F"/>
                </a:solidFill>
                <a:latin typeface="Courier New" pitchFamily="34" charset="0"/>
                <a:ea typeface="Courier New" pitchFamily="34" charset="-122"/>
                <a:cs typeface="Courier New" pitchFamily="34" charset="-120"/>
              </a:rPr>
              <a:t>KOI.Event</a:t>
            </a:r>
            <a:endParaRPr lang="en-US" sz="1250" dirty="0"/>
          </a:p>
        </p:txBody>
      </p:sp>
      <p:sp>
        <p:nvSpPr>
          <p:cNvPr id="7" name="Text 5"/>
          <p:cNvSpPr/>
          <p:nvPr/>
        </p:nvSpPr>
        <p:spPr>
          <a:xfrm>
            <a:off x="731520" y="1865376"/>
            <a:ext cx="1642262"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4</a:t>
            </a:r>
            <a:endParaRPr lang="en-US" sz="2600" dirty="0"/>
          </a:p>
        </p:txBody>
      </p:sp>
      <p:sp>
        <p:nvSpPr>
          <p:cNvPr id="8" name="Text 6"/>
          <p:cNvSpPr/>
          <p:nvPr/>
        </p:nvSpPr>
        <p:spPr>
          <a:xfrm>
            <a:off x="731520" y="2286000"/>
            <a:ext cx="1642262" cy="201168"/>
          </a:xfrm>
          <a:prstGeom prst="rect">
            <a:avLst/>
          </a:prstGeom>
          <a:noFill/>
          <a:ln/>
        </p:spPr>
        <p:txBody>
          <a:bodyPr wrap="square" lIns="0" tIns="0" rIns="0" bIns="0" rtlCol="0" anchor="ctr"/>
          <a:lstStyle/>
          <a:p>
            <a:pPr indent="0" marL="0">
              <a:buNone/>
            </a:pPr>
            <a:r>
              <a:rPr lang="en-US" sz="850" dirty="0">
                <a:solidFill>
                  <a:srgbClr val="6E747E"/>
                </a:solidFill>
                <a:latin typeface="Calibri" pitchFamily="34" charset="0"/>
                <a:ea typeface="Calibri" pitchFamily="34" charset="-122"/>
                <a:cs typeface="Calibri" pitchFamily="34" charset="-120"/>
              </a:rPr>
              <a:t>distinct paths</a:t>
            </a:r>
            <a:endParaRPr lang="en-US" sz="850" dirty="0"/>
          </a:p>
        </p:txBody>
      </p:sp>
      <p:sp>
        <p:nvSpPr>
          <p:cNvPr id="9" name="Text 7"/>
          <p:cNvSpPr/>
          <p:nvPr/>
        </p:nvSpPr>
        <p:spPr>
          <a:xfrm>
            <a:off x="731520" y="2487168"/>
            <a:ext cx="1642262" cy="274320"/>
          </a:xfrm>
          <a:prstGeom prst="rect">
            <a:avLst/>
          </a:prstGeom>
          <a:noFill/>
          <a:ln/>
        </p:spPr>
        <p:txBody>
          <a:bodyPr wrap="square" lIns="0" tIns="0" rIns="0" bIns="0" rtlCol="0" anchor="ctr"/>
          <a:lstStyle/>
          <a:p>
            <a:pPr indent="0" marL="0">
              <a:lnSpc>
                <a:spcPts val="1000"/>
              </a:lnSpc>
              <a:buNone/>
            </a:pPr>
            <a:r>
              <a:rPr lang="en-US" sz="850" dirty="0">
                <a:solidFill>
                  <a:srgbClr val="B4B7BD"/>
                </a:solidFill>
                <a:latin typeface="Calibri" pitchFamily="34" charset="0"/>
                <a:ea typeface="Calibri" pitchFamily="34" charset="-122"/>
                <a:cs typeface="Calibri" pitchFamily="34" charset="-120"/>
              </a:rPr>
              <a:t>koi-get-events</a:t>
            </a:r>
            <a:endParaRPr lang="en-US" sz="850" dirty="0"/>
          </a:p>
        </p:txBody>
      </p:sp>
      <p:sp>
        <p:nvSpPr>
          <p:cNvPr id="10" name="Shape 8"/>
          <p:cNvSpPr/>
          <p:nvPr/>
        </p:nvSpPr>
        <p:spPr>
          <a:xfrm>
            <a:off x="2812694" y="1389888"/>
            <a:ext cx="2008022" cy="1481328"/>
          </a:xfrm>
          <a:prstGeom prst="roundRect">
            <a:avLst>
              <a:gd name="adj" fmla="val 3086"/>
            </a:avLst>
          </a:prstGeom>
          <a:solidFill>
            <a:srgbClr val="15171B"/>
          </a:solidFill>
          <a:ln w="12700">
            <a:solidFill>
              <a:srgbClr val="15171B"/>
            </a:solidFill>
            <a:prstDash val="solid"/>
          </a:ln>
        </p:spPr>
      </p:sp>
      <p:sp>
        <p:nvSpPr>
          <p:cNvPr id="11" name="Text 9"/>
          <p:cNvSpPr/>
          <p:nvPr/>
        </p:nvSpPr>
        <p:spPr>
          <a:xfrm>
            <a:off x="2995574" y="1554480"/>
            <a:ext cx="1642262" cy="292608"/>
          </a:xfrm>
          <a:prstGeom prst="rect">
            <a:avLst/>
          </a:prstGeom>
          <a:noFill/>
          <a:ln/>
        </p:spPr>
        <p:txBody>
          <a:bodyPr wrap="square" lIns="0" tIns="0" rIns="0" bIns="0" rtlCol="0" anchor="ctr"/>
          <a:lstStyle/>
          <a:p>
            <a:pPr indent="0" marL="0">
              <a:buNone/>
            </a:pPr>
            <a:r>
              <a:rPr lang="en-US" sz="1250" b="1" dirty="0">
                <a:solidFill>
                  <a:srgbClr val="22D3EE"/>
                </a:solidFill>
                <a:latin typeface="Courier New" pitchFamily="34" charset="0"/>
                <a:ea typeface="Courier New" pitchFamily="34" charset="-122"/>
                <a:cs typeface="Courier New" pitchFamily="34" charset="-120"/>
              </a:rPr>
              <a:t>Koi.Policy</a:t>
            </a:r>
            <a:endParaRPr lang="en-US" sz="1250" dirty="0"/>
          </a:p>
        </p:txBody>
      </p:sp>
      <p:sp>
        <p:nvSpPr>
          <p:cNvPr id="12" name="Text 10"/>
          <p:cNvSpPr/>
          <p:nvPr/>
        </p:nvSpPr>
        <p:spPr>
          <a:xfrm>
            <a:off x="2995574" y="1865376"/>
            <a:ext cx="1642262"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9</a:t>
            </a:r>
            <a:endParaRPr lang="en-US" sz="2600" dirty="0"/>
          </a:p>
        </p:txBody>
      </p:sp>
      <p:sp>
        <p:nvSpPr>
          <p:cNvPr id="13" name="Text 11"/>
          <p:cNvSpPr/>
          <p:nvPr/>
        </p:nvSpPr>
        <p:spPr>
          <a:xfrm>
            <a:off x="2995574" y="2286000"/>
            <a:ext cx="1642262" cy="201168"/>
          </a:xfrm>
          <a:prstGeom prst="rect">
            <a:avLst/>
          </a:prstGeom>
          <a:noFill/>
          <a:ln/>
        </p:spPr>
        <p:txBody>
          <a:bodyPr wrap="square" lIns="0" tIns="0" rIns="0" bIns="0" rtlCol="0" anchor="ctr"/>
          <a:lstStyle/>
          <a:p>
            <a:pPr indent="0" marL="0">
              <a:buNone/>
            </a:pPr>
            <a:r>
              <a:rPr lang="en-US" sz="850" dirty="0">
                <a:solidFill>
                  <a:srgbClr val="6E747E"/>
                </a:solidFill>
                <a:latin typeface="Calibri" pitchFamily="34" charset="0"/>
                <a:ea typeface="Calibri" pitchFamily="34" charset="-122"/>
                <a:cs typeface="Calibri" pitchFamily="34" charset="-120"/>
              </a:rPr>
              <a:t>distinct paths</a:t>
            </a:r>
            <a:endParaRPr lang="en-US" sz="850" dirty="0"/>
          </a:p>
        </p:txBody>
      </p:sp>
      <p:sp>
        <p:nvSpPr>
          <p:cNvPr id="14" name="Text 12"/>
          <p:cNvSpPr/>
          <p:nvPr/>
        </p:nvSpPr>
        <p:spPr>
          <a:xfrm>
            <a:off x="2995574" y="2487168"/>
            <a:ext cx="1642262" cy="274320"/>
          </a:xfrm>
          <a:prstGeom prst="rect">
            <a:avLst/>
          </a:prstGeom>
          <a:noFill/>
          <a:ln/>
        </p:spPr>
        <p:txBody>
          <a:bodyPr wrap="square" lIns="0" tIns="0" rIns="0" bIns="0" rtlCol="0" anchor="ctr"/>
          <a:lstStyle/>
          <a:p>
            <a:pPr indent="0" marL="0">
              <a:lnSpc>
                <a:spcPts val="1000"/>
              </a:lnSpc>
              <a:buNone/>
            </a:pPr>
            <a:r>
              <a:rPr lang="en-US" sz="850" dirty="0">
                <a:solidFill>
                  <a:srgbClr val="B4B7BD"/>
                </a:solidFill>
                <a:latin typeface="Calibri" pitchFamily="34" charset="0"/>
                <a:ea typeface="Calibri" pitchFamily="34" charset="-122"/>
                <a:cs typeface="Calibri" pitchFamily="34" charset="-120"/>
              </a:rPr>
              <a:t>policy list + status update</a:t>
            </a:r>
            <a:endParaRPr lang="en-US" sz="850" dirty="0"/>
          </a:p>
        </p:txBody>
      </p:sp>
      <p:sp>
        <p:nvSpPr>
          <p:cNvPr id="15" name="Shape 13"/>
          <p:cNvSpPr/>
          <p:nvPr/>
        </p:nvSpPr>
        <p:spPr>
          <a:xfrm>
            <a:off x="5076749" y="1389888"/>
            <a:ext cx="2008022" cy="1481328"/>
          </a:xfrm>
          <a:prstGeom prst="roundRect">
            <a:avLst>
              <a:gd name="adj" fmla="val 3086"/>
            </a:avLst>
          </a:prstGeom>
          <a:solidFill>
            <a:srgbClr val="15171B"/>
          </a:solidFill>
          <a:ln w="12700">
            <a:solidFill>
              <a:srgbClr val="15171B"/>
            </a:solidFill>
            <a:prstDash val="solid"/>
          </a:ln>
        </p:spPr>
      </p:sp>
      <p:sp>
        <p:nvSpPr>
          <p:cNvPr id="16" name="Text 14"/>
          <p:cNvSpPr/>
          <p:nvPr/>
        </p:nvSpPr>
        <p:spPr>
          <a:xfrm>
            <a:off x="5259629" y="1554480"/>
            <a:ext cx="1642262" cy="292608"/>
          </a:xfrm>
          <a:prstGeom prst="rect">
            <a:avLst/>
          </a:prstGeom>
          <a:noFill/>
          <a:ln/>
        </p:spPr>
        <p:txBody>
          <a:bodyPr wrap="square" lIns="0" tIns="0" rIns="0" bIns="0" rtlCol="0" anchor="ctr"/>
          <a:lstStyle/>
          <a:p>
            <a:pPr indent="0" marL="0">
              <a:buNone/>
            </a:pPr>
            <a:r>
              <a:rPr lang="en-US" sz="1250" b="1" dirty="0">
                <a:solidFill>
                  <a:srgbClr val="E8551F"/>
                </a:solidFill>
                <a:latin typeface="Courier New" pitchFamily="34" charset="0"/>
                <a:ea typeface="Courier New" pitchFamily="34" charset="-122"/>
                <a:cs typeface="Courier New" pitchFamily="34" charset="-120"/>
              </a:rPr>
              <a:t>Koi.Allowlist</a:t>
            </a:r>
            <a:endParaRPr lang="en-US" sz="1250" dirty="0"/>
          </a:p>
        </p:txBody>
      </p:sp>
      <p:sp>
        <p:nvSpPr>
          <p:cNvPr id="17" name="Text 15"/>
          <p:cNvSpPr/>
          <p:nvPr/>
        </p:nvSpPr>
        <p:spPr>
          <a:xfrm>
            <a:off x="5259629" y="1865376"/>
            <a:ext cx="1642262"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9</a:t>
            </a:r>
            <a:endParaRPr lang="en-US" sz="2600" dirty="0"/>
          </a:p>
        </p:txBody>
      </p:sp>
      <p:sp>
        <p:nvSpPr>
          <p:cNvPr id="18" name="Text 16"/>
          <p:cNvSpPr/>
          <p:nvPr/>
        </p:nvSpPr>
        <p:spPr>
          <a:xfrm>
            <a:off x="5259629" y="2286000"/>
            <a:ext cx="1642262" cy="201168"/>
          </a:xfrm>
          <a:prstGeom prst="rect">
            <a:avLst/>
          </a:prstGeom>
          <a:noFill/>
          <a:ln/>
        </p:spPr>
        <p:txBody>
          <a:bodyPr wrap="square" lIns="0" tIns="0" rIns="0" bIns="0" rtlCol="0" anchor="ctr"/>
          <a:lstStyle/>
          <a:p>
            <a:pPr indent="0" marL="0">
              <a:buNone/>
            </a:pPr>
            <a:r>
              <a:rPr lang="en-US" sz="850" dirty="0">
                <a:solidFill>
                  <a:srgbClr val="6E747E"/>
                </a:solidFill>
                <a:latin typeface="Calibri" pitchFamily="34" charset="0"/>
                <a:ea typeface="Calibri" pitchFamily="34" charset="-122"/>
                <a:cs typeface="Calibri" pitchFamily="34" charset="-120"/>
              </a:rPr>
              <a:t>distinct paths</a:t>
            </a:r>
            <a:endParaRPr lang="en-US" sz="850" dirty="0"/>
          </a:p>
        </p:txBody>
      </p:sp>
      <p:sp>
        <p:nvSpPr>
          <p:cNvPr id="19" name="Text 17"/>
          <p:cNvSpPr/>
          <p:nvPr/>
        </p:nvSpPr>
        <p:spPr>
          <a:xfrm>
            <a:off x="5259629" y="2487168"/>
            <a:ext cx="1642262" cy="274320"/>
          </a:xfrm>
          <a:prstGeom prst="rect">
            <a:avLst/>
          </a:prstGeom>
          <a:noFill/>
          <a:ln/>
        </p:spPr>
        <p:txBody>
          <a:bodyPr wrap="square" lIns="0" tIns="0" rIns="0" bIns="0" rtlCol="0" anchor="ctr"/>
          <a:lstStyle/>
          <a:p>
            <a:pPr indent="0" marL="0">
              <a:lnSpc>
                <a:spcPts val="1000"/>
              </a:lnSpc>
              <a:buNone/>
            </a:pPr>
            <a:r>
              <a:rPr lang="en-US" sz="850" dirty="0">
                <a:solidFill>
                  <a:srgbClr val="B4B7BD"/>
                </a:solidFill>
                <a:latin typeface="Calibri" pitchFamily="34" charset="0"/>
                <a:ea typeface="Calibri" pitchFamily="34" charset="-122"/>
                <a:cs typeface="Calibri" pitchFamily="34" charset="-120"/>
              </a:rPr>
              <a:t>koi-allowlist-get</a:t>
            </a:r>
            <a:endParaRPr lang="en-US" sz="850" dirty="0"/>
          </a:p>
        </p:txBody>
      </p:sp>
      <p:sp>
        <p:nvSpPr>
          <p:cNvPr id="20" name="Shape 18"/>
          <p:cNvSpPr/>
          <p:nvPr/>
        </p:nvSpPr>
        <p:spPr>
          <a:xfrm>
            <a:off x="7340803" y="1389888"/>
            <a:ext cx="2008022" cy="1481328"/>
          </a:xfrm>
          <a:prstGeom prst="roundRect">
            <a:avLst>
              <a:gd name="adj" fmla="val 3086"/>
            </a:avLst>
          </a:prstGeom>
          <a:solidFill>
            <a:srgbClr val="15171B"/>
          </a:solidFill>
          <a:ln w="12700">
            <a:solidFill>
              <a:srgbClr val="15171B"/>
            </a:solidFill>
            <a:prstDash val="solid"/>
          </a:ln>
        </p:spPr>
      </p:sp>
      <p:sp>
        <p:nvSpPr>
          <p:cNvPr id="21" name="Text 19"/>
          <p:cNvSpPr/>
          <p:nvPr/>
        </p:nvSpPr>
        <p:spPr>
          <a:xfrm>
            <a:off x="7523683" y="1554480"/>
            <a:ext cx="1642262" cy="292608"/>
          </a:xfrm>
          <a:prstGeom prst="rect">
            <a:avLst/>
          </a:prstGeom>
          <a:noFill/>
          <a:ln/>
        </p:spPr>
        <p:txBody>
          <a:bodyPr wrap="square" lIns="0" tIns="0" rIns="0" bIns="0" rtlCol="0" anchor="ctr"/>
          <a:lstStyle/>
          <a:p>
            <a:pPr indent="0" marL="0">
              <a:buNone/>
            </a:pPr>
            <a:r>
              <a:rPr lang="en-US" sz="1250" b="1" dirty="0">
                <a:solidFill>
                  <a:srgbClr val="22D3EE"/>
                </a:solidFill>
                <a:latin typeface="Courier New" pitchFamily="34" charset="0"/>
                <a:ea typeface="Courier New" pitchFamily="34" charset="-122"/>
                <a:cs typeface="Courier New" pitchFamily="34" charset="-120"/>
              </a:rPr>
              <a:t>Koi.Blocklist</a:t>
            </a:r>
            <a:endParaRPr lang="en-US" sz="1250" dirty="0"/>
          </a:p>
        </p:txBody>
      </p:sp>
      <p:sp>
        <p:nvSpPr>
          <p:cNvPr id="22" name="Text 20"/>
          <p:cNvSpPr/>
          <p:nvPr/>
        </p:nvSpPr>
        <p:spPr>
          <a:xfrm>
            <a:off x="7523683" y="1865376"/>
            <a:ext cx="1642262"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9</a:t>
            </a:r>
            <a:endParaRPr lang="en-US" sz="2600" dirty="0"/>
          </a:p>
        </p:txBody>
      </p:sp>
      <p:sp>
        <p:nvSpPr>
          <p:cNvPr id="23" name="Text 21"/>
          <p:cNvSpPr/>
          <p:nvPr/>
        </p:nvSpPr>
        <p:spPr>
          <a:xfrm>
            <a:off x="7523683" y="2286000"/>
            <a:ext cx="1642262" cy="201168"/>
          </a:xfrm>
          <a:prstGeom prst="rect">
            <a:avLst/>
          </a:prstGeom>
          <a:noFill/>
          <a:ln/>
        </p:spPr>
        <p:txBody>
          <a:bodyPr wrap="square" lIns="0" tIns="0" rIns="0" bIns="0" rtlCol="0" anchor="ctr"/>
          <a:lstStyle/>
          <a:p>
            <a:pPr indent="0" marL="0">
              <a:buNone/>
            </a:pPr>
            <a:r>
              <a:rPr lang="en-US" sz="850" dirty="0">
                <a:solidFill>
                  <a:srgbClr val="6E747E"/>
                </a:solidFill>
                <a:latin typeface="Calibri" pitchFamily="34" charset="0"/>
                <a:ea typeface="Calibri" pitchFamily="34" charset="-122"/>
                <a:cs typeface="Calibri" pitchFamily="34" charset="-120"/>
              </a:rPr>
              <a:t>distinct paths</a:t>
            </a:r>
            <a:endParaRPr lang="en-US" sz="850" dirty="0"/>
          </a:p>
        </p:txBody>
      </p:sp>
      <p:sp>
        <p:nvSpPr>
          <p:cNvPr id="24" name="Text 22"/>
          <p:cNvSpPr/>
          <p:nvPr/>
        </p:nvSpPr>
        <p:spPr>
          <a:xfrm>
            <a:off x="7523683" y="2487168"/>
            <a:ext cx="1642262" cy="274320"/>
          </a:xfrm>
          <a:prstGeom prst="rect">
            <a:avLst/>
          </a:prstGeom>
          <a:noFill/>
          <a:ln/>
        </p:spPr>
        <p:txBody>
          <a:bodyPr wrap="square" lIns="0" tIns="0" rIns="0" bIns="0" rtlCol="0" anchor="ctr"/>
          <a:lstStyle/>
          <a:p>
            <a:pPr indent="0" marL="0">
              <a:lnSpc>
                <a:spcPts val="1000"/>
              </a:lnSpc>
              <a:buNone/>
            </a:pPr>
            <a:r>
              <a:rPr lang="en-US" sz="850" dirty="0">
                <a:solidFill>
                  <a:srgbClr val="B4B7BD"/>
                </a:solidFill>
                <a:latin typeface="Calibri" pitchFamily="34" charset="0"/>
                <a:ea typeface="Calibri" pitchFamily="34" charset="-122"/>
                <a:cs typeface="Calibri" pitchFamily="34" charset="-120"/>
              </a:rPr>
              <a:t>koi-blocklist-get</a:t>
            </a:r>
            <a:endParaRPr lang="en-US" sz="850" dirty="0"/>
          </a:p>
        </p:txBody>
      </p:sp>
      <p:sp>
        <p:nvSpPr>
          <p:cNvPr id="25" name="Shape 23"/>
          <p:cNvSpPr/>
          <p:nvPr/>
        </p:nvSpPr>
        <p:spPr>
          <a:xfrm>
            <a:off x="9604858" y="1389888"/>
            <a:ext cx="2008022" cy="1481328"/>
          </a:xfrm>
          <a:prstGeom prst="roundRect">
            <a:avLst>
              <a:gd name="adj" fmla="val 3086"/>
            </a:avLst>
          </a:prstGeom>
          <a:solidFill>
            <a:srgbClr val="15171B"/>
          </a:solidFill>
          <a:ln w="12700">
            <a:solidFill>
              <a:srgbClr val="15171B"/>
            </a:solidFill>
            <a:prstDash val="solid"/>
          </a:ln>
        </p:spPr>
      </p:sp>
      <p:sp>
        <p:nvSpPr>
          <p:cNvPr id="26" name="Text 24"/>
          <p:cNvSpPr/>
          <p:nvPr/>
        </p:nvSpPr>
        <p:spPr>
          <a:xfrm>
            <a:off x="9787738" y="1554480"/>
            <a:ext cx="1642262" cy="292608"/>
          </a:xfrm>
          <a:prstGeom prst="rect">
            <a:avLst/>
          </a:prstGeom>
          <a:noFill/>
          <a:ln/>
        </p:spPr>
        <p:txBody>
          <a:bodyPr wrap="square" lIns="0" tIns="0" rIns="0" bIns="0" rtlCol="0" anchor="ctr"/>
          <a:lstStyle/>
          <a:p>
            <a:pPr indent="0" marL="0">
              <a:buNone/>
            </a:pPr>
            <a:r>
              <a:rPr lang="en-US" sz="1250" b="1" dirty="0">
                <a:solidFill>
                  <a:srgbClr val="E8551F"/>
                </a:solidFill>
                <a:latin typeface="Courier New" pitchFamily="34" charset="0"/>
                <a:ea typeface="Courier New" pitchFamily="34" charset="-122"/>
                <a:cs typeface="Courier New" pitchFamily="34" charset="-120"/>
              </a:rPr>
              <a:t>Koi.Inventory</a:t>
            </a:r>
            <a:endParaRPr lang="en-US" sz="1250" dirty="0"/>
          </a:p>
        </p:txBody>
      </p:sp>
      <p:sp>
        <p:nvSpPr>
          <p:cNvPr id="27" name="Text 25"/>
          <p:cNvSpPr/>
          <p:nvPr/>
        </p:nvSpPr>
        <p:spPr>
          <a:xfrm>
            <a:off x="9787738" y="1865376"/>
            <a:ext cx="1642262"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37</a:t>
            </a:r>
            <a:endParaRPr lang="en-US" sz="2600" dirty="0"/>
          </a:p>
        </p:txBody>
      </p:sp>
      <p:sp>
        <p:nvSpPr>
          <p:cNvPr id="28" name="Text 26"/>
          <p:cNvSpPr/>
          <p:nvPr/>
        </p:nvSpPr>
        <p:spPr>
          <a:xfrm>
            <a:off x="9787738" y="2286000"/>
            <a:ext cx="1642262" cy="201168"/>
          </a:xfrm>
          <a:prstGeom prst="rect">
            <a:avLst/>
          </a:prstGeom>
          <a:noFill/>
          <a:ln/>
        </p:spPr>
        <p:txBody>
          <a:bodyPr wrap="square" lIns="0" tIns="0" rIns="0" bIns="0" rtlCol="0" anchor="ctr"/>
          <a:lstStyle/>
          <a:p>
            <a:pPr indent="0" marL="0">
              <a:buNone/>
            </a:pPr>
            <a:r>
              <a:rPr lang="en-US" sz="850" dirty="0">
                <a:solidFill>
                  <a:srgbClr val="6E747E"/>
                </a:solidFill>
                <a:latin typeface="Calibri" pitchFamily="34" charset="0"/>
                <a:ea typeface="Calibri" pitchFamily="34" charset="-122"/>
                <a:cs typeface="Calibri" pitchFamily="34" charset="-120"/>
              </a:rPr>
              <a:t>27 item + 10 nested Endpoint</a:t>
            </a:r>
            <a:endParaRPr lang="en-US" sz="850" dirty="0"/>
          </a:p>
        </p:txBody>
      </p:sp>
      <p:sp>
        <p:nvSpPr>
          <p:cNvPr id="29" name="Text 27"/>
          <p:cNvSpPr/>
          <p:nvPr/>
        </p:nvSpPr>
        <p:spPr>
          <a:xfrm>
            <a:off x="9787738" y="2487168"/>
            <a:ext cx="1642262" cy="274320"/>
          </a:xfrm>
          <a:prstGeom prst="rect">
            <a:avLst/>
          </a:prstGeom>
          <a:noFill/>
          <a:ln/>
        </p:spPr>
        <p:txBody>
          <a:bodyPr wrap="square" lIns="0" tIns="0" rIns="0" bIns="0" rtlCol="0" anchor="ctr"/>
          <a:lstStyle/>
          <a:p>
            <a:pPr indent="0" marL="0">
              <a:lnSpc>
                <a:spcPts val="1000"/>
              </a:lnSpc>
              <a:buNone/>
            </a:pPr>
            <a:r>
              <a:rPr lang="en-US" sz="850" dirty="0">
                <a:solidFill>
                  <a:srgbClr val="B4B7BD"/>
                </a:solidFill>
                <a:latin typeface="Calibri" pitchFamily="34" charset="0"/>
                <a:ea typeface="Calibri" pitchFamily="34" charset="-122"/>
                <a:cs typeface="Calibri" pitchFamily="34" charset="-120"/>
              </a:rPr>
              <a:t>list · item-get · search · item-endpoints-list</a:t>
            </a:r>
            <a:endParaRPr lang="en-US" sz="850" dirty="0"/>
          </a:p>
        </p:txBody>
      </p:sp>
      <p:sp>
        <p:nvSpPr>
          <p:cNvPr id="30" name="Text 28"/>
          <p:cNvSpPr/>
          <p:nvPr/>
        </p:nvSpPr>
        <p:spPr>
          <a:xfrm>
            <a:off x="548640" y="2926080"/>
            <a:ext cx="1106424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4  +  9  +  9  +  9  +  37  =  68 distinct context paths</a:t>
            </a:r>
            <a:pPr indent="0" marL="0">
              <a:buNone/>
            </a:pPr>
            <a:r>
              <a:rPr lang="en-US" sz="1050" dirty="0">
                <a:solidFill>
                  <a:srgbClr val="6E747E"/>
                </a:solidFill>
                <a:latin typeface="Calibri" pitchFamily="34" charset="0"/>
                <a:ea typeface="Calibri" pitchFamily="34" charset="-122"/>
                <a:cs typeface="Calibri" pitchFamily="34" charset="-120"/>
              </a:rPr>
              <a:t>   —  the Koi.Inventory card includes the 10 nested Koi.Inventory.Endpoint.* paths.</a:t>
            </a:r>
            <a:endParaRPr lang="en-US" sz="1150" dirty="0"/>
          </a:p>
        </p:txBody>
      </p:sp>
      <p:sp>
        <p:nvSpPr>
          <p:cNvPr id="31" name="Text 29"/>
          <p:cNvSpPr/>
          <p:nvPr/>
        </p:nvSpPr>
        <p:spPr>
          <a:xfrm>
            <a:off x="548640" y="3236976"/>
            <a:ext cx="11064240" cy="274320"/>
          </a:xfrm>
          <a:prstGeom prst="rect">
            <a:avLst/>
          </a:prstGeom>
          <a:noFill/>
          <a:ln/>
        </p:spPr>
        <p:txBody>
          <a:bodyPr wrap="square" lIns="0" tIns="0" rIns="0" bIns="0" rtlCol="0" anchor="ctr"/>
          <a:lstStyle/>
          <a:p>
            <a:pPr indent="0" marL="0">
              <a:buNone/>
            </a:pPr>
            <a:r>
              <a:rPr lang="en-US" sz="1200" b="1" spc="100" kern="0" dirty="0">
                <a:solidFill>
                  <a:srgbClr val="E8551F"/>
                </a:solidFill>
                <a:latin typeface="Calibri" pitchFamily="34" charset="0"/>
                <a:ea typeface="Calibri" pitchFamily="34" charset="-122"/>
                <a:cs typeface="Calibri" pitchFamily="34" charset="-120"/>
              </a:rPr>
              <a:t>Item-centric: an endpoint is reached only through an item</a:t>
            </a:r>
            <a:endParaRPr lang="en-US" sz="1200" dirty="0"/>
          </a:p>
        </p:txBody>
      </p:sp>
      <p:sp>
        <p:nvSpPr>
          <p:cNvPr id="32" name="Shape 30"/>
          <p:cNvSpPr/>
          <p:nvPr/>
        </p:nvSpPr>
        <p:spPr>
          <a:xfrm>
            <a:off x="548640" y="3547872"/>
            <a:ext cx="2487168" cy="1298448"/>
          </a:xfrm>
          <a:prstGeom prst="roundRect">
            <a:avLst>
              <a:gd name="adj" fmla="val 3521"/>
            </a:avLst>
          </a:prstGeom>
          <a:solidFill>
            <a:srgbClr val="15171B"/>
          </a:solidFill>
          <a:ln w="12700">
            <a:solidFill>
              <a:srgbClr val="15171B"/>
            </a:solidFill>
            <a:prstDash val="solid"/>
          </a:ln>
        </p:spPr>
      </p:sp>
      <p:sp>
        <p:nvSpPr>
          <p:cNvPr id="33" name="Text 31"/>
          <p:cNvSpPr/>
          <p:nvPr/>
        </p:nvSpPr>
        <p:spPr>
          <a:xfrm>
            <a:off x="713232" y="3685032"/>
            <a:ext cx="2157984" cy="310896"/>
          </a:xfrm>
          <a:prstGeom prst="rect">
            <a:avLst/>
          </a:prstGeom>
          <a:noFill/>
          <a:ln/>
        </p:spPr>
        <p:txBody>
          <a:bodyPr wrap="square" lIns="0" tIns="0" rIns="0" bIns="0" rtlCol="0" anchor="t"/>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koi-inventory-list</a:t>
            </a:r>
            <a:endParaRPr lang="en-US" sz="1250" dirty="0"/>
          </a:p>
        </p:txBody>
      </p:sp>
      <p:sp>
        <p:nvSpPr>
          <p:cNvPr id="34" name="Text 32"/>
          <p:cNvSpPr/>
          <p:nvPr/>
        </p:nvSpPr>
        <p:spPr>
          <a:xfrm>
            <a:off x="713232" y="3995928"/>
            <a:ext cx="2157984" cy="704088"/>
          </a:xfrm>
          <a:prstGeom prst="rect">
            <a:avLst/>
          </a:prstGeom>
          <a:noFill/>
          <a:ln/>
        </p:spPr>
        <p:txBody>
          <a:bodyPr wrap="square" lIns="0" tIns="0" rIns="0" bIns="0" rtlCol="0" anchor="t"/>
          <a:lstStyle/>
          <a:p>
            <a:pPr indent="0" marL="0">
              <a:lnSpc>
                <a:spcPts val="1300"/>
              </a:lnSpc>
              <a:buNone/>
            </a:pPr>
            <a:r>
              <a:rPr lang="en-US" sz="1000" dirty="0">
                <a:solidFill>
                  <a:srgbClr val="B4B7BD"/>
                </a:solidFill>
                <a:latin typeface="Calibri" pitchFamily="34" charset="0"/>
                <a:ea typeface="Calibri" pitchFamily="34" charset="-122"/>
                <a:cs typeface="Calibri" pitchFamily="34" charset="-120"/>
              </a:rPr>
              <a:t>or -search</a:t>
            </a:r>
            <a:endParaRPr lang="en-US" sz="1000" dirty="0"/>
          </a:p>
          <a:p>
            <a:pPr indent="0" marL="0">
              <a:lnSpc>
                <a:spcPts val="1300"/>
              </a:lnSpc>
              <a:buNone/>
            </a:pPr>
            <a:r>
              <a:rPr lang="en-US" sz="1000" dirty="0">
                <a:solidFill>
                  <a:srgbClr val="B4B7BD"/>
                </a:solidFill>
                <a:latin typeface="Calibri" pitchFamily="34" charset="0"/>
                <a:ea typeface="Calibri" pitchFamily="34" charset="-122"/>
                <a:cs typeface="Calibri" pitchFamily="34" charset="-120"/>
              </a:rPr>
              <a:t>find items</a:t>
            </a:r>
            <a:endParaRPr lang="en-US" sz="1000" dirty="0"/>
          </a:p>
        </p:txBody>
      </p:sp>
      <p:sp>
        <p:nvSpPr>
          <p:cNvPr id="35" name="Shape 33"/>
          <p:cNvSpPr/>
          <p:nvPr/>
        </p:nvSpPr>
        <p:spPr>
          <a:xfrm>
            <a:off x="3090672" y="4096512"/>
            <a:ext cx="274320" cy="182880"/>
          </a:xfrm>
          <a:prstGeom prst="rightArrow">
            <a:avLst/>
          </a:prstGeom>
          <a:solidFill>
            <a:srgbClr val="E8551F"/>
          </a:solidFill>
          <a:ln w="12700">
            <a:solidFill>
              <a:srgbClr val="E8551F"/>
            </a:solidFill>
            <a:prstDash val="solid"/>
          </a:ln>
        </p:spPr>
      </p:sp>
      <p:sp>
        <p:nvSpPr>
          <p:cNvPr id="36" name="Shape 34"/>
          <p:cNvSpPr/>
          <p:nvPr/>
        </p:nvSpPr>
        <p:spPr>
          <a:xfrm>
            <a:off x="3419856" y="3547872"/>
            <a:ext cx="2487168" cy="1298448"/>
          </a:xfrm>
          <a:prstGeom prst="roundRect">
            <a:avLst>
              <a:gd name="adj" fmla="val 3521"/>
            </a:avLst>
          </a:prstGeom>
          <a:solidFill>
            <a:srgbClr val="15171B"/>
          </a:solidFill>
          <a:ln w="12700">
            <a:solidFill>
              <a:srgbClr val="15171B"/>
            </a:solidFill>
            <a:prstDash val="solid"/>
          </a:ln>
        </p:spPr>
      </p:sp>
      <p:sp>
        <p:nvSpPr>
          <p:cNvPr id="37" name="Text 35"/>
          <p:cNvSpPr/>
          <p:nvPr/>
        </p:nvSpPr>
        <p:spPr>
          <a:xfrm>
            <a:off x="3584448" y="3685032"/>
            <a:ext cx="2157984" cy="310896"/>
          </a:xfrm>
          <a:prstGeom prst="rect">
            <a:avLst/>
          </a:prstGeom>
          <a:noFill/>
          <a:ln/>
        </p:spPr>
        <p:txBody>
          <a:bodyPr wrap="square" lIns="0" tIns="0" rIns="0" bIns="0" rtlCol="0" anchor="t"/>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Koi.Inventory.*</a:t>
            </a:r>
            <a:endParaRPr lang="en-US" sz="1250" dirty="0"/>
          </a:p>
        </p:txBody>
      </p:sp>
      <p:sp>
        <p:nvSpPr>
          <p:cNvPr id="38" name="Text 36"/>
          <p:cNvSpPr/>
          <p:nvPr/>
        </p:nvSpPr>
        <p:spPr>
          <a:xfrm>
            <a:off x="3584448" y="3995928"/>
            <a:ext cx="2157984" cy="704088"/>
          </a:xfrm>
          <a:prstGeom prst="rect">
            <a:avLst/>
          </a:prstGeom>
          <a:noFill/>
          <a:ln/>
        </p:spPr>
        <p:txBody>
          <a:bodyPr wrap="square" lIns="0" tIns="0" rIns="0" bIns="0" rtlCol="0" anchor="t"/>
          <a:lstStyle/>
          <a:p>
            <a:pPr indent="0" marL="0">
              <a:lnSpc>
                <a:spcPts val="1300"/>
              </a:lnSpc>
              <a:buNone/>
            </a:pPr>
            <a:r>
              <a:rPr lang="en-US" sz="1000" dirty="0">
                <a:solidFill>
                  <a:srgbClr val="B4B7BD"/>
                </a:solidFill>
                <a:latin typeface="Calibri" pitchFamily="34" charset="0"/>
                <a:ea typeface="Calibri" pitchFamily="34" charset="-122"/>
                <a:cs typeface="Calibri" pitchFamily="34" charset="-120"/>
              </a:rPr>
              <a:t>27 item fields</a:t>
            </a:r>
            <a:endParaRPr lang="en-US" sz="1000" dirty="0"/>
          </a:p>
          <a:p>
            <a:pPr indent="0" marL="0">
              <a:lnSpc>
                <a:spcPts val="1300"/>
              </a:lnSpc>
              <a:buNone/>
            </a:pPr>
            <a:r>
              <a:rPr lang="en-US" sz="1000" dirty="0">
                <a:solidFill>
                  <a:srgbClr val="B4B7BD"/>
                </a:solidFill>
                <a:latin typeface="Calibri" pitchFamily="34" charset="0"/>
                <a:ea typeface="Calibri" pitchFamily="34" charset="-122"/>
                <a:cs typeface="Calibri" pitchFamily="34" charset="-120"/>
              </a:rPr>
              <a:t>risk, publisher,</a:t>
            </a:r>
            <a:endParaRPr lang="en-US" sz="1000" dirty="0"/>
          </a:p>
          <a:p>
            <a:pPr indent="0" marL="0">
              <a:lnSpc>
                <a:spcPts val="1300"/>
              </a:lnSpc>
              <a:buNone/>
            </a:pPr>
            <a:r>
              <a:rPr lang="en-US" sz="1000" dirty="0">
                <a:solidFill>
                  <a:srgbClr val="B4B7BD"/>
                </a:solidFill>
                <a:latin typeface="Calibri" pitchFamily="34" charset="0"/>
                <a:ea typeface="Calibri" pitchFamily="34" charset="-122"/>
                <a:cs typeface="Calibri" pitchFamily="34" charset="-120"/>
              </a:rPr>
              <a:t>governance</a:t>
            </a:r>
            <a:endParaRPr lang="en-US" sz="1000" dirty="0"/>
          </a:p>
        </p:txBody>
      </p:sp>
      <p:sp>
        <p:nvSpPr>
          <p:cNvPr id="39" name="Shape 37"/>
          <p:cNvSpPr/>
          <p:nvPr/>
        </p:nvSpPr>
        <p:spPr>
          <a:xfrm>
            <a:off x="5961888" y="4096512"/>
            <a:ext cx="274320" cy="182880"/>
          </a:xfrm>
          <a:prstGeom prst="rightArrow">
            <a:avLst/>
          </a:prstGeom>
          <a:solidFill>
            <a:srgbClr val="E8551F"/>
          </a:solidFill>
          <a:ln w="12700">
            <a:solidFill>
              <a:srgbClr val="E8551F"/>
            </a:solidFill>
            <a:prstDash val="solid"/>
          </a:ln>
        </p:spPr>
      </p:sp>
      <p:sp>
        <p:nvSpPr>
          <p:cNvPr id="40" name="Shape 38"/>
          <p:cNvSpPr/>
          <p:nvPr/>
        </p:nvSpPr>
        <p:spPr>
          <a:xfrm>
            <a:off x="6291072" y="3547872"/>
            <a:ext cx="2487168" cy="1298448"/>
          </a:xfrm>
          <a:prstGeom prst="roundRect">
            <a:avLst>
              <a:gd name="adj" fmla="val 3521"/>
            </a:avLst>
          </a:prstGeom>
          <a:solidFill>
            <a:srgbClr val="15171B"/>
          </a:solidFill>
          <a:ln w="12700">
            <a:solidFill>
              <a:srgbClr val="15171B"/>
            </a:solidFill>
            <a:prstDash val="solid"/>
          </a:ln>
        </p:spPr>
      </p:sp>
      <p:sp>
        <p:nvSpPr>
          <p:cNvPr id="41" name="Text 39"/>
          <p:cNvSpPr/>
          <p:nvPr/>
        </p:nvSpPr>
        <p:spPr>
          <a:xfrm>
            <a:off x="6455664" y="3685032"/>
            <a:ext cx="2157984" cy="585216"/>
          </a:xfrm>
          <a:prstGeom prst="rect">
            <a:avLst/>
          </a:prstGeom>
          <a:noFill/>
          <a:ln/>
        </p:spPr>
        <p:txBody>
          <a:bodyPr wrap="square" lIns="0" tIns="0" rIns="0" bIns="0" rtlCol="0" anchor="t"/>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koi-inventory-item-</a:t>
            </a:r>
            <a:endParaRPr lang="en-US" sz="1250" dirty="0"/>
          </a:p>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endpoints-list</a:t>
            </a:r>
            <a:endParaRPr lang="en-US" sz="1250" dirty="0"/>
          </a:p>
        </p:txBody>
      </p:sp>
      <p:sp>
        <p:nvSpPr>
          <p:cNvPr id="42" name="Text 40"/>
          <p:cNvSpPr/>
          <p:nvPr/>
        </p:nvSpPr>
        <p:spPr>
          <a:xfrm>
            <a:off x="6455664" y="4270248"/>
            <a:ext cx="2157984" cy="429768"/>
          </a:xfrm>
          <a:prstGeom prst="rect">
            <a:avLst/>
          </a:prstGeom>
          <a:noFill/>
          <a:ln/>
        </p:spPr>
        <p:txBody>
          <a:bodyPr wrap="square" lIns="0" tIns="0" rIns="0" bIns="0" rtlCol="0" anchor="t"/>
          <a:lstStyle/>
          <a:p>
            <a:pPr indent="0" marL="0">
              <a:lnSpc>
                <a:spcPts val="1300"/>
              </a:lnSpc>
              <a:buNone/>
            </a:pPr>
            <a:r>
              <a:rPr lang="en-US" sz="1000" dirty="0">
                <a:solidFill>
                  <a:srgbClr val="22D3EE"/>
                </a:solidFill>
                <a:latin typeface="Calibri" pitchFamily="34" charset="0"/>
                <a:ea typeface="Calibri" pitchFamily="34" charset="-122"/>
                <a:cs typeface="Calibri" pitchFamily="34" charset="-120"/>
              </a:rPr>
              <a:t>item_id + marketplace</a:t>
            </a:r>
            <a:endParaRPr lang="en-US" sz="1000" dirty="0"/>
          </a:p>
          <a:p>
            <a:pPr indent="0" marL="0">
              <a:lnSpc>
                <a:spcPts val="1300"/>
              </a:lnSpc>
              <a:buNone/>
            </a:pPr>
            <a:r>
              <a:rPr lang="en-US" sz="1000" dirty="0">
                <a:solidFill>
                  <a:srgbClr val="22D3EE"/>
                </a:solidFill>
                <a:latin typeface="Calibri" pitchFamily="34" charset="0"/>
                <a:ea typeface="Calibri" pitchFamily="34" charset="-122"/>
                <a:cs typeface="Calibri" pitchFamily="34" charset="-120"/>
              </a:rPr>
              <a:t>+ version</a:t>
            </a:r>
            <a:endParaRPr lang="en-US" sz="1000" dirty="0"/>
          </a:p>
        </p:txBody>
      </p:sp>
      <p:sp>
        <p:nvSpPr>
          <p:cNvPr id="43" name="Shape 41"/>
          <p:cNvSpPr/>
          <p:nvPr/>
        </p:nvSpPr>
        <p:spPr>
          <a:xfrm>
            <a:off x="8833104" y="4096512"/>
            <a:ext cx="274320" cy="182880"/>
          </a:xfrm>
          <a:prstGeom prst="rightArrow">
            <a:avLst/>
          </a:prstGeom>
          <a:solidFill>
            <a:srgbClr val="E8551F"/>
          </a:solidFill>
          <a:ln w="12700">
            <a:solidFill>
              <a:srgbClr val="E8551F"/>
            </a:solidFill>
            <a:prstDash val="solid"/>
          </a:ln>
        </p:spPr>
      </p:sp>
      <p:sp>
        <p:nvSpPr>
          <p:cNvPr id="44" name="Shape 42"/>
          <p:cNvSpPr/>
          <p:nvPr/>
        </p:nvSpPr>
        <p:spPr>
          <a:xfrm>
            <a:off x="9162288" y="3547872"/>
            <a:ext cx="2487168" cy="1298448"/>
          </a:xfrm>
          <a:prstGeom prst="roundRect">
            <a:avLst>
              <a:gd name="adj" fmla="val 3521"/>
            </a:avLst>
          </a:prstGeom>
          <a:solidFill>
            <a:srgbClr val="15171B"/>
          </a:solidFill>
          <a:ln w="12700">
            <a:solidFill>
              <a:srgbClr val="15171B"/>
            </a:solidFill>
            <a:prstDash val="solid"/>
          </a:ln>
        </p:spPr>
      </p:sp>
      <p:sp>
        <p:nvSpPr>
          <p:cNvPr id="45" name="Text 43"/>
          <p:cNvSpPr/>
          <p:nvPr/>
        </p:nvSpPr>
        <p:spPr>
          <a:xfrm>
            <a:off x="9326880" y="3685032"/>
            <a:ext cx="2157984" cy="310896"/>
          </a:xfrm>
          <a:prstGeom prst="rect">
            <a:avLst/>
          </a:prstGeom>
          <a:noFill/>
          <a:ln/>
        </p:spPr>
        <p:txBody>
          <a:bodyPr wrap="square" lIns="0" tIns="0" rIns="0" bIns="0" rtlCol="0" anchor="t"/>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Koi.Inventory.Endpoint.*</a:t>
            </a:r>
            <a:endParaRPr lang="en-US" sz="1250" dirty="0"/>
          </a:p>
        </p:txBody>
      </p:sp>
      <p:sp>
        <p:nvSpPr>
          <p:cNvPr id="46" name="Text 44"/>
          <p:cNvSpPr/>
          <p:nvPr/>
        </p:nvSpPr>
        <p:spPr>
          <a:xfrm>
            <a:off x="9326880" y="3995928"/>
            <a:ext cx="2157984" cy="704088"/>
          </a:xfrm>
          <a:prstGeom prst="rect">
            <a:avLst/>
          </a:prstGeom>
          <a:noFill/>
          <a:ln/>
        </p:spPr>
        <p:txBody>
          <a:bodyPr wrap="square" lIns="0" tIns="0" rIns="0" bIns="0" rtlCol="0" anchor="t"/>
          <a:lstStyle/>
          <a:p>
            <a:pPr indent="0" marL="0">
              <a:lnSpc>
                <a:spcPts val="1300"/>
              </a:lnSpc>
              <a:buNone/>
            </a:pPr>
            <a:r>
              <a:rPr lang="en-US" sz="1000" dirty="0">
                <a:solidFill>
                  <a:srgbClr val="22D3EE"/>
                </a:solidFill>
                <a:latin typeface="Calibri" pitchFamily="34" charset="0"/>
                <a:ea typeface="Calibri" pitchFamily="34" charset="-122"/>
                <a:cs typeface="Calibri" pitchFamily="34" charset="-120"/>
              </a:rPr>
              <a:t>10 nested fields — hostname,</a:t>
            </a:r>
            <a:endParaRPr lang="en-US" sz="1000" dirty="0"/>
          </a:p>
          <a:p>
            <a:pPr indent="0" marL="0">
              <a:lnSpc>
                <a:spcPts val="1300"/>
              </a:lnSpc>
              <a:buNone/>
            </a:pPr>
            <a:r>
              <a:rPr lang="en-US" sz="1000" dirty="0">
                <a:solidFill>
                  <a:srgbClr val="22D3EE"/>
                </a:solidFill>
                <a:latin typeface="Calibri" pitchFamily="34" charset="0"/>
                <a:ea typeface="Calibri" pitchFamily="34" charset="-122"/>
                <a:cs typeface="Calibri" pitchFamily="34" charset="-120"/>
              </a:rPr>
              <a:t>os, serial, path,</a:t>
            </a:r>
            <a:endParaRPr lang="en-US" sz="1000" dirty="0"/>
          </a:p>
          <a:p>
            <a:pPr indent="0" marL="0">
              <a:lnSpc>
                <a:spcPts val="1300"/>
              </a:lnSpc>
              <a:buNone/>
            </a:pPr>
            <a:r>
              <a:rPr lang="en-US" sz="1000" dirty="0">
                <a:solidFill>
                  <a:srgbClr val="22D3EE"/>
                </a:solidFill>
                <a:latin typeface="Calibri" pitchFamily="34" charset="0"/>
                <a:ea typeface="Calibri" pitchFamily="34" charset="-122"/>
                <a:cs typeface="Calibri" pitchFamily="34" charset="-120"/>
              </a:rPr>
              <a:t>last_logged_on_user</a:t>
            </a:r>
            <a:endParaRPr lang="en-US" sz="1000" dirty="0"/>
          </a:p>
        </p:txBody>
      </p:sp>
      <p:sp>
        <p:nvSpPr>
          <p:cNvPr id="47" name="Shape 45"/>
          <p:cNvSpPr/>
          <p:nvPr/>
        </p:nvSpPr>
        <p:spPr>
          <a:xfrm>
            <a:off x="548640" y="4974336"/>
            <a:ext cx="11064240" cy="987552"/>
          </a:xfrm>
          <a:prstGeom prst="roundRect">
            <a:avLst>
              <a:gd name="adj" fmla="val 4630"/>
            </a:avLst>
          </a:prstGeom>
          <a:solidFill>
            <a:srgbClr val="1C2026"/>
          </a:solidFill>
          <a:ln w="12700">
            <a:solidFill>
              <a:srgbClr val="1C2026"/>
            </a:solidFill>
            <a:prstDash val="solid"/>
          </a:ln>
        </p:spPr>
      </p:sp>
      <p:sp>
        <p:nvSpPr>
          <p:cNvPr id="48" name="Shape 46"/>
          <p:cNvSpPr/>
          <p:nvPr/>
        </p:nvSpPr>
        <p:spPr>
          <a:xfrm>
            <a:off x="786384" y="5193792"/>
            <a:ext cx="329184" cy="329184"/>
          </a:xfrm>
          <a:prstGeom prst="roundRect">
            <a:avLst>
              <a:gd name="adj" fmla="val 25000"/>
            </a:avLst>
          </a:prstGeom>
          <a:solidFill>
            <a:srgbClr val="F5A524"/>
          </a:solidFill>
          <a:ln w="12700">
            <a:solidFill>
              <a:srgbClr val="F5A524"/>
            </a:solidFill>
            <a:prstDash val="solid"/>
          </a:ln>
        </p:spPr>
      </p:sp>
      <p:sp>
        <p:nvSpPr>
          <p:cNvPr id="49" name="Text 47"/>
          <p:cNvSpPr/>
          <p:nvPr/>
        </p:nvSpPr>
        <p:spPr>
          <a:xfrm>
            <a:off x="786384" y="51937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50" name="Text 48"/>
          <p:cNvSpPr/>
          <p:nvPr/>
        </p:nvSpPr>
        <p:spPr>
          <a:xfrm>
            <a:off x="1298448" y="5084064"/>
            <a:ext cx="310896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Two things that bite</a:t>
            </a:r>
            <a:endParaRPr lang="en-US" sz="1250" dirty="0"/>
          </a:p>
        </p:txBody>
      </p:sp>
      <p:sp>
        <p:nvSpPr>
          <p:cNvPr id="51" name="Text 49"/>
          <p:cNvSpPr/>
          <p:nvPr/>
        </p:nvSpPr>
        <p:spPr>
          <a:xfrm>
            <a:off x="1298448" y="5358384"/>
            <a:ext cx="10021824" cy="530352"/>
          </a:xfrm>
          <a:prstGeom prst="rect">
            <a:avLst/>
          </a:prstGeom>
          <a:noFill/>
          <a:ln/>
        </p:spPr>
        <p:txBody>
          <a:bodyPr wrap="square" lIns="0" tIns="0" rIns="0" bIns="0" rtlCol="0" anchor="t"/>
          <a:lstStyle/>
          <a:p>
            <a:pPr indent="0" marL="0">
              <a:lnSpc>
                <a:spcPts val="1300"/>
              </a:lnSpc>
              <a:buNone/>
            </a:pPr>
            <a:r>
              <a:rPr lang="en-US" sz="1050" b="1" dirty="0">
                <a:solidFill>
                  <a:srgbClr val="FFFFFF"/>
                </a:solidFill>
                <a:latin typeface="Calibri" pitchFamily="34" charset="0"/>
                <a:ea typeface="Calibri" pitchFamily="34" charset="-122"/>
                <a:cs typeface="Calibri" pitchFamily="34" charset="-120"/>
              </a:rPr>
              <a:t>There is no Koi.Device.* prefix.</a:t>
            </a:r>
            <a:pPr indent="0" marL="0">
              <a:lnSpc>
                <a:spcPts val="1300"/>
              </a:lnSpc>
              <a:buNone/>
            </a:pPr>
            <a:r>
              <a:rPr lang="en-US" sz="1050" dirty="0">
                <a:solidFill>
                  <a:srgbClr val="B4B7BD"/>
                </a:solidFill>
                <a:latin typeface="Calibri" pitchFamily="34" charset="0"/>
                <a:ea typeface="Calibri" pitchFamily="34" charset="-122"/>
                <a:cs typeface="Calibri" pitchFamily="34" charset="-120"/>
              </a:rPr>
              <a:t> Endpoints exist only under Koi.Inventory.Endpoint.*, reached from an item — you cannot ask this pack "what is on host X" directly.   </a:t>
            </a:r>
            <a:pPr indent="0" marL="0">
              <a:lnSpc>
                <a:spcPts val="1300"/>
              </a:lnSpc>
              <a:buNone/>
            </a:pPr>
            <a:r>
              <a:rPr lang="en-US" sz="1050" b="1" dirty="0">
                <a:solidFill>
                  <a:srgbClr val="FFFFFF"/>
                </a:solidFill>
                <a:latin typeface="Calibri" pitchFamily="34" charset="0"/>
                <a:ea typeface="Calibri" pitchFamily="34" charset="-122"/>
                <a:cs typeface="Calibri" pitchFamily="34" charset="-120"/>
              </a:rPr>
              <a:t>The casing is inconsistent:</a:t>
            </a:r>
            <a:pPr indent="0" marL="0">
              <a:lnSpc>
                <a:spcPts val="1300"/>
              </a:lnSpc>
              <a:buNone/>
            </a:pPr>
            <a:r>
              <a:rPr lang="en-US" sz="1050" dirty="0">
                <a:solidFill>
                  <a:srgbClr val="B4B7BD"/>
                </a:solidFill>
                <a:latin typeface="Calibri" pitchFamily="34" charset="0"/>
                <a:ea typeface="Calibri" pitchFamily="34" charset="-122"/>
                <a:cs typeface="Calibri" pitchFamily="34" charset="-120"/>
              </a:rPr>
              <a:t> KOI.Event for events, Koi.* for everything else. Nothing in the pack says why. Preserve it exactly as declared rather than normalising it — DT paths are case-sensitive.</a:t>
            </a:r>
            <a:endParaRPr lang="en-US" sz="1050" dirty="0"/>
          </a:p>
        </p:txBody>
      </p:sp>
      <p:sp>
        <p:nvSpPr>
          <p:cNvPr id="52" name="Text 50"/>
          <p:cNvSpPr/>
          <p:nvPr/>
        </p:nvSpPr>
        <p:spPr>
          <a:xfrm>
            <a:off x="548640" y="6035040"/>
            <a:ext cx="11064240" cy="274320"/>
          </a:xfrm>
          <a:prstGeom prst="rect">
            <a:avLst/>
          </a:prstGeom>
          <a:noFill/>
          <a:ln/>
        </p:spPr>
        <p:txBody>
          <a:bodyPr wrap="square" lIns="0" tIns="0" rIns="0" bIns="0" rtlCol="0" anchor="ctr"/>
          <a:lstStyle/>
          <a:p>
            <a:pPr indent="0" marL="0">
              <a:buNone/>
            </a:pPr>
            <a:r>
              <a:rPr lang="en-US" sz="950" i="1" dirty="0">
                <a:solidFill>
                  <a:srgbClr val="6E747E"/>
                </a:solidFill>
                <a:latin typeface="Calibri" pitchFamily="34" charset="0"/>
                <a:ea typeface="Calibri" pitchFamily="34" charset="-122"/>
                <a:cs typeface="Calibri" pitchFamily="34" charset="-120"/>
              </a:rPr>
              <a:t>Every number on this slide is computed at build time from marketplace-pack.json (131 declarations, 68 distinct paths, 36 of them declared by more than one command); the build fails if the five cards stop summing to 68.  Absence of Koi.Device.*: VERIFIED_FACTS §4.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6419088"/>
            <a:ext cx="11064240" cy="237744"/>
          </a:xfrm>
          <a:prstGeom prst="rect">
            <a:avLst/>
          </a:prstGeom>
          <a:noFill/>
          <a:ln/>
        </p:spPr>
        <p:txBody>
          <a:bodyPr wrap="square" lIns="0" tIns="0" rIns="0" bIns="0" rtlCol="0" anchor="ctr"/>
          <a:lstStyle/>
          <a:p>
            <a:pPr indent="0" marL="0">
              <a:buNone/>
            </a:pPr>
            <a:r>
              <a:rPr lang="en-US" sz="800" dirty="0">
                <a:solidFill>
                  <a:srgbClr val="6E747E"/>
                </a:solidFill>
                <a:latin typeface="Calibri" pitchFamily="34" charset="0"/>
                <a:ea typeface="Calibri" pitchFamily="34" charset="-122"/>
                <a:cs typeface="Calibri" pitchFamily="34" charset="-120"/>
              </a:rPr>
              <a:t>Marketplace KOI pack v1.2.3  ·  demisto/content / Packs/Koi  ·  integration only, 13 commands  ·  not the custom v1.3.0 pack</a:t>
            </a:r>
            <a:endParaRPr lang="en-US" sz="800" dirty="0"/>
          </a:p>
        </p:txBody>
      </p:sp>
      <p:sp>
        <p:nvSpPr>
          <p:cNvPr id="3" name="Text 1"/>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200" kern="0" dirty="0">
                <a:solidFill>
                  <a:srgbClr val="E8551F"/>
                </a:solidFill>
                <a:latin typeface="Calibri" pitchFamily="34" charset="0"/>
                <a:ea typeface="Calibri" pitchFamily="34" charset="-122"/>
                <a:cs typeface="Calibri" pitchFamily="34" charset="-120"/>
              </a:rPr>
              <a:t>COMMAND SURFACE</a:t>
            </a:r>
            <a:endParaRPr lang="en-US" sz="1100" dirty="0"/>
          </a:p>
        </p:txBody>
      </p:sp>
      <p:sp>
        <p:nvSpPr>
          <p:cNvPr id="4" name="Text 2"/>
          <p:cNvSpPr/>
          <p:nvPr/>
        </p:nvSpPr>
        <p:spPr>
          <a:xfrm>
            <a:off x="548640" y="612648"/>
            <a:ext cx="11064240" cy="658368"/>
          </a:xfrm>
          <a:prstGeom prst="rect">
            <a:avLst/>
          </a:prstGeom>
          <a:noFill/>
          <a:ln/>
        </p:spPr>
        <p:txBody>
          <a:bodyPr wrap="square" lIns="0" tIns="0" rIns="0" bIns="0" rtlCol="0" anchor="ctr"/>
          <a:lstStyle/>
          <a:p>
            <a:pPr indent="0" marL="0">
              <a:buNone/>
            </a:pPr>
            <a:r>
              <a:rPr lang="en-US" sz="3100" b="1" dirty="0">
                <a:solidFill>
                  <a:srgbClr val="FFFFFF"/>
                </a:solidFill>
                <a:latin typeface="Calibri" pitchFamily="34" charset="0"/>
                <a:ea typeface="Calibri" pitchFamily="34" charset="-122"/>
                <a:cs typeface="Calibri" pitchFamily="34" charset="-120"/>
              </a:rPr>
              <a:t>13 commands, all of them</a:t>
            </a:r>
            <a:endParaRPr lang="en-US" sz="3100" dirty="0"/>
          </a:p>
        </p:txBody>
      </p:sp>
      <p:sp>
        <p:nvSpPr>
          <p:cNvPr id="5" name="Shape 3"/>
          <p:cNvSpPr/>
          <p:nvPr/>
        </p:nvSpPr>
        <p:spPr>
          <a:xfrm>
            <a:off x="548640" y="1371600"/>
            <a:ext cx="1450202" cy="2487168"/>
          </a:xfrm>
          <a:prstGeom prst="roundRect">
            <a:avLst>
              <a:gd name="adj" fmla="val 3153"/>
            </a:avLst>
          </a:prstGeom>
          <a:solidFill>
            <a:srgbClr val="15171B"/>
          </a:solidFill>
          <a:ln w="12700">
            <a:solidFill>
              <a:srgbClr val="15171B"/>
            </a:solidFill>
            <a:prstDash val="solid"/>
          </a:ln>
        </p:spPr>
      </p:sp>
      <p:sp>
        <p:nvSpPr>
          <p:cNvPr id="6" name="Text 4"/>
          <p:cNvSpPr/>
          <p:nvPr/>
        </p:nvSpPr>
        <p:spPr>
          <a:xfrm>
            <a:off x="731520" y="1499616"/>
            <a:ext cx="1084442" cy="603504"/>
          </a:xfrm>
          <a:prstGeom prst="rect">
            <a:avLst/>
          </a:prstGeom>
          <a:noFill/>
          <a:ln/>
        </p:spPr>
        <p:txBody>
          <a:bodyPr wrap="square" lIns="0" tIns="0" rIns="0" bIns="0" rtlCol="0" anchor="ctr"/>
          <a:lstStyle/>
          <a:p>
            <a:pPr indent="0" marL="0">
              <a:buNone/>
            </a:pPr>
            <a:r>
              <a:rPr lang="en-US" sz="3400" b="1" dirty="0">
                <a:solidFill>
                  <a:srgbClr val="E8551F"/>
                </a:solidFill>
                <a:latin typeface="Calibri" pitchFamily="34" charset="0"/>
                <a:ea typeface="Calibri" pitchFamily="34" charset="-122"/>
                <a:cs typeface="Calibri" pitchFamily="34" charset="-120"/>
              </a:rPr>
              <a:t>1</a:t>
            </a:r>
            <a:endParaRPr lang="en-US" sz="3400" dirty="0"/>
          </a:p>
        </p:txBody>
      </p:sp>
      <p:sp>
        <p:nvSpPr>
          <p:cNvPr id="7" name="Text 5"/>
          <p:cNvSpPr/>
          <p:nvPr/>
        </p:nvSpPr>
        <p:spPr>
          <a:xfrm>
            <a:off x="731520" y="2084832"/>
            <a:ext cx="1084442"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Events</a:t>
            </a:r>
            <a:endParaRPr lang="en-US" sz="1300" dirty="0"/>
          </a:p>
        </p:txBody>
      </p:sp>
      <p:sp>
        <p:nvSpPr>
          <p:cNvPr id="8" name="Text 6"/>
          <p:cNvSpPr/>
          <p:nvPr/>
        </p:nvSpPr>
        <p:spPr>
          <a:xfrm>
            <a:off x="731520" y="2414016"/>
            <a:ext cx="1084442" cy="914400"/>
          </a:xfrm>
          <a:prstGeom prst="rect">
            <a:avLst/>
          </a:prstGeom>
          <a:noFill/>
          <a:ln/>
        </p:spPr>
        <p:txBody>
          <a:bodyPr wrap="square" lIns="0" tIns="0" rIns="0" bIns="0" rtlCol="0" anchor="t"/>
          <a:lstStyle/>
          <a:p>
            <a:pPr indent="0" marL="0">
              <a:lnSpc>
                <a:spcPts val="1300"/>
              </a:lnSpc>
              <a:buNone/>
            </a:pPr>
            <a:r>
              <a:rPr lang="en-US" sz="900" dirty="0">
                <a:solidFill>
                  <a:srgbClr val="B4B7BD"/>
                </a:solidFill>
                <a:latin typeface="Courier New" pitchFamily="34" charset="0"/>
                <a:ea typeface="Courier New" pitchFamily="34" charset="-122"/>
                <a:cs typeface="Courier New" pitchFamily="34" charset="-120"/>
              </a:rPr>
              <a:t>get-events</a:t>
            </a:r>
            <a:endParaRPr lang="en-US" sz="900" dirty="0"/>
          </a:p>
        </p:txBody>
      </p:sp>
      <p:sp>
        <p:nvSpPr>
          <p:cNvPr id="9" name="Text 7"/>
          <p:cNvSpPr/>
          <p:nvPr/>
        </p:nvSpPr>
        <p:spPr>
          <a:xfrm>
            <a:off x="731520" y="3566160"/>
            <a:ext cx="1084442" cy="237744"/>
          </a:xfrm>
          <a:prstGeom prst="rect">
            <a:avLst/>
          </a:prstGeom>
          <a:noFill/>
          <a:ln/>
        </p:spPr>
        <p:txBody>
          <a:bodyPr wrap="square" lIns="0" tIns="0" rIns="0" bIns="0" rtlCol="0" anchor="ctr"/>
          <a:lstStyle/>
          <a:p>
            <a:pPr indent="0" marL="0">
              <a:buNone/>
            </a:pPr>
            <a:r>
              <a:rPr lang="en-US" sz="850" dirty="0">
                <a:solidFill>
                  <a:srgbClr val="6E747E"/>
                </a:solidFill>
                <a:latin typeface="Calibri" pitchFamily="34" charset="0"/>
                <a:ea typeface="Calibri" pitchFamily="34" charset="-122"/>
                <a:cs typeface="Calibri" pitchFamily="34" charset="-120"/>
              </a:rPr>
              <a:t>5 args  ·  4 outputs</a:t>
            </a:r>
            <a:endParaRPr lang="en-US" sz="850" dirty="0"/>
          </a:p>
        </p:txBody>
      </p:sp>
      <p:sp>
        <p:nvSpPr>
          <p:cNvPr id="10" name="Shape 8"/>
          <p:cNvSpPr/>
          <p:nvPr/>
        </p:nvSpPr>
        <p:spPr>
          <a:xfrm>
            <a:off x="2218298" y="1371600"/>
            <a:ext cx="1940270" cy="2487168"/>
          </a:xfrm>
          <a:prstGeom prst="roundRect">
            <a:avLst>
              <a:gd name="adj" fmla="val 2356"/>
            </a:avLst>
          </a:prstGeom>
          <a:solidFill>
            <a:srgbClr val="15171B"/>
          </a:solidFill>
          <a:ln w="12700">
            <a:solidFill>
              <a:srgbClr val="15171B"/>
            </a:solidFill>
            <a:prstDash val="solid"/>
          </a:ln>
        </p:spPr>
      </p:sp>
      <p:sp>
        <p:nvSpPr>
          <p:cNvPr id="11" name="Text 9"/>
          <p:cNvSpPr/>
          <p:nvPr/>
        </p:nvSpPr>
        <p:spPr>
          <a:xfrm>
            <a:off x="2401178" y="1499616"/>
            <a:ext cx="1574510" cy="603504"/>
          </a:xfrm>
          <a:prstGeom prst="rect">
            <a:avLst/>
          </a:prstGeom>
          <a:noFill/>
          <a:ln/>
        </p:spPr>
        <p:txBody>
          <a:bodyPr wrap="square" lIns="0" tIns="0" rIns="0" bIns="0" rtlCol="0" anchor="ctr"/>
          <a:lstStyle/>
          <a:p>
            <a:pPr indent="0" marL="0">
              <a:buNone/>
            </a:pPr>
            <a:r>
              <a:rPr lang="en-US" sz="3400" b="1" dirty="0">
                <a:solidFill>
                  <a:srgbClr val="22D3EE"/>
                </a:solidFill>
                <a:latin typeface="Calibri" pitchFamily="34" charset="0"/>
                <a:ea typeface="Calibri" pitchFamily="34" charset="-122"/>
                <a:cs typeface="Calibri" pitchFamily="34" charset="-120"/>
              </a:rPr>
              <a:t>2</a:t>
            </a:r>
            <a:endParaRPr lang="en-US" sz="3400" dirty="0"/>
          </a:p>
        </p:txBody>
      </p:sp>
      <p:sp>
        <p:nvSpPr>
          <p:cNvPr id="12" name="Text 10"/>
          <p:cNvSpPr/>
          <p:nvPr/>
        </p:nvSpPr>
        <p:spPr>
          <a:xfrm>
            <a:off x="2401178" y="2084832"/>
            <a:ext cx="157451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Policy</a:t>
            </a:r>
            <a:endParaRPr lang="en-US" sz="1300" dirty="0"/>
          </a:p>
        </p:txBody>
      </p:sp>
      <p:sp>
        <p:nvSpPr>
          <p:cNvPr id="13" name="Text 11"/>
          <p:cNvSpPr/>
          <p:nvPr/>
        </p:nvSpPr>
        <p:spPr>
          <a:xfrm>
            <a:off x="2401178" y="2414016"/>
            <a:ext cx="1574510" cy="914400"/>
          </a:xfrm>
          <a:prstGeom prst="rect">
            <a:avLst/>
          </a:prstGeom>
          <a:noFill/>
          <a:ln/>
        </p:spPr>
        <p:txBody>
          <a:bodyPr wrap="square" lIns="0" tIns="0" rIns="0" bIns="0" rtlCol="0" anchor="t"/>
          <a:lstStyle/>
          <a:p>
            <a:pPr indent="0" marL="0">
              <a:lnSpc>
                <a:spcPts val="1300"/>
              </a:lnSpc>
              <a:buNone/>
            </a:pPr>
            <a:r>
              <a:rPr lang="en-US" sz="900" dirty="0">
                <a:solidFill>
                  <a:srgbClr val="B4B7BD"/>
                </a:solidFill>
                <a:latin typeface="Courier New" pitchFamily="34" charset="0"/>
                <a:ea typeface="Courier New" pitchFamily="34" charset="-122"/>
                <a:cs typeface="Courier New" pitchFamily="34" charset="-120"/>
              </a:rPr>
              <a:t>policy-list</a:t>
            </a:r>
            <a:endParaRPr lang="en-US" sz="900" dirty="0"/>
          </a:p>
          <a:p>
            <a:pPr indent="0" marL="0">
              <a:lnSpc>
                <a:spcPts val="1300"/>
              </a:lnSpc>
              <a:buNone/>
            </a:pPr>
            <a:r>
              <a:rPr lang="en-US" sz="900" dirty="0">
                <a:solidFill>
                  <a:srgbClr val="B4B7BD"/>
                </a:solidFill>
                <a:latin typeface="Courier New" pitchFamily="34" charset="0"/>
                <a:ea typeface="Courier New" pitchFamily="34" charset="-122"/>
                <a:cs typeface="Courier New" pitchFamily="34" charset="-120"/>
              </a:rPr>
              <a:t>policy-status-update</a:t>
            </a:r>
            <a:endParaRPr lang="en-US" sz="900" dirty="0"/>
          </a:p>
        </p:txBody>
      </p:sp>
      <p:sp>
        <p:nvSpPr>
          <p:cNvPr id="14" name="Text 12"/>
          <p:cNvSpPr/>
          <p:nvPr/>
        </p:nvSpPr>
        <p:spPr>
          <a:xfrm>
            <a:off x="2401178" y="3566160"/>
            <a:ext cx="1574510" cy="237744"/>
          </a:xfrm>
          <a:prstGeom prst="rect">
            <a:avLst/>
          </a:prstGeom>
          <a:noFill/>
          <a:ln/>
        </p:spPr>
        <p:txBody>
          <a:bodyPr wrap="square" lIns="0" tIns="0" rIns="0" bIns="0" rtlCol="0" anchor="ctr"/>
          <a:lstStyle/>
          <a:p>
            <a:pPr indent="0" marL="0">
              <a:buNone/>
            </a:pPr>
            <a:r>
              <a:rPr lang="en-US" sz="850" dirty="0">
                <a:solidFill>
                  <a:srgbClr val="6E747E"/>
                </a:solidFill>
                <a:latin typeface="Calibri" pitchFamily="34" charset="0"/>
                <a:ea typeface="Calibri" pitchFamily="34" charset="-122"/>
                <a:cs typeface="Calibri" pitchFamily="34" charset="-120"/>
              </a:rPr>
              <a:t>5 args  ·  18 outputs</a:t>
            </a:r>
            <a:endParaRPr lang="en-US" sz="850" dirty="0"/>
          </a:p>
        </p:txBody>
      </p:sp>
      <p:sp>
        <p:nvSpPr>
          <p:cNvPr id="15" name="Shape 13"/>
          <p:cNvSpPr/>
          <p:nvPr/>
        </p:nvSpPr>
        <p:spPr>
          <a:xfrm>
            <a:off x="4378023" y="1371600"/>
            <a:ext cx="2090291" cy="2487168"/>
          </a:xfrm>
          <a:prstGeom prst="roundRect">
            <a:avLst>
              <a:gd name="adj" fmla="val 2187"/>
            </a:avLst>
          </a:prstGeom>
          <a:solidFill>
            <a:srgbClr val="15171B"/>
          </a:solidFill>
          <a:ln w="12700">
            <a:solidFill>
              <a:srgbClr val="15171B"/>
            </a:solidFill>
            <a:prstDash val="solid"/>
          </a:ln>
        </p:spPr>
      </p:sp>
      <p:sp>
        <p:nvSpPr>
          <p:cNvPr id="16" name="Text 14"/>
          <p:cNvSpPr/>
          <p:nvPr/>
        </p:nvSpPr>
        <p:spPr>
          <a:xfrm>
            <a:off x="4560903" y="1499616"/>
            <a:ext cx="1724531" cy="603504"/>
          </a:xfrm>
          <a:prstGeom prst="rect">
            <a:avLst/>
          </a:prstGeom>
          <a:noFill/>
          <a:ln/>
        </p:spPr>
        <p:txBody>
          <a:bodyPr wrap="square" lIns="0" tIns="0" rIns="0" bIns="0" rtlCol="0" anchor="ctr"/>
          <a:lstStyle/>
          <a:p>
            <a:pPr indent="0" marL="0">
              <a:buNone/>
            </a:pPr>
            <a:r>
              <a:rPr lang="en-US" sz="3400" b="1" dirty="0">
                <a:solidFill>
                  <a:srgbClr val="E8551F"/>
                </a:solidFill>
                <a:latin typeface="Calibri" pitchFamily="34" charset="0"/>
                <a:ea typeface="Calibri" pitchFamily="34" charset="-122"/>
                <a:cs typeface="Calibri" pitchFamily="34" charset="-120"/>
              </a:rPr>
              <a:t>3</a:t>
            </a:r>
            <a:endParaRPr lang="en-US" sz="3400" dirty="0"/>
          </a:p>
        </p:txBody>
      </p:sp>
      <p:sp>
        <p:nvSpPr>
          <p:cNvPr id="17" name="Text 15"/>
          <p:cNvSpPr/>
          <p:nvPr/>
        </p:nvSpPr>
        <p:spPr>
          <a:xfrm>
            <a:off x="4560903" y="2084832"/>
            <a:ext cx="1724531"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Allowlist</a:t>
            </a:r>
            <a:endParaRPr lang="en-US" sz="1300" dirty="0"/>
          </a:p>
        </p:txBody>
      </p:sp>
      <p:sp>
        <p:nvSpPr>
          <p:cNvPr id="18" name="Text 16"/>
          <p:cNvSpPr/>
          <p:nvPr/>
        </p:nvSpPr>
        <p:spPr>
          <a:xfrm>
            <a:off x="4560903" y="2414016"/>
            <a:ext cx="1724531" cy="914400"/>
          </a:xfrm>
          <a:prstGeom prst="rect">
            <a:avLst/>
          </a:prstGeom>
          <a:noFill/>
          <a:ln/>
        </p:spPr>
        <p:txBody>
          <a:bodyPr wrap="square" lIns="0" tIns="0" rIns="0" bIns="0" rtlCol="0" anchor="t"/>
          <a:lstStyle/>
          <a:p>
            <a:pPr indent="0" marL="0">
              <a:lnSpc>
                <a:spcPts val="1300"/>
              </a:lnSpc>
              <a:buNone/>
            </a:pPr>
            <a:r>
              <a:rPr lang="en-US" sz="900" dirty="0">
                <a:solidFill>
                  <a:srgbClr val="B4B7BD"/>
                </a:solidFill>
                <a:latin typeface="Courier New" pitchFamily="34" charset="0"/>
                <a:ea typeface="Courier New" pitchFamily="34" charset="-122"/>
                <a:cs typeface="Courier New" pitchFamily="34" charset="-120"/>
              </a:rPr>
              <a:t>allowlist-get</a:t>
            </a:r>
            <a:endParaRPr lang="en-US" sz="900" dirty="0"/>
          </a:p>
          <a:p>
            <a:pPr indent="0" marL="0">
              <a:lnSpc>
                <a:spcPts val="1300"/>
              </a:lnSpc>
              <a:buNone/>
            </a:pPr>
            <a:r>
              <a:rPr lang="en-US" sz="900" dirty="0">
                <a:solidFill>
                  <a:srgbClr val="F5A524"/>
                </a:solidFill>
                <a:latin typeface="Courier New" pitchFamily="34" charset="0"/>
                <a:ea typeface="Courier New" pitchFamily="34" charset="-122"/>
                <a:cs typeface="Courier New" pitchFamily="34" charset="-120"/>
              </a:rPr>
              <a:t>allowlist-items-remove</a:t>
            </a:r>
            <a:endParaRPr lang="en-US" sz="900" dirty="0"/>
          </a:p>
          <a:p>
            <a:pPr indent="0" marL="0">
              <a:lnSpc>
                <a:spcPts val="1300"/>
              </a:lnSpc>
              <a:buNone/>
            </a:pPr>
            <a:r>
              <a:rPr lang="en-US" sz="900" dirty="0">
                <a:solidFill>
                  <a:srgbClr val="B4B7BD"/>
                </a:solidFill>
                <a:latin typeface="Courier New" pitchFamily="34" charset="0"/>
                <a:ea typeface="Courier New" pitchFamily="34" charset="-122"/>
                <a:cs typeface="Courier New" pitchFamily="34" charset="-120"/>
              </a:rPr>
              <a:t>allowlist-items-add</a:t>
            </a:r>
            <a:endParaRPr lang="en-US" sz="900" dirty="0"/>
          </a:p>
        </p:txBody>
      </p:sp>
      <p:sp>
        <p:nvSpPr>
          <p:cNvPr id="19" name="Text 17"/>
          <p:cNvSpPr/>
          <p:nvPr/>
        </p:nvSpPr>
        <p:spPr>
          <a:xfrm>
            <a:off x="4560903" y="3566160"/>
            <a:ext cx="1724531" cy="237744"/>
          </a:xfrm>
          <a:prstGeom prst="rect">
            <a:avLst/>
          </a:prstGeom>
          <a:noFill/>
          <a:ln/>
        </p:spPr>
        <p:txBody>
          <a:bodyPr wrap="square" lIns="0" tIns="0" rIns="0" bIns="0" rtlCol="0" anchor="ctr"/>
          <a:lstStyle/>
          <a:p>
            <a:pPr indent="0" marL="0">
              <a:buNone/>
            </a:pPr>
            <a:r>
              <a:rPr lang="en-US" sz="850" dirty="0">
                <a:solidFill>
                  <a:srgbClr val="6E747E"/>
                </a:solidFill>
                <a:latin typeface="Calibri" pitchFamily="34" charset="0"/>
                <a:ea typeface="Calibri" pitchFamily="34" charset="-122"/>
                <a:cs typeface="Calibri" pitchFamily="34" charset="-120"/>
              </a:rPr>
              <a:t>10 args  ·  9 outputs</a:t>
            </a:r>
            <a:endParaRPr lang="en-US" sz="850" dirty="0"/>
          </a:p>
        </p:txBody>
      </p:sp>
      <p:sp>
        <p:nvSpPr>
          <p:cNvPr id="20" name="Shape 18"/>
          <p:cNvSpPr/>
          <p:nvPr/>
        </p:nvSpPr>
        <p:spPr>
          <a:xfrm>
            <a:off x="6687770" y="1371600"/>
            <a:ext cx="2090291" cy="2487168"/>
          </a:xfrm>
          <a:prstGeom prst="roundRect">
            <a:avLst>
              <a:gd name="adj" fmla="val 2187"/>
            </a:avLst>
          </a:prstGeom>
          <a:solidFill>
            <a:srgbClr val="15171B"/>
          </a:solidFill>
          <a:ln w="12700">
            <a:solidFill>
              <a:srgbClr val="15171B"/>
            </a:solidFill>
            <a:prstDash val="solid"/>
          </a:ln>
        </p:spPr>
      </p:sp>
      <p:sp>
        <p:nvSpPr>
          <p:cNvPr id="21" name="Text 19"/>
          <p:cNvSpPr/>
          <p:nvPr/>
        </p:nvSpPr>
        <p:spPr>
          <a:xfrm>
            <a:off x="6870650" y="1499616"/>
            <a:ext cx="1724531" cy="603504"/>
          </a:xfrm>
          <a:prstGeom prst="rect">
            <a:avLst/>
          </a:prstGeom>
          <a:noFill/>
          <a:ln/>
        </p:spPr>
        <p:txBody>
          <a:bodyPr wrap="square" lIns="0" tIns="0" rIns="0" bIns="0" rtlCol="0" anchor="ctr"/>
          <a:lstStyle/>
          <a:p>
            <a:pPr indent="0" marL="0">
              <a:buNone/>
            </a:pPr>
            <a:r>
              <a:rPr lang="en-US" sz="3400" b="1" dirty="0">
                <a:solidFill>
                  <a:srgbClr val="22D3EE"/>
                </a:solidFill>
                <a:latin typeface="Calibri" pitchFamily="34" charset="0"/>
                <a:ea typeface="Calibri" pitchFamily="34" charset="-122"/>
                <a:cs typeface="Calibri" pitchFamily="34" charset="-120"/>
              </a:rPr>
              <a:t>3</a:t>
            </a:r>
            <a:endParaRPr lang="en-US" sz="3400" dirty="0"/>
          </a:p>
        </p:txBody>
      </p:sp>
      <p:sp>
        <p:nvSpPr>
          <p:cNvPr id="22" name="Text 20"/>
          <p:cNvSpPr/>
          <p:nvPr/>
        </p:nvSpPr>
        <p:spPr>
          <a:xfrm>
            <a:off x="6870650" y="2084832"/>
            <a:ext cx="1724531"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Blocklist</a:t>
            </a:r>
            <a:endParaRPr lang="en-US" sz="1300" dirty="0"/>
          </a:p>
        </p:txBody>
      </p:sp>
      <p:sp>
        <p:nvSpPr>
          <p:cNvPr id="23" name="Text 21"/>
          <p:cNvSpPr/>
          <p:nvPr/>
        </p:nvSpPr>
        <p:spPr>
          <a:xfrm>
            <a:off x="6870650" y="2414016"/>
            <a:ext cx="1724531" cy="914400"/>
          </a:xfrm>
          <a:prstGeom prst="rect">
            <a:avLst/>
          </a:prstGeom>
          <a:noFill/>
          <a:ln/>
        </p:spPr>
        <p:txBody>
          <a:bodyPr wrap="square" lIns="0" tIns="0" rIns="0" bIns="0" rtlCol="0" anchor="t"/>
          <a:lstStyle/>
          <a:p>
            <a:pPr indent="0" marL="0">
              <a:lnSpc>
                <a:spcPts val="1300"/>
              </a:lnSpc>
              <a:buNone/>
            </a:pPr>
            <a:r>
              <a:rPr lang="en-US" sz="900" dirty="0">
                <a:solidFill>
                  <a:srgbClr val="B4B7BD"/>
                </a:solidFill>
                <a:latin typeface="Courier New" pitchFamily="34" charset="0"/>
                <a:ea typeface="Courier New" pitchFamily="34" charset="-122"/>
                <a:cs typeface="Courier New" pitchFamily="34" charset="-120"/>
              </a:rPr>
              <a:t>blocklist-get</a:t>
            </a:r>
            <a:endParaRPr lang="en-US" sz="900" dirty="0"/>
          </a:p>
          <a:p>
            <a:pPr indent="0" marL="0">
              <a:lnSpc>
                <a:spcPts val="1300"/>
              </a:lnSpc>
              <a:buNone/>
            </a:pPr>
            <a:r>
              <a:rPr lang="en-US" sz="900" dirty="0">
                <a:solidFill>
                  <a:srgbClr val="F5A524"/>
                </a:solidFill>
                <a:latin typeface="Courier New" pitchFamily="34" charset="0"/>
                <a:ea typeface="Courier New" pitchFamily="34" charset="-122"/>
                <a:cs typeface="Courier New" pitchFamily="34" charset="-120"/>
              </a:rPr>
              <a:t>blocklist-items-remove</a:t>
            </a:r>
            <a:endParaRPr lang="en-US" sz="900" dirty="0"/>
          </a:p>
          <a:p>
            <a:pPr indent="0" marL="0">
              <a:lnSpc>
                <a:spcPts val="1300"/>
              </a:lnSpc>
              <a:buNone/>
            </a:pPr>
            <a:r>
              <a:rPr lang="en-US" sz="900" dirty="0">
                <a:solidFill>
                  <a:srgbClr val="B4B7BD"/>
                </a:solidFill>
                <a:latin typeface="Courier New" pitchFamily="34" charset="0"/>
                <a:ea typeface="Courier New" pitchFamily="34" charset="-122"/>
                <a:cs typeface="Courier New" pitchFamily="34" charset="-120"/>
              </a:rPr>
              <a:t>blocklist-items-add</a:t>
            </a:r>
            <a:endParaRPr lang="en-US" sz="900" dirty="0"/>
          </a:p>
        </p:txBody>
      </p:sp>
      <p:sp>
        <p:nvSpPr>
          <p:cNvPr id="24" name="Text 22"/>
          <p:cNvSpPr/>
          <p:nvPr/>
        </p:nvSpPr>
        <p:spPr>
          <a:xfrm>
            <a:off x="6870650" y="3566160"/>
            <a:ext cx="1724531" cy="237744"/>
          </a:xfrm>
          <a:prstGeom prst="rect">
            <a:avLst/>
          </a:prstGeom>
          <a:noFill/>
          <a:ln/>
        </p:spPr>
        <p:txBody>
          <a:bodyPr wrap="square" lIns="0" tIns="0" rIns="0" bIns="0" rtlCol="0" anchor="ctr"/>
          <a:lstStyle/>
          <a:p>
            <a:pPr indent="0" marL="0">
              <a:buNone/>
            </a:pPr>
            <a:r>
              <a:rPr lang="en-US" sz="850" dirty="0">
                <a:solidFill>
                  <a:srgbClr val="6E747E"/>
                </a:solidFill>
                <a:latin typeface="Calibri" pitchFamily="34" charset="0"/>
                <a:ea typeface="Calibri" pitchFamily="34" charset="-122"/>
                <a:cs typeface="Calibri" pitchFamily="34" charset="-120"/>
              </a:rPr>
              <a:t>10 args  ·  9 outputs</a:t>
            </a:r>
            <a:endParaRPr lang="en-US" sz="850" dirty="0"/>
          </a:p>
        </p:txBody>
      </p:sp>
      <p:sp>
        <p:nvSpPr>
          <p:cNvPr id="25" name="Shape 23"/>
          <p:cNvSpPr/>
          <p:nvPr/>
        </p:nvSpPr>
        <p:spPr>
          <a:xfrm>
            <a:off x="8997516" y="1371600"/>
            <a:ext cx="2615364" cy="2487168"/>
          </a:xfrm>
          <a:prstGeom prst="roundRect">
            <a:avLst>
              <a:gd name="adj" fmla="val 1838"/>
            </a:avLst>
          </a:prstGeom>
          <a:solidFill>
            <a:srgbClr val="15171B"/>
          </a:solidFill>
          <a:ln w="12700">
            <a:solidFill>
              <a:srgbClr val="15171B"/>
            </a:solidFill>
            <a:prstDash val="solid"/>
          </a:ln>
        </p:spPr>
      </p:sp>
      <p:sp>
        <p:nvSpPr>
          <p:cNvPr id="26" name="Text 24"/>
          <p:cNvSpPr/>
          <p:nvPr/>
        </p:nvSpPr>
        <p:spPr>
          <a:xfrm>
            <a:off x="9180396" y="1499616"/>
            <a:ext cx="2249604" cy="603504"/>
          </a:xfrm>
          <a:prstGeom prst="rect">
            <a:avLst/>
          </a:prstGeom>
          <a:noFill/>
          <a:ln/>
        </p:spPr>
        <p:txBody>
          <a:bodyPr wrap="square" lIns="0" tIns="0" rIns="0" bIns="0" rtlCol="0" anchor="ctr"/>
          <a:lstStyle/>
          <a:p>
            <a:pPr indent="0" marL="0">
              <a:buNone/>
            </a:pPr>
            <a:r>
              <a:rPr lang="en-US" sz="3400" b="1" dirty="0">
                <a:solidFill>
                  <a:srgbClr val="E8551F"/>
                </a:solidFill>
                <a:latin typeface="Calibri" pitchFamily="34" charset="0"/>
                <a:ea typeface="Calibri" pitchFamily="34" charset="-122"/>
                <a:cs typeface="Calibri" pitchFamily="34" charset="-120"/>
              </a:rPr>
              <a:t>4</a:t>
            </a:r>
            <a:endParaRPr lang="en-US" sz="3400" dirty="0"/>
          </a:p>
        </p:txBody>
      </p:sp>
      <p:sp>
        <p:nvSpPr>
          <p:cNvPr id="27" name="Text 25"/>
          <p:cNvSpPr/>
          <p:nvPr/>
        </p:nvSpPr>
        <p:spPr>
          <a:xfrm>
            <a:off x="9180396" y="2084832"/>
            <a:ext cx="2249604"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Inventory</a:t>
            </a:r>
            <a:endParaRPr lang="en-US" sz="1300" dirty="0"/>
          </a:p>
        </p:txBody>
      </p:sp>
      <p:sp>
        <p:nvSpPr>
          <p:cNvPr id="28" name="Text 26"/>
          <p:cNvSpPr/>
          <p:nvPr/>
        </p:nvSpPr>
        <p:spPr>
          <a:xfrm>
            <a:off x="9180396" y="2414016"/>
            <a:ext cx="2249604" cy="914400"/>
          </a:xfrm>
          <a:prstGeom prst="rect">
            <a:avLst/>
          </a:prstGeom>
          <a:noFill/>
          <a:ln/>
        </p:spPr>
        <p:txBody>
          <a:bodyPr wrap="square" lIns="0" tIns="0" rIns="0" bIns="0" rtlCol="0" anchor="t"/>
          <a:lstStyle/>
          <a:p>
            <a:pPr indent="0" marL="0">
              <a:lnSpc>
                <a:spcPts val="1300"/>
              </a:lnSpc>
              <a:buNone/>
            </a:pPr>
            <a:r>
              <a:rPr lang="en-US" sz="900" dirty="0">
                <a:solidFill>
                  <a:srgbClr val="B4B7BD"/>
                </a:solidFill>
                <a:latin typeface="Courier New" pitchFamily="34" charset="0"/>
                <a:ea typeface="Courier New" pitchFamily="34" charset="-122"/>
                <a:cs typeface="Courier New" pitchFamily="34" charset="-120"/>
              </a:rPr>
              <a:t>inventory-list</a:t>
            </a:r>
            <a:endParaRPr lang="en-US" sz="900" dirty="0"/>
          </a:p>
          <a:p>
            <a:pPr indent="0" marL="0">
              <a:lnSpc>
                <a:spcPts val="1300"/>
              </a:lnSpc>
              <a:buNone/>
            </a:pPr>
            <a:r>
              <a:rPr lang="en-US" sz="900" dirty="0">
                <a:solidFill>
                  <a:srgbClr val="B4B7BD"/>
                </a:solidFill>
                <a:latin typeface="Courier New" pitchFamily="34" charset="0"/>
                <a:ea typeface="Courier New" pitchFamily="34" charset="-122"/>
                <a:cs typeface="Courier New" pitchFamily="34" charset="-120"/>
              </a:rPr>
              <a:t>inventory-item-get</a:t>
            </a:r>
            <a:endParaRPr lang="en-US" sz="900" dirty="0"/>
          </a:p>
          <a:p>
            <a:pPr indent="0" marL="0">
              <a:lnSpc>
                <a:spcPts val="1300"/>
              </a:lnSpc>
              <a:buNone/>
            </a:pPr>
            <a:r>
              <a:rPr lang="en-US" sz="900" dirty="0">
                <a:solidFill>
                  <a:srgbClr val="B4B7BD"/>
                </a:solidFill>
                <a:latin typeface="Courier New" pitchFamily="34" charset="0"/>
                <a:ea typeface="Courier New" pitchFamily="34" charset="-122"/>
                <a:cs typeface="Courier New" pitchFamily="34" charset="-120"/>
              </a:rPr>
              <a:t>inventory-search</a:t>
            </a:r>
            <a:endParaRPr lang="en-US" sz="900" dirty="0"/>
          </a:p>
          <a:p>
            <a:pPr indent="0" marL="0">
              <a:lnSpc>
                <a:spcPts val="1300"/>
              </a:lnSpc>
              <a:buNone/>
            </a:pPr>
            <a:r>
              <a:rPr lang="en-US" sz="900" dirty="0">
                <a:solidFill>
                  <a:srgbClr val="B4B7BD"/>
                </a:solidFill>
                <a:latin typeface="Courier New" pitchFamily="34" charset="0"/>
                <a:ea typeface="Courier New" pitchFamily="34" charset="-122"/>
                <a:cs typeface="Courier New" pitchFamily="34" charset="-120"/>
              </a:rPr>
              <a:t>inventory-item-endpoints-list</a:t>
            </a:r>
            <a:endParaRPr lang="en-US" sz="900" dirty="0"/>
          </a:p>
        </p:txBody>
      </p:sp>
      <p:sp>
        <p:nvSpPr>
          <p:cNvPr id="29" name="Text 27"/>
          <p:cNvSpPr/>
          <p:nvPr/>
        </p:nvSpPr>
        <p:spPr>
          <a:xfrm>
            <a:off x="9180396" y="3566160"/>
            <a:ext cx="2249604" cy="237744"/>
          </a:xfrm>
          <a:prstGeom prst="rect">
            <a:avLst/>
          </a:prstGeom>
          <a:noFill/>
          <a:ln/>
        </p:spPr>
        <p:txBody>
          <a:bodyPr wrap="square" lIns="0" tIns="0" rIns="0" bIns="0" rtlCol="0" anchor="ctr"/>
          <a:lstStyle/>
          <a:p>
            <a:pPr indent="0" marL="0">
              <a:buNone/>
            </a:pPr>
            <a:r>
              <a:rPr lang="en-US" sz="850" dirty="0">
                <a:solidFill>
                  <a:srgbClr val="6E747E"/>
                </a:solidFill>
                <a:latin typeface="Calibri" pitchFamily="34" charset="0"/>
                <a:ea typeface="Calibri" pitchFamily="34" charset="-122"/>
                <a:cs typeface="Calibri" pitchFamily="34" charset="-120"/>
              </a:rPr>
              <a:t>37 args  ·  91 outputs</a:t>
            </a:r>
            <a:endParaRPr lang="en-US" sz="850" dirty="0"/>
          </a:p>
        </p:txBody>
      </p:sp>
      <p:sp>
        <p:nvSpPr>
          <p:cNvPr id="30" name="Text 28"/>
          <p:cNvSpPr/>
          <p:nvPr/>
        </p:nvSpPr>
        <p:spPr>
          <a:xfrm>
            <a:off x="548640" y="3950208"/>
            <a:ext cx="11064240" cy="237744"/>
          </a:xfrm>
          <a:prstGeom prst="rect">
            <a:avLst/>
          </a:prstGeom>
          <a:noFill/>
          <a:ln/>
        </p:spPr>
        <p:txBody>
          <a:bodyPr wrap="square" lIns="0" tIns="0" rIns="0" bIns="0" rtlCol="0" anchor="ctr"/>
          <a:lstStyle/>
          <a:p>
            <a:pPr indent="0" marL="0">
              <a:buNone/>
            </a:pPr>
            <a:r>
              <a:rPr lang="en-US" sz="900" i="1" dirty="0">
                <a:solidFill>
                  <a:srgbClr val="6E747E"/>
                </a:solidFill>
                <a:latin typeface="Calibri" pitchFamily="34" charset="0"/>
                <a:ea typeface="Calibri" pitchFamily="34" charset="-122"/>
                <a:cs typeface="Calibri" pitchFamily="34" charset="-120"/>
              </a:rPr>
              <a:t>all prefixed koi-  ·  amber = execution: true  ·  5 commands change tenant state, but only these 2 carry the flag  ·  non-mutating is not the same as freely repeatable — see get-events below</a:t>
            </a:r>
            <a:endParaRPr lang="en-US" sz="900" dirty="0"/>
          </a:p>
        </p:txBody>
      </p:sp>
      <p:sp>
        <p:nvSpPr>
          <p:cNvPr id="31" name="Shape 29"/>
          <p:cNvSpPr/>
          <p:nvPr/>
        </p:nvSpPr>
        <p:spPr>
          <a:xfrm>
            <a:off x="548640" y="4261104"/>
            <a:ext cx="3474720" cy="1700784"/>
          </a:xfrm>
          <a:prstGeom prst="roundRect">
            <a:avLst>
              <a:gd name="adj" fmla="val 2688"/>
            </a:avLst>
          </a:prstGeom>
          <a:solidFill>
            <a:srgbClr val="1C2026"/>
          </a:solidFill>
          <a:ln w="12700">
            <a:solidFill>
              <a:srgbClr val="1C2026"/>
            </a:solidFill>
            <a:prstDash val="solid"/>
          </a:ln>
        </p:spPr>
      </p:sp>
      <p:sp>
        <p:nvSpPr>
          <p:cNvPr id="32" name="Text 30"/>
          <p:cNvSpPr/>
          <p:nvPr/>
        </p:nvSpPr>
        <p:spPr>
          <a:xfrm>
            <a:off x="768096" y="4407408"/>
            <a:ext cx="3035808" cy="310896"/>
          </a:xfrm>
          <a:prstGeom prst="rect">
            <a:avLst/>
          </a:prstGeom>
          <a:noFill/>
          <a:ln/>
        </p:spPr>
        <p:txBody>
          <a:bodyPr wrap="square" lIns="0" tIns="0" rIns="0" bIns="0" rtlCol="0" anchor="ctr"/>
          <a:lstStyle/>
          <a:p>
            <a:pPr indent="0" marL="0">
              <a:buNone/>
            </a:pPr>
            <a:r>
              <a:rPr lang="en-US" sz="1800" b="1" dirty="0">
                <a:solidFill>
                  <a:srgbClr val="E8551F"/>
                </a:solidFill>
                <a:latin typeface="Calibri" pitchFamily="34" charset="0"/>
                <a:ea typeface="Calibri" pitchFamily="34" charset="-122"/>
                <a:cs typeface="Calibri" pitchFamily="34" charset="-120"/>
              </a:rPr>
              <a:t>8 of 13  </a:t>
            </a:r>
            <a:pPr indent="0" marL="0">
              <a:buNone/>
            </a:pPr>
            <a:r>
              <a:rPr lang="en-US" sz="1250" b="1" dirty="0">
                <a:solidFill>
                  <a:srgbClr val="FFFFFF"/>
                </a:solidFill>
                <a:latin typeface="Calibri" pitchFamily="34" charset="0"/>
                <a:ea typeface="Calibri" pitchFamily="34" charset="-122"/>
                <a:cs typeface="Calibri" pitchFamily="34" charset="-120"/>
              </a:rPr>
              <a:t>non-mutating</a:t>
            </a:r>
            <a:endParaRPr lang="en-US" sz="1800" dirty="0"/>
          </a:p>
        </p:txBody>
      </p:sp>
      <p:sp>
        <p:nvSpPr>
          <p:cNvPr id="33" name="Text 31"/>
          <p:cNvSpPr/>
          <p:nvPr/>
        </p:nvSpPr>
        <p:spPr>
          <a:xfrm>
            <a:off x="768096" y="4754880"/>
            <a:ext cx="3035808" cy="1152144"/>
          </a:xfrm>
          <a:prstGeom prst="rect">
            <a:avLst/>
          </a:prstGeom>
          <a:noFill/>
          <a:ln/>
        </p:spPr>
        <p:txBody>
          <a:bodyPr wrap="square" lIns="0" tIns="0" rIns="0" bIns="0" rtlCol="0" anchor="t"/>
          <a:lstStyle/>
          <a:p>
            <a:pPr indent="0" marL="0">
              <a:lnSpc>
                <a:spcPts val="1250"/>
              </a:lnSpc>
              <a:buNone/>
            </a:pPr>
            <a:r>
              <a:rPr lang="en-US" sz="1000" dirty="0">
                <a:solidFill>
                  <a:srgbClr val="B4B7BD"/>
                </a:solidFill>
                <a:latin typeface="Calibri" pitchFamily="34" charset="0"/>
                <a:ea typeface="Calibri" pitchFamily="34" charset="-122"/>
                <a:cs typeface="Calibri" pitchFamily="34" charset="-120"/>
              </a:rPr>
              <a:t>The other 5 change tenant state. The pack flags only 2:</a:t>
            </a:r>
            <a:endParaRPr lang="en-US" sz="1000" dirty="0"/>
          </a:p>
          <a:p>
            <a:pPr indent="0" marL="0">
              <a:lnSpc>
                <a:spcPts val="1250"/>
              </a:lnSpc>
              <a:buNone/>
            </a:pPr>
            <a:r>
              <a:rPr lang="en-US" sz="900" dirty="0">
                <a:solidFill>
                  <a:srgbClr val="F5A524"/>
                </a:solidFill>
                <a:latin typeface="Courier New" pitchFamily="34" charset="0"/>
                <a:ea typeface="Courier New" pitchFamily="34" charset="-122"/>
                <a:cs typeface="Courier New" pitchFamily="34" charset="-120"/>
              </a:rPr>
              <a:t>allowlist-items-remove</a:t>
            </a:r>
            <a:endParaRPr lang="en-US" sz="1000" dirty="0"/>
          </a:p>
          <a:p>
            <a:pPr indent="0" marL="0">
              <a:lnSpc>
                <a:spcPts val="1250"/>
              </a:lnSpc>
              <a:buNone/>
            </a:pPr>
            <a:r>
              <a:rPr lang="en-US" sz="900" dirty="0">
                <a:solidFill>
                  <a:srgbClr val="F5A524"/>
                </a:solidFill>
                <a:latin typeface="Courier New" pitchFamily="34" charset="0"/>
                <a:ea typeface="Courier New" pitchFamily="34" charset="-122"/>
                <a:cs typeface="Courier New" pitchFamily="34" charset="-120"/>
              </a:rPr>
              <a:t>blocklist-items-remove</a:t>
            </a:r>
            <a:endParaRPr lang="en-US" sz="1000" dirty="0"/>
          </a:p>
          <a:p>
            <a:pPr indent="0" marL="0">
              <a:lnSpc>
                <a:spcPts val="1250"/>
              </a:lnSpc>
              <a:buNone/>
            </a:pPr>
            <a:r>
              <a:rPr lang="en-US" sz="950" dirty="0">
                <a:solidFill>
                  <a:srgbClr val="B4B7BD"/>
                </a:solidFill>
                <a:latin typeface="Calibri" pitchFamily="34" charset="0"/>
                <a:ea typeface="Calibri" pitchFamily="34" charset="-122"/>
                <a:cs typeface="Calibri" pitchFamily="34" charset="-120"/>
              </a:rPr>
              <a:t>allowlist-items-add, blocklist-items-add, policy-status-update mutate with no flag at all.</a:t>
            </a:r>
            <a:endParaRPr lang="en-US" sz="1000" dirty="0"/>
          </a:p>
          <a:p>
            <a:pPr indent="0" marL="0">
              <a:lnSpc>
                <a:spcPts val="1250"/>
              </a:lnSpc>
              <a:buNone/>
            </a:pPr>
            <a:r>
              <a:rPr lang="en-US" sz="950" dirty="0">
                <a:solidFill>
                  <a:srgbClr val="F5A524"/>
                </a:solidFill>
                <a:latin typeface="Calibri" pitchFamily="34" charset="0"/>
                <a:ea typeface="Calibri" pitchFamily="34" charset="-122"/>
                <a:cs typeface="Calibri" pitchFamily="34" charset="-120"/>
              </a:rPr>
              <a:t>Only 7 of the 8 are freely repeatable: get-events may duplicate events and disrupt the fetch.</a:t>
            </a:r>
            <a:endParaRPr lang="en-US" sz="1000" dirty="0"/>
          </a:p>
        </p:txBody>
      </p:sp>
      <p:sp>
        <p:nvSpPr>
          <p:cNvPr id="34" name="Shape 32"/>
          <p:cNvSpPr/>
          <p:nvPr/>
        </p:nvSpPr>
        <p:spPr>
          <a:xfrm>
            <a:off x="4343400" y="4261104"/>
            <a:ext cx="3474720" cy="1700784"/>
          </a:xfrm>
          <a:prstGeom prst="roundRect">
            <a:avLst>
              <a:gd name="adj" fmla="val 2688"/>
            </a:avLst>
          </a:prstGeom>
          <a:solidFill>
            <a:srgbClr val="1C2026"/>
          </a:solidFill>
          <a:ln w="12700">
            <a:solidFill>
              <a:srgbClr val="1C2026"/>
            </a:solidFill>
            <a:prstDash val="solid"/>
          </a:ln>
        </p:spPr>
      </p:sp>
      <p:sp>
        <p:nvSpPr>
          <p:cNvPr id="35" name="Text 33"/>
          <p:cNvSpPr/>
          <p:nvPr/>
        </p:nvSpPr>
        <p:spPr>
          <a:xfrm>
            <a:off x="4562856" y="4407408"/>
            <a:ext cx="3035808" cy="310896"/>
          </a:xfrm>
          <a:prstGeom prst="rect">
            <a:avLst/>
          </a:prstGeom>
          <a:noFill/>
          <a:ln/>
        </p:spPr>
        <p:txBody>
          <a:bodyPr wrap="square" lIns="0" tIns="0" rIns="0" bIns="0" rtlCol="0" anchor="ctr"/>
          <a:lstStyle/>
          <a:p>
            <a:pPr indent="0" marL="0">
              <a:buNone/>
            </a:pPr>
            <a:r>
              <a:rPr lang="en-US" sz="1800" b="1" dirty="0">
                <a:solidFill>
                  <a:srgbClr val="F5A524"/>
                </a:solidFill>
                <a:latin typeface="Calibri" pitchFamily="34" charset="0"/>
                <a:ea typeface="Calibri" pitchFamily="34" charset="-122"/>
                <a:cs typeface="Calibri" pitchFamily="34" charset="-120"/>
              </a:rPr>
              <a:t>4  </a:t>
            </a:r>
            <a:pPr indent="0" marL="0">
              <a:buNone/>
            </a:pPr>
            <a:r>
              <a:rPr lang="en-US" sz="1250" b="1" dirty="0">
                <a:solidFill>
                  <a:srgbClr val="FFFFFF"/>
                </a:solidFill>
                <a:latin typeface="Calibri" pitchFamily="34" charset="0"/>
                <a:ea typeface="Calibri" pitchFamily="34" charset="-122"/>
                <a:cs typeface="Calibri" pitchFamily="34" charset="-120"/>
              </a:rPr>
              <a:t>return no context</a:t>
            </a:r>
            <a:endParaRPr lang="en-US" sz="1800" dirty="0"/>
          </a:p>
        </p:txBody>
      </p:sp>
      <p:sp>
        <p:nvSpPr>
          <p:cNvPr id="36" name="Text 34"/>
          <p:cNvSpPr/>
          <p:nvPr/>
        </p:nvSpPr>
        <p:spPr>
          <a:xfrm>
            <a:off x="4562856" y="4754880"/>
            <a:ext cx="3035808" cy="1152144"/>
          </a:xfrm>
          <a:prstGeom prst="rect">
            <a:avLst/>
          </a:prstGeom>
          <a:noFill/>
          <a:ln/>
        </p:spPr>
        <p:txBody>
          <a:bodyPr wrap="square" lIns="0" tIns="0" rIns="0" bIns="0" rtlCol="0" anchor="t"/>
          <a:lstStyle/>
          <a:p>
            <a:pPr indent="0" marL="0">
              <a:lnSpc>
                <a:spcPts val="1250"/>
              </a:lnSpc>
              <a:buNone/>
            </a:pPr>
            <a:r>
              <a:rPr lang="en-US" sz="1000" dirty="0">
                <a:solidFill>
                  <a:srgbClr val="B4B7BD"/>
                </a:solidFill>
                <a:latin typeface="Calibri" pitchFamily="34" charset="0"/>
                <a:ea typeface="Calibri" pitchFamily="34" charset="-122"/>
                <a:cs typeface="Calibri" pitchFamily="34" charset="-120"/>
              </a:rPr>
              <a:t>All 4 add/remove commands declare no outputs at all. A playbook cannot branch on their result.</a:t>
            </a:r>
            <a:endParaRPr lang="en-US" sz="1000" dirty="0"/>
          </a:p>
        </p:txBody>
      </p:sp>
      <p:sp>
        <p:nvSpPr>
          <p:cNvPr id="37" name="Shape 35"/>
          <p:cNvSpPr/>
          <p:nvPr/>
        </p:nvSpPr>
        <p:spPr>
          <a:xfrm>
            <a:off x="8138160" y="4261104"/>
            <a:ext cx="3474720" cy="1700784"/>
          </a:xfrm>
          <a:prstGeom prst="roundRect">
            <a:avLst>
              <a:gd name="adj" fmla="val 2688"/>
            </a:avLst>
          </a:prstGeom>
          <a:solidFill>
            <a:srgbClr val="1C2026"/>
          </a:solidFill>
          <a:ln w="12700">
            <a:solidFill>
              <a:srgbClr val="1C2026"/>
            </a:solidFill>
            <a:prstDash val="solid"/>
          </a:ln>
        </p:spPr>
      </p:sp>
      <p:sp>
        <p:nvSpPr>
          <p:cNvPr id="38" name="Text 36"/>
          <p:cNvSpPr/>
          <p:nvPr/>
        </p:nvSpPr>
        <p:spPr>
          <a:xfrm>
            <a:off x="8357616" y="4407408"/>
            <a:ext cx="3035808" cy="310896"/>
          </a:xfrm>
          <a:prstGeom prst="rect">
            <a:avLst/>
          </a:prstGeom>
          <a:noFill/>
          <a:ln/>
        </p:spPr>
        <p:txBody>
          <a:bodyPr wrap="square" lIns="0" tIns="0" rIns="0" bIns="0" rtlCol="0" anchor="ctr"/>
          <a:lstStyle/>
          <a:p>
            <a:pPr indent="0" marL="0">
              <a:buNone/>
            </a:pPr>
            <a:r>
              <a:rPr lang="en-US" sz="1800" b="1" dirty="0">
                <a:solidFill>
                  <a:srgbClr val="22D3EE"/>
                </a:solidFill>
                <a:latin typeface="Calibri" pitchFamily="34" charset="0"/>
                <a:ea typeface="Calibri" pitchFamily="34" charset="-122"/>
                <a:cs typeface="Calibri" pitchFamily="34" charset="-120"/>
              </a:rPr>
              <a:t>63  </a:t>
            </a:r>
            <a:pPr indent="0" marL="0">
              <a:buNone/>
            </a:pPr>
            <a:r>
              <a:rPr lang="en-US" sz="1250" b="1" dirty="0">
                <a:solidFill>
                  <a:srgbClr val="FFFFFF"/>
                </a:solidFill>
                <a:latin typeface="Calibri" pitchFamily="34" charset="0"/>
                <a:ea typeface="Calibri" pitchFamily="34" charset="-122"/>
                <a:cs typeface="Calibri" pitchFamily="34" charset="-120"/>
              </a:rPr>
              <a:t>redundant declarations</a:t>
            </a:r>
            <a:endParaRPr lang="en-US" sz="1800" dirty="0"/>
          </a:p>
        </p:txBody>
      </p:sp>
      <p:sp>
        <p:nvSpPr>
          <p:cNvPr id="39" name="Text 37"/>
          <p:cNvSpPr/>
          <p:nvPr/>
        </p:nvSpPr>
        <p:spPr>
          <a:xfrm>
            <a:off x="8357616" y="4754880"/>
            <a:ext cx="3035808" cy="1152144"/>
          </a:xfrm>
          <a:prstGeom prst="rect">
            <a:avLst/>
          </a:prstGeom>
          <a:noFill/>
          <a:ln/>
        </p:spPr>
        <p:txBody>
          <a:bodyPr wrap="square" lIns="0" tIns="0" rIns="0" bIns="0" rtlCol="0" anchor="t"/>
          <a:lstStyle/>
          <a:p>
            <a:pPr indent="0" marL="0">
              <a:lnSpc>
                <a:spcPts val="1250"/>
              </a:lnSpc>
              <a:buNone/>
            </a:pPr>
            <a:r>
              <a:rPr lang="en-US" sz="1000" dirty="0">
                <a:solidFill>
                  <a:srgbClr val="B4B7BD"/>
                </a:solidFill>
                <a:latin typeface="Calibri" pitchFamily="34" charset="0"/>
                <a:ea typeface="Calibri" pitchFamily="34" charset="-122"/>
                <a:cs typeface="Calibri" pitchFamily="34" charset="-120"/>
              </a:rPr>
              <a:t>131 declarations, 68 distinct paths. 36 paths are declared by more than one command — the three inventory item commands and both policy commands overwrite each other's context.</a:t>
            </a:r>
            <a:endParaRPr lang="en-US" sz="1000" dirty="0"/>
          </a:p>
        </p:txBody>
      </p:sp>
      <p:sp>
        <p:nvSpPr>
          <p:cNvPr id="40" name="Text 38"/>
          <p:cNvSpPr/>
          <p:nvPr/>
        </p:nvSpPr>
        <p:spPr>
          <a:xfrm>
            <a:off x="548640" y="6053328"/>
            <a:ext cx="11064240" cy="274320"/>
          </a:xfrm>
          <a:prstGeom prst="rect">
            <a:avLst/>
          </a:prstGeom>
          <a:noFill/>
          <a:ln/>
        </p:spPr>
        <p:txBody>
          <a:bodyPr wrap="square" lIns="0" tIns="0" rIns="0" bIns="0" rtlCol="0" anchor="ctr"/>
          <a:lstStyle/>
          <a:p>
            <a:pPr indent="0" marL="0">
              <a:buNone/>
            </a:pPr>
            <a:r>
              <a:rPr lang="en-US" sz="950" i="1" dirty="0">
                <a:solidFill>
                  <a:srgbClr val="6E747E"/>
                </a:solidFill>
                <a:latin typeface="Calibri" pitchFamily="34" charset="0"/>
                <a:ea typeface="Calibri" pitchFamily="34" charset="-122"/>
                <a:cs typeface="Calibri" pitchFamily="34" charset="-120"/>
              </a:rPr>
              <a:t>Groups, names, counts and the execution flag are all derived at build time from marketplace-pack.json.  Non-mutating / state-changing split and the get-events caveat: VERIFIED_FACTS §1.1 and §4.1.  Overwrite: §4.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6419088"/>
            <a:ext cx="11064240" cy="237744"/>
          </a:xfrm>
          <a:prstGeom prst="rect">
            <a:avLst/>
          </a:prstGeom>
          <a:noFill/>
          <a:ln/>
        </p:spPr>
        <p:txBody>
          <a:bodyPr wrap="square" lIns="0" tIns="0" rIns="0" bIns="0" rtlCol="0" anchor="ctr"/>
          <a:lstStyle/>
          <a:p>
            <a:pPr indent="0" marL="0">
              <a:buNone/>
            </a:pPr>
            <a:r>
              <a:rPr lang="en-US" sz="800" dirty="0">
                <a:solidFill>
                  <a:srgbClr val="6E747E"/>
                </a:solidFill>
                <a:latin typeface="Calibri" pitchFamily="34" charset="0"/>
                <a:ea typeface="Calibri" pitchFamily="34" charset="-122"/>
                <a:cs typeface="Calibri" pitchFamily="34" charset="-120"/>
              </a:rPr>
              <a:t>Marketplace KOI pack v1.2.3  ·  demisto/content / Packs/Koi  ·  integration only, 13 commands  ·  not the custom v1.3.0 pack</a:t>
            </a:r>
            <a:endParaRPr lang="en-US" sz="800" dirty="0"/>
          </a:p>
        </p:txBody>
      </p:sp>
      <p:sp>
        <p:nvSpPr>
          <p:cNvPr id="3" name="Text 1"/>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200" kern="0" dirty="0">
                <a:solidFill>
                  <a:srgbClr val="E8551F"/>
                </a:solidFill>
                <a:latin typeface="Calibri" pitchFamily="34" charset="0"/>
                <a:ea typeface="Calibri" pitchFamily="34" charset="-122"/>
                <a:cs typeface="Calibri" pitchFamily="34" charset="-120"/>
              </a:rPr>
              <a:t>EVENT COLLECTION — XSIAM / PLATFORM ONLY</a:t>
            </a:r>
            <a:endParaRPr lang="en-US" sz="1100" dirty="0"/>
          </a:p>
        </p:txBody>
      </p:sp>
      <p:sp>
        <p:nvSpPr>
          <p:cNvPr id="4" name="Text 2"/>
          <p:cNvSpPr/>
          <p:nvPr/>
        </p:nvSpPr>
        <p:spPr>
          <a:xfrm>
            <a:off x="548640" y="612648"/>
            <a:ext cx="11064240" cy="658368"/>
          </a:xfrm>
          <a:prstGeom prst="rect">
            <a:avLst/>
          </a:prstGeom>
          <a:noFill/>
          <a:ln/>
        </p:spPr>
        <p:txBody>
          <a:bodyPr wrap="square" lIns="0" tIns="0" rIns="0" bIns="0" rtlCol="0" anchor="ctr"/>
          <a:lstStyle/>
          <a:p>
            <a:pPr indent="0" marL="0">
              <a:buNone/>
            </a:pPr>
            <a:r>
              <a:rPr lang="en-US" sz="3100" b="1" dirty="0">
                <a:solidFill>
                  <a:srgbClr val="FFFFFF"/>
                </a:solidFill>
                <a:latin typeface="Calibri" pitchFamily="34" charset="0"/>
                <a:ea typeface="Calibri" pitchFamily="34" charset="-122"/>
                <a:cs typeface="Calibri" pitchFamily="34" charset="-120"/>
              </a:rPr>
              <a:t>One dataset, two incompatible schemas</a:t>
            </a:r>
            <a:endParaRPr lang="en-US" sz="3100" dirty="0"/>
          </a:p>
        </p:txBody>
      </p:sp>
      <p:sp>
        <p:nvSpPr>
          <p:cNvPr id="5" name="Shape 3"/>
          <p:cNvSpPr/>
          <p:nvPr/>
        </p:nvSpPr>
        <p:spPr>
          <a:xfrm>
            <a:off x="548640" y="1371600"/>
            <a:ext cx="2487168" cy="1225296"/>
          </a:xfrm>
          <a:prstGeom prst="roundRect">
            <a:avLst>
              <a:gd name="adj" fmla="val 3731"/>
            </a:avLst>
          </a:prstGeom>
          <a:solidFill>
            <a:srgbClr val="15171B"/>
          </a:solidFill>
          <a:ln w="12700">
            <a:solidFill>
              <a:srgbClr val="15171B"/>
            </a:solidFill>
            <a:prstDash val="solid"/>
          </a:ln>
        </p:spPr>
      </p:sp>
      <p:sp>
        <p:nvSpPr>
          <p:cNvPr id="6" name="Text 4"/>
          <p:cNvSpPr/>
          <p:nvPr/>
        </p:nvSpPr>
        <p:spPr>
          <a:xfrm>
            <a:off x="713232" y="1508760"/>
            <a:ext cx="2157984" cy="310896"/>
          </a:xfrm>
          <a:prstGeom prst="rect">
            <a:avLst/>
          </a:prstGeom>
          <a:noFill/>
          <a:ln/>
        </p:spPr>
        <p:txBody>
          <a:bodyPr wrap="square" lIns="0" tIns="0" rIns="0" bIns="0" rtlCol="0" anchor="t"/>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KOI API</a:t>
            </a:r>
            <a:endParaRPr lang="en-US" sz="1250" dirty="0"/>
          </a:p>
        </p:txBody>
      </p:sp>
      <p:sp>
        <p:nvSpPr>
          <p:cNvPr id="7" name="Text 5"/>
          <p:cNvSpPr/>
          <p:nvPr/>
        </p:nvSpPr>
        <p:spPr>
          <a:xfrm>
            <a:off x="713232" y="1819656"/>
            <a:ext cx="2157984" cy="630936"/>
          </a:xfrm>
          <a:prstGeom prst="rect">
            <a:avLst/>
          </a:prstGeom>
          <a:noFill/>
          <a:ln/>
        </p:spPr>
        <p:txBody>
          <a:bodyPr wrap="square" lIns="0" tIns="0" rIns="0" bIns="0" rtlCol="0" anchor="t"/>
          <a:lstStyle/>
          <a:p>
            <a:pPr indent="0" marL="0">
              <a:lnSpc>
                <a:spcPts val="1300"/>
              </a:lnSpc>
              <a:buNone/>
            </a:pPr>
            <a:r>
              <a:rPr lang="en-US" sz="1000" dirty="0">
                <a:solidFill>
                  <a:srgbClr val="B4B7BD"/>
                </a:solidFill>
                <a:latin typeface="Calibri" pitchFamily="34" charset="0"/>
                <a:ea typeface="Calibri" pitchFamily="34" charset="-122"/>
                <a:cs typeface="Calibri" pitchFamily="34" charset="-120"/>
              </a:rPr>
              <a:t>https://api.prod.koi.security/</a:t>
            </a:r>
            <a:endParaRPr lang="en-US" sz="1000" dirty="0"/>
          </a:p>
          <a:p>
            <a:pPr indent="0" marL="0">
              <a:lnSpc>
                <a:spcPts val="1300"/>
              </a:lnSpc>
              <a:buNone/>
            </a:pPr>
            <a:r>
              <a:rPr lang="en-US" sz="1000" dirty="0">
                <a:solidFill>
                  <a:srgbClr val="B4B7BD"/>
                </a:solidFill>
                <a:latin typeface="Calibri" pitchFamily="34" charset="0"/>
                <a:ea typeface="Calibri" pitchFamily="34" charset="-122"/>
                <a:cs typeface="Calibri" pitchFamily="34" charset="-120"/>
              </a:rPr>
              <a:t>Alerts + audit logs</a:t>
            </a:r>
            <a:endParaRPr lang="en-US" sz="1000" dirty="0"/>
          </a:p>
        </p:txBody>
      </p:sp>
      <p:sp>
        <p:nvSpPr>
          <p:cNvPr id="8" name="Shape 6"/>
          <p:cNvSpPr/>
          <p:nvPr/>
        </p:nvSpPr>
        <p:spPr>
          <a:xfrm>
            <a:off x="3090672" y="1883664"/>
            <a:ext cx="274320" cy="182880"/>
          </a:xfrm>
          <a:prstGeom prst="rightArrow">
            <a:avLst/>
          </a:prstGeom>
          <a:solidFill>
            <a:srgbClr val="E8551F"/>
          </a:solidFill>
          <a:ln w="12700">
            <a:solidFill>
              <a:srgbClr val="E8551F"/>
            </a:solidFill>
            <a:prstDash val="solid"/>
          </a:ln>
        </p:spPr>
      </p:sp>
      <p:sp>
        <p:nvSpPr>
          <p:cNvPr id="9" name="Shape 7"/>
          <p:cNvSpPr/>
          <p:nvPr/>
        </p:nvSpPr>
        <p:spPr>
          <a:xfrm>
            <a:off x="3419856" y="1371600"/>
            <a:ext cx="2487168" cy="1225296"/>
          </a:xfrm>
          <a:prstGeom prst="roundRect">
            <a:avLst>
              <a:gd name="adj" fmla="val 3731"/>
            </a:avLst>
          </a:prstGeom>
          <a:solidFill>
            <a:srgbClr val="15171B"/>
          </a:solidFill>
          <a:ln w="12700">
            <a:solidFill>
              <a:srgbClr val="15171B"/>
            </a:solidFill>
            <a:prstDash val="solid"/>
          </a:ln>
        </p:spPr>
      </p:sp>
      <p:sp>
        <p:nvSpPr>
          <p:cNvPr id="10" name="Text 8"/>
          <p:cNvSpPr/>
          <p:nvPr/>
        </p:nvSpPr>
        <p:spPr>
          <a:xfrm>
            <a:off x="3584448" y="1508760"/>
            <a:ext cx="2157984" cy="310896"/>
          </a:xfrm>
          <a:prstGeom prst="rect">
            <a:avLst/>
          </a:prstGeom>
          <a:noFill/>
          <a:ln/>
        </p:spPr>
        <p:txBody>
          <a:bodyPr wrap="square" lIns="0" tIns="0" rIns="0" bIns="0" rtlCol="0" anchor="t"/>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Integration</a:t>
            </a:r>
            <a:endParaRPr lang="en-US" sz="1250" dirty="0"/>
          </a:p>
        </p:txBody>
      </p:sp>
      <p:sp>
        <p:nvSpPr>
          <p:cNvPr id="11" name="Text 9"/>
          <p:cNvSpPr/>
          <p:nvPr/>
        </p:nvSpPr>
        <p:spPr>
          <a:xfrm>
            <a:off x="3584448" y="1819656"/>
            <a:ext cx="2157984" cy="630936"/>
          </a:xfrm>
          <a:prstGeom prst="rect">
            <a:avLst/>
          </a:prstGeom>
          <a:noFill/>
          <a:ln/>
        </p:spPr>
        <p:txBody>
          <a:bodyPr wrap="square" lIns="0" tIns="0" rIns="0" bIns="0" rtlCol="0" anchor="t"/>
          <a:lstStyle/>
          <a:p>
            <a:pPr indent="0" marL="0">
              <a:lnSpc>
                <a:spcPts val="1300"/>
              </a:lnSpc>
              <a:buNone/>
            </a:pPr>
            <a:r>
              <a:rPr lang="en-US" sz="1000" dirty="0">
                <a:solidFill>
                  <a:srgbClr val="B4B7BD"/>
                </a:solidFill>
                <a:latin typeface="Calibri" pitchFamily="34" charset="0"/>
                <a:ea typeface="Calibri" pitchFamily="34" charset="-122"/>
                <a:cs typeface="Calibri" pitchFamily="34" charset="-120"/>
              </a:rPr>
              <a:t>isfetchevents true</a:t>
            </a:r>
            <a:endParaRPr lang="en-US" sz="1000" dirty="0"/>
          </a:p>
          <a:p>
            <a:pPr indent="0" marL="0">
              <a:lnSpc>
                <a:spcPts val="1300"/>
              </a:lnSpc>
              <a:buNone/>
            </a:pPr>
            <a:r>
              <a:rPr lang="en-US" sz="1000" dirty="0">
                <a:solidFill>
                  <a:srgbClr val="B4B7BD"/>
                </a:solidFill>
                <a:latin typeface="Calibri" pitchFamily="34" charset="0"/>
                <a:ea typeface="Calibri" pitchFamily="34" charset="-122"/>
                <a:cs typeface="Calibri" pitchFamily="34" charset="-120"/>
              </a:rPr>
              <a:t>xsoar false — XSIAM only</a:t>
            </a:r>
            <a:endParaRPr lang="en-US" sz="1000" dirty="0"/>
          </a:p>
          <a:p>
            <a:pPr indent="0" marL="0">
              <a:lnSpc>
                <a:spcPts val="1300"/>
              </a:lnSpc>
              <a:buNone/>
            </a:pPr>
            <a:r>
              <a:rPr lang="en-US" sz="1000" dirty="0">
                <a:solidFill>
                  <a:srgbClr val="B4B7BD"/>
                </a:solidFill>
                <a:latin typeface="Calibri" pitchFamily="34" charset="0"/>
                <a:ea typeface="Calibri" pitchFamily="34" charset="-122"/>
                <a:cs typeface="Calibri" pitchFamily="34" charset="-120"/>
              </a:rPr>
              <a:t>every 1 min, max 5000/type</a:t>
            </a:r>
            <a:endParaRPr lang="en-US" sz="1000" dirty="0"/>
          </a:p>
        </p:txBody>
      </p:sp>
      <p:sp>
        <p:nvSpPr>
          <p:cNvPr id="12" name="Shape 10"/>
          <p:cNvSpPr/>
          <p:nvPr/>
        </p:nvSpPr>
        <p:spPr>
          <a:xfrm>
            <a:off x="5961888" y="1883664"/>
            <a:ext cx="274320" cy="182880"/>
          </a:xfrm>
          <a:prstGeom prst="rightArrow">
            <a:avLst/>
          </a:prstGeom>
          <a:solidFill>
            <a:srgbClr val="E8551F"/>
          </a:solidFill>
          <a:ln w="12700">
            <a:solidFill>
              <a:srgbClr val="E8551F"/>
            </a:solidFill>
            <a:prstDash val="solid"/>
          </a:ln>
        </p:spPr>
      </p:sp>
      <p:sp>
        <p:nvSpPr>
          <p:cNvPr id="13" name="Shape 11"/>
          <p:cNvSpPr/>
          <p:nvPr/>
        </p:nvSpPr>
        <p:spPr>
          <a:xfrm>
            <a:off x="6291072" y="1371600"/>
            <a:ext cx="2487168" cy="1225296"/>
          </a:xfrm>
          <a:prstGeom prst="roundRect">
            <a:avLst>
              <a:gd name="adj" fmla="val 3731"/>
            </a:avLst>
          </a:prstGeom>
          <a:solidFill>
            <a:srgbClr val="15171B"/>
          </a:solidFill>
          <a:ln w="12700">
            <a:solidFill>
              <a:srgbClr val="15171B"/>
            </a:solidFill>
            <a:prstDash val="solid"/>
          </a:ln>
        </p:spPr>
      </p:sp>
      <p:sp>
        <p:nvSpPr>
          <p:cNvPr id="14" name="Text 12"/>
          <p:cNvSpPr/>
          <p:nvPr/>
        </p:nvSpPr>
        <p:spPr>
          <a:xfrm>
            <a:off x="6455664" y="1508760"/>
            <a:ext cx="2157984" cy="310896"/>
          </a:xfrm>
          <a:prstGeom prst="rect">
            <a:avLst/>
          </a:prstGeom>
          <a:noFill/>
          <a:ln/>
        </p:spPr>
        <p:txBody>
          <a:bodyPr wrap="square" lIns="0" tIns="0" rIns="0" bIns="0" rtlCol="0" anchor="t"/>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koi_koi_raw</a:t>
            </a:r>
            <a:endParaRPr lang="en-US" sz="1250" dirty="0"/>
          </a:p>
        </p:txBody>
      </p:sp>
      <p:sp>
        <p:nvSpPr>
          <p:cNvPr id="15" name="Text 13"/>
          <p:cNvSpPr/>
          <p:nvPr/>
        </p:nvSpPr>
        <p:spPr>
          <a:xfrm>
            <a:off x="6455664" y="1819656"/>
            <a:ext cx="2157984" cy="630936"/>
          </a:xfrm>
          <a:prstGeom prst="rect">
            <a:avLst/>
          </a:prstGeom>
          <a:noFill/>
          <a:ln/>
        </p:spPr>
        <p:txBody>
          <a:bodyPr wrap="square" lIns="0" tIns="0" rIns="0" bIns="0" rtlCol="0" anchor="t"/>
          <a:lstStyle/>
          <a:p>
            <a:pPr indent="0" marL="0">
              <a:lnSpc>
                <a:spcPts val="1300"/>
              </a:lnSpc>
              <a:buNone/>
            </a:pPr>
            <a:r>
              <a:rPr lang="en-US" sz="1000" dirty="0">
                <a:solidFill>
                  <a:srgbClr val="22D3EE"/>
                </a:solidFill>
                <a:latin typeface="Calibri" pitchFamily="34" charset="0"/>
                <a:ea typeface="Calibri" pitchFamily="34" charset="-122"/>
                <a:cs typeface="Calibri" pitchFamily="34" charset="-120"/>
              </a:rPr>
              <a:t>_vendor koi</a:t>
            </a:r>
            <a:endParaRPr lang="en-US" sz="1000" dirty="0"/>
          </a:p>
          <a:p>
            <a:pPr indent="0" marL="0">
              <a:lnSpc>
                <a:spcPts val="1300"/>
              </a:lnSpc>
              <a:buNone/>
            </a:pPr>
            <a:r>
              <a:rPr lang="en-US" sz="1000" dirty="0">
                <a:solidFill>
                  <a:srgbClr val="22D3EE"/>
                </a:solidFill>
                <a:latin typeface="Calibri" pitchFamily="34" charset="0"/>
                <a:ea typeface="Calibri" pitchFamily="34" charset="-122"/>
                <a:cs typeface="Calibri" pitchFamily="34" charset="-120"/>
              </a:rPr>
              <a:t>_product koi</a:t>
            </a:r>
            <a:endParaRPr lang="en-US" sz="1000" dirty="0"/>
          </a:p>
        </p:txBody>
      </p:sp>
      <p:sp>
        <p:nvSpPr>
          <p:cNvPr id="16" name="Shape 14"/>
          <p:cNvSpPr/>
          <p:nvPr/>
        </p:nvSpPr>
        <p:spPr>
          <a:xfrm>
            <a:off x="8833104" y="1883664"/>
            <a:ext cx="274320" cy="182880"/>
          </a:xfrm>
          <a:prstGeom prst="rightArrow">
            <a:avLst/>
          </a:prstGeom>
          <a:solidFill>
            <a:srgbClr val="E8551F"/>
          </a:solidFill>
          <a:ln w="12700">
            <a:solidFill>
              <a:srgbClr val="E8551F"/>
            </a:solidFill>
            <a:prstDash val="solid"/>
          </a:ln>
        </p:spPr>
      </p:sp>
      <p:sp>
        <p:nvSpPr>
          <p:cNvPr id="17" name="Shape 15"/>
          <p:cNvSpPr/>
          <p:nvPr/>
        </p:nvSpPr>
        <p:spPr>
          <a:xfrm>
            <a:off x="9162288" y="1371600"/>
            <a:ext cx="2487168" cy="1225296"/>
          </a:xfrm>
          <a:prstGeom prst="roundRect">
            <a:avLst>
              <a:gd name="adj" fmla="val 3731"/>
            </a:avLst>
          </a:prstGeom>
          <a:solidFill>
            <a:srgbClr val="15171B"/>
          </a:solidFill>
          <a:ln w="12700">
            <a:solidFill>
              <a:srgbClr val="15171B"/>
            </a:solidFill>
            <a:prstDash val="solid"/>
          </a:ln>
        </p:spPr>
      </p:sp>
      <p:sp>
        <p:nvSpPr>
          <p:cNvPr id="18" name="Text 16"/>
          <p:cNvSpPr/>
          <p:nvPr/>
        </p:nvSpPr>
        <p:spPr>
          <a:xfrm>
            <a:off x="9326880" y="1508760"/>
            <a:ext cx="2157984" cy="310896"/>
          </a:xfrm>
          <a:prstGeom prst="rect">
            <a:avLst/>
          </a:prstGeom>
          <a:noFill/>
          <a:ln/>
        </p:spPr>
        <p:txBody>
          <a:bodyPr wrap="square" lIns="0" tIns="0" rIns="0" bIns="0" rtlCol="0" anchor="t"/>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XQL only</a:t>
            </a:r>
            <a:endParaRPr lang="en-US" sz="1250" dirty="0"/>
          </a:p>
        </p:txBody>
      </p:sp>
      <p:sp>
        <p:nvSpPr>
          <p:cNvPr id="19" name="Text 17"/>
          <p:cNvSpPr/>
          <p:nvPr/>
        </p:nvSpPr>
        <p:spPr>
          <a:xfrm>
            <a:off x="9326880" y="1819656"/>
            <a:ext cx="2157984" cy="630936"/>
          </a:xfrm>
          <a:prstGeom prst="rect">
            <a:avLst/>
          </a:prstGeom>
          <a:noFill/>
          <a:ln/>
        </p:spPr>
        <p:txBody>
          <a:bodyPr wrap="square" lIns="0" tIns="0" rIns="0" bIns="0" rtlCol="0" anchor="t"/>
          <a:lstStyle/>
          <a:p>
            <a:pPr indent="0" marL="0">
              <a:lnSpc>
                <a:spcPts val="1300"/>
              </a:lnSpc>
              <a:buNone/>
            </a:pPr>
            <a:r>
              <a:rPr lang="en-US" sz="1000" dirty="0">
                <a:solidFill>
                  <a:srgbClr val="B4B7BD"/>
                </a:solidFill>
                <a:latin typeface="Calibri" pitchFamily="34" charset="0"/>
                <a:ea typeface="Calibri" pitchFamily="34" charset="-122"/>
                <a:cs typeface="Calibri" pitchFamily="34" charset="-120"/>
              </a:rPr>
              <a:t>no XDM fields</a:t>
            </a:r>
            <a:endParaRPr lang="en-US" sz="1000" dirty="0"/>
          </a:p>
          <a:p>
            <a:pPr indent="0" marL="0">
              <a:lnSpc>
                <a:spcPts val="1300"/>
              </a:lnSpc>
              <a:buNone/>
            </a:pPr>
            <a:r>
              <a:rPr lang="en-US" sz="1000" dirty="0">
                <a:solidFill>
                  <a:srgbClr val="B4B7BD"/>
                </a:solidFill>
                <a:latin typeface="Calibri" pitchFamily="34" charset="0"/>
                <a:ea typeface="Calibri" pitchFamily="34" charset="-122"/>
                <a:cs typeface="Calibri" pitchFamily="34" charset="-120"/>
              </a:rPr>
              <a:t>query raw fields</a:t>
            </a:r>
            <a:endParaRPr lang="en-US" sz="1000" dirty="0"/>
          </a:p>
        </p:txBody>
      </p:sp>
      <p:sp>
        <p:nvSpPr>
          <p:cNvPr id="20" name="Shape 18"/>
          <p:cNvSpPr/>
          <p:nvPr/>
        </p:nvSpPr>
        <p:spPr>
          <a:xfrm>
            <a:off x="548640" y="2779776"/>
            <a:ext cx="5349240" cy="2231136"/>
          </a:xfrm>
          <a:prstGeom prst="roundRect">
            <a:avLst>
              <a:gd name="adj" fmla="val 2049"/>
            </a:avLst>
          </a:prstGeom>
          <a:solidFill>
            <a:srgbClr val="15171B"/>
          </a:solidFill>
          <a:ln w="12700">
            <a:solidFill>
              <a:srgbClr val="15171B"/>
            </a:solidFill>
            <a:prstDash val="solid"/>
          </a:ln>
        </p:spPr>
      </p:sp>
      <p:sp>
        <p:nvSpPr>
          <p:cNvPr id="21" name="Text 19"/>
          <p:cNvSpPr/>
          <p:nvPr/>
        </p:nvSpPr>
        <p:spPr>
          <a:xfrm>
            <a:off x="786384" y="2944368"/>
            <a:ext cx="4873752" cy="292608"/>
          </a:xfrm>
          <a:prstGeom prst="rect">
            <a:avLst/>
          </a:prstGeom>
          <a:noFill/>
          <a:ln/>
        </p:spPr>
        <p:txBody>
          <a:bodyPr wrap="square" lIns="0" tIns="0" rIns="0" bIns="0" rtlCol="0" anchor="ctr"/>
          <a:lstStyle/>
          <a:p>
            <a:pPr indent="0" marL="0">
              <a:buNone/>
            </a:pPr>
            <a:r>
              <a:rPr lang="en-US" sz="1250" b="1" dirty="0">
                <a:solidFill>
                  <a:srgbClr val="3FB950"/>
                </a:solidFill>
                <a:latin typeface="Courier New" pitchFamily="34" charset="0"/>
                <a:ea typeface="Courier New" pitchFamily="34" charset="-122"/>
                <a:cs typeface="Courier New" pitchFamily="34" charset="-120"/>
              </a:rPr>
              <a:t>source_log_type = Audit</a:t>
            </a:r>
            <a:endParaRPr lang="en-US" sz="1250" dirty="0"/>
          </a:p>
        </p:txBody>
      </p:sp>
      <p:sp>
        <p:nvSpPr>
          <p:cNvPr id="22" name="Text 20"/>
          <p:cNvSpPr/>
          <p:nvPr/>
        </p:nvSpPr>
        <p:spPr>
          <a:xfrm>
            <a:off x="786384" y="3255264"/>
            <a:ext cx="2011680" cy="493776"/>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19,842</a:t>
            </a:r>
            <a:endParaRPr lang="en-US" sz="2800" dirty="0"/>
          </a:p>
        </p:txBody>
      </p:sp>
      <p:sp>
        <p:nvSpPr>
          <p:cNvPr id="23" name="Text 21"/>
          <p:cNvSpPr/>
          <p:nvPr/>
        </p:nvSpPr>
        <p:spPr>
          <a:xfrm>
            <a:off x="786384" y="3730752"/>
            <a:ext cx="4873752" cy="237744"/>
          </a:xfrm>
          <a:prstGeom prst="rect">
            <a:avLst/>
          </a:prstGeom>
          <a:noFill/>
          <a:ln/>
        </p:spPr>
        <p:txBody>
          <a:bodyPr wrap="square" lIns="0" tIns="0" rIns="0" bIns="0" rtlCol="0" anchor="ctr"/>
          <a:lstStyle/>
          <a:p>
            <a:pPr indent="0" marL="0">
              <a:buNone/>
            </a:pPr>
            <a:r>
              <a:rPr lang="en-US" sz="900" dirty="0">
                <a:solidFill>
                  <a:srgbClr val="6E747E"/>
                </a:solidFill>
                <a:latin typeface="Calibri" pitchFamily="34" charset="0"/>
                <a:ea typeface="Calibri" pitchFamily="34" charset="-122"/>
                <a:cs typeface="Calibri" pitchFamily="34" charset="-120"/>
              </a:rPr>
              <a:t>events in 30 d  ·  Flat, KOI-native</a:t>
            </a:r>
            <a:endParaRPr lang="en-US" sz="900" dirty="0"/>
          </a:p>
        </p:txBody>
      </p:sp>
      <p:sp>
        <p:nvSpPr>
          <p:cNvPr id="24" name="Text 22"/>
          <p:cNvSpPr/>
          <p:nvPr/>
        </p:nvSpPr>
        <p:spPr>
          <a:xfrm>
            <a:off x="786384" y="3986784"/>
            <a:ext cx="4873752" cy="914400"/>
          </a:xfrm>
          <a:prstGeom prst="rect">
            <a:avLst/>
          </a:prstGeom>
          <a:noFill/>
          <a:ln/>
        </p:spPr>
        <p:txBody>
          <a:bodyPr wrap="square" lIns="0" tIns="0" rIns="0" bIns="0" rtlCol="0" anchor="t"/>
          <a:lstStyle/>
          <a:p>
            <a:pPr indent="0" marL="0">
              <a:lnSpc>
                <a:spcPts val="1200"/>
              </a:lnSpc>
              <a:buNone/>
            </a:pPr>
            <a:r>
              <a:rPr lang="en-US" sz="880" dirty="0">
                <a:solidFill>
                  <a:srgbClr val="B4B7BD"/>
                </a:solidFill>
                <a:latin typeface="Courier New" pitchFamily="34" charset="0"/>
                <a:ea typeface="Courier New" pitchFamily="34" charset="-122"/>
                <a:cs typeface="Courier New" pitchFamily="34" charset="-120"/>
              </a:rPr>
              <a:t>type · action · category · object_name · object_type</a:t>
            </a:r>
            <a:endParaRPr lang="en-US" sz="880" dirty="0"/>
          </a:p>
          <a:p>
            <a:pPr indent="0" marL="0">
              <a:lnSpc>
                <a:spcPts val="1200"/>
              </a:lnSpc>
              <a:buNone/>
            </a:pPr>
            <a:r>
              <a:rPr lang="en-US" sz="880" dirty="0">
                <a:solidFill>
                  <a:srgbClr val="B4B7BD"/>
                </a:solidFill>
                <a:latin typeface="Courier New" pitchFamily="34" charset="0"/>
                <a:ea typeface="Courier New" pitchFamily="34" charset="-122"/>
                <a:cs typeface="Courier New" pitchFamily="34" charset="-120"/>
              </a:rPr>
              <a:t>hostname · item_version</a:t>
            </a:r>
            <a:endParaRPr lang="en-US" sz="880" dirty="0"/>
          </a:p>
          <a:p>
            <a:pPr indent="0" marL="0">
              <a:lnSpc>
                <a:spcPts val="1200"/>
              </a:lnSpc>
              <a:buNone/>
            </a:pPr>
            <a:r>
              <a:rPr lang="en-US" sz="880" dirty="0">
                <a:solidFill>
                  <a:srgbClr val="B4B7BD"/>
                </a:solidFill>
                <a:latin typeface="Courier New" pitchFamily="34" charset="0"/>
                <a:ea typeface="Courier New" pitchFamily="34" charset="-122"/>
                <a:cs typeface="Courier New" pitchFamily="34" charset="-120"/>
              </a:rPr>
              <a:t>type values seen:</a:t>
            </a:r>
            <a:endParaRPr lang="en-US" sz="880" dirty="0"/>
          </a:p>
          <a:p>
            <a:pPr indent="0" marL="0">
              <a:lnSpc>
                <a:spcPts val="1200"/>
              </a:lnSpc>
              <a:buNone/>
            </a:pPr>
            <a:r>
              <a:rPr lang="en-US" sz="880" dirty="0">
                <a:solidFill>
                  <a:srgbClr val="B4B7BD"/>
                </a:solidFill>
                <a:latin typeface="Courier New" pitchFamily="34" charset="0"/>
                <a:ea typeface="Courier New" pitchFamily="34" charset="-122"/>
                <a:cs typeface="Courier New" pitchFamily="34" charset="-120"/>
              </a:rPr>
              <a:t>extensions 16,579 · devices 2,971 · remediation 244 · policies 32</a:t>
            </a:r>
            <a:endParaRPr lang="en-US" sz="880" dirty="0"/>
          </a:p>
          <a:p>
            <a:pPr indent="0" marL="0">
              <a:lnSpc>
                <a:spcPts val="1200"/>
              </a:lnSpc>
              <a:buNone/>
            </a:pPr>
            <a:r>
              <a:rPr lang="en-US" sz="880" dirty="0">
                <a:solidFill>
                  <a:srgbClr val="B4B7BD"/>
                </a:solidFill>
                <a:latin typeface="Courier New" pitchFamily="34" charset="0"/>
                <a:ea typeface="Courier New" pitchFamily="34" charset="-122"/>
                <a:cs typeface="Courier New" pitchFamily="34" charset="-120"/>
              </a:rPr>
              <a:t>approval_requests 8 · guardrails 6 · notifications 2</a:t>
            </a:r>
            <a:endParaRPr lang="en-US" sz="880" dirty="0"/>
          </a:p>
        </p:txBody>
      </p:sp>
      <p:sp>
        <p:nvSpPr>
          <p:cNvPr id="25" name="Shape 23"/>
          <p:cNvSpPr/>
          <p:nvPr/>
        </p:nvSpPr>
        <p:spPr>
          <a:xfrm>
            <a:off x="6263640" y="2779776"/>
            <a:ext cx="5349240" cy="2231136"/>
          </a:xfrm>
          <a:prstGeom prst="roundRect">
            <a:avLst>
              <a:gd name="adj" fmla="val 2049"/>
            </a:avLst>
          </a:prstGeom>
          <a:solidFill>
            <a:srgbClr val="15171B"/>
          </a:solidFill>
          <a:ln w="12700">
            <a:solidFill>
              <a:srgbClr val="15171B"/>
            </a:solidFill>
            <a:prstDash val="solid"/>
          </a:ln>
        </p:spPr>
      </p:sp>
      <p:sp>
        <p:nvSpPr>
          <p:cNvPr id="26" name="Text 24"/>
          <p:cNvSpPr/>
          <p:nvPr/>
        </p:nvSpPr>
        <p:spPr>
          <a:xfrm>
            <a:off x="6501384" y="2944368"/>
            <a:ext cx="4873752" cy="292608"/>
          </a:xfrm>
          <a:prstGeom prst="rect">
            <a:avLst/>
          </a:prstGeom>
          <a:noFill/>
          <a:ln/>
        </p:spPr>
        <p:txBody>
          <a:bodyPr wrap="square" lIns="0" tIns="0" rIns="0" bIns="0" rtlCol="0" anchor="ctr"/>
          <a:lstStyle/>
          <a:p>
            <a:pPr indent="0" marL="0">
              <a:buNone/>
            </a:pPr>
            <a:r>
              <a:rPr lang="en-US" sz="1250" b="1" dirty="0">
                <a:solidFill>
                  <a:srgbClr val="F5A524"/>
                </a:solidFill>
                <a:latin typeface="Courier New" pitchFamily="34" charset="0"/>
                <a:ea typeface="Courier New" pitchFamily="34" charset="-122"/>
                <a:cs typeface="Courier New" pitchFamily="34" charset="-120"/>
              </a:rPr>
              <a:t>source_log_type = Alerts</a:t>
            </a:r>
            <a:endParaRPr lang="en-US" sz="1250" dirty="0"/>
          </a:p>
        </p:txBody>
      </p:sp>
      <p:sp>
        <p:nvSpPr>
          <p:cNvPr id="27" name="Text 25"/>
          <p:cNvSpPr/>
          <p:nvPr/>
        </p:nvSpPr>
        <p:spPr>
          <a:xfrm>
            <a:off x="6501384" y="3255264"/>
            <a:ext cx="2011680" cy="493776"/>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314</a:t>
            </a:r>
            <a:endParaRPr lang="en-US" sz="2800" dirty="0"/>
          </a:p>
        </p:txBody>
      </p:sp>
      <p:sp>
        <p:nvSpPr>
          <p:cNvPr id="28" name="Text 26"/>
          <p:cNvSpPr/>
          <p:nvPr/>
        </p:nvSpPr>
        <p:spPr>
          <a:xfrm>
            <a:off x="6501384" y="3730752"/>
            <a:ext cx="4873752" cy="237744"/>
          </a:xfrm>
          <a:prstGeom prst="rect">
            <a:avLst/>
          </a:prstGeom>
          <a:noFill/>
          <a:ln/>
        </p:spPr>
        <p:txBody>
          <a:bodyPr wrap="square" lIns="0" tIns="0" rIns="0" bIns="0" rtlCol="0" anchor="ctr"/>
          <a:lstStyle/>
          <a:p>
            <a:pPr indent="0" marL="0">
              <a:buNone/>
            </a:pPr>
            <a:r>
              <a:rPr lang="en-US" sz="900" dirty="0">
                <a:solidFill>
                  <a:srgbClr val="6E747E"/>
                </a:solidFill>
                <a:latin typeface="Calibri" pitchFamily="34" charset="0"/>
                <a:ea typeface="Calibri" pitchFamily="34" charset="-122"/>
                <a:cs typeface="Calibri" pitchFamily="34" charset="-120"/>
              </a:rPr>
              <a:t>events in 30 d  ·  OCSF</a:t>
            </a:r>
            <a:endParaRPr lang="en-US" sz="900" dirty="0"/>
          </a:p>
        </p:txBody>
      </p:sp>
      <p:sp>
        <p:nvSpPr>
          <p:cNvPr id="29" name="Text 27"/>
          <p:cNvSpPr/>
          <p:nvPr/>
        </p:nvSpPr>
        <p:spPr>
          <a:xfrm>
            <a:off x="6501384" y="3986784"/>
            <a:ext cx="4873752" cy="914400"/>
          </a:xfrm>
          <a:prstGeom prst="rect">
            <a:avLst/>
          </a:prstGeom>
          <a:noFill/>
          <a:ln/>
        </p:spPr>
        <p:txBody>
          <a:bodyPr wrap="square" lIns="0" tIns="0" rIns="0" bIns="0" rtlCol="0" anchor="t"/>
          <a:lstStyle/>
          <a:p>
            <a:pPr indent="0" marL="0">
              <a:lnSpc>
                <a:spcPts val="1200"/>
              </a:lnSpc>
              <a:buNone/>
            </a:pPr>
            <a:r>
              <a:rPr lang="en-US" sz="880" dirty="0">
                <a:solidFill>
                  <a:srgbClr val="B4B7BD"/>
                </a:solidFill>
                <a:latin typeface="Courier New" pitchFamily="34" charset="0"/>
                <a:ea typeface="Courier New" pitchFamily="34" charset="-122"/>
                <a:cs typeface="Courier New" pitchFamily="34" charset="-120"/>
              </a:rPr>
              <a:t>class_uid 2007 (Application Security Posture Finding)</a:t>
            </a:r>
            <a:endParaRPr lang="en-US" sz="880" dirty="0"/>
          </a:p>
          <a:p>
            <a:pPr indent="0" marL="0">
              <a:lnSpc>
                <a:spcPts val="1200"/>
              </a:lnSpc>
              <a:buNone/>
            </a:pPr>
            <a:r>
              <a:rPr lang="en-US" sz="880" dirty="0">
                <a:solidFill>
                  <a:srgbClr val="B4B7BD"/>
                </a:solidFill>
                <a:latin typeface="Courier New" pitchFamily="34" charset="0"/>
                <a:ea typeface="Courier New" pitchFamily="34" charset="-122"/>
                <a:cs typeface="Courier New" pitchFamily="34" charset="-120"/>
              </a:rPr>
              <a:t>type_uid 200701 · is_alert true</a:t>
            </a:r>
            <a:endParaRPr lang="en-US" sz="880" dirty="0"/>
          </a:p>
          <a:p>
            <a:pPr indent="0" marL="0">
              <a:lnSpc>
                <a:spcPts val="1200"/>
              </a:lnSpc>
              <a:buNone/>
            </a:pPr>
            <a:r>
              <a:rPr lang="en-US" sz="880" dirty="0">
                <a:solidFill>
                  <a:srgbClr val="B4B7BD"/>
                </a:solidFill>
                <a:latin typeface="Courier New" pitchFamily="34" charset="0"/>
                <a:ea typeface="Courier New" pitchFamily="34" charset="-122"/>
                <a:cs typeface="Courier New" pitchFamily="34" charset="-120"/>
              </a:rPr>
              <a:t>severity_id · confidence_id · risk_level_id · status_id</a:t>
            </a:r>
            <a:endParaRPr lang="en-US" sz="880" dirty="0"/>
          </a:p>
          <a:p>
            <a:pPr indent="0" marL="0">
              <a:lnSpc>
                <a:spcPts val="1200"/>
              </a:lnSpc>
              <a:buNone/>
            </a:pPr>
            <a:r>
              <a:rPr lang="en-US" sz="880" dirty="0">
                <a:solidFill>
                  <a:srgbClr val="B4B7BD"/>
                </a:solidFill>
                <a:latin typeface="Courier New" pitchFamily="34" charset="0"/>
                <a:ea typeface="Courier New" pitchFamily="34" charset="-122"/>
                <a:cs typeface="Courier New" pitchFamily="34" charset="-120"/>
              </a:rPr>
              <a:t>resources / observables / metadata are JSON STRINGS —</a:t>
            </a:r>
            <a:endParaRPr lang="en-US" sz="880" dirty="0"/>
          </a:p>
          <a:p>
            <a:pPr indent="0" marL="0">
              <a:lnSpc>
                <a:spcPts val="1200"/>
              </a:lnSpc>
              <a:buNone/>
            </a:pPr>
            <a:r>
              <a:rPr lang="en-US" sz="880" dirty="0">
                <a:solidFill>
                  <a:srgbClr val="B4B7BD"/>
                </a:solidFill>
                <a:latin typeface="Courier New" pitchFamily="34" charset="0"/>
                <a:ea typeface="Courier New" pitchFamily="34" charset="-122"/>
                <a:cs typeface="Courier New" pitchFamily="34" charset="-120"/>
              </a:rPr>
              <a:t>XQL must json_extract them or it silently returns nothing</a:t>
            </a:r>
            <a:endParaRPr lang="en-US" sz="880" dirty="0"/>
          </a:p>
        </p:txBody>
      </p:sp>
      <p:sp>
        <p:nvSpPr>
          <p:cNvPr id="30" name="Shape 28"/>
          <p:cNvSpPr/>
          <p:nvPr/>
        </p:nvSpPr>
        <p:spPr>
          <a:xfrm>
            <a:off x="548640" y="5120640"/>
            <a:ext cx="11064240" cy="859536"/>
          </a:xfrm>
          <a:prstGeom prst="roundRect">
            <a:avLst>
              <a:gd name="adj" fmla="val 5319"/>
            </a:avLst>
          </a:prstGeom>
          <a:solidFill>
            <a:srgbClr val="1C2026"/>
          </a:solidFill>
          <a:ln w="12700">
            <a:solidFill>
              <a:srgbClr val="1C2026"/>
            </a:solidFill>
            <a:prstDash val="solid"/>
          </a:ln>
        </p:spPr>
      </p:sp>
      <p:sp>
        <p:nvSpPr>
          <p:cNvPr id="31" name="Shape 29"/>
          <p:cNvSpPr/>
          <p:nvPr/>
        </p:nvSpPr>
        <p:spPr>
          <a:xfrm>
            <a:off x="786384" y="5330952"/>
            <a:ext cx="329184" cy="329184"/>
          </a:xfrm>
          <a:prstGeom prst="roundRect">
            <a:avLst>
              <a:gd name="adj" fmla="val 25000"/>
            </a:avLst>
          </a:prstGeom>
          <a:solidFill>
            <a:srgbClr val="E8551F"/>
          </a:solidFill>
          <a:ln w="12700">
            <a:solidFill>
              <a:srgbClr val="E8551F"/>
            </a:solidFill>
            <a:prstDash val="solid"/>
          </a:ln>
        </p:spPr>
      </p:sp>
      <p:sp>
        <p:nvSpPr>
          <p:cNvPr id="32" name="Text 30"/>
          <p:cNvSpPr/>
          <p:nvPr/>
        </p:nvSpPr>
        <p:spPr>
          <a:xfrm>
            <a:off x="786384" y="53309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3" name="Text 31"/>
          <p:cNvSpPr/>
          <p:nvPr/>
        </p:nvSpPr>
        <p:spPr>
          <a:xfrm>
            <a:off x="1298448" y="5248656"/>
            <a:ext cx="10021824" cy="621792"/>
          </a:xfrm>
          <a:prstGeom prst="rect">
            <a:avLst/>
          </a:prstGeom>
          <a:noFill/>
          <a:ln/>
        </p:spPr>
        <p:txBody>
          <a:bodyPr wrap="square" lIns="0" tIns="0" rIns="0" bIns="0"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Nothing is normalised. </a:t>
            </a:r>
            <a:pPr indent="0" marL="0">
              <a:lnSpc>
                <a:spcPts val="1400"/>
              </a:lnSpc>
              <a:buNone/>
            </a:pPr>
            <a:r>
              <a:rPr lang="en-US" sz="1100" dirty="0">
                <a:solidFill>
                  <a:srgbClr val="B4B7BD"/>
                </a:solidFill>
                <a:latin typeface="Calibri" pitchFamily="34" charset="0"/>
                <a:ea typeface="Calibri" pitchFamily="34" charset="-122"/>
                <a:cs typeface="Calibri" pitchFamily="34" charset="-120"/>
              </a:rPr>
              <a:t>No parsing rule and no modeling rule ships in the pack, and no XDM field is populated at all — every Audit field is null on Alert rows and vice versa. </a:t>
            </a:r>
            <a:pPr indent="0" marL="0">
              <a:lnSpc>
                <a:spcPts val="1400"/>
              </a:lnSpc>
              <a:buNone/>
            </a:pPr>
            <a:r>
              <a:rPr lang="en-US" sz="1100" b="1" dirty="0">
                <a:solidFill>
                  <a:srgbClr val="F5A524"/>
                </a:solidFill>
                <a:latin typeface="Calibri" pitchFamily="34" charset="0"/>
                <a:ea typeface="Calibri" pitchFamily="34" charset="-122"/>
                <a:cs typeface="Calibri" pitchFamily="34" charset="-120"/>
              </a:rPr>
              <a:t>alert_type is never populated</a:t>
            </a:r>
            <a:pPr indent="0" marL="0">
              <a:lnSpc>
                <a:spcPts val="1400"/>
              </a:lnSpc>
              <a:buNone/>
            </a:pPr>
            <a:r>
              <a:rPr lang="en-US" sz="1100" dirty="0">
                <a:solidFill>
                  <a:srgbClr val="B4B7BD"/>
                </a:solidFill>
                <a:latin typeface="Calibri" pitchFamily="34" charset="0"/>
                <a:ea typeface="Calibri" pitchFamily="34" charset="-122"/>
                <a:cs typeface="Calibri" pitchFamily="34" charset="-120"/>
              </a:rPr>
              <a:t>: any query or playbook keyed on it matches nothing.</a:t>
            </a:r>
            <a:endParaRPr lang="en-US" sz="1100" dirty="0"/>
          </a:p>
        </p:txBody>
      </p:sp>
      <p:sp>
        <p:nvSpPr>
          <p:cNvPr id="34" name="Text 32"/>
          <p:cNvSpPr/>
          <p:nvPr/>
        </p:nvSpPr>
        <p:spPr>
          <a:xfrm>
            <a:off x="548640" y="6053328"/>
            <a:ext cx="11064240" cy="274320"/>
          </a:xfrm>
          <a:prstGeom prst="rect">
            <a:avLst/>
          </a:prstGeom>
          <a:noFill/>
          <a:ln/>
        </p:spPr>
        <p:txBody>
          <a:bodyPr wrap="square" lIns="0" tIns="0" rIns="0" bIns="0" rtlCol="0" anchor="ctr"/>
          <a:lstStyle/>
          <a:p>
            <a:pPr indent="0" marL="0">
              <a:buNone/>
            </a:pPr>
            <a:r>
              <a:rPr lang="en-US" sz="950" i="1" dirty="0">
                <a:solidFill>
                  <a:srgbClr val="6E747E"/>
                </a:solidFill>
                <a:latin typeface="Calibri" pitchFamily="34" charset="0"/>
                <a:ea typeface="Calibri" pitchFamily="34" charset="-122"/>
                <a:cs typeface="Calibri" pitchFamily="34" charset="-120"/>
              </a:rPr>
              <a:t>Dataset name, schema split and the JSON-string caveat: VERIFIED_FACTS §3 [LIVE, 30-day window to 20 Jul 2026, tenant api-ayman.xdr.eu].  The event counts are that one window on that one tenant and keep growing — a snapshot, not a figure to reproduce.  Absence of rules: pack inspection.  Fetch defaults: marketplace-pack.json [YAML]; event types offered: Alerts,Audit.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6419088"/>
            <a:ext cx="11064240" cy="237744"/>
          </a:xfrm>
          <a:prstGeom prst="rect">
            <a:avLst/>
          </a:prstGeom>
          <a:noFill/>
          <a:ln/>
        </p:spPr>
        <p:txBody>
          <a:bodyPr wrap="square" lIns="0" tIns="0" rIns="0" bIns="0" rtlCol="0" anchor="ctr"/>
          <a:lstStyle/>
          <a:p>
            <a:pPr indent="0" marL="0">
              <a:buNone/>
            </a:pPr>
            <a:r>
              <a:rPr lang="en-US" sz="800" dirty="0">
                <a:solidFill>
                  <a:srgbClr val="6E747E"/>
                </a:solidFill>
                <a:latin typeface="Calibri" pitchFamily="34" charset="0"/>
                <a:ea typeface="Calibri" pitchFamily="34" charset="-122"/>
                <a:cs typeface="Calibri" pitchFamily="34" charset="-120"/>
              </a:rPr>
              <a:t>Marketplace KOI pack v1.2.3  ·  demisto/content / Packs/Koi  ·  integration only, 13 commands  ·  not the custom v1.3.0 pack</a:t>
            </a:r>
            <a:endParaRPr lang="en-US" sz="800" dirty="0"/>
          </a:p>
        </p:txBody>
      </p:sp>
      <p:sp>
        <p:nvSpPr>
          <p:cNvPr id="3" name="Text 1"/>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200" kern="0" dirty="0">
                <a:solidFill>
                  <a:srgbClr val="E8551F"/>
                </a:solidFill>
                <a:latin typeface="Calibri" pitchFamily="34" charset="0"/>
                <a:ea typeface="Calibri" pitchFamily="34" charset="-122"/>
                <a:cs typeface="Calibri" pitchFamily="34" charset="-120"/>
              </a:rPr>
              <a:t>KNOW BEFORE YOU QUERY</a:t>
            </a:r>
            <a:endParaRPr lang="en-US" sz="1100" dirty="0"/>
          </a:p>
        </p:txBody>
      </p:sp>
      <p:sp>
        <p:nvSpPr>
          <p:cNvPr id="4" name="Text 2"/>
          <p:cNvSpPr/>
          <p:nvPr/>
        </p:nvSpPr>
        <p:spPr>
          <a:xfrm>
            <a:off x="548640" y="612648"/>
            <a:ext cx="11064240" cy="658368"/>
          </a:xfrm>
          <a:prstGeom prst="rect">
            <a:avLst/>
          </a:prstGeom>
          <a:noFill/>
          <a:ln/>
        </p:spPr>
        <p:txBody>
          <a:bodyPr wrap="square" lIns="0" tIns="0" rIns="0" bIns="0" rtlCol="0" anchor="ctr"/>
          <a:lstStyle/>
          <a:p>
            <a:pPr indent="0" marL="0">
              <a:buNone/>
            </a:pPr>
            <a:r>
              <a:rPr lang="en-US" sz="3100" b="1" dirty="0">
                <a:solidFill>
                  <a:srgbClr val="FFFFFF"/>
                </a:solidFill>
                <a:latin typeface="Calibri" pitchFamily="34" charset="0"/>
                <a:ea typeface="Calibri" pitchFamily="34" charset="-122"/>
                <a:cs typeface="Calibri" pitchFamily="34" charset="-120"/>
              </a:rPr>
              <a:t>Two things every koi_koi_raw query must handle</a:t>
            </a:r>
            <a:endParaRPr lang="en-US" sz="3100" dirty="0"/>
          </a:p>
        </p:txBody>
      </p:sp>
      <p:sp>
        <p:nvSpPr>
          <p:cNvPr id="5" name="Shape 3"/>
          <p:cNvSpPr/>
          <p:nvPr/>
        </p:nvSpPr>
        <p:spPr>
          <a:xfrm>
            <a:off x="548640" y="1371600"/>
            <a:ext cx="5349240" cy="4315968"/>
          </a:xfrm>
          <a:prstGeom prst="roundRect">
            <a:avLst>
              <a:gd name="adj" fmla="val 1059"/>
            </a:avLst>
          </a:prstGeom>
          <a:solidFill>
            <a:srgbClr val="15171B"/>
          </a:solidFill>
          <a:ln w="12700">
            <a:solidFill>
              <a:srgbClr val="15171B"/>
            </a:solidFill>
            <a:prstDash val="solid"/>
          </a:ln>
        </p:spPr>
      </p:sp>
      <p:sp>
        <p:nvSpPr>
          <p:cNvPr id="6" name="Shape 4"/>
          <p:cNvSpPr/>
          <p:nvPr/>
        </p:nvSpPr>
        <p:spPr>
          <a:xfrm>
            <a:off x="768096" y="1554480"/>
            <a:ext cx="310896" cy="310896"/>
          </a:xfrm>
          <a:prstGeom prst="roundRect">
            <a:avLst>
              <a:gd name="adj" fmla="val 26471"/>
            </a:avLst>
          </a:prstGeom>
          <a:solidFill>
            <a:srgbClr val="F5A524"/>
          </a:solidFill>
          <a:ln w="12700">
            <a:solidFill>
              <a:srgbClr val="F5A524"/>
            </a:solidFill>
            <a:prstDash val="solid"/>
          </a:ln>
        </p:spPr>
      </p:sp>
      <p:sp>
        <p:nvSpPr>
          <p:cNvPr id="7" name="Text 5"/>
          <p:cNvSpPr/>
          <p:nvPr/>
        </p:nvSpPr>
        <p:spPr>
          <a:xfrm>
            <a:off x="768096" y="15544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1188720" y="1572768"/>
            <a:ext cx="447141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Alerts are massively duplicated</a:t>
            </a:r>
            <a:endParaRPr lang="en-US" sz="1400" dirty="0"/>
          </a:p>
        </p:txBody>
      </p:sp>
      <p:sp>
        <p:nvSpPr>
          <p:cNvPr id="9" name="Text 7"/>
          <p:cNvSpPr/>
          <p:nvPr/>
        </p:nvSpPr>
        <p:spPr>
          <a:xfrm>
            <a:off x="786384" y="1956816"/>
            <a:ext cx="4873752" cy="219456"/>
          </a:xfrm>
          <a:prstGeom prst="rect">
            <a:avLst/>
          </a:prstGeom>
          <a:noFill/>
          <a:ln/>
        </p:spPr>
        <p:txBody>
          <a:bodyPr wrap="square" lIns="0" tIns="0" rIns="0" bIns="0" rtlCol="0" anchor="ctr"/>
          <a:lstStyle/>
          <a:p>
            <a:pPr indent="0" marL="0">
              <a:buNone/>
            </a:pPr>
            <a:r>
              <a:rPr lang="en-US" sz="850" b="1" spc="100" kern="0" dirty="0">
                <a:solidFill>
                  <a:srgbClr val="F5A524"/>
                </a:solidFill>
                <a:latin typeface="Calibri" pitchFamily="34" charset="0"/>
                <a:ea typeface="Calibri" pitchFamily="34" charset="-122"/>
                <a:cs typeface="Calibri" pitchFamily="34" charset="-120"/>
              </a:rPr>
              <a:t>ALERTS ONLY — AUDIT IS NOT AFFECTED  ·  [LIVE] 21 JUL 2026</a:t>
            </a:r>
            <a:endParaRPr lang="en-US" sz="850" dirty="0"/>
          </a:p>
        </p:txBody>
      </p:sp>
      <p:sp>
        <p:nvSpPr>
          <p:cNvPr id="10" name="Text 8"/>
          <p:cNvSpPr/>
          <p:nvPr/>
        </p:nvSpPr>
        <p:spPr>
          <a:xfrm>
            <a:off x="786384" y="2231136"/>
            <a:ext cx="4873752" cy="658368"/>
          </a:xfrm>
          <a:prstGeom prst="rect">
            <a:avLst/>
          </a:prstGeom>
          <a:noFill/>
          <a:ln/>
        </p:spPr>
        <p:txBody>
          <a:bodyPr wrap="square" lIns="0" tIns="0" rIns="0" bIns="0" rtlCol="0" anchor="ctr"/>
          <a:lstStyle/>
          <a:p>
            <a:pPr indent="0" marL="0">
              <a:buNone/>
            </a:pPr>
            <a:r>
              <a:rPr lang="en-US" sz="4200" b="1" dirty="0">
                <a:solidFill>
                  <a:srgbClr val="E8551F"/>
                </a:solidFill>
                <a:latin typeface="Calibri" pitchFamily="34" charset="0"/>
                <a:ea typeface="Calibri" pitchFamily="34" charset="-122"/>
                <a:cs typeface="Calibri" pitchFamily="34" charset="-120"/>
              </a:rPr>
              <a:t>244.7×</a:t>
            </a:r>
            <a:endParaRPr lang="en-US" sz="4200" dirty="0"/>
          </a:p>
        </p:txBody>
      </p:sp>
      <p:sp>
        <p:nvSpPr>
          <p:cNvPr id="11" name="Text 9"/>
          <p:cNvSpPr/>
          <p:nvPr/>
        </p:nvSpPr>
        <p:spPr>
          <a:xfrm>
            <a:off x="786384" y="2926080"/>
            <a:ext cx="4873752" cy="237744"/>
          </a:xfrm>
          <a:prstGeom prst="rect">
            <a:avLst/>
          </a:prstGeom>
          <a:noFill/>
          <a:ln/>
        </p:spPr>
        <p:txBody>
          <a:bodyPr wrap="square" lIns="0" tIns="0" rIns="0" bIns="0" rtlCol="0" anchor="ctr"/>
          <a:lstStyle/>
          <a:p>
            <a:pPr indent="0" marL="0">
              <a:buNone/>
            </a:pPr>
            <a:r>
              <a:rPr lang="en-US" sz="1000" dirty="0">
                <a:solidFill>
                  <a:srgbClr val="6E747E"/>
                </a:solidFill>
                <a:latin typeface="Calibri" pitchFamily="34" charset="0"/>
                <a:ea typeface="Calibri" pitchFamily="34" charset="-122"/>
                <a:cs typeface="Calibri" pitchFamily="34" charset="-120"/>
              </a:rPr>
              <a:t>inflation over the last 24 h — 734 rows resolve to just 3 distinct alerts</a:t>
            </a:r>
            <a:endParaRPr lang="en-US" sz="1000" dirty="0"/>
          </a:p>
        </p:txBody>
      </p:sp>
      <p:sp>
        <p:nvSpPr>
          <p:cNvPr id="12" name="Text 10"/>
          <p:cNvSpPr/>
          <p:nvPr/>
        </p:nvSpPr>
        <p:spPr>
          <a:xfrm>
            <a:off x="786384" y="3255264"/>
            <a:ext cx="4873752" cy="768096"/>
          </a:xfrm>
          <a:prstGeom prst="rect">
            <a:avLst/>
          </a:prstGeom>
          <a:noFill/>
          <a:ln/>
        </p:spPr>
        <p:txBody>
          <a:bodyPr wrap="square" lIns="0" tIns="0" rIns="0" bIns="0" rtlCol="0" anchor="t"/>
          <a:lstStyle/>
          <a:p>
            <a:pPr indent="0" marL="0">
              <a:lnSpc>
                <a:spcPts val="1300"/>
              </a:lnSpc>
              <a:buNone/>
            </a:pPr>
            <a:r>
              <a:rPr lang="en-US" sz="1000" dirty="0">
                <a:solidFill>
                  <a:srgbClr val="B4B7BD"/>
                </a:solidFill>
                <a:latin typeface="Calibri" pitchFamily="34" charset="0"/>
                <a:ea typeface="Calibri" pitchFamily="34" charset="-122"/>
                <a:cs typeface="Calibri" pitchFamily="34" charset="-120"/>
              </a:rPr>
              <a:t>The integration re-sends every still-open alert on each 1-minute fetch, so </a:t>
            </a:r>
            <a:pPr indent="0" marL="0">
              <a:lnSpc>
                <a:spcPts val="1300"/>
              </a:lnSpc>
              <a:buNone/>
            </a:pPr>
            <a:r>
              <a:rPr lang="en-US" sz="1000" b="1" dirty="0">
                <a:solidFill>
                  <a:srgbClr val="FFFFFF"/>
                </a:solidFill>
                <a:latin typeface="Calibri" pitchFamily="34" charset="0"/>
                <a:ea typeface="Calibri" pitchFamily="34" charset="-122"/>
                <a:cs typeface="Calibri" pitchFamily="34" charset="-120"/>
              </a:rPr>
              <a:t>koi_koi_raw holds one row per alert per fetch</a:t>
            </a:r>
            <a:pPr indent="0" marL="0">
              <a:lnSpc>
                <a:spcPts val="1300"/>
              </a:lnSpc>
              <a:buNone/>
            </a:pPr>
            <a:r>
              <a:rPr lang="en-US" sz="1000" dirty="0">
                <a:solidFill>
                  <a:srgbClr val="B4B7BD"/>
                </a:solidFill>
                <a:latin typeface="Calibri" pitchFamily="34" charset="0"/>
                <a:ea typeface="Calibri" pitchFamily="34" charset="-122"/>
                <a:cs typeface="Calibri" pitchFamily="34" charset="-120"/>
              </a:rPr>
              <a:t> — not one row per alert. Audit records are point-in-time and are </a:t>
            </a:r>
            <a:pPr indent="0" marL="0">
              <a:lnSpc>
                <a:spcPts val="1300"/>
              </a:lnSpc>
              <a:buNone/>
            </a:pPr>
            <a:r>
              <a:rPr lang="en-US" sz="1000" b="1" dirty="0">
                <a:solidFill>
                  <a:srgbClr val="3FB950"/>
                </a:solidFill>
                <a:latin typeface="Calibri" pitchFamily="34" charset="0"/>
                <a:ea typeface="Calibri" pitchFamily="34" charset="-122"/>
                <a:cs typeface="Calibri" pitchFamily="34" charset="-120"/>
              </a:rPr>
              <a:t>not duplicated (1.0×).</a:t>
            </a:r>
            <a:endParaRPr lang="en-US" sz="1000" dirty="0"/>
          </a:p>
        </p:txBody>
      </p:sp>
      <p:sp>
        <p:nvSpPr>
          <p:cNvPr id="13" name="Shape 11"/>
          <p:cNvSpPr/>
          <p:nvPr/>
        </p:nvSpPr>
        <p:spPr>
          <a:xfrm>
            <a:off x="786384" y="4096512"/>
            <a:ext cx="4873752" cy="731520"/>
          </a:xfrm>
          <a:prstGeom prst="roundRect">
            <a:avLst>
              <a:gd name="adj" fmla="val 6250"/>
            </a:avLst>
          </a:prstGeom>
          <a:solidFill>
            <a:srgbClr val="0B0C0F"/>
          </a:solidFill>
          <a:ln w="12700">
            <a:solidFill>
              <a:srgbClr val="0B0C0F"/>
            </a:solidFill>
            <a:prstDash val="solid"/>
          </a:ln>
        </p:spPr>
      </p:sp>
      <p:sp>
        <p:nvSpPr>
          <p:cNvPr id="14" name="Text 12"/>
          <p:cNvSpPr/>
          <p:nvPr/>
        </p:nvSpPr>
        <p:spPr>
          <a:xfrm>
            <a:off x="932688" y="4160520"/>
            <a:ext cx="4617720" cy="201168"/>
          </a:xfrm>
          <a:prstGeom prst="rect">
            <a:avLst/>
          </a:prstGeom>
          <a:noFill/>
          <a:ln/>
        </p:spPr>
        <p:txBody>
          <a:bodyPr wrap="square" lIns="0" tIns="0" rIns="0" bIns="0" rtlCol="0" anchor="ctr"/>
          <a:lstStyle/>
          <a:p>
            <a:pPr indent="0" marL="0">
              <a:buNone/>
            </a:pPr>
            <a:r>
              <a:rPr lang="en-US" sz="850" dirty="0">
                <a:solidFill>
                  <a:srgbClr val="6E747E"/>
                </a:solidFill>
                <a:latin typeface="Calibri" pitchFamily="34" charset="0"/>
                <a:ea typeface="Calibri" pitchFamily="34" charset="-122"/>
                <a:cs typeface="Calibri" pitchFamily="34" charset="-120"/>
              </a:rPr>
              <a:t>Dedupe every alert query on this inline key:</a:t>
            </a:r>
            <a:endParaRPr lang="en-US" sz="850" dirty="0"/>
          </a:p>
        </p:txBody>
      </p:sp>
      <p:sp>
        <p:nvSpPr>
          <p:cNvPr id="15" name="Text 13"/>
          <p:cNvSpPr/>
          <p:nvPr/>
        </p:nvSpPr>
        <p:spPr>
          <a:xfrm>
            <a:off x="932688" y="4370832"/>
            <a:ext cx="4617720" cy="310896"/>
          </a:xfrm>
          <a:prstGeom prst="rect">
            <a:avLst/>
          </a:prstGeom>
          <a:noFill/>
          <a:ln/>
        </p:spPr>
        <p:txBody>
          <a:bodyPr wrap="square" lIns="0" tIns="0" rIns="0" bIns="0" rtlCol="0" anchor="t"/>
          <a:lstStyle/>
          <a:p>
            <a:pPr indent="0" marL="0">
              <a:buNone/>
            </a:pPr>
            <a:r>
              <a:rPr lang="en-US" sz="950" dirty="0">
                <a:solidFill>
                  <a:srgbClr val="22D3EE"/>
                </a:solidFill>
                <a:latin typeface="Courier New" pitchFamily="34" charset="0"/>
                <a:ea typeface="Courier New" pitchFamily="34" charset="-122"/>
                <a:cs typeface="Courier New" pitchFamily="34" charset="-120"/>
              </a:rPr>
              <a:t>json_extract_scalar(metadata, "$.notification_event_id")</a:t>
            </a:r>
            <a:endParaRPr lang="en-US" sz="950" dirty="0"/>
          </a:p>
        </p:txBody>
      </p:sp>
      <p:sp>
        <p:nvSpPr>
          <p:cNvPr id="16" name="Text 14"/>
          <p:cNvSpPr/>
          <p:nvPr/>
        </p:nvSpPr>
        <p:spPr>
          <a:xfrm>
            <a:off x="786384" y="4956048"/>
            <a:ext cx="4873752" cy="530352"/>
          </a:xfrm>
          <a:prstGeom prst="rect">
            <a:avLst/>
          </a:prstGeom>
          <a:noFill/>
          <a:ln/>
        </p:spPr>
        <p:txBody>
          <a:bodyPr wrap="square" lIns="0" tIns="0" rIns="0" bIns="0" rtlCol="0" anchor="t"/>
          <a:lstStyle/>
          <a:p>
            <a:pPr indent="0" marL="0">
              <a:lnSpc>
                <a:spcPts val="1200"/>
              </a:lnSpc>
              <a:buNone/>
            </a:pPr>
            <a:r>
              <a:rPr lang="en-US" sz="950" dirty="0">
                <a:solidFill>
                  <a:srgbClr val="B4B7BD"/>
                </a:solidFill>
                <a:latin typeface="Calibri" pitchFamily="34" charset="0"/>
                <a:ea typeface="Calibri" pitchFamily="34" charset="-122"/>
                <a:cs typeface="Calibri" pitchFamily="34" charset="-120"/>
              </a:rPr>
              <a:t>Every </a:t>
            </a:r>
            <a:pPr indent="0" marL="0">
              <a:lnSpc>
                <a:spcPts val="1200"/>
              </a:lnSpc>
              <a:buNone/>
            </a:pPr>
            <a:r>
              <a:rPr lang="en-US" sz="950" dirty="0">
                <a:solidFill>
                  <a:srgbClr val="F5A524"/>
                </a:solidFill>
                <a:latin typeface="Courier New" pitchFamily="34" charset="0"/>
                <a:ea typeface="Courier New" pitchFamily="34" charset="-122"/>
                <a:cs typeface="Courier New" pitchFamily="34" charset="-120"/>
              </a:rPr>
              <a:t>count()</a:t>
            </a:r>
            <a:pPr indent="0" marL="0">
              <a:lnSpc>
                <a:spcPts val="1200"/>
              </a:lnSpc>
              <a:buNone/>
            </a:pPr>
            <a:r>
              <a:rPr lang="en-US" sz="950" dirty="0">
                <a:solidFill>
                  <a:srgbClr val="B4B7BD"/>
                </a:solidFill>
                <a:latin typeface="Calibri" pitchFamily="34" charset="0"/>
                <a:ea typeface="Calibri" pitchFamily="34" charset="-122"/>
                <a:cs typeface="Calibri" pitchFamily="34" charset="-120"/>
              </a:rPr>
              <a:t> over Alerts is wrong — use </a:t>
            </a:r>
            <a:pPr indent="0" marL="0">
              <a:lnSpc>
                <a:spcPts val="1200"/>
              </a:lnSpc>
              <a:buNone/>
            </a:pPr>
            <a:r>
              <a:rPr lang="en-US" sz="950" b="1" dirty="0">
                <a:solidFill>
                  <a:srgbClr val="FFFFFF"/>
                </a:solidFill>
                <a:latin typeface="Courier New" pitchFamily="34" charset="0"/>
                <a:ea typeface="Courier New" pitchFamily="34" charset="-122"/>
                <a:cs typeface="Courier New" pitchFamily="34" charset="-120"/>
              </a:rPr>
              <a:t>count_distinct</a:t>
            </a:r>
            <a:pPr indent="0" marL="0">
              <a:lnSpc>
                <a:spcPts val="1200"/>
              </a:lnSpc>
              <a:buNone/>
            </a:pPr>
            <a:r>
              <a:rPr lang="en-US" sz="950" dirty="0">
                <a:solidFill>
                  <a:srgbClr val="B4B7BD"/>
                </a:solidFill>
                <a:latin typeface="Calibri" pitchFamily="34" charset="0"/>
                <a:ea typeface="Calibri" pitchFamily="34" charset="-122"/>
                <a:cs typeface="Calibri" pitchFamily="34" charset="-120"/>
              </a:rPr>
              <a:t> on that id. Today the difference is 734 versus 3.</a:t>
            </a:r>
            <a:endParaRPr lang="en-US" sz="950" dirty="0"/>
          </a:p>
        </p:txBody>
      </p:sp>
      <p:sp>
        <p:nvSpPr>
          <p:cNvPr id="17" name="Shape 15"/>
          <p:cNvSpPr/>
          <p:nvPr/>
        </p:nvSpPr>
        <p:spPr>
          <a:xfrm>
            <a:off x="6263640" y="1371600"/>
            <a:ext cx="5349240" cy="4315968"/>
          </a:xfrm>
          <a:prstGeom prst="roundRect">
            <a:avLst>
              <a:gd name="adj" fmla="val 1059"/>
            </a:avLst>
          </a:prstGeom>
          <a:solidFill>
            <a:srgbClr val="15171B"/>
          </a:solidFill>
          <a:ln w="12700">
            <a:solidFill>
              <a:srgbClr val="15171B"/>
            </a:solidFill>
            <a:prstDash val="solid"/>
          </a:ln>
        </p:spPr>
      </p:sp>
      <p:sp>
        <p:nvSpPr>
          <p:cNvPr id="18" name="Shape 16"/>
          <p:cNvSpPr/>
          <p:nvPr/>
        </p:nvSpPr>
        <p:spPr>
          <a:xfrm>
            <a:off x="6483096" y="1554480"/>
            <a:ext cx="310896" cy="310896"/>
          </a:xfrm>
          <a:prstGeom prst="roundRect">
            <a:avLst>
              <a:gd name="adj" fmla="val 26471"/>
            </a:avLst>
          </a:prstGeom>
          <a:solidFill>
            <a:srgbClr val="22D3EE"/>
          </a:solidFill>
          <a:ln w="12700">
            <a:solidFill>
              <a:srgbClr val="22D3EE"/>
            </a:solidFill>
            <a:prstDash val="solid"/>
          </a:ln>
        </p:spPr>
      </p:sp>
      <p:sp>
        <p:nvSpPr>
          <p:cNvPr id="19" name="Text 17"/>
          <p:cNvSpPr/>
          <p:nvPr/>
        </p:nvSpPr>
        <p:spPr>
          <a:xfrm>
            <a:off x="6483096" y="15544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0" name="Text 18"/>
          <p:cNvSpPr/>
          <p:nvPr/>
        </p:nvSpPr>
        <p:spPr>
          <a:xfrm>
            <a:off x="6903720" y="1572768"/>
            <a:ext cx="447141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Event vs API marketplace vocabulary</a:t>
            </a:r>
            <a:endParaRPr lang="en-US" sz="1400" dirty="0"/>
          </a:p>
        </p:txBody>
      </p:sp>
      <p:sp>
        <p:nvSpPr>
          <p:cNvPr id="21" name="Text 19"/>
          <p:cNvSpPr/>
          <p:nvPr/>
        </p:nvSpPr>
        <p:spPr>
          <a:xfrm>
            <a:off x="6501384" y="1956816"/>
            <a:ext cx="4873752" cy="219456"/>
          </a:xfrm>
          <a:prstGeom prst="rect">
            <a:avLst/>
          </a:prstGeom>
          <a:noFill/>
          <a:ln/>
        </p:spPr>
        <p:txBody>
          <a:bodyPr wrap="square" lIns="0" tIns="0" rIns="0" bIns="0" rtlCol="0" anchor="ctr"/>
          <a:lstStyle/>
          <a:p>
            <a:pPr indent="0" marL="0">
              <a:buNone/>
            </a:pPr>
            <a:r>
              <a:rPr lang="en-US" sz="850" b="1" spc="100" kern="0" dirty="0">
                <a:solidFill>
                  <a:srgbClr val="22D3EE"/>
                </a:solidFill>
                <a:latin typeface="Calibri" pitchFamily="34" charset="0"/>
                <a:ea typeface="Calibri" pitchFamily="34" charset="-122"/>
                <a:cs typeface="Calibri" pitchFamily="34" charset="-120"/>
              </a:rPr>
              <a:t>SHORT FORMS IN EVENTS · LONG FORMS IN THE COMMAND  ·  [LIVE] 21 JUL 2026</a:t>
            </a:r>
            <a:endParaRPr lang="en-US" sz="850" dirty="0"/>
          </a:p>
        </p:txBody>
      </p:sp>
      <p:sp>
        <p:nvSpPr>
          <p:cNvPr id="22" name="Text 20"/>
          <p:cNvSpPr/>
          <p:nvPr/>
        </p:nvSpPr>
        <p:spPr>
          <a:xfrm>
            <a:off x="6501384" y="2249424"/>
            <a:ext cx="4873752" cy="676656"/>
          </a:xfrm>
          <a:prstGeom prst="rect">
            <a:avLst/>
          </a:prstGeom>
          <a:noFill/>
          <a:ln/>
        </p:spPr>
        <p:txBody>
          <a:bodyPr wrap="square" lIns="0" tIns="0" rIns="0" bIns="0" rtlCol="0" anchor="t"/>
          <a:lstStyle/>
          <a:p>
            <a:pPr indent="0" marL="0">
              <a:lnSpc>
                <a:spcPts val="1300"/>
              </a:lnSpc>
              <a:buNone/>
            </a:pPr>
            <a:r>
              <a:rPr lang="en-US" sz="1000" dirty="0">
                <a:solidFill>
                  <a:srgbClr val="B4B7BD"/>
                </a:solidFill>
                <a:latin typeface="Calibri" pitchFamily="34" charset="0"/>
                <a:ea typeface="Calibri" pitchFamily="34" charset="-122"/>
                <a:cs typeface="Calibri" pitchFamily="34" charset="-120"/>
              </a:rPr>
              <a:t>The marketplace field in events uses short forms; the command argument uses long forms. </a:t>
            </a:r>
            <a:pPr indent="0" marL="0">
              <a:lnSpc>
                <a:spcPts val="1300"/>
              </a:lnSpc>
              <a:buNone/>
            </a:pPr>
            <a:r>
              <a:rPr lang="en-US" sz="1000" b="1" dirty="0">
                <a:solidFill>
                  <a:srgbClr val="3FB950"/>
                </a:solidFill>
                <a:latin typeface="Calibri" pitchFamily="34" charset="0"/>
                <a:ea typeface="Calibri" pitchFamily="34" charset="-122"/>
                <a:cs typeface="Calibri" pitchFamily="34" charset="-120"/>
              </a:rPr>
              <a:t>Only npm and pypi match.</a:t>
            </a:r>
            <a:pPr indent="0" marL="0">
              <a:lnSpc>
                <a:spcPts val="1300"/>
              </a:lnSpc>
              <a:buNone/>
            </a:pPr>
            <a:r>
              <a:rPr lang="en-US" sz="1000" dirty="0">
                <a:solidFill>
                  <a:srgbClr val="B4B7BD"/>
                </a:solidFill>
                <a:latin typeface="Calibri" pitchFamily="34" charset="0"/>
                <a:ea typeface="Calibri" pitchFamily="34" charset="-122"/>
                <a:cs typeface="Calibri" pitchFamily="34" charset="-120"/>
              </a:rPr>
              <a:t> An event value passed straight to a command returns </a:t>
            </a:r>
            <a:pPr indent="0" marL="0">
              <a:lnSpc>
                <a:spcPts val="1300"/>
              </a:lnSpc>
              <a:buNone/>
            </a:pPr>
            <a:r>
              <a:rPr lang="en-US" sz="1000" b="1" dirty="0">
                <a:solidFill>
                  <a:srgbClr val="F5A524"/>
                </a:solidFill>
                <a:latin typeface="Calibri" pitchFamily="34" charset="0"/>
                <a:ea typeface="Calibri" pitchFamily="34" charset="-122"/>
                <a:cs typeface="Calibri" pitchFamily="34" charset="-120"/>
              </a:rPr>
              <a:t>HTTP 400</a:t>
            </a:r>
            <a:pPr indent="0" marL="0">
              <a:lnSpc>
                <a:spcPts val="1300"/>
              </a:lnSpc>
              <a:buNone/>
            </a:pPr>
            <a:r>
              <a:rPr lang="en-US" sz="1000" dirty="0">
                <a:solidFill>
                  <a:srgbClr val="B4B7BD"/>
                </a:solidFill>
                <a:latin typeface="Calibri" pitchFamily="34" charset="0"/>
                <a:ea typeface="Calibri" pitchFamily="34" charset="-122"/>
                <a:cs typeface="Calibri" pitchFamily="34" charset="-120"/>
              </a:rPr>
              <a:t> — map it first.</a:t>
            </a:r>
            <a:endParaRPr lang="en-US" sz="1000" dirty="0"/>
          </a:p>
        </p:txBody>
      </p:sp>
      <p:sp>
        <p:nvSpPr>
          <p:cNvPr id="23" name="Text 21"/>
          <p:cNvSpPr/>
          <p:nvPr/>
        </p:nvSpPr>
        <p:spPr>
          <a:xfrm>
            <a:off x="6501384" y="2962656"/>
            <a:ext cx="4873752" cy="201168"/>
          </a:xfrm>
          <a:prstGeom prst="rect">
            <a:avLst/>
          </a:prstGeom>
          <a:noFill/>
          <a:ln/>
        </p:spPr>
        <p:txBody>
          <a:bodyPr wrap="square" lIns="0" tIns="0" rIns="0" bIns="0" rtlCol="0" anchor="ctr"/>
          <a:lstStyle/>
          <a:p>
            <a:pPr indent="0" marL="0">
              <a:buNone/>
            </a:pPr>
            <a:r>
              <a:rPr lang="en-US" sz="850" dirty="0">
                <a:solidFill>
                  <a:srgbClr val="6E747E"/>
                </a:solidFill>
                <a:latin typeface="Courier New" pitchFamily="34" charset="0"/>
                <a:ea typeface="Courier New" pitchFamily="34" charset="-122"/>
                <a:cs typeface="Courier New" pitchFamily="34" charset="-120"/>
              </a:rPr>
              <a:t>event value (koi_koi_raw) command / API arg</a:t>
            </a:r>
            <a:endParaRPr lang="en-US" sz="850" dirty="0"/>
          </a:p>
        </p:txBody>
      </p:sp>
      <p:sp>
        <p:nvSpPr>
          <p:cNvPr id="24" name="Text 22"/>
          <p:cNvSpPr/>
          <p:nvPr/>
        </p:nvSpPr>
        <p:spPr>
          <a:xfrm>
            <a:off x="6501384" y="3182112"/>
            <a:ext cx="4873752" cy="1700784"/>
          </a:xfrm>
          <a:prstGeom prst="rect">
            <a:avLst/>
          </a:prstGeom>
          <a:noFill/>
          <a:ln/>
        </p:spPr>
        <p:txBody>
          <a:bodyPr wrap="square" lIns="0" tIns="0" rIns="0" bIns="0" rtlCol="0" anchor="t"/>
          <a:lstStyle/>
          <a:p>
            <a:pPr indent="0" marL="0">
              <a:lnSpc>
                <a:spcPts val="1250"/>
              </a:lnSpc>
              <a:buNone/>
            </a:pPr>
            <a:r>
              <a:rPr lang="en-US" sz="950" dirty="0">
                <a:solidFill>
                  <a:srgbClr val="B4B7BD"/>
                </a:solidFill>
                <a:latin typeface="Courier New" pitchFamily="34" charset="0"/>
                <a:ea typeface="Courier New" pitchFamily="34" charset="-122"/>
                <a:cs typeface="Courier New" pitchFamily="34" charset="-120"/>
              </a:rPr>
              <a:t>software_windows </a:t>
            </a:r>
            <a:pPr indent="0" marL="0">
              <a:lnSpc>
                <a:spcPts val="1250"/>
              </a:lnSpc>
              <a:buNone/>
            </a:pPr>
            <a:r>
              <a:rPr lang="en-US" sz="950" dirty="0">
                <a:solidFill>
                  <a:srgbClr val="E8551F"/>
                </a:solidFill>
                <a:latin typeface="Courier New" pitchFamily="34" charset="0"/>
                <a:ea typeface="Courier New" pitchFamily="34" charset="-122"/>
                <a:cs typeface="Courier New" pitchFamily="34" charset="-120"/>
              </a:rPr>
              <a:t>-&gt;  </a:t>
            </a:r>
            <a:pPr indent="0" marL="0">
              <a:lnSpc>
                <a:spcPts val="1250"/>
              </a:lnSpc>
              <a:buNone/>
            </a:pPr>
            <a:r>
              <a:rPr lang="en-US" sz="950" dirty="0">
                <a:solidFill>
                  <a:srgbClr val="22D3EE"/>
                </a:solidFill>
                <a:latin typeface="Courier New" pitchFamily="34" charset="0"/>
                <a:ea typeface="Courier New" pitchFamily="34" charset="-122"/>
                <a:cs typeface="Courier New" pitchFamily="34" charset="-120"/>
              </a:rPr>
              <a:t>windows</a:t>
            </a:r>
            <a:endParaRPr lang="en-US" sz="950" dirty="0"/>
          </a:p>
          <a:p>
            <a:pPr indent="0" marL="0">
              <a:lnSpc>
                <a:spcPts val="1250"/>
              </a:lnSpc>
              <a:buNone/>
            </a:pPr>
            <a:r>
              <a:rPr lang="en-US" sz="950" dirty="0">
                <a:solidFill>
                  <a:srgbClr val="B4B7BD"/>
                </a:solidFill>
                <a:latin typeface="Courier New" pitchFamily="34" charset="0"/>
                <a:ea typeface="Courier New" pitchFamily="34" charset="-122"/>
                <a:cs typeface="Courier New" pitchFamily="34" charset="-120"/>
              </a:rPr>
              <a:t>pypi             </a:t>
            </a:r>
            <a:pPr indent="0" marL="0">
              <a:lnSpc>
                <a:spcPts val="1250"/>
              </a:lnSpc>
              <a:buNone/>
            </a:pPr>
            <a:r>
              <a:rPr lang="en-US" sz="950" dirty="0">
                <a:solidFill>
                  <a:srgbClr val="E8551F"/>
                </a:solidFill>
                <a:latin typeface="Courier New" pitchFamily="34" charset="0"/>
                <a:ea typeface="Courier New" pitchFamily="34" charset="-122"/>
                <a:cs typeface="Courier New" pitchFamily="34" charset="-120"/>
              </a:rPr>
              <a:t>-&gt;  </a:t>
            </a:r>
            <a:pPr indent="0" marL="0">
              <a:lnSpc>
                <a:spcPts val="1250"/>
              </a:lnSpc>
              <a:buNone/>
            </a:pPr>
            <a:r>
              <a:rPr lang="en-US" sz="950" dirty="0">
                <a:solidFill>
                  <a:srgbClr val="3FB950"/>
                </a:solidFill>
                <a:latin typeface="Courier New" pitchFamily="34" charset="0"/>
                <a:ea typeface="Courier New" pitchFamily="34" charset="-122"/>
                <a:cs typeface="Courier New" pitchFamily="34" charset="-120"/>
              </a:rPr>
              <a:t>pypi</a:t>
            </a:r>
            <a:endParaRPr lang="en-US" sz="950" dirty="0"/>
          </a:p>
          <a:p>
            <a:pPr indent="0" marL="0">
              <a:lnSpc>
                <a:spcPts val="1250"/>
              </a:lnSpc>
              <a:buNone/>
            </a:pPr>
            <a:r>
              <a:rPr lang="en-US" sz="950" dirty="0">
                <a:solidFill>
                  <a:srgbClr val="B4B7BD"/>
                </a:solidFill>
                <a:latin typeface="Courier New" pitchFamily="34" charset="0"/>
                <a:ea typeface="Courier New" pitchFamily="34" charset="-122"/>
                <a:cs typeface="Courier New" pitchFamily="34" charset="-120"/>
              </a:rPr>
              <a:t>chrome           </a:t>
            </a:r>
            <a:pPr indent="0" marL="0">
              <a:lnSpc>
                <a:spcPts val="1250"/>
              </a:lnSpc>
              <a:buNone/>
            </a:pPr>
            <a:r>
              <a:rPr lang="en-US" sz="950" dirty="0">
                <a:solidFill>
                  <a:srgbClr val="E8551F"/>
                </a:solidFill>
                <a:latin typeface="Courier New" pitchFamily="34" charset="0"/>
                <a:ea typeface="Courier New" pitchFamily="34" charset="-122"/>
                <a:cs typeface="Courier New" pitchFamily="34" charset="-120"/>
              </a:rPr>
              <a:t>-&gt;  </a:t>
            </a:r>
            <a:pPr indent="0" marL="0">
              <a:lnSpc>
                <a:spcPts val="1250"/>
              </a:lnSpc>
              <a:buNone/>
            </a:pPr>
            <a:r>
              <a:rPr lang="en-US" sz="950" dirty="0">
                <a:solidFill>
                  <a:srgbClr val="22D3EE"/>
                </a:solidFill>
                <a:latin typeface="Courier New" pitchFamily="34" charset="0"/>
                <a:ea typeface="Courier New" pitchFamily="34" charset="-122"/>
                <a:cs typeface="Courier New" pitchFamily="34" charset="-120"/>
              </a:rPr>
              <a:t>chrome_web_store</a:t>
            </a:r>
            <a:endParaRPr lang="en-US" sz="950" dirty="0"/>
          </a:p>
          <a:p>
            <a:pPr indent="0" marL="0">
              <a:lnSpc>
                <a:spcPts val="1250"/>
              </a:lnSpc>
              <a:buNone/>
            </a:pPr>
            <a:r>
              <a:rPr lang="en-US" sz="950" dirty="0">
                <a:solidFill>
                  <a:srgbClr val="F5A524"/>
                </a:solidFill>
                <a:latin typeface="Courier New" pitchFamily="34" charset="0"/>
                <a:ea typeface="Courier New" pitchFamily="34" charset="-122"/>
                <a:cs typeface="Courier New" pitchFamily="34" charset="-120"/>
              </a:rPr>
              <a:t>built_in         </a:t>
            </a:r>
            <a:pPr indent="0" marL="0">
              <a:lnSpc>
                <a:spcPts val="1250"/>
              </a:lnSpc>
              <a:buNone/>
            </a:pPr>
            <a:r>
              <a:rPr lang="en-US" sz="950" dirty="0">
                <a:solidFill>
                  <a:srgbClr val="6E747E"/>
                </a:solidFill>
                <a:latin typeface="Courier New" pitchFamily="34" charset="0"/>
                <a:ea typeface="Courier New" pitchFamily="34" charset="-122"/>
                <a:cs typeface="Courier New" pitchFamily="34" charset="-120"/>
              </a:rPr>
              <a:t>-&gt;  none — not a marketplace</a:t>
            </a:r>
            <a:endParaRPr lang="en-US" sz="950" dirty="0"/>
          </a:p>
          <a:p>
            <a:pPr indent="0" marL="0">
              <a:lnSpc>
                <a:spcPts val="1250"/>
              </a:lnSpc>
              <a:buNone/>
            </a:pPr>
            <a:r>
              <a:rPr lang="en-US" sz="950" dirty="0">
                <a:solidFill>
                  <a:srgbClr val="B4B7BD"/>
                </a:solidFill>
                <a:latin typeface="Courier New" pitchFamily="34" charset="0"/>
                <a:ea typeface="Courier New" pitchFamily="34" charset="-122"/>
                <a:cs typeface="Courier New" pitchFamily="34" charset="-120"/>
              </a:rPr>
              <a:t>npm              </a:t>
            </a:r>
            <a:pPr indent="0" marL="0">
              <a:lnSpc>
                <a:spcPts val="1250"/>
              </a:lnSpc>
              <a:buNone/>
            </a:pPr>
            <a:r>
              <a:rPr lang="en-US" sz="950" dirty="0">
                <a:solidFill>
                  <a:srgbClr val="E8551F"/>
                </a:solidFill>
                <a:latin typeface="Courier New" pitchFamily="34" charset="0"/>
                <a:ea typeface="Courier New" pitchFamily="34" charset="-122"/>
                <a:cs typeface="Courier New" pitchFamily="34" charset="-120"/>
              </a:rPr>
              <a:t>-&gt;  </a:t>
            </a:r>
            <a:pPr indent="0" marL="0">
              <a:lnSpc>
                <a:spcPts val="1250"/>
              </a:lnSpc>
              <a:buNone/>
            </a:pPr>
            <a:r>
              <a:rPr lang="en-US" sz="950" dirty="0">
                <a:solidFill>
                  <a:srgbClr val="3FB950"/>
                </a:solidFill>
                <a:latin typeface="Courier New" pitchFamily="34" charset="0"/>
                <a:ea typeface="Courier New" pitchFamily="34" charset="-122"/>
                <a:cs typeface="Courier New" pitchFamily="34" charset="-120"/>
              </a:rPr>
              <a:t>npm</a:t>
            </a:r>
            <a:endParaRPr lang="en-US" sz="950" dirty="0"/>
          </a:p>
          <a:p>
            <a:pPr indent="0" marL="0">
              <a:lnSpc>
                <a:spcPts val="1250"/>
              </a:lnSpc>
              <a:buNone/>
            </a:pPr>
            <a:r>
              <a:rPr lang="en-US" sz="950" dirty="0">
                <a:solidFill>
                  <a:srgbClr val="B4B7BD"/>
                </a:solidFill>
                <a:latin typeface="Courier New" pitchFamily="34" charset="0"/>
                <a:ea typeface="Courier New" pitchFamily="34" charset="-122"/>
                <a:cs typeface="Courier New" pitchFamily="34" charset="-120"/>
              </a:rPr>
              <a:t>software_mac     </a:t>
            </a:r>
            <a:pPr indent="0" marL="0">
              <a:lnSpc>
                <a:spcPts val="1250"/>
              </a:lnSpc>
              <a:buNone/>
            </a:pPr>
            <a:r>
              <a:rPr lang="en-US" sz="950" dirty="0">
                <a:solidFill>
                  <a:srgbClr val="E8551F"/>
                </a:solidFill>
                <a:latin typeface="Courier New" pitchFamily="34" charset="0"/>
                <a:ea typeface="Courier New" pitchFamily="34" charset="-122"/>
                <a:cs typeface="Courier New" pitchFamily="34" charset="-120"/>
              </a:rPr>
              <a:t>-&gt;  </a:t>
            </a:r>
            <a:pPr indent="0" marL="0">
              <a:lnSpc>
                <a:spcPts val="1250"/>
              </a:lnSpc>
              <a:buNone/>
            </a:pPr>
            <a:r>
              <a:rPr lang="en-US" sz="950" dirty="0">
                <a:solidFill>
                  <a:srgbClr val="22D3EE"/>
                </a:solidFill>
                <a:latin typeface="Courier New" pitchFamily="34" charset="0"/>
                <a:ea typeface="Courier New" pitchFamily="34" charset="-122"/>
                <a:cs typeface="Courier New" pitchFamily="34" charset="-120"/>
              </a:rPr>
              <a:t>mac</a:t>
            </a:r>
            <a:endParaRPr lang="en-US" sz="950" dirty="0"/>
          </a:p>
          <a:p>
            <a:pPr indent="0" marL="0">
              <a:lnSpc>
                <a:spcPts val="1250"/>
              </a:lnSpc>
              <a:buNone/>
            </a:pPr>
            <a:r>
              <a:rPr lang="en-US" sz="950" dirty="0">
                <a:solidFill>
                  <a:srgbClr val="B4B7BD"/>
                </a:solidFill>
                <a:latin typeface="Courier New" pitchFamily="34" charset="0"/>
                <a:ea typeface="Courier New" pitchFamily="34" charset="-122"/>
                <a:cs typeface="Courier New" pitchFamily="34" charset="-120"/>
              </a:rPr>
              <a:t>vsc              </a:t>
            </a:r>
            <a:pPr indent="0" marL="0">
              <a:lnSpc>
                <a:spcPts val="1250"/>
              </a:lnSpc>
              <a:buNone/>
            </a:pPr>
            <a:r>
              <a:rPr lang="en-US" sz="950" dirty="0">
                <a:solidFill>
                  <a:srgbClr val="E8551F"/>
                </a:solidFill>
                <a:latin typeface="Courier New" pitchFamily="34" charset="0"/>
                <a:ea typeface="Courier New" pitchFamily="34" charset="-122"/>
                <a:cs typeface="Courier New" pitchFamily="34" charset="-120"/>
              </a:rPr>
              <a:t>-&gt;  </a:t>
            </a:r>
            <a:pPr indent="0" marL="0">
              <a:lnSpc>
                <a:spcPts val="1250"/>
              </a:lnSpc>
              <a:buNone/>
            </a:pPr>
            <a:r>
              <a:rPr lang="en-US" sz="950" dirty="0">
                <a:solidFill>
                  <a:srgbClr val="22D3EE"/>
                </a:solidFill>
                <a:latin typeface="Courier New" pitchFamily="34" charset="0"/>
                <a:ea typeface="Courier New" pitchFamily="34" charset="-122"/>
                <a:cs typeface="Courier New" pitchFamily="34" charset="-120"/>
              </a:rPr>
              <a:t>vscode</a:t>
            </a:r>
            <a:endParaRPr lang="en-US" sz="950" dirty="0"/>
          </a:p>
          <a:p>
            <a:pPr indent="0" marL="0">
              <a:lnSpc>
                <a:spcPts val="1250"/>
              </a:lnSpc>
              <a:buNone/>
            </a:pPr>
            <a:r>
              <a:rPr lang="en-US" sz="950" dirty="0">
                <a:solidFill>
                  <a:srgbClr val="B4B7BD"/>
                </a:solidFill>
                <a:latin typeface="Courier New" pitchFamily="34" charset="0"/>
                <a:ea typeface="Courier New" pitchFamily="34" charset="-122"/>
                <a:cs typeface="Courier New" pitchFamily="34" charset="-120"/>
              </a:rPr>
              <a:t>edge             </a:t>
            </a:r>
            <a:pPr indent="0" marL="0">
              <a:lnSpc>
                <a:spcPts val="1250"/>
              </a:lnSpc>
              <a:buNone/>
            </a:pPr>
            <a:r>
              <a:rPr lang="en-US" sz="950" dirty="0">
                <a:solidFill>
                  <a:srgbClr val="E8551F"/>
                </a:solidFill>
                <a:latin typeface="Courier New" pitchFamily="34" charset="0"/>
                <a:ea typeface="Courier New" pitchFamily="34" charset="-122"/>
                <a:cs typeface="Courier New" pitchFamily="34" charset="-120"/>
              </a:rPr>
              <a:t>-&gt;  </a:t>
            </a:r>
            <a:pPr indent="0" marL="0">
              <a:lnSpc>
                <a:spcPts val="1250"/>
              </a:lnSpc>
              <a:buNone/>
            </a:pPr>
            <a:r>
              <a:rPr lang="en-US" sz="950" dirty="0">
                <a:solidFill>
                  <a:srgbClr val="22D3EE"/>
                </a:solidFill>
                <a:latin typeface="Courier New" pitchFamily="34" charset="0"/>
                <a:ea typeface="Courier New" pitchFamily="34" charset="-122"/>
                <a:cs typeface="Courier New" pitchFamily="34" charset="-120"/>
              </a:rPr>
              <a:t>edge_add_ons</a:t>
            </a:r>
            <a:endParaRPr lang="en-US" sz="950" dirty="0"/>
          </a:p>
          <a:p>
            <a:pPr indent="0" marL="0">
              <a:lnSpc>
                <a:spcPts val="1250"/>
              </a:lnSpc>
              <a:buNone/>
            </a:pPr>
            <a:r>
              <a:rPr lang="en-US" sz="950" dirty="0">
                <a:solidFill>
                  <a:srgbClr val="F5A524"/>
                </a:solidFill>
                <a:latin typeface="Courier New" pitchFamily="34" charset="0"/>
                <a:ea typeface="Courier New" pitchFamily="34" charset="-122"/>
                <a:cs typeface="Courier New" pitchFamily="34" charset="-120"/>
              </a:rPr>
              <a:t>ollama           </a:t>
            </a:r>
            <a:pPr indent="0" marL="0">
              <a:lnSpc>
                <a:spcPts val="1250"/>
              </a:lnSpc>
              <a:buNone/>
            </a:pPr>
            <a:r>
              <a:rPr lang="en-US" sz="950" dirty="0">
                <a:solidFill>
                  <a:srgbClr val="6E747E"/>
                </a:solidFill>
                <a:latin typeface="Courier New" pitchFamily="34" charset="0"/>
                <a:ea typeface="Courier New" pitchFamily="34" charset="-122"/>
                <a:cs typeface="Courier New" pitchFamily="34" charset="-120"/>
              </a:rPr>
              <a:t>-&gt;  none — not a marketplace</a:t>
            </a:r>
            <a:endParaRPr lang="en-US" sz="950" dirty="0"/>
          </a:p>
          <a:p>
            <a:pPr indent="0" marL="0">
              <a:lnSpc>
                <a:spcPts val="1250"/>
              </a:lnSpc>
              <a:buNone/>
            </a:pPr>
            <a:r>
              <a:rPr lang="en-US" sz="950" dirty="0">
                <a:solidFill>
                  <a:srgbClr val="F5A524"/>
                </a:solidFill>
                <a:latin typeface="Courier New" pitchFamily="34" charset="0"/>
                <a:ea typeface="Courier New" pitchFamily="34" charset="-122"/>
                <a:cs typeface="Courier New" pitchFamily="34" charset="-120"/>
              </a:rPr>
              <a:t>side_loaded      </a:t>
            </a:r>
            <a:pPr indent="0" marL="0">
              <a:lnSpc>
                <a:spcPts val="1250"/>
              </a:lnSpc>
              <a:buNone/>
            </a:pPr>
            <a:r>
              <a:rPr lang="en-US" sz="950" dirty="0">
                <a:solidFill>
                  <a:srgbClr val="6E747E"/>
                </a:solidFill>
                <a:latin typeface="Courier New" pitchFamily="34" charset="0"/>
                <a:ea typeface="Courier New" pitchFamily="34" charset="-122"/>
                <a:cs typeface="Courier New" pitchFamily="34" charset="-120"/>
              </a:rPr>
              <a:t>-&gt;  none — not a marketplace</a:t>
            </a:r>
            <a:endParaRPr lang="en-US" sz="950" dirty="0"/>
          </a:p>
        </p:txBody>
      </p:sp>
      <p:sp>
        <p:nvSpPr>
          <p:cNvPr id="25" name="Text 23"/>
          <p:cNvSpPr/>
          <p:nvPr/>
        </p:nvSpPr>
        <p:spPr>
          <a:xfrm>
            <a:off x="6501384" y="5010912"/>
            <a:ext cx="4873752" cy="566928"/>
          </a:xfrm>
          <a:prstGeom prst="rect">
            <a:avLst/>
          </a:prstGeom>
          <a:noFill/>
          <a:ln/>
        </p:spPr>
        <p:txBody>
          <a:bodyPr wrap="square" lIns="0" tIns="0" rIns="0" bIns="0" rtlCol="0" anchor="t"/>
          <a:lstStyle/>
          <a:p>
            <a:pPr indent="0" marL="0">
              <a:lnSpc>
                <a:spcPts val="1150"/>
              </a:lnSpc>
              <a:buNone/>
            </a:pPr>
            <a:r>
              <a:rPr lang="en-US" sz="900" b="1" dirty="0">
                <a:solidFill>
                  <a:srgbClr val="F5A524"/>
                </a:solidFill>
                <a:latin typeface="Courier New" pitchFamily="34" charset="0"/>
                <a:ea typeface="Courier New" pitchFamily="34" charset="-122"/>
                <a:cs typeface="Courier New" pitchFamily="34" charset="-120"/>
              </a:rPr>
              <a:t>built_in · side_loaded · ollama</a:t>
            </a:r>
            <a:pPr indent="0" marL="0">
              <a:lnSpc>
                <a:spcPts val="1150"/>
              </a:lnSpc>
              <a:buNone/>
            </a:pPr>
            <a:r>
              <a:rPr lang="en-US" sz="900" i="1" dirty="0">
                <a:solidFill>
                  <a:srgbClr val="6E747E"/>
                </a:solidFill>
                <a:latin typeface="Calibri" pitchFamily="34" charset="0"/>
                <a:ea typeface="Calibri" pitchFamily="34" charset="-122"/>
                <a:cs typeface="Calibri" pitchFamily="34" charset="-120"/>
              </a:rPr>
              <a:t> have no marketplace meaning — built_in and side_loaded are installation_method values leaking into the field. Treat them as unknown; never pass them on.</a:t>
            </a:r>
            <a:endParaRPr lang="en-US" sz="900" dirty="0"/>
          </a:p>
        </p:txBody>
      </p:sp>
      <p:sp>
        <p:nvSpPr>
          <p:cNvPr id="26" name="Text 24"/>
          <p:cNvSpPr/>
          <p:nvPr/>
        </p:nvSpPr>
        <p:spPr>
          <a:xfrm>
            <a:off x="548640" y="6035040"/>
            <a:ext cx="11064240" cy="274320"/>
          </a:xfrm>
          <a:prstGeom prst="rect">
            <a:avLst/>
          </a:prstGeom>
          <a:noFill/>
          <a:ln/>
        </p:spPr>
        <p:txBody>
          <a:bodyPr wrap="square" lIns="0" tIns="0" rIns="0" bIns="0" rtlCol="0" anchor="ctr"/>
          <a:lstStyle/>
          <a:p>
            <a:pPr indent="0" marL="0">
              <a:buNone/>
            </a:pPr>
            <a:r>
              <a:rPr lang="en-US" sz="950" i="1" dirty="0">
                <a:solidFill>
                  <a:srgbClr val="6E747E"/>
                </a:solidFill>
                <a:latin typeface="Calibri" pitchFamily="34" charset="0"/>
                <a:ea typeface="Calibri" pitchFamily="34" charset="-122"/>
                <a:cs typeface="Calibri" pitchFamily="34" charset="-120"/>
              </a:rPr>
              <a:t>Alert duplication and the dedupe key: VERIFIED_FACTS §7e [LIVE, 21 Jul 2026] — 734 rows -&gt; 3 distinct alerts, 244.7×, are last-24h figures that keep growing, so read them as a snapshot, not a threshold.  Marketplace vocabulary and mapping: §7c [LIVE, 21 Jul 2026]; the long forms are validated at build time against the marketplace enum in marketplace-pack.json.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6419088"/>
            <a:ext cx="11064240" cy="237744"/>
          </a:xfrm>
          <a:prstGeom prst="rect">
            <a:avLst/>
          </a:prstGeom>
          <a:noFill/>
          <a:ln/>
        </p:spPr>
        <p:txBody>
          <a:bodyPr wrap="square" lIns="0" tIns="0" rIns="0" bIns="0" rtlCol="0" anchor="ctr"/>
          <a:lstStyle/>
          <a:p>
            <a:pPr indent="0" marL="0">
              <a:buNone/>
            </a:pPr>
            <a:r>
              <a:rPr lang="en-US" sz="800" dirty="0">
                <a:solidFill>
                  <a:srgbClr val="6E747E"/>
                </a:solidFill>
                <a:latin typeface="Calibri" pitchFamily="34" charset="0"/>
                <a:ea typeface="Calibri" pitchFamily="34" charset="-122"/>
                <a:cs typeface="Calibri" pitchFamily="34" charset="-120"/>
              </a:rPr>
              <a:t>Marketplace KOI pack v1.2.3  ·  demisto/content / Packs/Koi  ·  integration only, 13 commands  ·  not the custom v1.3.0 pack</a:t>
            </a:r>
            <a:endParaRPr lang="en-US" sz="800" dirty="0"/>
          </a:p>
        </p:txBody>
      </p:sp>
      <p:sp>
        <p:nvSpPr>
          <p:cNvPr id="3" name="Text 1"/>
          <p:cNvSpPr/>
          <p:nvPr/>
        </p:nvSpPr>
        <p:spPr>
          <a:xfrm>
            <a:off x="548640" y="274320"/>
            <a:ext cx="11064240" cy="237744"/>
          </a:xfrm>
          <a:prstGeom prst="rect">
            <a:avLst/>
          </a:prstGeom>
          <a:noFill/>
          <a:ln/>
        </p:spPr>
        <p:txBody>
          <a:bodyPr wrap="square" lIns="0" tIns="0" rIns="0" bIns="0" rtlCol="0" anchor="ctr"/>
          <a:lstStyle/>
          <a:p>
            <a:pPr indent="0" marL="0">
              <a:buNone/>
            </a:pPr>
            <a:r>
              <a:rPr lang="en-US" sz="1100" b="1" spc="200" kern="0" dirty="0">
                <a:solidFill>
                  <a:srgbClr val="E8551F"/>
                </a:solidFill>
                <a:latin typeface="Calibri" pitchFamily="34" charset="0"/>
                <a:ea typeface="Calibri" pitchFamily="34" charset="-122"/>
                <a:cs typeface="Calibri" pitchFamily="34" charset="-120"/>
              </a:rPr>
              <a:t>BEFORE YOU BUILD ON IT</a:t>
            </a:r>
            <a:endParaRPr lang="en-US" sz="1100" dirty="0"/>
          </a:p>
        </p:txBody>
      </p:sp>
      <p:sp>
        <p:nvSpPr>
          <p:cNvPr id="4" name="Text 2"/>
          <p:cNvSpPr/>
          <p:nvPr/>
        </p:nvSpPr>
        <p:spPr>
          <a:xfrm>
            <a:off x="548640" y="502920"/>
            <a:ext cx="11064240" cy="566928"/>
          </a:xfrm>
          <a:prstGeom prst="rect">
            <a:avLst/>
          </a:prstGeom>
          <a:noFill/>
          <a:ln/>
        </p:spPr>
        <p:txBody>
          <a:bodyPr wrap="square" lIns="0" tIns="0" rIns="0" bIns="0" rtlCol="0" anchor="ctr"/>
          <a:lstStyle/>
          <a:p>
            <a:pPr indent="0" marL="0">
              <a:buNone/>
            </a:pPr>
            <a:r>
              <a:rPr lang="en-US" sz="3100" b="1" dirty="0">
                <a:solidFill>
                  <a:srgbClr val="FFFFFF"/>
                </a:solidFill>
                <a:latin typeface="Calibri" pitchFamily="34" charset="0"/>
                <a:ea typeface="Calibri" pitchFamily="34" charset="-122"/>
                <a:cs typeface="Calibri" pitchFamily="34" charset="-120"/>
              </a:rPr>
              <a:t>Two defects in the pack, and four things that are not defects</a:t>
            </a:r>
            <a:endParaRPr lang="en-US" sz="3100" dirty="0"/>
          </a:p>
        </p:txBody>
      </p:sp>
      <p:sp>
        <p:nvSpPr>
          <p:cNvPr id="5" name="Text 3"/>
          <p:cNvSpPr/>
          <p:nvPr/>
        </p:nvSpPr>
        <p:spPr>
          <a:xfrm>
            <a:off x="548640" y="1097280"/>
            <a:ext cx="11064240" cy="237744"/>
          </a:xfrm>
          <a:prstGeom prst="rect">
            <a:avLst/>
          </a:prstGeom>
          <a:noFill/>
          <a:ln/>
        </p:spPr>
        <p:txBody>
          <a:bodyPr wrap="square" lIns="0" tIns="0" rIns="0" bIns="0" rtlCol="0" anchor="ctr"/>
          <a:lstStyle/>
          <a:p>
            <a:pPr indent="0" marL="0">
              <a:buNone/>
            </a:pPr>
            <a:r>
              <a:rPr lang="en-US" sz="900" b="1" spc="100" kern="0" dirty="0">
                <a:solidFill>
                  <a:srgbClr val="6E747E"/>
                </a:solidFill>
                <a:latin typeface="Calibri" pitchFamily="34" charset="0"/>
                <a:ea typeface="Calibri" pitchFamily="34" charset="-122"/>
                <a:cs typeface="Calibri" pitchFamily="34" charset="-120"/>
              </a:rPr>
              <a:t>KINDS    </a:t>
            </a:r>
            <a:pPr indent="0" marL="0">
              <a:buNone/>
            </a:pPr>
            <a:r>
              <a:rPr lang="en-US" sz="1100" dirty="0">
                <a:solidFill>
                  <a:srgbClr val="E8551F"/>
                </a:solidFill>
                <a:latin typeface="Calibri" pitchFamily="34" charset="0"/>
                <a:ea typeface="Calibri" pitchFamily="34" charset="-122"/>
                <a:cs typeface="Calibri" pitchFamily="34" charset="-120"/>
              </a:rPr>
              <a:t>■ </a:t>
            </a:r>
            <a:pPr indent="0" marL="0">
              <a:buNone/>
            </a:pPr>
            <a:r>
              <a:rPr lang="en-US" sz="950" dirty="0">
                <a:solidFill>
                  <a:srgbClr val="B4B7BD"/>
                </a:solidFill>
                <a:latin typeface="Calibri" pitchFamily="34" charset="0"/>
                <a:ea typeface="Calibri" pitchFamily="34" charset="-122"/>
                <a:cs typeface="Calibri" pitchFamily="34" charset="-120"/>
              </a:rPr>
              <a:t>Defect in the shipped pack (2)     </a:t>
            </a:r>
            <a:pPr indent="0" marL="0">
              <a:buNone/>
            </a:pPr>
            <a:r>
              <a:rPr lang="en-US" sz="1100" dirty="0">
                <a:solidFill>
                  <a:srgbClr val="F5A524"/>
                </a:solidFill>
                <a:latin typeface="Calibri" pitchFamily="34" charset="0"/>
                <a:ea typeface="Calibri" pitchFamily="34" charset="-122"/>
                <a:cs typeface="Calibri" pitchFamily="34" charset="-120"/>
              </a:rPr>
              <a:t>■ </a:t>
            </a:r>
            <a:pPr indent="0" marL="0">
              <a:buNone/>
            </a:pPr>
            <a:r>
              <a:rPr lang="en-US" sz="950" dirty="0">
                <a:solidFill>
                  <a:srgbClr val="B4B7BD"/>
                </a:solidFill>
                <a:latin typeface="Calibri" pitchFamily="34" charset="0"/>
                <a:ea typeface="Calibri" pitchFamily="34" charset="-122"/>
                <a:cs typeface="Calibri" pitchFamily="34" charset="-120"/>
              </a:rPr>
              <a:t>Documentation gap (1)     </a:t>
            </a:r>
            <a:pPr indent="0" marL="0">
              <a:buNone/>
            </a:pPr>
            <a:r>
              <a:rPr lang="en-US" sz="1100" dirty="0">
                <a:solidFill>
                  <a:srgbClr val="22D3EE"/>
                </a:solidFill>
                <a:latin typeface="Calibri" pitchFamily="34" charset="0"/>
                <a:ea typeface="Calibri" pitchFamily="34" charset="-122"/>
                <a:cs typeface="Calibri" pitchFamily="34" charset="-120"/>
              </a:rPr>
              <a:t>■ </a:t>
            </a:r>
            <a:pPr indent="0" marL="0">
              <a:buNone/>
            </a:pPr>
            <a:r>
              <a:rPr lang="en-US" sz="950" dirty="0">
                <a:solidFill>
                  <a:srgbClr val="B4B7BD"/>
                </a:solidFill>
                <a:latin typeface="Calibri" pitchFamily="34" charset="0"/>
                <a:ea typeface="Calibri" pitchFamily="34" charset="-122"/>
                <a:cs typeface="Calibri" pitchFamily="34" charset="-120"/>
              </a:rPr>
              <a:t>API observation (2)     </a:t>
            </a:r>
            <a:pPr indent="0" marL="0">
              <a:buNone/>
            </a:pPr>
            <a:r>
              <a:rPr lang="en-US" sz="1100" dirty="0">
                <a:solidFill>
                  <a:srgbClr val="A78BFA"/>
                </a:solidFill>
                <a:latin typeface="Calibri" pitchFamily="34" charset="0"/>
                <a:ea typeface="Calibri" pitchFamily="34" charset="-122"/>
                <a:cs typeface="Calibri" pitchFamily="34" charset="-120"/>
              </a:rPr>
              <a:t>■ </a:t>
            </a:r>
            <a:pPr indent="0" marL="0">
              <a:buNone/>
            </a:pPr>
            <a:r>
              <a:rPr lang="en-US" sz="950" dirty="0">
                <a:solidFill>
                  <a:srgbClr val="B4B7BD"/>
                </a:solidFill>
                <a:latin typeface="Calibri" pitchFamily="34" charset="0"/>
                <a:ea typeface="Calibri" pitchFamily="34" charset="-122"/>
                <a:cs typeface="Calibri" pitchFamily="34" charset="-120"/>
              </a:rPr>
              <a:t>This tenant's configuration (1)     </a:t>
            </a:r>
            <a:endParaRPr lang="en-US" sz="900" dirty="0"/>
          </a:p>
        </p:txBody>
      </p:sp>
      <p:sp>
        <p:nvSpPr>
          <p:cNvPr id="6" name="Shape 4"/>
          <p:cNvSpPr/>
          <p:nvPr/>
        </p:nvSpPr>
        <p:spPr>
          <a:xfrm>
            <a:off x="548640" y="1408176"/>
            <a:ext cx="3474720" cy="1847088"/>
          </a:xfrm>
          <a:prstGeom prst="roundRect">
            <a:avLst>
              <a:gd name="adj" fmla="val 2475"/>
            </a:avLst>
          </a:prstGeom>
          <a:solidFill>
            <a:srgbClr val="15171B"/>
          </a:solidFill>
          <a:ln w="12700">
            <a:solidFill>
              <a:srgbClr val="15171B"/>
            </a:solidFill>
            <a:prstDash val="solid"/>
          </a:ln>
        </p:spPr>
      </p:sp>
      <p:sp>
        <p:nvSpPr>
          <p:cNvPr id="7" name="Shape 5"/>
          <p:cNvSpPr/>
          <p:nvPr/>
        </p:nvSpPr>
        <p:spPr>
          <a:xfrm>
            <a:off x="768096" y="1572768"/>
            <a:ext cx="292608" cy="292608"/>
          </a:xfrm>
          <a:prstGeom prst="roundRect">
            <a:avLst>
              <a:gd name="adj" fmla="val 28125"/>
            </a:avLst>
          </a:prstGeom>
          <a:solidFill>
            <a:srgbClr val="E8551F"/>
          </a:solidFill>
          <a:ln w="12700">
            <a:solidFill>
              <a:srgbClr val="E8551F"/>
            </a:solidFill>
            <a:prstDash val="solid"/>
          </a:ln>
        </p:spPr>
      </p:sp>
      <p:sp>
        <p:nvSpPr>
          <p:cNvPr id="8" name="Text 6"/>
          <p:cNvSpPr/>
          <p:nvPr/>
        </p:nvSpPr>
        <p:spPr>
          <a:xfrm>
            <a:off x="768096" y="15727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152144" y="1591056"/>
            <a:ext cx="2633472" cy="256032"/>
          </a:xfrm>
          <a:prstGeom prst="rect">
            <a:avLst/>
          </a:prstGeom>
          <a:noFill/>
          <a:ln/>
        </p:spPr>
        <p:txBody>
          <a:bodyPr wrap="square" lIns="0" tIns="0" rIns="0" bIns="0" rtlCol="0" anchor="ctr"/>
          <a:lstStyle/>
          <a:p>
            <a:pPr indent="0" marL="0">
              <a:buNone/>
            </a:pPr>
            <a:r>
              <a:rPr lang="en-US" sz="800" b="1" spc="100" kern="0" dirty="0">
                <a:solidFill>
                  <a:srgbClr val="E8551F"/>
                </a:solidFill>
                <a:latin typeface="Calibri" pitchFamily="34" charset="0"/>
                <a:ea typeface="Calibri" pitchFamily="34" charset="-122"/>
                <a:cs typeface="Calibri" pitchFamily="34" charset="-120"/>
              </a:rPr>
              <a:t>DEFECT IN THE SHIPPED PACK</a:t>
            </a:r>
            <a:endParaRPr lang="en-US" sz="800" dirty="0"/>
          </a:p>
        </p:txBody>
      </p:sp>
      <p:sp>
        <p:nvSpPr>
          <p:cNvPr id="10" name="Text 8"/>
          <p:cNvSpPr/>
          <p:nvPr/>
        </p:nvSpPr>
        <p:spPr>
          <a:xfrm>
            <a:off x="768096" y="1938528"/>
            <a:ext cx="3035808" cy="402336"/>
          </a:xfrm>
          <a:prstGeom prst="rect">
            <a:avLst/>
          </a:prstGeom>
          <a:noFill/>
          <a:ln/>
        </p:spPr>
        <p:txBody>
          <a:bodyPr wrap="square" lIns="0" tIns="0" rIns="0" bIns="0" rtlCol="0" anchor="t"/>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The view dropdown is incomplete</a:t>
            </a:r>
            <a:endParaRPr lang="en-US" sz="1250" dirty="0"/>
          </a:p>
        </p:txBody>
      </p:sp>
      <p:sp>
        <p:nvSpPr>
          <p:cNvPr id="11" name="Text 9"/>
          <p:cNvSpPr/>
          <p:nvPr/>
        </p:nvSpPr>
        <p:spPr>
          <a:xfrm>
            <a:off x="768096" y="2359152"/>
            <a:ext cx="3035808" cy="859536"/>
          </a:xfrm>
          <a:prstGeom prst="rect">
            <a:avLst/>
          </a:prstGeom>
          <a:noFill/>
          <a:ln/>
        </p:spPr>
        <p:txBody>
          <a:bodyPr wrap="square" lIns="0" tIns="0" rIns="0" bIns="0" rtlCol="0" anchor="t"/>
          <a:lstStyle/>
          <a:p>
            <a:pPr indent="0" marL="0">
              <a:lnSpc>
                <a:spcPts val="1200"/>
              </a:lnSpc>
              <a:buNone/>
            </a:pPr>
            <a:r>
              <a:rPr lang="en-US" sz="950" dirty="0">
                <a:solidFill>
                  <a:srgbClr val="B4B7BD"/>
                </a:solidFill>
                <a:latin typeface="Calibri" pitchFamily="34" charset="0"/>
                <a:ea typeface="Calibri" pitchFamily="34" charset="-122"/>
                <a:cs typeface="Calibri" pitchFamily="34" charset="-120"/>
              </a:rPr>
              <a:t>The API accepts nine values; the YAML offers 6. Missing: all_items, mcp_servers, repositories. All twelve were probed on both instances: mcp_servers holds real data (21 items on KOI_PAET, 42 on KOI_PLTS) but is never offered, and all_items is accepted yet returned zero rows on both.</a:t>
            </a:r>
            <a:endParaRPr lang="en-US" sz="950" dirty="0"/>
          </a:p>
        </p:txBody>
      </p:sp>
      <p:sp>
        <p:nvSpPr>
          <p:cNvPr id="12" name="Shape 10"/>
          <p:cNvSpPr/>
          <p:nvPr/>
        </p:nvSpPr>
        <p:spPr>
          <a:xfrm>
            <a:off x="4343400" y="1408176"/>
            <a:ext cx="3474720" cy="1847088"/>
          </a:xfrm>
          <a:prstGeom prst="roundRect">
            <a:avLst>
              <a:gd name="adj" fmla="val 2475"/>
            </a:avLst>
          </a:prstGeom>
          <a:solidFill>
            <a:srgbClr val="15171B"/>
          </a:solidFill>
          <a:ln w="12700">
            <a:solidFill>
              <a:srgbClr val="15171B"/>
            </a:solidFill>
            <a:prstDash val="solid"/>
          </a:ln>
        </p:spPr>
      </p:sp>
      <p:sp>
        <p:nvSpPr>
          <p:cNvPr id="13" name="Shape 11"/>
          <p:cNvSpPr/>
          <p:nvPr/>
        </p:nvSpPr>
        <p:spPr>
          <a:xfrm>
            <a:off x="4562856" y="1572768"/>
            <a:ext cx="292608" cy="292608"/>
          </a:xfrm>
          <a:prstGeom prst="roundRect">
            <a:avLst>
              <a:gd name="adj" fmla="val 28125"/>
            </a:avLst>
          </a:prstGeom>
          <a:solidFill>
            <a:srgbClr val="E8551F"/>
          </a:solidFill>
          <a:ln w="12700">
            <a:solidFill>
              <a:srgbClr val="E8551F"/>
            </a:solidFill>
            <a:prstDash val="solid"/>
          </a:ln>
        </p:spPr>
      </p:sp>
      <p:sp>
        <p:nvSpPr>
          <p:cNvPr id="14" name="Text 12"/>
          <p:cNvSpPr/>
          <p:nvPr/>
        </p:nvSpPr>
        <p:spPr>
          <a:xfrm>
            <a:off x="4562856" y="15727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4946904" y="1591056"/>
            <a:ext cx="2633472" cy="256032"/>
          </a:xfrm>
          <a:prstGeom prst="rect">
            <a:avLst/>
          </a:prstGeom>
          <a:noFill/>
          <a:ln/>
        </p:spPr>
        <p:txBody>
          <a:bodyPr wrap="square" lIns="0" tIns="0" rIns="0" bIns="0" rtlCol="0" anchor="ctr"/>
          <a:lstStyle/>
          <a:p>
            <a:pPr indent="0" marL="0">
              <a:buNone/>
            </a:pPr>
            <a:r>
              <a:rPr lang="en-US" sz="800" b="1" spc="100" kern="0" dirty="0">
                <a:solidFill>
                  <a:srgbClr val="E8551F"/>
                </a:solidFill>
                <a:latin typeface="Calibri" pitchFamily="34" charset="0"/>
                <a:ea typeface="Calibri" pitchFamily="34" charset="-122"/>
                <a:cs typeface="Calibri" pitchFamily="34" charset="-120"/>
              </a:rPr>
              <a:t>DEFECT IN THE SHIPPED PACK</a:t>
            </a:r>
            <a:endParaRPr lang="en-US" sz="800" dirty="0"/>
          </a:p>
        </p:txBody>
      </p:sp>
      <p:sp>
        <p:nvSpPr>
          <p:cNvPr id="16" name="Text 14"/>
          <p:cNvSpPr/>
          <p:nvPr/>
        </p:nvSpPr>
        <p:spPr>
          <a:xfrm>
            <a:off x="4562856" y="1938528"/>
            <a:ext cx="3035808" cy="402336"/>
          </a:xfrm>
          <a:prstGeom prst="rect">
            <a:avLst/>
          </a:prstGeom>
          <a:noFill/>
          <a:ln/>
        </p:spPr>
        <p:txBody>
          <a:bodyPr wrap="square" lIns="0" tIns="0" rIns="0" bIns="0" rtlCol="0" anchor="t"/>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The shipped example is broken</a:t>
            </a:r>
            <a:endParaRPr lang="en-US" sz="1250" dirty="0"/>
          </a:p>
        </p:txBody>
      </p:sp>
      <p:sp>
        <p:nvSpPr>
          <p:cNvPr id="17" name="Text 15"/>
          <p:cNvSpPr/>
          <p:nvPr/>
        </p:nvSpPr>
        <p:spPr>
          <a:xfrm>
            <a:off x="4562856" y="2359152"/>
            <a:ext cx="3035808" cy="859536"/>
          </a:xfrm>
          <a:prstGeom prst="rect">
            <a:avLst/>
          </a:prstGeom>
          <a:noFill/>
          <a:ln/>
        </p:spPr>
        <p:txBody>
          <a:bodyPr wrap="square" lIns="0" tIns="0" rIns="0" bIns="0" rtlCol="0" anchor="t"/>
          <a:lstStyle/>
          <a:p>
            <a:pPr indent="0" marL="0">
              <a:lnSpc>
                <a:spcPts val="1200"/>
              </a:lnSpc>
              <a:buNone/>
            </a:pPr>
            <a:r>
              <a:rPr lang="en-US" sz="950" dirty="0">
                <a:solidFill>
                  <a:srgbClr val="B4B7BD"/>
                </a:solidFill>
                <a:latin typeface="Calibri" pitchFamily="34" charset="0"/>
                <a:ea typeface="Calibri" pitchFamily="34" charset="-122"/>
                <a:cs typeface="Calibri" pitchFamily="34" charset="-120"/>
              </a:rPr>
              <a:t>The shipped command_examples.txt uses view=browser_extensions — a value in neither the YAML enum nor the API's accepted set. The live API answers 400, so anyone copying the example gets an error. ide_extensions and packages also 400, but are not in it.</a:t>
            </a:r>
            <a:endParaRPr lang="en-US" sz="950" dirty="0"/>
          </a:p>
        </p:txBody>
      </p:sp>
      <p:sp>
        <p:nvSpPr>
          <p:cNvPr id="18" name="Shape 16"/>
          <p:cNvSpPr/>
          <p:nvPr/>
        </p:nvSpPr>
        <p:spPr>
          <a:xfrm>
            <a:off x="8138160" y="1408176"/>
            <a:ext cx="3474720" cy="1847088"/>
          </a:xfrm>
          <a:prstGeom prst="roundRect">
            <a:avLst>
              <a:gd name="adj" fmla="val 2475"/>
            </a:avLst>
          </a:prstGeom>
          <a:solidFill>
            <a:srgbClr val="15171B"/>
          </a:solidFill>
          <a:ln w="12700">
            <a:solidFill>
              <a:srgbClr val="15171B"/>
            </a:solidFill>
            <a:prstDash val="solid"/>
          </a:ln>
        </p:spPr>
      </p:sp>
      <p:sp>
        <p:nvSpPr>
          <p:cNvPr id="19" name="Shape 17"/>
          <p:cNvSpPr/>
          <p:nvPr/>
        </p:nvSpPr>
        <p:spPr>
          <a:xfrm>
            <a:off x="8357616" y="1572768"/>
            <a:ext cx="292608" cy="292608"/>
          </a:xfrm>
          <a:prstGeom prst="roundRect">
            <a:avLst>
              <a:gd name="adj" fmla="val 28125"/>
            </a:avLst>
          </a:prstGeom>
          <a:solidFill>
            <a:srgbClr val="F5A524"/>
          </a:solidFill>
          <a:ln w="12700">
            <a:solidFill>
              <a:srgbClr val="F5A524"/>
            </a:solidFill>
            <a:prstDash val="solid"/>
          </a:ln>
        </p:spPr>
      </p:sp>
      <p:sp>
        <p:nvSpPr>
          <p:cNvPr id="20" name="Text 18"/>
          <p:cNvSpPr/>
          <p:nvPr/>
        </p:nvSpPr>
        <p:spPr>
          <a:xfrm>
            <a:off x="8357616" y="157276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8741664" y="1591056"/>
            <a:ext cx="2633472" cy="256032"/>
          </a:xfrm>
          <a:prstGeom prst="rect">
            <a:avLst/>
          </a:prstGeom>
          <a:noFill/>
          <a:ln/>
        </p:spPr>
        <p:txBody>
          <a:bodyPr wrap="square" lIns="0" tIns="0" rIns="0" bIns="0" rtlCol="0" anchor="ctr"/>
          <a:lstStyle/>
          <a:p>
            <a:pPr indent="0" marL="0">
              <a:buNone/>
            </a:pPr>
            <a:r>
              <a:rPr lang="en-US" sz="800" b="1" spc="100" kern="0" dirty="0">
                <a:solidFill>
                  <a:srgbClr val="F5A524"/>
                </a:solidFill>
                <a:latin typeface="Calibri" pitchFamily="34" charset="0"/>
                <a:ea typeface="Calibri" pitchFamily="34" charset="-122"/>
                <a:cs typeface="Calibri" pitchFamily="34" charset="-120"/>
              </a:rPr>
              <a:t>DOCUMENTATION GAP</a:t>
            </a:r>
            <a:endParaRPr lang="en-US" sz="800" dirty="0"/>
          </a:p>
        </p:txBody>
      </p:sp>
      <p:sp>
        <p:nvSpPr>
          <p:cNvPr id="22" name="Text 20"/>
          <p:cNvSpPr/>
          <p:nvPr/>
        </p:nvSpPr>
        <p:spPr>
          <a:xfrm>
            <a:off x="8357616" y="1938528"/>
            <a:ext cx="3035808" cy="402336"/>
          </a:xfrm>
          <a:prstGeom prst="rect">
            <a:avLst/>
          </a:prstGeom>
          <a:noFill/>
          <a:ln/>
        </p:spPr>
        <p:txBody>
          <a:bodyPr wrap="square" lIns="0" tIns="0" rIns="0" bIns="0" rtlCol="0" anchor="t"/>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inventory-search needs a filter shape</a:t>
            </a:r>
            <a:endParaRPr lang="en-US" sz="1250" dirty="0"/>
          </a:p>
        </p:txBody>
      </p:sp>
      <p:sp>
        <p:nvSpPr>
          <p:cNvPr id="23" name="Text 21"/>
          <p:cNvSpPr/>
          <p:nvPr/>
        </p:nvSpPr>
        <p:spPr>
          <a:xfrm>
            <a:off x="8357616" y="2359152"/>
            <a:ext cx="3035808" cy="859536"/>
          </a:xfrm>
          <a:prstGeom prst="rect">
            <a:avLst/>
          </a:prstGeom>
          <a:noFill/>
          <a:ln/>
        </p:spPr>
        <p:txBody>
          <a:bodyPr wrap="square" lIns="0" tIns="0" rIns="0" bIns="0" rtlCol="0" anchor="t"/>
          <a:lstStyle/>
          <a:p>
            <a:pPr indent="0" marL="0">
              <a:lnSpc>
                <a:spcPts val="1200"/>
              </a:lnSpc>
              <a:buNone/>
            </a:pPr>
            <a:r>
              <a:rPr lang="en-US" sz="950" dirty="0">
                <a:solidFill>
                  <a:srgbClr val="B4B7BD"/>
                </a:solidFill>
                <a:latin typeface="Calibri" pitchFamily="34" charset="0"/>
                <a:ea typeface="Calibri" pitchFamily="34" charset="-122"/>
                <a:cs typeface="Calibri" pitchFamily="34" charset="-120"/>
              </a:rPr>
              <a:t>The API wants {"combinator":"and","rules":[…]}; the pack never shows one. Send {} and it answers 400, naming the bad keys. Omitting the filter is blocked inside Koi.py before any call — read from the source, not executed. A missing example, not a bad error.</a:t>
            </a:r>
            <a:endParaRPr lang="en-US" sz="950" dirty="0"/>
          </a:p>
        </p:txBody>
      </p:sp>
      <p:sp>
        <p:nvSpPr>
          <p:cNvPr id="24" name="Shape 22"/>
          <p:cNvSpPr/>
          <p:nvPr/>
        </p:nvSpPr>
        <p:spPr>
          <a:xfrm>
            <a:off x="548640" y="3474720"/>
            <a:ext cx="3474720" cy="1847088"/>
          </a:xfrm>
          <a:prstGeom prst="roundRect">
            <a:avLst>
              <a:gd name="adj" fmla="val 2475"/>
            </a:avLst>
          </a:prstGeom>
          <a:solidFill>
            <a:srgbClr val="15171B"/>
          </a:solidFill>
          <a:ln w="12700">
            <a:solidFill>
              <a:srgbClr val="15171B"/>
            </a:solidFill>
            <a:prstDash val="solid"/>
          </a:ln>
        </p:spPr>
      </p:sp>
      <p:sp>
        <p:nvSpPr>
          <p:cNvPr id="25" name="Shape 23"/>
          <p:cNvSpPr/>
          <p:nvPr/>
        </p:nvSpPr>
        <p:spPr>
          <a:xfrm>
            <a:off x="768096" y="3639312"/>
            <a:ext cx="292608" cy="292608"/>
          </a:xfrm>
          <a:prstGeom prst="roundRect">
            <a:avLst>
              <a:gd name="adj" fmla="val 28125"/>
            </a:avLst>
          </a:prstGeom>
          <a:solidFill>
            <a:srgbClr val="22D3EE"/>
          </a:solidFill>
          <a:ln w="12700">
            <a:solidFill>
              <a:srgbClr val="22D3EE"/>
            </a:solidFill>
            <a:prstDash val="solid"/>
          </a:ln>
        </p:spPr>
      </p:sp>
      <p:sp>
        <p:nvSpPr>
          <p:cNvPr id="26" name="Text 24"/>
          <p:cNvSpPr/>
          <p:nvPr/>
        </p:nvSpPr>
        <p:spPr>
          <a:xfrm>
            <a:off x="768096" y="363931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1152144" y="3657600"/>
            <a:ext cx="2633472" cy="256032"/>
          </a:xfrm>
          <a:prstGeom prst="rect">
            <a:avLst/>
          </a:prstGeom>
          <a:noFill/>
          <a:ln/>
        </p:spPr>
        <p:txBody>
          <a:bodyPr wrap="square" lIns="0" tIns="0" rIns="0" bIns="0" rtlCol="0" anchor="ctr"/>
          <a:lstStyle/>
          <a:p>
            <a:pPr indent="0" marL="0">
              <a:buNone/>
            </a:pPr>
            <a:r>
              <a:rPr lang="en-US" sz="800" b="1" spc="100" kern="0" dirty="0">
                <a:solidFill>
                  <a:srgbClr val="22D3EE"/>
                </a:solidFill>
                <a:latin typeface="Calibri" pitchFamily="34" charset="0"/>
                <a:ea typeface="Calibri" pitchFamily="34" charset="-122"/>
                <a:cs typeface="Calibri" pitchFamily="34" charset="-120"/>
              </a:rPr>
              <a:t>API OBSERVATION · RESPONSE SHAPE</a:t>
            </a:r>
            <a:endParaRPr lang="en-US" sz="800" dirty="0"/>
          </a:p>
        </p:txBody>
      </p:sp>
      <p:sp>
        <p:nvSpPr>
          <p:cNvPr id="28" name="Text 26"/>
          <p:cNvSpPr/>
          <p:nvPr/>
        </p:nvSpPr>
        <p:spPr>
          <a:xfrm>
            <a:off x="768096" y="4005072"/>
            <a:ext cx="3035808" cy="402336"/>
          </a:xfrm>
          <a:prstGeom prst="rect">
            <a:avLst/>
          </a:prstGeom>
          <a:noFill/>
          <a:ln/>
        </p:spPr>
        <p:txBody>
          <a:bodyPr wrap="square" lIns="0" tIns="0" rIns="0" bIns="0" rtlCol="0" anchor="t"/>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Allow/blocklist carry no total</a:t>
            </a:r>
            <a:endParaRPr lang="en-US" sz="1250" dirty="0"/>
          </a:p>
        </p:txBody>
      </p:sp>
      <p:sp>
        <p:nvSpPr>
          <p:cNvPr id="29" name="Text 27"/>
          <p:cNvSpPr/>
          <p:nvPr/>
        </p:nvSpPr>
        <p:spPr>
          <a:xfrm>
            <a:off x="768096" y="4425696"/>
            <a:ext cx="3035808" cy="859536"/>
          </a:xfrm>
          <a:prstGeom prst="rect">
            <a:avLst/>
          </a:prstGeom>
          <a:noFill/>
          <a:ln/>
        </p:spPr>
        <p:txBody>
          <a:bodyPr wrap="square" lIns="0" tIns="0" rIns="0" bIns="0" rtlCol="0" anchor="t"/>
          <a:lstStyle/>
          <a:p>
            <a:pPr indent="0" marL="0">
              <a:lnSpc>
                <a:spcPts val="1200"/>
              </a:lnSpc>
              <a:buNone/>
            </a:pPr>
            <a:r>
              <a:rPr lang="en-US" sz="950" dirty="0">
                <a:solidFill>
                  <a:srgbClr val="B4B7BD"/>
                </a:solidFill>
                <a:latin typeface="Calibri" pitchFamily="34" charset="0"/>
                <a:ea typeface="Calibri" pitchFamily="34" charset="-122"/>
                <a:cs typeface="Calibri" pitchFamily="34" charset="-120"/>
              </a:rPr>
              <a:t>/policies/allowlist and /policies/blocklist return only an items array — no total_count, unlike /policies and /inventory. Read items.length instead. An empty array is the correct answer for an empty list, not an error.</a:t>
            </a:r>
            <a:endParaRPr lang="en-US" sz="950" dirty="0"/>
          </a:p>
        </p:txBody>
      </p:sp>
      <p:sp>
        <p:nvSpPr>
          <p:cNvPr id="30" name="Shape 28"/>
          <p:cNvSpPr/>
          <p:nvPr/>
        </p:nvSpPr>
        <p:spPr>
          <a:xfrm>
            <a:off x="4343400" y="3474720"/>
            <a:ext cx="3474720" cy="1847088"/>
          </a:xfrm>
          <a:prstGeom prst="roundRect">
            <a:avLst>
              <a:gd name="adj" fmla="val 2475"/>
            </a:avLst>
          </a:prstGeom>
          <a:solidFill>
            <a:srgbClr val="15171B"/>
          </a:solidFill>
          <a:ln w="12700">
            <a:solidFill>
              <a:srgbClr val="15171B"/>
            </a:solidFill>
            <a:prstDash val="solid"/>
          </a:ln>
        </p:spPr>
      </p:sp>
      <p:sp>
        <p:nvSpPr>
          <p:cNvPr id="31" name="Shape 29"/>
          <p:cNvSpPr/>
          <p:nvPr/>
        </p:nvSpPr>
        <p:spPr>
          <a:xfrm>
            <a:off x="4562856" y="3639312"/>
            <a:ext cx="292608" cy="292608"/>
          </a:xfrm>
          <a:prstGeom prst="roundRect">
            <a:avLst>
              <a:gd name="adj" fmla="val 28125"/>
            </a:avLst>
          </a:prstGeom>
          <a:solidFill>
            <a:srgbClr val="22D3EE"/>
          </a:solidFill>
          <a:ln w="12700">
            <a:solidFill>
              <a:srgbClr val="22D3EE"/>
            </a:solidFill>
            <a:prstDash val="solid"/>
          </a:ln>
        </p:spPr>
      </p:sp>
      <p:sp>
        <p:nvSpPr>
          <p:cNvPr id="32" name="Text 30"/>
          <p:cNvSpPr/>
          <p:nvPr/>
        </p:nvSpPr>
        <p:spPr>
          <a:xfrm>
            <a:off x="4562856" y="363931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3" name="Text 31"/>
          <p:cNvSpPr/>
          <p:nvPr/>
        </p:nvSpPr>
        <p:spPr>
          <a:xfrm>
            <a:off x="4946904" y="3657600"/>
            <a:ext cx="2633472" cy="256032"/>
          </a:xfrm>
          <a:prstGeom prst="rect">
            <a:avLst/>
          </a:prstGeom>
          <a:noFill/>
          <a:ln/>
        </p:spPr>
        <p:txBody>
          <a:bodyPr wrap="square" lIns="0" tIns="0" rIns="0" bIns="0" rtlCol="0" anchor="ctr"/>
          <a:lstStyle/>
          <a:p>
            <a:pPr indent="0" marL="0">
              <a:buNone/>
            </a:pPr>
            <a:r>
              <a:rPr lang="en-US" sz="800" b="1" spc="100" kern="0" dirty="0">
                <a:solidFill>
                  <a:srgbClr val="22D3EE"/>
                </a:solidFill>
                <a:latin typeface="Calibri" pitchFamily="34" charset="0"/>
                <a:ea typeface="Calibri" pitchFamily="34" charset="-122"/>
                <a:cs typeface="Calibri" pitchFamily="34" charset="-120"/>
              </a:rPr>
              <a:t>API OBSERVATION · BEHAVIOUR</a:t>
            </a:r>
            <a:endParaRPr lang="en-US" sz="800" dirty="0"/>
          </a:p>
        </p:txBody>
      </p:sp>
      <p:sp>
        <p:nvSpPr>
          <p:cNvPr id="34" name="Text 32"/>
          <p:cNvSpPr/>
          <p:nvPr/>
        </p:nvSpPr>
        <p:spPr>
          <a:xfrm>
            <a:off x="4562856" y="4005072"/>
            <a:ext cx="3035808" cy="402336"/>
          </a:xfrm>
          <a:prstGeom prst="rect">
            <a:avLst/>
          </a:prstGeom>
          <a:noFill/>
          <a:ln/>
        </p:spPr>
        <p:txBody>
          <a:bodyPr wrap="square" lIns="0" tIns="0" rIns="0" bIns="0" rtlCol="0" anchor="t"/>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Auth failure is unambiguous — 401</a:t>
            </a:r>
            <a:endParaRPr lang="en-US" sz="1250" dirty="0"/>
          </a:p>
        </p:txBody>
      </p:sp>
      <p:sp>
        <p:nvSpPr>
          <p:cNvPr id="35" name="Text 33"/>
          <p:cNvSpPr/>
          <p:nvPr/>
        </p:nvSpPr>
        <p:spPr>
          <a:xfrm>
            <a:off x="4562856" y="4425696"/>
            <a:ext cx="3035808" cy="859536"/>
          </a:xfrm>
          <a:prstGeom prst="rect">
            <a:avLst/>
          </a:prstGeom>
          <a:noFill/>
          <a:ln/>
        </p:spPr>
        <p:txBody>
          <a:bodyPr wrap="square" lIns="0" tIns="0" rIns="0" bIns="0" rtlCol="0" anchor="t"/>
          <a:lstStyle/>
          <a:p>
            <a:pPr indent="0" marL="0">
              <a:lnSpc>
                <a:spcPts val="1200"/>
              </a:lnSpc>
              <a:buNone/>
            </a:pPr>
            <a:r>
              <a:rPr lang="en-US" sz="950" dirty="0">
                <a:solidFill>
                  <a:srgbClr val="B4B7BD"/>
                </a:solidFill>
                <a:latin typeface="Calibri" pitchFamily="34" charset="0"/>
                <a:ea typeface="Calibri" pitchFamily="34" charset="-122"/>
                <a:cs typeface="Calibri" pitchFamily="34" charset="-120"/>
              </a:rPr>
              <a:t>An invalid bearer token returns HTTP 401 Unauthorized, verified with a deliberately bad key. No 403 was ever observed from here, so "403 means blocked egress" stays unverified and must not be stated as fact.</a:t>
            </a:r>
            <a:endParaRPr lang="en-US" sz="950" dirty="0"/>
          </a:p>
        </p:txBody>
      </p:sp>
      <p:sp>
        <p:nvSpPr>
          <p:cNvPr id="36" name="Shape 34"/>
          <p:cNvSpPr/>
          <p:nvPr/>
        </p:nvSpPr>
        <p:spPr>
          <a:xfrm>
            <a:off x="8138160" y="3474720"/>
            <a:ext cx="3474720" cy="1847088"/>
          </a:xfrm>
          <a:prstGeom prst="roundRect">
            <a:avLst>
              <a:gd name="adj" fmla="val 2475"/>
            </a:avLst>
          </a:prstGeom>
          <a:solidFill>
            <a:srgbClr val="15171B"/>
          </a:solidFill>
          <a:ln w="12700">
            <a:solidFill>
              <a:srgbClr val="15171B"/>
            </a:solidFill>
            <a:prstDash val="solid"/>
          </a:ln>
        </p:spPr>
      </p:sp>
      <p:sp>
        <p:nvSpPr>
          <p:cNvPr id="37" name="Shape 35"/>
          <p:cNvSpPr/>
          <p:nvPr/>
        </p:nvSpPr>
        <p:spPr>
          <a:xfrm>
            <a:off x="8357616" y="3639312"/>
            <a:ext cx="292608" cy="292608"/>
          </a:xfrm>
          <a:prstGeom prst="roundRect">
            <a:avLst>
              <a:gd name="adj" fmla="val 28125"/>
            </a:avLst>
          </a:prstGeom>
          <a:solidFill>
            <a:srgbClr val="A78BFA"/>
          </a:solidFill>
          <a:ln w="12700">
            <a:solidFill>
              <a:srgbClr val="A78BFA"/>
            </a:solidFill>
            <a:prstDash val="solid"/>
          </a:ln>
        </p:spPr>
      </p:sp>
      <p:sp>
        <p:nvSpPr>
          <p:cNvPr id="38" name="Text 36"/>
          <p:cNvSpPr/>
          <p:nvPr/>
        </p:nvSpPr>
        <p:spPr>
          <a:xfrm>
            <a:off x="8357616" y="363931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9" name="Text 37"/>
          <p:cNvSpPr/>
          <p:nvPr/>
        </p:nvSpPr>
        <p:spPr>
          <a:xfrm>
            <a:off x="8741664" y="3657600"/>
            <a:ext cx="2633472" cy="256032"/>
          </a:xfrm>
          <a:prstGeom prst="rect">
            <a:avLst/>
          </a:prstGeom>
          <a:noFill/>
          <a:ln/>
        </p:spPr>
        <p:txBody>
          <a:bodyPr wrap="square" lIns="0" tIns="0" rIns="0" bIns="0" rtlCol="0" anchor="ctr"/>
          <a:lstStyle/>
          <a:p>
            <a:pPr indent="0" marL="0">
              <a:buNone/>
            </a:pPr>
            <a:r>
              <a:rPr lang="en-US" sz="800" b="1" spc="100" kern="0" dirty="0">
                <a:solidFill>
                  <a:srgbClr val="A78BFA"/>
                </a:solidFill>
                <a:latin typeface="Calibri" pitchFamily="34" charset="0"/>
                <a:ea typeface="Calibri" pitchFamily="34" charset="-122"/>
                <a:cs typeface="Calibri" pitchFamily="34" charset="-120"/>
              </a:rPr>
              <a:t>THIS TENANT'S CONFIGURATION</a:t>
            </a:r>
            <a:endParaRPr lang="en-US" sz="800" dirty="0"/>
          </a:p>
        </p:txBody>
      </p:sp>
      <p:sp>
        <p:nvSpPr>
          <p:cNvPr id="40" name="Text 38"/>
          <p:cNvSpPr/>
          <p:nvPr/>
        </p:nvSpPr>
        <p:spPr>
          <a:xfrm>
            <a:off x="8357616" y="4005072"/>
            <a:ext cx="3035808" cy="402336"/>
          </a:xfrm>
          <a:prstGeom prst="rect">
            <a:avLst/>
          </a:prstGeom>
          <a:noFill/>
          <a:ln/>
        </p:spPr>
        <p:txBody>
          <a:bodyPr wrap="square" lIns="0" tIns="0" rIns="0" bIns="0" rtlCol="0" anchor="t"/>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Two collectors, one dataset</a:t>
            </a:r>
            <a:endParaRPr lang="en-US" sz="1250" dirty="0"/>
          </a:p>
        </p:txBody>
      </p:sp>
      <p:sp>
        <p:nvSpPr>
          <p:cNvPr id="41" name="Text 39"/>
          <p:cNvSpPr/>
          <p:nvPr/>
        </p:nvSpPr>
        <p:spPr>
          <a:xfrm>
            <a:off x="8357616" y="4425696"/>
            <a:ext cx="3035808" cy="859536"/>
          </a:xfrm>
          <a:prstGeom prst="rect">
            <a:avLst/>
          </a:prstGeom>
          <a:noFill/>
          <a:ln/>
        </p:spPr>
        <p:txBody>
          <a:bodyPr wrap="square" lIns="0" tIns="0" rIns="0" bIns="0" rtlCol="0" anchor="t"/>
          <a:lstStyle/>
          <a:p>
            <a:pPr indent="0" marL="0">
              <a:lnSpc>
                <a:spcPts val="1200"/>
              </a:lnSpc>
              <a:buNone/>
            </a:pPr>
            <a:r>
              <a:rPr lang="en-US" sz="950" dirty="0">
                <a:solidFill>
                  <a:srgbClr val="B4B7BD"/>
                </a:solidFill>
                <a:latin typeface="Calibri" pitchFamily="34" charset="0"/>
                <a:ea typeface="Calibri" pitchFamily="34" charset="-122"/>
                <a:cs typeface="Calibri" pitchFamily="34" charset="-120"/>
              </a:rPr>
              <a:t>Not a pack fault — how this tenant happens to be configured. Both instances were set to fetch Alerts and Audit into the same koi_koi_raw, and the pack ships no field identifying which instance produced a row.</a:t>
            </a:r>
            <a:endParaRPr lang="en-US" sz="950" dirty="0"/>
          </a:p>
        </p:txBody>
      </p:sp>
      <p:sp>
        <p:nvSpPr>
          <p:cNvPr id="42" name="Shape 40"/>
          <p:cNvSpPr/>
          <p:nvPr/>
        </p:nvSpPr>
        <p:spPr>
          <a:xfrm>
            <a:off x="548640" y="5413248"/>
            <a:ext cx="11064240" cy="512064"/>
          </a:xfrm>
          <a:prstGeom prst="roundRect">
            <a:avLst>
              <a:gd name="adj" fmla="val 8929"/>
            </a:avLst>
          </a:prstGeom>
          <a:solidFill>
            <a:srgbClr val="1C2026"/>
          </a:solidFill>
          <a:ln w="12700">
            <a:solidFill>
              <a:srgbClr val="1C2026"/>
            </a:solidFill>
            <a:prstDash val="solid"/>
          </a:ln>
        </p:spPr>
      </p:sp>
      <p:sp>
        <p:nvSpPr>
          <p:cNvPr id="43" name="Text 41"/>
          <p:cNvSpPr/>
          <p:nvPr/>
        </p:nvSpPr>
        <p:spPr>
          <a:xfrm>
            <a:off x="822960" y="5486400"/>
            <a:ext cx="10515600" cy="402336"/>
          </a:xfrm>
          <a:prstGeom prst="rect">
            <a:avLst/>
          </a:prstGeom>
          <a:noFill/>
          <a:ln/>
        </p:spPr>
        <p:txBody>
          <a:bodyPr wrap="square" lIns="0" tIns="0" rIns="0" bIns="0" rtlCol="0" anchor="t"/>
          <a:lstStyle/>
          <a:p>
            <a:pPr indent="0" marL="0">
              <a:lnSpc>
                <a:spcPts val="1400"/>
              </a:lnSpc>
              <a:buNone/>
            </a:pPr>
            <a:r>
              <a:rPr lang="en-US" sz="1100" b="1" dirty="0">
                <a:solidFill>
                  <a:srgbClr val="3FB950"/>
                </a:solidFill>
                <a:latin typeface="Calibri" pitchFamily="34" charset="0"/>
                <a:ea typeface="Calibri" pitchFamily="34" charset="-122"/>
                <a:cs typeface="Calibri" pitchFamily="34" charset="-120"/>
              </a:rPr>
              <a:t>None of these is a blocker.  </a:t>
            </a:r>
            <a:pPr indent="0" marL="0">
              <a:lnSpc>
                <a:spcPts val="1400"/>
              </a:lnSpc>
              <a:buNone/>
            </a:pPr>
            <a:r>
              <a:rPr lang="en-US" sz="1100" dirty="0">
                <a:solidFill>
                  <a:srgbClr val="B4B7BD"/>
                </a:solidFill>
                <a:latin typeface="Calibri" pitchFamily="34" charset="0"/>
                <a:ea typeface="Calibri" pitchFamily="34" charset="-122"/>
                <a:cs typeface="Calibri" pitchFamily="34" charset="-120"/>
              </a:rPr>
              <a:t>Each has a workaround: type the view value by hand, ignore the shipped example, paste the filter shape, read items.length instead of total_count, prefer omitting view to using all_items, and tag rows by instance yourself if you run more than one.</a:t>
            </a:r>
            <a:endParaRPr lang="en-US" sz="1100" dirty="0"/>
          </a:p>
        </p:txBody>
      </p:sp>
      <p:sp>
        <p:nvSpPr>
          <p:cNvPr id="44" name="Text 42"/>
          <p:cNvSpPr/>
          <p:nvPr/>
        </p:nvSpPr>
        <p:spPr>
          <a:xfrm>
            <a:off x="548640" y="5961888"/>
            <a:ext cx="11064240" cy="274320"/>
          </a:xfrm>
          <a:prstGeom prst="rect">
            <a:avLst/>
          </a:prstGeom>
          <a:noFill/>
          <a:ln/>
        </p:spPr>
        <p:txBody>
          <a:bodyPr wrap="square" lIns="0" tIns="0" rIns="0" bIns="0" rtlCol="0" anchor="ctr"/>
          <a:lstStyle/>
          <a:p>
            <a:pPr indent="0" marL="0">
              <a:buNone/>
            </a:pPr>
            <a:r>
              <a:rPr lang="en-US" sz="950" i="1" dirty="0">
                <a:solidFill>
                  <a:srgbClr val="6E747E"/>
                </a:solidFill>
                <a:latin typeface="Calibri" pitchFamily="34" charset="0"/>
                <a:ea typeface="Calibri" pitchFamily="34" charset="-122"/>
                <a:cs typeface="Calibri" pitchFamily="34" charset="-120"/>
              </a:rPr>
              <a:t>Colour = kind, as in the legend.  Cards 1–5: VERIFIED_FACTS §5 [LIVE against the KOI API, 20 Jul 2026, instances KOI_PAET and KOI_PLTS], except the Koi.py guard in card 3, read from the integration source rather than executed.  Card 6: §2, this tenant's instance configuration.  Only cards 1 and 2 are faults in the pack as published.</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6419088"/>
            <a:ext cx="11064240" cy="237744"/>
          </a:xfrm>
          <a:prstGeom prst="rect">
            <a:avLst/>
          </a:prstGeom>
          <a:noFill/>
          <a:ln/>
        </p:spPr>
        <p:txBody>
          <a:bodyPr wrap="square" lIns="0" tIns="0" rIns="0" bIns="0" rtlCol="0" anchor="ctr"/>
          <a:lstStyle/>
          <a:p>
            <a:pPr indent="0" marL="0">
              <a:buNone/>
            </a:pPr>
            <a:r>
              <a:rPr lang="en-US" sz="800" dirty="0">
                <a:solidFill>
                  <a:srgbClr val="6E747E"/>
                </a:solidFill>
                <a:latin typeface="Calibri" pitchFamily="34" charset="0"/>
                <a:ea typeface="Calibri" pitchFamily="34" charset="-122"/>
                <a:cs typeface="Calibri" pitchFamily="34" charset="-120"/>
              </a:rPr>
              <a:t>Marketplace KOI pack v1.2.3  ·  demisto/content / Packs/Koi  ·  integration only, 13 commands  ·  not the custom v1.3.0 pack</a:t>
            </a:r>
            <a:endParaRPr lang="en-US" sz="800" dirty="0"/>
          </a:p>
        </p:txBody>
      </p:sp>
      <p:sp>
        <p:nvSpPr>
          <p:cNvPr id="3" name="Text 1"/>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200" kern="0" dirty="0">
                <a:solidFill>
                  <a:srgbClr val="E8551F"/>
                </a:solidFill>
                <a:latin typeface="Calibri" pitchFamily="34" charset="0"/>
                <a:ea typeface="Calibri" pitchFamily="34" charset="-122"/>
                <a:cs typeface="Calibri" pitchFamily="34" charset="-120"/>
              </a:rPr>
              <a:t>DO NOT CONFUSE THEM</a:t>
            </a:r>
            <a:endParaRPr lang="en-US" sz="1100" dirty="0"/>
          </a:p>
        </p:txBody>
      </p:sp>
      <p:sp>
        <p:nvSpPr>
          <p:cNvPr id="4" name="Text 2"/>
          <p:cNvSpPr/>
          <p:nvPr/>
        </p:nvSpPr>
        <p:spPr>
          <a:xfrm>
            <a:off x="548640" y="612648"/>
            <a:ext cx="11064240" cy="658368"/>
          </a:xfrm>
          <a:prstGeom prst="rect">
            <a:avLst/>
          </a:prstGeom>
          <a:noFill/>
          <a:ln/>
        </p:spPr>
        <p:txBody>
          <a:bodyPr wrap="square" lIns="0" tIns="0" rIns="0" bIns="0" rtlCol="0" anchor="ctr"/>
          <a:lstStyle/>
          <a:p>
            <a:pPr indent="0" marL="0">
              <a:buNone/>
            </a:pPr>
            <a:r>
              <a:rPr lang="en-US" sz="3100" b="1" dirty="0">
                <a:solidFill>
                  <a:srgbClr val="FFFFFF"/>
                </a:solidFill>
                <a:latin typeface="Calibri" pitchFamily="34" charset="0"/>
                <a:ea typeface="Calibri" pitchFamily="34" charset="-122"/>
                <a:cs typeface="Calibri" pitchFamily="34" charset="-120"/>
              </a:rPr>
              <a:t>There are two KOI packs, and they collide</a:t>
            </a:r>
            <a:endParaRPr lang="en-US" sz="3100" dirty="0"/>
          </a:p>
        </p:txBody>
      </p:sp>
      <p:sp>
        <p:nvSpPr>
          <p:cNvPr id="5" name="Shape 3"/>
          <p:cNvSpPr/>
          <p:nvPr/>
        </p:nvSpPr>
        <p:spPr>
          <a:xfrm>
            <a:off x="548640" y="1335024"/>
            <a:ext cx="5326380" cy="3017520"/>
          </a:xfrm>
          <a:prstGeom prst="roundRect">
            <a:avLst>
              <a:gd name="adj" fmla="val 1515"/>
            </a:avLst>
          </a:prstGeom>
          <a:solidFill>
            <a:srgbClr val="15171B"/>
          </a:solidFill>
          <a:ln w="12700">
            <a:solidFill>
              <a:srgbClr val="15171B"/>
            </a:solidFill>
            <a:prstDash val="solid"/>
          </a:ln>
        </p:spPr>
      </p:sp>
      <p:sp>
        <p:nvSpPr>
          <p:cNvPr id="6" name="Text 4"/>
          <p:cNvSpPr/>
          <p:nvPr/>
        </p:nvSpPr>
        <p:spPr>
          <a:xfrm>
            <a:off x="822960" y="1499616"/>
            <a:ext cx="477774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This pack — Marketplace</a:t>
            </a:r>
            <a:endParaRPr lang="en-US" sz="1600" dirty="0"/>
          </a:p>
        </p:txBody>
      </p:sp>
      <p:sp>
        <p:nvSpPr>
          <p:cNvPr id="7" name="Text 5"/>
          <p:cNvSpPr/>
          <p:nvPr/>
        </p:nvSpPr>
        <p:spPr>
          <a:xfrm>
            <a:off x="822960" y="1810512"/>
            <a:ext cx="4777740" cy="256032"/>
          </a:xfrm>
          <a:prstGeom prst="rect">
            <a:avLst/>
          </a:prstGeom>
          <a:noFill/>
          <a:ln/>
        </p:spPr>
        <p:txBody>
          <a:bodyPr wrap="square" lIns="0" tIns="0" rIns="0" bIns="0" rtlCol="0" anchor="ctr"/>
          <a:lstStyle/>
          <a:p>
            <a:pPr indent="0" marL="0">
              <a:buNone/>
            </a:pPr>
            <a:r>
              <a:rPr lang="en-US" sz="1000" dirty="0">
                <a:solidFill>
                  <a:srgbClr val="E8551F"/>
                </a:solidFill>
                <a:latin typeface="Courier New" pitchFamily="34" charset="0"/>
                <a:ea typeface="Courier New" pitchFamily="34" charset="-122"/>
                <a:cs typeface="Courier New" pitchFamily="34" charset="-120"/>
              </a:rPr>
              <a:t>demisto/content · Packs/Koi · v1.2.3</a:t>
            </a:r>
            <a:endParaRPr lang="en-US" sz="1000" dirty="0"/>
          </a:p>
        </p:txBody>
      </p:sp>
      <p:sp>
        <p:nvSpPr>
          <p:cNvPr id="8" name="Text 6"/>
          <p:cNvSpPr/>
          <p:nvPr/>
        </p:nvSpPr>
        <p:spPr>
          <a:xfrm>
            <a:off x="841248" y="2139696"/>
            <a:ext cx="4741164" cy="2103120"/>
          </a:xfrm>
          <a:prstGeom prst="rect">
            <a:avLst/>
          </a:prstGeom>
          <a:noFill/>
          <a:ln/>
        </p:spPr>
        <p:txBody>
          <a:bodyPr wrap="square" lIns="0" tIns="0" rIns="0" bIns="0" rtlCol="0" anchor="t"/>
          <a:lstStyle/>
          <a:p>
            <a:pPr marL="165100" indent="-165100">
              <a:lnSpc>
                <a:spcPts val="1500"/>
              </a:lnSpc>
              <a:spcAft>
                <a:spcPts val="600"/>
              </a:spcAft>
              <a:buSzPct val="100000"/>
              <a:buChar char="•"/>
            </a:pPr>
            <a:r>
              <a:rPr lang="en-US" sz="1100" dirty="0">
                <a:solidFill>
                  <a:srgbClr val="B4B7BD"/>
                </a:solidFill>
                <a:latin typeface="Calibri" pitchFamily="34" charset="0"/>
                <a:ea typeface="Calibri" pitchFamily="34" charset="-122"/>
                <a:cs typeface="Calibri" pitchFamily="34" charset="-120"/>
              </a:rPr>
              <a:t>13 commands</a:t>
            </a:r>
            <a:endParaRPr lang="en-US" sz="1100" dirty="0"/>
          </a:p>
          <a:p>
            <a:pPr marL="165100" indent="-165100">
              <a:lnSpc>
                <a:spcPts val="1500"/>
              </a:lnSpc>
              <a:spcAft>
                <a:spcPts val="600"/>
              </a:spcAft>
              <a:buSzPct val="100000"/>
              <a:buChar char="•"/>
            </a:pPr>
            <a:r>
              <a:rPr lang="en-US" sz="1100" dirty="0">
                <a:solidFill>
                  <a:srgbClr val="B4B7BD"/>
                </a:solidFill>
                <a:latin typeface="Calibri" pitchFamily="34" charset="0"/>
                <a:ea typeface="Calibri" pitchFamily="34" charset="-122"/>
                <a:cs typeface="Calibri" pitchFamily="34" charset="-120"/>
              </a:rPr>
              <a:t>Integration only</a:t>
            </a:r>
            <a:endParaRPr lang="en-US" sz="1100" dirty="0"/>
          </a:p>
          <a:p>
            <a:pPr marL="165100" indent="-165100">
              <a:lnSpc>
                <a:spcPts val="1500"/>
              </a:lnSpc>
              <a:spcAft>
                <a:spcPts val="600"/>
              </a:spcAft>
              <a:buSzPct val="100000"/>
              <a:buChar char="•"/>
            </a:pPr>
            <a:r>
              <a:rPr lang="en-US" sz="1100" dirty="0">
                <a:solidFill>
                  <a:srgbClr val="B4B7BD"/>
                </a:solidFill>
                <a:latin typeface="Calibri" pitchFamily="34" charset="0"/>
                <a:ea typeface="Calibri" pitchFamily="34" charset="-122"/>
                <a:cs typeface="Calibri" pitchFamily="34" charset="-120"/>
              </a:rPr>
              <a:t>No playbooks</a:t>
            </a:r>
            <a:endParaRPr lang="en-US" sz="1100" dirty="0"/>
          </a:p>
          <a:p>
            <a:pPr marL="165100" indent="-165100">
              <a:lnSpc>
                <a:spcPts val="1500"/>
              </a:lnSpc>
              <a:spcAft>
                <a:spcPts val="600"/>
              </a:spcAft>
              <a:buSzPct val="100000"/>
              <a:buChar char="•"/>
            </a:pPr>
            <a:r>
              <a:rPr lang="en-US" sz="1100" dirty="0">
                <a:solidFill>
                  <a:srgbClr val="B4B7BD"/>
                </a:solidFill>
                <a:latin typeface="Calibri" pitchFamily="34" charset="0"/>
                <a:ea typeface="Calibri" pitchFamily="34" charset="-122"/>
                <a:cs typeface="Calibri" pitchFamily="34" charset="-120"/>
              </a:rPr>
              <a:t>No parsing or modeling rules</a:t>
            </a:r>
            <a:endParaRPr lang="en-US" sz="1100" dirty="0"/>
          </a:p>
          <a:p>
            <a:pPr marL="165100" indent="-165100">
              <a:lnSpc>
                <a:spcPts val="1500"/>
              </a:lnSpc>
              <a:spcAft>
                <a:spcPts val="600"/>
              </a:spcAft>
              <a:buSzPct val="100000"/>
              <a:buChar char="•"/>
            </a:pPr>
            <a:r>
              <a:rPr lang="en-US" sz="1100" dirty="0">
                <a:solidFill>
                  <a:srgbClr val="B4B7BD"/>
                </a:solidFill>
                <a:latin typeface="Calibri" pitchFamily="34" charset="0"/>
                <a:ea typeface="Calibri" pitchFamily="34" charset="-122"/>
                <a:cs typeface="Calibri" pitchFamily="34" charset="-120"/>
              </a:rPr>
              <a:t>No dashboard</a:t>
            </a:r>
            <a:endParaRPr lang="en-US" sz="1100" dirty="0"/>
          </a:p>
          <a:p>
            <a:pPr marL="165100" indent="-165100">
              <a:lnSpc>
                <a:spcPts val="1500"/>
              </a:lnSpc>
              <a:spcAft>
                <a:spcPts val="600"/>
              </a:spcAft>
              <a:buSzPct val="100000"/>
              <a:buChar char="•"/>
            </a:pPr>
            <a:r>
              <a:rPr lang="en-US" sz="1100" dirty="0">
                <a:solidFill>
                  <a:srgbClr val="B4B7BD"/>
                </a:solidFill>
                <a:latin typeface="Calibri" pitchFamily="34" charset="0"/>
                <a:ea typeface="Calibri" pitchFamily="34" charset="-122"/>
                <a:cs typeface="Calibri" pitchFamily="34" charset="-120"/>
              </a:rPr>
              <a:t>5 context prefixes, item-centric</a:t>
            </a:r>
            <a:endParaRPr lang="en-US" sz="1100" dirty="0"/>
          </a:p>
          <a:p>
            <a:pPr marL="165100" indent="-165100">
              <a:lnSpc>
                <a:spcPts val="1500"/>
              </a:lnSpc>
              <a:spcAft>
                <a:spcPts val="600"/>
              </a:spcAft>
              <a:buSzPct val="100000"/>
              <a:buChar char="•"/>
            </a:pPr>
            <a:r>
              <a:rPr lang="en-US" sz="1100" dirty="0">
                <a:solidFill>
                  <a:srgbClr val="B4B7BD"/>
                </a:solidFill>
                <a:latin typeface="Calibri" pitchFamily="34" charset="0"/>
                <a:ea typeface="Calibri" pitchFamily="34" charset="-122"/>
                <a:cs typeface="Calibri" pitchFamily="34" charset="-120"/>
              </a:rPr>
              <a:t>Installed from the Marketplace</a:t>
            </a:r>
            <a:endParaRPr lang="en-US" sz="1100" dirty="0"/>
          </a:p>
        </p:txBody>
      </p:sp>
      <p:sp>
        <p:nvSpPr>
          <p:cNvPr id="9" name="Shape 7"/>
          <p:cNvSpPr/>
          <p:nvPr/>
        </p:nvSpPr>
        <p:spPr>
          <a:xfrm>
            <a:off x="6286500" y="1335024"/>
            <a:ext cx="5326380" cy="3017520"/>
          </a:xfrm>
          <a:prstGeom prst="roundRect">
            <a:avLst>
              <a:gd name="adj" fmla="val 1515"/>
            </a:avLst>
          </a:prstGeom>
          <a:solidFill>
            <a:srgbClr val="15171B"/>
          </a:solidFill>
          <a:ln w="12700">
            <a:solidFill>
              <a:srgbClr val="15171B"/>
            </a:solidFill>
            <a:prstDash val="solid"/>
          </a:ln>
        </p:spPr>
      </p:sp>
      <p:sp>
        <p:nvSpPr>
          <p:cNvPr id="10" name="Text 8"/>
          <p:cNvSpPr/>
          <p:nvPr/>
        </p:nvSpPr>
        <p:spPr>
          <a:xfrm>
            <a:off x="6560820" y="1499616"/>
            <a:ext cx="477774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other pack — custom</a:t>
            </a:r>
            <a:endParaRPr lang="en-US" sz="1600" dirty="0"/>
          </a:p>
        </p:txBody>
      </p:sp>
      <p:sp>
        <p:nvSpPr>
          <p:cNvPr id="11" name="Text 9"/>
          <p:cNvSpPr/>
          <p:nvPr/>
        </p:nvSpPr>
        <p:spPr>
          <a:xfrm>
            <a:off x="6560820" y="1810512"/>
            <a:ext cx="4777740" cy="256032"/>
          </a:xfrm>
          <a:prstGeom prst="rect">
            <a:avLst/>
          </a:prstGeom>
          <a:noFill/>
          <a:ln/>
        </p:spPr>
        <p:txBody>
          <a:bodyPr wrap="square" lIns="0" tIns="0" rIns="0" bIns="0" rtlCol="0" anchor="ctr"/>
          <a:lstStyle/>
          <a:p>
            <a:pPr indent="0" marL="0">
              <a:buNone/>
            </a:pPr>
            <a:r>
              <a:rPr lang="en-US" sz="1000" dirty="0">
                <a:solidFill>
                  <a:srgbClr val="22D3EE"/>
                </a:solidFill>
                <a:latin typeface="Courier New" pitchFamily="34" charset="0"/>
                <a:ea typeface="Courier New" pitchFamily="34" charset="-122"/>
                <a:cs typeface="Courier New" pitchFamily="34" charset="-120"/>
              </a:rPr>
              <a:t>in-house build · v1.3.0 · not on the Marketplace</a:t>
            </a:r>
            <a:endParaRPr lang="en-US" sz="1000" dirty="0"/>
          </a:p>
        </p:txBody>
      </p:sp>
      <p:sp>
        <p:nvSpPr>
          <p:cNvPr id="12" name="Text 10"/>
          <p:cNvSpPr/>
          <p:nvPr/>
        </p:nvSpPr>
        <p:spPr>
          <a:xfrm>
            <a:off x="6579108" y="2139696"/>
            <a:ext cx="4741164" cy="2103120"/>
          </a:xfrm>
          <a:prstGeom prst="rect">
            <a:avLst/>
          </a:prstGeom>
          <a:noFill/>
          <a:ln/>
        </p:spPr>
        <p:txBody>
          <a:bodyPr wrap="square" lIns="0" tIns="0" rIns="0" bIns="0" rtlCol="0" anchor="t"/>
          <a:lstStyle/>
          <a:p>
            <a:pPr marL="165100" indent="-165100">
              <a:lnSpc>
                <a:spcPts val="1500"/>
              </a:lnSpc>
              <a:spcAft>
                <a:spcPts val="600"/>
              </a:spcAft>
              <a:buSzPct val="100000"/>
              <a:buChar char="•"/>
            </a:pPr>
            <a:r>
              <a:rPr lang="en-US" sz="1100" dirty="0">
                <a:solidFill>
                  <a:srgbClr val="B4B7BD"/>
                </a:solidFill>
                <a:latin typeface="Calibri" pitchFamily="34" charset="0"/>
                <a:ea typeface="Calibri" pitchFamily="34" charset="-122"/>
                <a:cs typeface="Calibri" pitchFamily="34" charset="-120"/>
              </a:rPr>
              <a:t>26 commands (a strict superset)</a:t>
            </a:r>
            <a:endParaRPr lang="en-US" sz="1100" dirty="0"/>
          </a:p>
          <a:p>
            <a:pPr marL="165100" indent="-165100">
              <a:lnSpc>
                <a:spcPts val="1500"/>
              </a:lnSpc>
              <a:spcAft>
                <a:spcPts val="600"/>
              </a:spcAft>
              <a:buSzPct val="100000"/>
              <a:buChar char="•"/>
            </a:pPr>
            <a:r>
              <a:rPr lang="en-US" sz="1100" dirty="0">
                <a:solidFill>
                  <a:srgbClr val="B4B7BD"/>
                </a:solidFill>
                <a:latin typeface="Calibri" pitchFamily="34" charset="0"/>
                <a:ea typeface="Calibri" pitchFamily="34" charset="-122"/>
                <a:cs typeface="Calibri" pitchFamily="34" charset="-120"/>
              </a:rPr>
              <a:t>Integration + 10 playbooks</a:t>
            </a:r>
            <a:endParaRPr lang="en-US" sz="1100" dirty="0"/>
          </a:p>
          <a:p>
            <a:pPr marL="165100" indent="-165100">
              <a:lnSpc>
                <a:spcPts val="1500"/>
              </a:lnSpc>
              <a:spcAft>
                <a:spcPts val="600"/>
              </a:spcAft>
              <a:buSzPct val="100000"/>
              <a:buChar char="•"/>
            </a:pPr>
            <a:r>
              <a:rPr lang="en-US" sz="1100" dirty="0">
                <a:solidFill>
                  <a:srgbClr val="B4B7BD"/>
                </a:solidFill>
                <a:latin typeface="Calibri" pitchFamily="34" charset="0"/>
                <a:ea typeface="Calibri" pitchFamily="34" charset="-122"/>
                <a:cs typeface="Calibri" pitchFamily="34" charset="-120"/>
              </a:rPr>
              <a:t>Parsing and modeling rules</a:t>
            </a:r>
            <a:endParaRPr lang="en-US" sz="1100" dirty="0"/>
          </a:p>
          <a:p>
            <a:pPr marL="165100" indent="-165100">
              <a:lnSpc>
                <a:spcPts val="1500"/>
              </a:lnSpc>
              <a:spcAft>
                <a:spcPts val="600"/>
              </a:spcAft>
              <a:buSzPct val="100000"/>
              <a:buChar char="•"/>
            </a:pPr>
            <a:r>
              <a:rPr lang="en-US" sz="1100" dirty="0">
                <a:solidFill>
                  <a:srgbClr val="B4B7BD"/>
                </a:solidFill>
                <a:latin typeface="Calibri" pitchFamily="34" charset="0"/>
                <a:ea typeface="Calibri" pitchFamily="34" charset="-122"/>
                <a:cs typeface="Calibri" pitchFamily="34" charset="-120"/>
              </a:rPr>
              <a:t>An alerts dashboard</a:t>
            </a:r>
            <a:endParaRPr lang="en-US" sz="1100" dirty="0"/>
          </a:p>
          <a:p>
            <a:pPr marL="165100" indent="-165100">
              <a:lnSpc>
                <a:spcPts val="1500"/>
              </a:lnSpc>
              <a:spcAft>
                <a:spcPts val="600"/>
              </a:spcAft>
              <a:buSzPct val="100000"/>
              <a:buChar char="•"/>
            </a:pPr>
            <a:r>
              <a:rPr lang="en-US" sz="1100" dirty="0">
                <a:solidFill>
                  <a:srgbClr val="B4B7BD"/>
                </a:solidFill>
                <a:latin typeface="Calibri" pitchFamily="34" charset="0"/>
                <a:ea typeface="Calibri" pitchFamily="34" charset="-122"/>
                <a:cs typeface="Calibri" pitchFamily="34" charset="-120"/>
              </a:rPr>
              <a:t>Adds device-centric commands and context</a:t>
            </a:r>
            <a:endParaRPr lang="en-US" sz="1100" dirty="0"/>
          </a:p>
          <a:p>
            <a:pPr marL="165100" indent="-165100">
              <a:lnSpc>
                <a:spcPts val="1500"/>
              </a:lnSpc>
              <a:spcAft>
                <a:spcPts val="600"/>
              </a:spcAft>
              <a:buSzPct val="100000"/>
              <a:buChar char="•"/>
            </a:pPr>
            <a:r>
              <a:rPr lang="en-US" sz="1100" dirty="0">
                <a:solidFill>
                  <a:srgbClr val="B4B7BD"/>
                </a:solidFill>
                <a:latin typeface="Calibri" pitchFamily="34" charset="0"/>
                <a:ea typeface="Calibri" pitchFamily="34" charset="-122"/>
                <a:cs typeface="Calibri" pitchFamily="34" charset="-120"/>
              </a:rPr>
              <a:t>Adds Koidex catalog, findings, approvals, remediations</a:t>
            </a:r>
            <a:endParaRPr lang="en-US" sz="1100" dirty="0"/>
          </a:p>
          <a:p>
            <a:pPr marL="165100" indent="-165100">
              <a:lnSpc>
                <a:spcPts val="1500"/>
              </a:lnSpc>
              <a:spcAft>
                <a:spcPts val="600"/>
              </a:spcAft>
              <a:buSzPct val="100000"/>
              <a:buChar char="•"/>
            </a:pPr>
            <a:r>
              <a:rPr lang="en-US" sz="1100" dirty="0">
                <a:solidFill>
                  <a:srgbClr val="B4B7BD"/>
                </a:solidFill>
                <a:latin typeface="Calibri" pitchFamily="34" charset="0"/>
                <a:ea typeface="Calibri" pitchFamily="34" charset="-122"/>
                <a:cs typeface="Calibri" pitchFamily="34" charset="-120"/>
              </a:rPr>
              <a:t>Delivered as a pack zip or source</a:t>
            </a:r>
            <a:endParaRPr lang="en-US" sz="1100" dirty="0"/>
          </a:p>
        </p:txBody>
      </p:sp>
      <p:sp>
        <p:nvSpPr>
          <p:cNvPr id="13" name="Shape 11"/>
          <p:cNvSpPr/>
          <p:nvPr/>
        </p:nvSpPr>
        <p:spPr>
          <a:xfrm>
            <a:off x="548640" y="4498848"/>
            <a:ext cx="11064240" cy="1389888"/>
          </a:xfrm>
          <a:prstGeom prst="roundRect">
            <a:avLst>
              <a:gd name="adj" fmla="val 3289"/>
            </a:avLst>
          </a:prstGeom>
          <a:solidFill>
            <a:srgbClr val="1C2026"/>
          </a:solidFill>
          <a:ln w="12700">
            <a:solidFill>
              <a:srgbClr val="1C2026"/>
            </a:solidFill>
            <a:prstDash val="solid"/>
          </a:ln>
        </p:spPr>
      </p:sp>
      <p:sp>
        <p:nvSpPr>
          <p:cNvPr id="14" name="Shape 12"/>
          <p:cNvSpPr/>
          <p:nvPr/>
        </p:nvSpPr>
        <p:spPr>
          <a:xfrm>
            <a:off x="822960" y="4736592"/>
            <a:ext cx="365760" cy="365760"/>
          </a:xfrm>
          <a:prstGeom prst="roundRect">
            <a:avLst>
              <a:gd name="adj" fmla="val 22500"/>
            </a:avLst>
          </a:prstGeom>
          <a:solidFill>
            <a:srgbClr val="F5A524"/>
          </a:solidFill>
          <a:ln w="12700">
            <a:solidFill>
              <a:srgbClr val="F5A524"/>
            </a:solidFill>
            <a:prstDash val="solid"/>
          </a:ln>
        </p:spPr>
      </p:sp>
      <p:sp>
        <p:nvSpPr>
          <p:cNvPr id="15" name="Text 13"/>
          <p:cNvSpPr/>
          <p:nvPr/>
        </p:nvSpPr>
        <p:spPr>
          <a:xfrm>
            <a:off x="822960" y="47365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6" name="Text 14"/>
          <p:cNvSpPr/>
          <p:nvPr/>
        </p:nvSpPr>
        <p:spPr>
          <a:xfrm>
            <a:off x="1389888" y="4645152"/>
            <a:ext cx="987552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They cannot be installed on the same tenant</a:t>
            </a:r>
            <a:endParaRPr lang="en-US" sz="1500" dirty="0"/>
          </a:p>
        </p:txBody>
      </p:sp>
      <p:sp>
        <p:nvSpPr>
          <p:cNvPr id="17" name="Text 15"/>
          <p:cNvSpPr/>
          <p:nvPr/>
        </p:nvSpPr>
        <p:spPr>
          <a:xfrm>
            <a:off x="1389888" y="4974336"/>
            <a:ext cx="9875520" cy="841248"/>
          </a:xfrm>
          <a:prstGeom prst="rect">
            <a:avLst/>
          </a:prstGeom>
          <a:noFill/>
          <a:ln/>
        </p:spPr>
        <p:txBody>
          <a:bodyPr wrap="square" lIns="0" tIns="0" rIns="0" bIns="0" rtlCol="0" anchor="t"/>
          <a:lstStyle/>
          <a:p>
            <a:pPr indent="0" marL="0">
              <a:lnSpc>
                <a:spcPts val="1400"/>
              </a:lnSpc>
              <a:buNone/>
            </a:pPr>
            <a:r>
              <a:rPr lang="en-US" sz="1100" dirty="0">
                <a:solidFill>
                  <a:srgbClr val="B4B7BD"/>
                </a:solidFill>
                <a:latin typeface="Calibri" pitchFamily="34" charset="0"/>
                <a:ea typeface="Calibri" pitchFamily="34" charset="-122"/>
                <a:cs typeface="Calibri" pitchFamily="34" charset="-120"/>
              </a:rPr>
              <a:t>Both are named KOI. Both carry integration id KOI. Both are category Endpoint, both are authored by "Cortex XSOAR", both target xsoar/marketplacev2/platform, both use koi-* command names. </a:t>
            </a:r>
            <a:pPr indent="0" marL="0">
              <a:lnSpc>
                <a:spcPts val="1400"/>
              </a:lnSpc>
              <a:buNone/>
            </a:pPr>
            <a:r>
              <a:rPr lang="en-US" sz="1100" b="1" dirty="0">
                <a:solidFill>
                  <a:srgbClr val="F5A524"/>
                </a:solidFill>
                <a:latin typeface="Calibri" pitchFamily="34" charset="0"/>
                <a:ea typeface="Calibri" pitchFamily="34" charset="-122"/>
                <a:cs typeface="Calibri" pitchFamily="34" charset="-120"/>
              </a:rPr>
              <a:t>One silently overwrites the other.</a:t>
            </a:r>
            <a:endParaRPr lang="en-US" sz="1100" dirty="0"/>
          </a:p>
          <a:p>
            <a:pPr indent="0" marL="0">
              <a:lnSpc>
                <a:spcPts val="1400"/>
              </a:lnSpc>
              <a:buNone/>
            </a:pPr>
            <a:r>
              <a:rPr lang="en-US" sz="1000" i="1" dirty="0">
                <a:solidFill>
                  <a:srgbClr val="6E747E"/>
                </a:solidFill>
                <a:latin typeface="Calibri" pitchFamily="34" charset="0"/>
                <a:ea typeface="Calibri" pitchFamily="34" charset="-122"/>
                <a:cs typeface="Calibri" pitchFamily="34" charset="-120"/>
              </a:rPr>
              <a:t>Anything written against the custom pack's extra 13 commands — devices-list, koidex-*, findings-list, users-list, remediations-list, runtime-policies and the rest — does not work here, and neither does any Koi.Device.* path.</a:t>
            </a:r>
            <a:endParaRPr lang="en-US" sz="1100" dirty="0"/>
          </a:p>
        </p:txBody>
      </p:sp>
      <p:sp>
        <p:nvSpPr>
          <p:cNvPr id="18" name="Text 16"/>
          <p:cNvSpPr/>
          <p:nvPr/>
        </p:nvSpPr>
        <p:spPr>
          <a:xfrm>
            <a:off x="548640" y="5998464"/>
            <a:ext cx="11064240" cy="274320"/>
          </a:xfrm>
          <a:prstGeom prst="rect">
            <a:avLst/>
          </a:prstGeom>
          <a:noFill/>
          <a:ln/>
        </p:spPr>
        <p:txBody>
          <a:bodyPr wrap="square" lIns="0" tIns="0" rIns="0" bIns="0" rtlCol="0" anchor="ctr"/>
          <a:lstStyle/>
          <a:p>
            <a:pPr indent="0" marL="0">
              <a:buNone/>
            </a:pPr>
            <a:r>
              <a:rPr lang="en-US" sz="950" i="1" dirty="0">
                <a:solidFill>
                  <a:srgbClr val="6E747E"/>
                </a:solidFill>
                <a:latin typeface="Calibri" pitchFamily="34" charset="0"/>
                <a:ea typeface="Calibri" pitchFamily="34" charset="-122"/>
                <a:cs typeface="Calibri" pitchFamily="34" charset="-120"/>
              </a:rPr>
              <a:t>Left column: marketplace-pack.json + VERIFIED_FACTS.  Right column verified by reading the custom pack checkout at ../KOI on 20 Jul 2026 (pack_metadata.json v1.3.0, same three marketplaces; Integrations/Koi/Koi.yml id KOI, 26 koi-* commands; 10 playbook files; ModelingRules/, ParsingRules/, XSIAMDashboards/).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6419088"/>
            <a:ext cx="11064240" cy="237744"/>
          </a:xfrm>
          <a:prstGeom prst="rect">
            <a:avLst/>
          </a:prstGeom>
          <a:noFill/>
          <a:ln/>
        </p:spPr>
        <p:txBody>
          <a:bodyPr wrap="square" lIns="0" tIns="0" rIns="0" bIns="0" rtlCol="0" anchor="ctr"/>
          <a:lstStyle/>
          <a:p>
            <a:pPr indent="0" marL="0">
              <a:buNone/>
            </a:pPr>
            <a:r>
              <a:rPr lang="en-US" sz="800" dirty="0">
                <a:solidFill>
                  <a:srgbClr val="6E747E"/>
                </a:solidFill>
                <a:latin typeface="Calibri" pitchFamily="34" charset="0"/>
                <a:ea typeface="Calibri" pitchFamily="34" charset="-122"/>
                <a:cs typeface="Calibri" pitchFamily="34" charset="-120"/>
              </a:rPr>
              <a:t>Marketplace KOI pack v1.2.3  ·  demisto/content / Packs/Koi  ·  integration only, 13 commands  ·  not the custom v1.3.0 pack</a:t>
            </a:r>
            <a:endParaRPr lang="en-US" sz="800" dirty="0"/>
          </a:p>
        </p:txBody>
      </p:sp>
      <p:sp>
        <p:nvSpPr>
          <p:cNvPr id="3" name="Text 1"/>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200" kern="0" dirty="0">
                <a:solidFill>
                  <a:srgbClr val="E8551F"/>
                </a:solidFill>
                <a:latin typeface="Calibri" pitchFamily="34" charset="0"/>
                <a:ea typeface="Calibri" pitchFamily="34" charset="-122"/>
                <a:cs typeface="Calibri" pitchFamily="34" charset="-120"/>
              </a:rPr>
              <a:t>SCOPE</a:t>
            </a:r>
            <a:endParaRPr lang="en-US" sz="1100" dirty="0"/>
          </a:p>
        </p:txBody>
      </p:sp>
      <p:sp>
        <p:nvSpPr>
          <p:cNvPr id="4" name="Text 2"/>
          <p:cNvSpPr/>
          <p:nvPr/>
        </p:nvSpPr>
        <p:spPr>
          <a:xfrm>
            <a:off x="548640" y="612648"/>
            <a:ext cx="11064240" cy="658368"/>
          </a:xfrm>
          <a:prstGeom prst="rect">
            <a:avLst/>
          </a:prstGeom>
          <a:noFill/>
          <a:ln/>
        </p:spPr>
        <p:txBody>
          <a:bodyPr wrap="square" lIns="0" tIns="0" rIns="0" bIns="0" rtlCol="0" anchor="ctr"/>
          <a:lstStyle/>
          <a:p>
            <a:pPr indent="0" marL="0">
              <a:buNone/>
            </a:pPr>
            <a:r>
              <a:rPr lang="en-US" sz="3100" b="1" dirty="0">
                <a:solidFill>
                  <a:srgbClr val="FFFFFF"/>
                </a:solidFill>
                <a:latin typeface="Calibri" pitchFamily="34" charset="0"/>
                <a:ea typeface="Calibri" pitchFamily="34" charset="-122"/>
                <a:cs typeface="Calibri" pitchFamily="34" charset="-120"/>
              </a:rPr>
              <a:t>What you would build on top of it</a:t>
            </a:r>
            <a:endParaRPr lang="en-US" sz="3100" dirty="0"/>
          </a:p>
        </p:txBody>
      </p:sp>
      <p:sp>
        <p:nvSpPr>
          <p:cNvPr id="5" name="Text 3"/>
          <p:cNvSpPr/>
          <p:nvPr/>
        </p:nvSpPr>
        <p:spPr>
          <a:xfrm>
            <a:off x="548640" y="1298448"/>
            <a:ext cx="9692640" cy="310896"/>
          </a:xfrm>
          <a:prstGeom prst="rect">
            <a:avLst/>
          </a:prstGeom>
          <a:noFill/>
          <a:ln/>
        </p:spPr>
        <p:txBody>
          <a:bodyPr wrap="square" lIns="0" tIns="0" rIns="0" bIns="0" rtlCol="0" anchor="ctr"/>
          <a:lstStyle/>
          <a:p>
            <a:pPr indent="0" marL="0">
              <a:buNone/>
            </a:pPr>
            <a:r>
              <a:rPr lang="en-US" sz="1200" dirty="0">
                <a:solidFill>
                  <a:srgbClr val="B4B7BD"/>
                </a:solidFill>
                <a:latin typeface="Calibri" pitchFamily="34" charset="0"/>
                <a:ea typeface="Calibri" pitchFamily="34" charset="-122"/>
                <a:cs typeface="Calibri" pitchFamily="34" charset="-120"/>
              </a:rPr>
              <a:t>The pack gives you a clean API surface, and on XSIAM a working event collector. It does not give you content. Sized honestly, that is four pieces of work.</a:t>
            </a:r>
            <a:endParaRPr lang="en-US" sz="1200" dirty="0"/>
          </a:p>
        </p:txBody>
      </p:sp>
      <p:sp>
        <p:nvSpPr>
          <p:cNvPr id="6" name="Shape 4"/>
          <p:cNvSpPr/>
          <p:nvPr/>
        </p:nvSpPr>
        <p:spPr>
          <a:xfrm>
            <a:off x="548640" y="1737360"/>
            <a:ext cx="2560320" cy="2395728"/>
          </a:xfrm>
          <a:prstGeom prst="roundRect">
            <a:avLst>
              <a:gd name="adj" fmla="val 1908"/>
            </a:avLst>
          </a:prstGeom>
          <a:solidFill>
            <a:srgbClr val="15171B"/>
          </a:solidFill>
          <a:ln w="12700">
            <a:solidFill>
              <a:srgbClr val="15171B"/>
            </a:solidFill>
            <a:prstDash val="solid"/>
          </a:ln>
        </p:spPr>
      </p:sp>
      <p:sp>
        <p:nvSpPr>
          <p:cNvPr id="7" name="Shape 5"/>
          <p:cNvSpPr/>
          <p:nvPr/>
        </p:nvSpPr>
        <p:spPr>
          <a:xfrm>
            <a:off x="786384" y="1920240"/>
            <a:ext cx="310896" cy="310896"/>
          </a:xfrm>
          <a:prstGeom prst="roundRect">
            <a:avLst>
              <a:gd name="adj" fmla="val 26471"/>
            </a:avLst>
          </a:prstGeom>
          <a:solidFill>
            <a:srgbClr val="E8551F"/>
          </a:solidFill>
          <a:ln w="12700">
            <a:solidFill>
              <a:srgbClr val="E8551F"/>
            </a:solidFill>
            <a:prstDash val="solid"/>
          </a:ln>
        </p:spPr>
      </p:sp>
      <p:sp>
        <p:nvSpPr>
          <p:cNvPr id="8" name="Text 6"/>
          <p:cNvSpPr/>
          <p:nvPr/>
        </p:nvSpPr>
        <p:spPr>
          <a:xfrm>
            <a:off x="786384" y="19202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786384" y="2322576"/>
            <a:ext cx="2084832"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Normalisation</a:t>
            </a:r>
            <a:endParaRPr lang="en-US" sz="1400" dirty="0"/>
          </a:p>
        </p:txBody>
      </p:sp>
      <p:sp>
        <p:nvSpPr>
          <p:cNvPr id="10" name="Text 8"/>
          <p:cNvSpPr/>
          <p:nvPr/>
        </p:nvSpPr>
        <p:spPr>
          <a:xfrm>
            <a:off x="786384" y="2688336"/>
            <a:ext cx="2084832" cy="1371600"/>
          </a:xfrm>
          <a:prstGeom prst="rect">
            <a:avLst/>
          </a:prstGeom>
          <a:noFill/>
          <a:ln/>
        </p:spPr>
        <p:txBody>
          <a:bodyPr wrap="square" lIns="0" tIns="0" rIns="0" bIns="0" rtlCol="0" anchor="t"/>
          <a:lstStyle/>
          <a:p>
            <a:pPr indent="0" marL="0">
              <a:lnSpc>
                <a:spcPts val="1300"/>
              </a:lnSpc>
              <a:buNone/>
            </a:pPr>
            <a:r>
              <a:rPr lang="en-US" sz="1000" dirty="0">
                <a:solidFill>
                  <a:srgbClr val="B4B7BD"/>
                </a:solidFill>
                <a:latin typeface="Calibri" pitchFamily="34" charset="0"/>
                <a:ea typeface="Calibri" pitchFamily="34" charset="-122"/>
                <a:cs typeface="Calibri" pitchFamily="34" charset="-120"/>
              </a:rPr>
              <a:t>Parsing and modeling rules for koi_koi_raw. Two schemas in one dataset, keyed on source_log_type, with JSON-string fields on the Alert side that need extracting before anything can be mapped to XDM.</a:t>
            </a:r>
            <a:endParaRPr lang="en-US" sz="1000" dirty="0"/>
          </a:p>
        </p:txBody>
      </p:sp>
      <p:sp>
        <p:nvSpPr>
          <p:cNvPr id="11" name="Shape 9"/>
          <p:cNvSpPr/>
          <p:nvPr/>
        </p:nvSpPr>
        <p:spPr>
          <a:xfrm>
            <a:off x="3383280" y="1737360"/>
            <a:ext cx="2560320" cy="2395728"/>
          </a:xfrm>
          <a:prstGeom prst="roundRect">
            <a:avLst>
              <a:gd name="adj" fmla="val 1908"/>
            </a:avLst>
          </a:prstGeom>
          <a:solidFill>
            <a:srgbClr val="15171B"/>
          </a:solidFill>
          <a:ln w="12700">
            <a:solidFill>
              <a:srgbClr val="15171B"/>
            </a:solidFill>
            <a:prstDash val="solid"/>
          </a:ln>
        </p:spPr>
      </p:sp>
      <p:sp>
        <p:nvSpPr>
          <p:cNvPr id="12" name="Shape 10"/>
          <p:cNvSpPr/>
          <p:nvPr/>
        </p:nvSpPr>
        <p:spPr>
          <a:xfrm>
            <a:off x="3621024" y="1920240"/>
            <a:ext cx="310896" cy="310896"/>
          </a:xfrm>
          <a:prstGeom prst="roundRect">
            <a:avLst>
              <a:gd name="adj" fmla="val 26471"/>
            </a:avLst>
          </a:prstGeom>
          <a:solidFill>
            <a:srgbClr val="22D3EE"/>
          </a:solidFill>
          <a:ln w="12700">
            <a:solidFill>
              <a:srgbClr val="22D3EE"/>
            </a:solidFill>
            <a:prstDash val="solid"/>
          </a:ln>
        </p:spPr>
      </p:sp>
      <p:sp>
        <p:nvSpPr>
          <p:cNvPr id="13" name="Text 11"/>
          <p:cNvSpPr/>
          <p:nvPr/>
        </p:nvSpPr>
        <p:spPr>
          <a:xfrm>
            <a:off x="3621024" y="19202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3621024" y="2322576"/>
            <a:ext cx="2084832"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Detection &amp; triage content</a:t>
            </a:r>
            <a:endParaRPr lang="en-US" sz="1400" dirty="0"/>
          </a:p>
        </p:txBody>
      </p:sp>
      <p:sp>
        <p:nvSpPr>
          <p:cNvPr id="15" name="Text 13"/>
          <p:cNvSpPr/>
          <p:nvPr/>
        </p:nvSpPr>
        <p:spPr>
          <a:xfrm>
            <a:off x="3621024" y="2688336"/>
            <a:ext cx="2084832" cy="1371600"/>
          </a:xfrm>
          <a:prstGeom prst="rect">
            <a:avLst/>
          </a:prstGeom>
          <a:noFill/>
          <a:ln/>
        </p:spPr>
        <p:txBody>
          <a:bodyPr wrap="square" lIns="0" tIns="0" rIns="0" bIns="0" rtlCol="0" anchor="t"/>
          <a:lstStyle/>
          <a:p>
            <a:pPr indent="0" marL="0">
              <a:lnSpc>
                <a:spcPts val="1300"/>
              </a:lnSpc>
              <a:buNone/>
            </a:pPr>
            <a:r>
              <a:rPr lang="en-US" sz="1000" dirty="0">
                <a:solidFill>
                  <a:srgbClr val="B4B7BD"/>
                </a:solidFill>
                <a:latin typeface="Calibri" pitchFamily="34" charset="0"/>
                <a:ea typeface="Calibri" pitchFamily="34" charset="-122"/>
                <a:cs typeface="Calibri" pitchFamily="34" charset="-120"/>
              </a:rPr>
              <a:t>Correlation rules over the raw fields, and whatever decides which items matter. Nothing keys on alert_type — it is never populated.</a:t>
            </a:r>
            <a:endParaRPr lang="en-US" sz="1000" dirty="0"/>
          </a:p>
        </p:txBody>
      </p:sp>
      <p:sp>
        <p:nvSpPr>
          <p:cNvPr id="16" name="Shape 14"/>
          <p:cNvSpPr/>
          <p:nvPr/>
        </p:nvSpPr>
        <p:spPr>
          <a:xfrm>
            <a:off x="6217920" y="1737360"/>
            <a:ext cx="2560320" cy="2395728"/>
          </a:xfrm>
          <a:prstGeom prst="roundRect">
            <a:avLst>
              <a:gd name="adj" fmla="val 1908"/>
            </a:avLst>
          </a:prstGeom>
          <a:solidFill>
            <a:srgbClr val="15171B"/>
          </a:solidFill>
          <a:ln w="12700">
            <a:solidFill>
              <a:srgbClr val="15171B"/>
            </a:solidFill>
            <a:prstDash val="solid"/>
          </a:ln>
        </p:spPr>
      </p:sp>
      <p:sp>
        <p:nvSpPr>
          <p:cNvPr id="17" name="Shape 15"/>
          <p:cNvSpPr/>
          <p:nvPr/>
        </p:nvSpPr>
        <p:spPr>
          <a:xfrm>
            <a:off x="6455664" y="1920240"/>
            <a:ext cx="310896" cy="310896"/>
          </a:xfrm>
          <a:prstGeom prst="roundRect">
            <a:avLst>
              <a:gd name="adj" fmla="val 26471"/>
            </a:avLst>
          </a:prstGeom>
          <a:solidFill>
            <a:srgbClr val="E8551F"/>
          </a:solidFill>
          <a:ln w="12700">
            <a:solidFill>
              <a:srgbClr val="E8551F"/>
            </a:solidFill>
            <a:prstDash val="solid"/>
          </a:ln>
        </p:spPr>
      </p:sp>
      <p:sp>
        <p:nvSpPr>
          <p:cNvPr id="18" name="Text 16"/>
          <p:cNvSpPr/>
          <p:nvPr/>
        </p:nvSpPr>
        <p:spPr>
          <a:xfrm>
            <a:off x="6455664" y="19202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6455664" y="2322576"/>
            <a:ext cx="2084832"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Orchestration</a:t>
            </a:r>
            <a:endParaRPr lang="en-US" sz="1400" dirty="0"/>
          </a:p>
        </p:txBody>
      </p:sp>
      <p:sp>
        <p:nvSpPr>
          <p:cNvPr id="20" name="Text 18"/>
          <p:cNvSpPr/>
          <p:nvPr/>
        </p:nvSpPr>
        <p:spPr>
          <a:xfrm>
            <a:off x="6455664" y="2688336"/>
            <a:ext cx="2084832" cy="1371600"/>
          </a:xfrm>
          <a:prstGeom prst="rect">
            <a:avLst/>
          </a:prstGeom>
          <a:noFill/>
          <a:ln/>
        </p:spPr>
        <p:txBody>
          <a:bodyPr wrap="square" lIns="0" tIns="0" rIns="0" bIns="0" rtlCol="0" anchor="t"/>
          <a:lstStyle/>
          <a:p>
            <a:pPr indent="0" marL="0">
              <a:lnSpc>
                <a:spcPts val="1300"/>
              </a:lnSpc>
              <a:buNone/>
            </a:pPr>
            <a:r>
              <a:rPr lang="en-US" sz="1000" dirty="0">
                <a:solidFill>
                  <a:srgbClr val="B4B7BD"/>
                </a:solidFill>
                <a:latin typeface="Calibri" pitchFamily="34" charset="0"/>
                <a:ea typeface="Calibri" pitchFamily="34" charset="-122"/>
                <a:cs typeface="Calibri" pitchFamily="34" charset="-120"/>
              </a:rPr>
              <a:t>Playbooks that chain the 13 commands. Watch the shared context prefixes: the 3 inventory commands that share the item paths overwrite each other, and the 4 add/remove commands return nothing to branch on.</a:t>
            </a:r>
            <a:endParaRPr lang="en-US" sz="1000" dirty="0"/>
          </a:p>
        </p:txBody>
      </p:sp>
      <p:sp>
        <p:nvSpPr>
          <p:cNvPr id="21" name="Shape 19"/>
          <p:cNvSpPr/>
          <p:nvPr/>
        </p:nvSpPr>
        <p:spPr>
          <a:xfrm>
            <a:off x="9052560" y="1737360"/>
            <a:ext cx="2560320" cy="2395728"/>
          </a:xfrm>
          <a:prstGeom prst="roundRect">
            <a:avLst>
              <a:gd name="adj" fmla="val 1908"/>
            </a:avLst>
          </a:prstGeom>
          <a:solidFill>
            <a:srgbClr val="15171B"/>
          </a:solidFill>
          <a:ln w="12700">
            <a:solidFill>
              <a:srgbClr val="15171B"/>
            </a:solidFill>
            <a:prstDash val="solid"/>
          </a:ln>
        </p:spPr>
      </p:sp>
      <p:sp>
        <p:nvSpPr>
          <p:cNvPr id="22" name="Shape 20"/>
          <p:cNvSpPr/>
          <p:nvPr/>
        </p:nvSpPr>
        <p:spPr>
          <a:xfrm>
            <a:off x="9290304" y="1920240"/>
            <a:ext cx="310896" cy="310896"/>
          </a:xfrm>
          <a:prstGeom prst="roundRect">
            <a:avLst>
              <a:gd name="adj" fmla="val 26471"/>
            </a:avLst>
          </a:prstGeom>
          <a:solidFill>
            <a:srgbClr val="22D3EE"/>
          </a:solidFill>
          <a:ln w="12700">
            <a:solidFill>
              <a:srgbClr val="22D3EE"/>
            </a:solidFill>
            <a:prstDash val="solid"/>
          </a:ln>
        </p:spPr>
      </p:sp>
      <p:sp>
        <p:nvSpPr>
          <p:cNvPr id="23" name="Text 21"/>
          <p:cNvSpPr/>
          <p:nvPr/>
        </p:nvSpPr>
        <p:spPr>
          <a:xfrm>
            <a:off x="9290304" y="19202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9290304" y="2322576"/>
            <a:ext cx="2084832"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Visualisation &amp; reporting</a:t>
            </a:r>
            <a:endParaRPr lang="en-US" sz="1400" dirty="0"/>
          </a:p>
        </p:txBody>
      </p:sp>
      <p:sp>
        <p:nvSpPr>
          <p:cNvPr id="25" name="Text 23"/>
          <p:cNvSpPr/>
          <p:nvPr/>
        </p:nvSpPr>
        <p:spPr>
          <a:xfrm>
            <a:off x="9290304" y="2688336"/>
            <a:ext cx="2084832" cy="1371600"/>
          </a:xfrm>
          <a:prstGeom prst="rect">
            <a:avLst/>
          </a:prstGeom>
          <a:noFill/>
          <a:ln/>
        </p:spPr>
        <p:txBody>
          <a:bodyPr wrap="square" lIns="0" tIns="0" rIns="0" bIns="0" rtlCol="0" anchor="t"/>
          <a:lstStyle/>
          <a:p>
            <a:pPr indent="0" marL="0">
              <a:lnSpc>
                <a:spcPts val="1300"/>
              </a:lnSpc>
              <a:buNone/>
            </a:pPr>
            <a:r>
              <a:rPr lang="en-US" sz="1000" dirty="0">
                <a:solidFill>
                  <a:srgbClr val="B4B7BD"/>
                </a:solidFill>
                <a:latin typeface="Calibri" pitchFamily="34" charset="0"/>
                <a:ea typeface="Calibri" pitchFamily="34" charset="-122"/>
                <a:cs typeface="Calibri" pitchFamily="34" charset="-120"/>
              </a:rPr>
              <a:t>Dashboards and widgets. Everything must be written against raw fields until the modeling rules above exist.</a:t>
            </a:r>
            <a:endParaRPr lang="en-US" sz="1000" dirty="0"/>
          </a:p>
        </p:txBody>
      </p:sp>
      <p:sp>
        <p:nvSpPr>
          <p:cNvPr id="26" name="Shape 24"/>
          <p:cNvSpPr/>
          <p:nvPr/>
        </p:nvSpPr>
        <p:spPr>
          <a:xfrm>
            <a:off x="548640" y="4407408"/>
            <a:ext cx="11064240" cy="1243584"/>
          </a:xfrm>
          <a:prstGeom prst="roundRect">
            <a:avLst>
              <a:gd name="adj" fmla="val 3676"/>
            </a:avLst>
          </a:prstGeom>
          <a:solidFill>
            <a:srgbClr val="1C2026"/>
          </a:solidFill>
          <a:ln w="12700">
            <a:solidFill>
              <a:srgbClr val="1C2026"/>
            </a:solidFill>
            <a:prstDash val="solid"/>
          </a:ln>
        </p:spPr>
      </p:sp>
      <p:sp>
        <p:nvSpPr>
          <p:cNvPr id="27" name="Text 25"/>
          <p:cNvSpPr/>
          <p:nvPr/>
        </p:nvSpPr>
        <p:spPr>
          <a:xfrm>
            <a:off x="822960" y="4553712"/>
            <a:ext cx="4572000" cy="292608"/>
          </a:xfrm>
          <a:prstGeom prst="rect">
            <a:avLst/>
          </a:prstGeom>
          <a:noFill/>
          <a:ln/>
        </p:spPr>
        <p:txBody>
          <a:bodyPr wrap="square" lIns="0" tIns="0" rIns="0" bIns="0" rtlCol="0" anchor="ctr"/>
          <a:lstStyle/>
          <a:p>
            <a:pPr indent="0" marL="0">
              <a:buNone/>
            </a:pPr>
            <a:r>
              <a:rPr lang="en-US" sz="1300" b="1" dirty="0">
                <a:solidFill>
                  <a:srgbClr val="3FB950"/>
                </a:solidFill>
                <a:latin typeface="Calibri" pitchFamily="34" charset="0"/>
                <a:ea typeface="Calibri" pitchFamily="34" charset="-122"/>
                <a:cs typeface="Calibri" pitchFamily="34" charset="-120"/>
              </a:rPr>
              <a:t>This is scope, not criticism</a:t>
            </a:r>
            <a:endParaRPr lang="en-US" sz="1300" dirty="0"/>
          </a:p>
        </p:txBody>
      </p:sp>
      <p:sp>
        <p:nvSpPr>
          <p:cNvPr id="28" name="Text 26"/>
          <p:cNvSpPr/>
          <p:nvPr/>
        </p:nvSpPr>
        <p:spPr>
          <a:xfrm>
            <a:off x="822960" y="4864608"/>
            <a:ext cx="10515600" cy="694944"/>
          </a:xfrm>
          <a:prstGeom prst="rect">
            <a:avLst/>
          </a:prstGeom>
          <a:noFill/>
          <a:ln/>
        </p:spPr>
        <p:txBody>
          <a:bodyPr wrap="square" lIns="0" tIns="0" rIns="0" bIns="0" rtlCol="0" anchor="t"/>
          <a:lstStyle/>
          <a:p>
            <a:pPr indent="0" marL="0">
              <a:lnSpc>
                <a:spcPts val="1400"/>
              </a:lnSpc>
              <a:buNone/>
            </a:pPr>
            <a:r>
              <a:rPr lang="en-US" sz="1100" dirty="0">
                <a:solidFill>
                  <a:srgbClr val="B4B7BD"/>
                </a:solidFill>
                <a:latin typeface="Calibri" pitchFamily="34" charset="0"/>
                <a:ea typeface="Calibri" pitchFamily="34" charset="-122"/>
                <a:cs typeface="Calibri" pitchFamily="34" charset="-120"/>
              </a:rPr>
              <a:t>The Marketplace pack does the part that is hard to do yourself — an authenticated, paginated, versioned client over the KOI API, plus a supported event collector on XSIAM. The content layer above it is the part that is specific to your estate, and it is the part you would want to own anyway.</a:t>
            </a:r>
            <a:endParaRPr lang="en-US" sz="1100" dirty="0"/>
          </a:p>
        </p:txBody>
      </p:sp>
      <p:sp>
        <p:nvSpPr>
          <p:cNvPr id="29" name="Text 27"/>
          <p:cNvSpPr/>
          <p:nvPr/>
        </p:nvSpPr>
        <p:spPr>
          <a:xfrm>
            <a:off x="548640" y="5724144"/>
            <a:ext cx="11064240" cy="274320"/>
          </a:xfrm>
          <a:prstGeom prst="rect">
            <a:avLst/>
          </a:prstGeom>
          <a:noFill/>
          <a:ln/>
        </p:spPr>
        <p:txBody>
          <a:bodyPr wrap="square" lIns="0" tIns="0" rIns="0" bIns="0" rtlCol="0" anchor="ctr"/>
          <a:lstStyle/>
          <a:p>
            <a:pPr indent="0" marL="0">
              <a:buNone/>
            </a:pPr>
            <a:r>
              <a:rPr lang="en-US" sz="950" i="1" dirty="0">
                <a:solidFill>
                  <a:srgbClr val="6E747E"/>
                </a:solidFill>
                <a:latin typeface="Calibri" pitchFamily="34" charset="0"/>
                <a:ea typeface="Calibri" pitchFamily="34" charset="-122"/>
                <a:cs typeface="Calibri" pitchFamily="34" charset="-120"/>
              </a:rPr>
              <a:t>Editorial: this slide is an inference drawn from the gaps recorded in VERIFIED_FACTS §3.2, §4 and §5.  It states no new fact about the pack.</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6419088"/>
            <a:ext cx="11064240" cy="237744"/>
          </a:xfrm>
          <a:prstGeom prst="rect">
            <a:avLst/>
          </a:prstGeom>
          <a:noFill/>
          <a:ln/>
        </p:spPr>
        <p:txBody>
          <a:bodyPr wrap="square" lIns="0" tIns="0" rIns="0" bIns="0" rtlCol="0" anchor="ctr"/>
          <a:lstStyle/>
          <a:p>
            <a:pPr indent="0" marL="0">
              <a:buNone/>
            </a:pPr>
            <a:r>
              <a:rPr lang="en-US" sz="800" dirty="0">
                <a:solidFill>
                  <a:srgbClr val="6E747E"/>
                </a:solidFill>
                <a:latin typeface="Calibri" pitchFamily="34" charset="0"/>
                <a:ea typeface="Calibri" pitchFamily="34" charset="-122"/>
                <a:cs typeface="Calibri" pitchFamily="34" charset="-120"/>
              </a:rPr>
              <a:t>Marketplace KOI pack v1.2.3  ·  demisto/content / Packs/Koi  ·  integration only, 13 commands  ·  not the custom v1.3.0 pack</a:t>
            </a:r>
            <a:endParaRPr lang="en-US" sz="800" dirty="0"/>
          </a:p>
        </p:txBody>
      </p:sp>
      <p:sp>
        <p:nvSpPr>
          <p:cNvPr id="3" name="Text 1"/>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200" kern="0" dirty="0">
                <a:solidFill>
                  <a:srgbClr val="E8551F"/>
                </a:solidFill>
                <a:latin typeface="Calibri" pitchFamily="34" charset="0"/>
                <a:ea typeface="Calibri" pitchFamily="34" charset="-122"/>
                <a:cs typeface="Calibri" pitchFamily="34" charset="-120"/>
              </a:rPr>
              <a:t>OPTIONAL ADD-ON</a:t>
            </a:r>
            <a:endParaRPr lang="en-US" sz="1100" dirty="0"/>
          </a:p>
        </p:txBody>
      </p:sp>
      <p:sp>
        <p:nvSpPr>
          <p:cNvPr id="4" name="Text 2"/>
          <p:cNvSpPr/>
          <p:nvPr/>
        </p:nvSpPr>
        <p:spPr>
          <a:xfrm>
            <a:off x="548640" y="612648"/>
            <a:ext cx="11064240" cy="658368"/>
          </a:xfrm>
          <a:prstGeom prst="rect">
            <a:avLst/>
          </a:prstGeom>
          <a:noFill/>
          <a:ln/>
        </p:spPr>
        <p:txBody>
          <a:bodyPr wrap="square" lIns="0" tIns="0" rIns="0" bIns="0" rtlCol="0" anchor="ctr"/>
          <a:lstStyle/>
          <a:p>
            <a:pPr indent="0" marL="0">
              <a:buNone/>
            </a:pPr>
            <a:r>
              <a:rPr lang="en-US" sz="3100" b="1" dirty="0">
                <a:solidFill>
                  <a:srgbClr val="FFFFFF"/>
                </a:solidFill>
                <a:latin typeface="Calibri" pitchFamily="34" charset="0"/>
                <a:ea typeface="Calibri" pitchFamily="34" charset="-122"/>
                <a:cs typeface="Calibri" pitchFamily="34" charset="-120"/>
              </a:rPr>
              <a:t>A companion pack fills the content layer</a:t>
            </a:r>
            <a:endParaRPr lang="en-US" sz="3100" dirty="0"/>
          </a:p>
        </p:txBody>
      </p:sp>
      <p:sp>
        <p:nvSpPr>
          <p:cNvPr id="5" name="Text 3"/>
          <p:cNvSpPr/>
          <p:nvPr/>
        </p:nvSpPr>
        <p:spPr>
          <a:xfrm>
            <a:off x="548640" y="1298448"/>
            <a:ext cx="10515600" cy="512064"/>
          </a:xfrm>
          <a:prstGeom prst="rect">
            <a:avLst/>
          </a:prstGeom>
          <a:noFill/>
          <a:ln/>
        </p:spPr>
        <p:txBody>
          <a:bodyPr wrap="square" lIns="0" tIns="0" rIns="0" bIns="0" rtlCol="0" anchor="t"/>
          <a:lstStyle/>
          <a:p>
            <a:pPr indent="0" marL="0">
              <a:lnSpc>
                <a:spcPts val="1500"/>
              </a:lnSpc>
              <a:buNone/>
            </a:pPr>
            <a:r>
              <a:rPr lang="en-US" sz="1200" dirty="0">
                <a:solidFill>
                  <a:srgbClr val="B4B7BD"/>
                </a:solidFill>
                <a:latin typeface="Calibri" pitchFamily="34" charset="0"/>
                <a:ea typeface="Calibri" pitchFamily="34" charset="-122"/>
                <a:cs typeface="Calibri" pitchFamily="34" charset="-120"/>
              </a:rPr>
              <a:t>Everything on the previous slide ships, pre-built, as a separate optional pack — </a:t>
            </a:r>
            <a:pPr indent="0" marL="0">
              <a:lnSpc>
                <a:spcPts val="1500"/>
              </a:lnSpc>
              <a:buNone/>
            </a:pPr>
            <a:r>
              <a:rPr lang="en-US" sz="1200" b="1" dirty="0">
                <a:solidFill>
                  <a:srgbClr val="FFFFFF"/>
                </a:solidFill>
                <a:latin typeface="Calibri" pitchFamily="34" charset="0"/>
                <a:ea typeface="Calibri" pitchFamily="34" charset="-122"/>
                <a:cs typeface="Calibri" pitchFamily="34" charset="-120"/>
              </a:rPr>
              <a:t>KoiContentExtension ("KOI Content Extension")</a:t>
            </a:r>
            <a:pPr indent="0" marL="0">
              <a:lnSpc>
                <a:spcPts val="1500"/>
              </a:lnSpc>
              <a:buNone/>
            </a:pPr>
            <a:r>
              <a:rPr lang="en-US" sz="1200" dirty="0">
                <a:solidFill>
                  <a:srgbClr val="B4B7BD"/>
                </a:solidFill>
                <a:latin typeface="Calibri" pitchFamily="34" charset="0"/>
                <a:ea typeface="Calibri" pitchFamily="34" charset="-122"/>
                <a:cs typeface="Calibri" pitchFamily="34" charset="-120"/>
              </a:rPr>
              <a:t>, v1.0.0, community support. It installs on top of this integration and normalises koi_koi_raw. It is additional content — not part of the Marketplace pack, and not the conflicting custom v1.3.0 pack.</a:t>
            </a:r>
            <a:endParaRPr lang="en-US" sz="1200" dirty="0"/>
          </a:p>
        </p:txBody>
      </p:sp>
      <p:sp>
        <p:nvSpPr>
          <p:cNvPr id="6" name="Shape 4"/>
          <p:cNvSpPr/>
          <p:nvPr/>
        </p:nvSpPr>
        <p:spPr>
          <a:xfrm>
            <a:off x="548640" y="1883664"/>
            <a:ext cx="3474720" cy="2103120"/>
          </a:xfrm>
          <a:prstGeom prst="roundRect">
            <a:avLst>
              <a:gd name="adj" fmla="val 2174"/>
            </a:avLst>
          </a:prstGeom>
          <a:solidFill>
            <a:srgbClr val="15171B"/>
          </a:solidFill>
          <a:ln w="12700">
            <a:solidFill>
              <a:srgbClr val="15171B"/>
            </a:solidFill>
            <a:prstDash val="solid"/>
          </a:ln>
        </p:spPr>
      </p:sp>
      <p:sp>
        <p:nvSpPr>
          <p:cNvPr id="7" name="Shape 5"/>
          <p:cNvSpPr/>
          <p:nvPr/>
        </p:nvSpPr>
        <p:spPr>
          <a:xfrm>
            <a:off x="786384" y="2066544"/>
            <a:ext cx="310896" cy="310896"/>
          </a:xfrm>
          <a:prstGeom prst="roundRect">
            <a:avLst>
              <a:gd name="adj" fmla="val 26471"/>
            </a:avLst>
          </a:prstGeom>
          <a:solidFill>
            <a:srgbClr val="E8551F"/>
          </a:solidFill>
          <a:ln w="12700">
            <a:solidFill>
              <a:srgbClr val="E8551F"/>
            </a:solidFill>
            <a:prstDash val="solid"/>
          </a:ln>
        </p:spPr>
      </p:sp>
      <p:sp>
        <p:nvSpPr>
          <p:cNvPr id="8" name="Text 6"/>
          <p:cNvSpPr/>
          <p:nvPr/>
        </p:nvSpPr>
        <p:spPr>
          <a:xfrm>
            <a:off x="786384" y="206654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9" name="Text 7"/>
          <p:cNvSpPr/>
          <p:nvPr/>
        </p:nvSpPr>
        <p:spPr>
          <a:xfrm>
            <a:off x="1207008" y="2066544"/>
            <a:ext cx="2578608"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Parsing &amp; modeling rules</a:t>
            </a:r>
            <a:endParaRPr lang="en-US" sz="1400" dirty="0"/>
          </a:p>
        </p:txBody>
      </p:sp>
      <p:sp>
        <p:nvSpPr>
          <p:cNvPr id="10" name="Text 8"/>
          <p:cNvSpPr/>
          <p:nvPr/>
        </p:nvSpPr>
        <p:spPr>
          <a:xfrm>
            <a:off x="786384" y="2523744"/>
            <a:ext cx="2999232" cy="1316736"/>
          </a:xfrm>
          <a:prstGeom prst="rect">
            <a:avLst/>
          </a:prstGeom>
          <a:noFill/>
          <a:ln/>
        </p:spPr>
        <p:txBody>
          <a:bodyPr wrap="square" lIns="0" tIns="0" rIns="0" bIns="0" rtlCol="0" anchor="t"/>
          <a:lstStyle/>
          <a:p>
            <a:pPr indent="0" marL="0">
              <a:lnSpc>
                <a:spcPts val="1300"/>
              </a:lnSpc>
              <a:buNone/>
            </a:pPr>
            <a:r>
              <a:rPr lang="en-US" sz="1000" dirty="0">
                <a:solidFill>
                  <a:srgbClr val="B4B7BD"/>
                </a:solidFill>
                <a:latin typeface="Calibri" pitchFamily="34" charset="0"/>
                <a:ea typeface="Calibri" pitchFamily="34" charset="-122"/>
                <a:cs typeface="Calibri" pitchFamily="34" charset="-120"/>
              </a:rPr>
              <a:t>Normalise the two koi_koi_raw schemas — flat Audit and OCSF Alerts — and map them to XDM, the layer this pack ships none of. Promote koi_notification_id so alerts can dedupe.</a:t>
            </a:r>
            <a:endParaRPr lang="en-US" sz="1000" dirty="0"/>
          </a:p>
        </p:txBody>
      </p:sp>
      <p:sp>
        <p:nvSpPr>
          <p:cNvPr id="11" name="Shape 9"/>
          <p:cNvSpPr/>
          <p:nvPr/>
        </p:nvSpPr>
        <p:spPr>
          <a:xfrm>
            <a:off x="4343400" y="1883664"/>
            <a:ext cx="3474720" cy="2103120"/>
          </a:xfrm>
          <a:prstGeom prst="roundRect">
            <a:avLst>
              <a:gd name="adj" fmla="val 2174"/>
            </a:avLst>
          </a:prstGeom>
          <a:solidFill>
            <a:srgbClr val="15171B"/>
          </a:solidFill>
          <a:ln w="12700">
            <a:solidFill>
              <a:srgbClr val="15171B"/>
            </a:solidFill>
            <a:prstDash val="solid"/>
          </a:ln>
        </p:spPr>
      </p:sp>
      <p:sp>
        <p:nvSpPr>
          <p:cNvPr id="12" name="Shape 10"/>
          <p:cNvSpPr/>
          <p:nvPr/>
        </p:nvSpPr>
        <p:spPr>
          <a:xfrm>
            <a:off x="4581144" y="2066544"/>
            <a:ext cx="310896" cy="310896"/>
          </a:xfrm>
          <a:prstGeom prst="roundRect">
            <a:avLst>
              <a:gd name="adj" fmla="val 26471"/>
            </a:avLst>
          </a:prstGeom>
          <a:solidFill>
            <a:srgbClr val="22D3EE"/>
          </a:solidFill>
          <a:ln w="12700">
            <a:solidFill>
              <a:srgbClr val="22D3EE"/>
            </a:solidFill>
            <a:prstDash val="solid"/>
          </a:ln>
        </p:spPr>
      </p:sp>
      <p:sp>
        <p:nvSpPr>
          <p:cNvPr id="13" name="Text 11"/>
          <p:cNvSpPr/>
          <p:nvPr/>
        </p:nvSpPr>
        <p:spPr>
          <a:xfrm>
            <a:off x="4581144" y="206654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4" name="Text 12"/>
          <p:cNvSpPr/>
          <p:nvPr/>
        </p:nvSpPr>
        <p:spPr>
          <a:xfrm>
            <a:off x="5001768" y="2066544"/>
            <a:ext cx="2578608"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10 playbooks</a:t>
            </a:r>
            <a:endParaRPr lang="en-US" sz="1400" dirty="0"/>
          </a:p>
        </p:txBody>
      </p:sp>
      <p:sp>
        <p:nvSpPr>
          <p:cNvPr id="15" name="Text 13"/>
          <p:cNvSpPr/>
          <p:nvPr/>
        </p:nvSpPr>
        <p:spPr>
          <a:xfrm>
            <a:off x="4581144" y="2523744"/>
            <a:ext cx="2999232" cy="1316736"/>
          </a:xfrm>
          <a:prstGeom prst="rect">
            <a:avLst/>
          </a:prstGeom>
          <a:noFill/>
          <a:ln/>
        </p:spPr>
        <p:txBody>
          <a:bodyPr wrap="square" lIns="0" tIns="0" rIns="0" bIns="0" rtlCol="0" anchor="t"/>
          <a:lstStyle/>
          <a:p>
            <a:pPr indent="0" marL="0">
              <a:lnSpc>
                <a:spcPts val="1300"/>
              </a:lnSpc>
              <a:buNone/>
            </a:pPr>
            <a:r>
              <a:rPr lang="en-US" sz="1000" dirty="0">
                <a:solidFill>
                  <a:srgbClr val="B4B7BD"/>
                </a:solidFill>
                <a:latin typeface="Calibri" pitchFamily="34" charset="0"/>
                <a:ea typeface="Calibri" pitchFamily="34" charset="-122"/>
                <a:cs typeface="Calibri" pitchFamily="34" charset="-120"/>
              </a:rPr>
              <a:t>Alert Triage, Investigate Item / Device, Enrich Item, Block &amp; Remediate, MCP Server Audit, plus the portable Script Runner set. Built strictly against this pack's 13 commands.</a:t>
            </a:r>
            <a:endParaRPr lang="en-US" sz="1000" dirty="0"/>
          </a:p>
        </p:txBody>
      </p:sp>
      <p:sp>
        <p:nvSpPr>
          <p:cNvPr id="16" name="Shape 14"/>
          <p:cNvSpPr/>
          <p:nvPr/>
        </p:nvSpPr>
        <p:spPr>
          <a:xfrm>
            <a:off x="8138160" y="1883664"/>
            <a:ext cx="3474720" cy="2103120"/>
          </a:xfrm>
          <a:prstGeom prst="roundRect">
            <a:avLst>
              <a:gd name="adj" fmla="val 2174"/>
            </a:avLst>
          </a:prstGeom>
          <a:solidFill>
            <a:srgbClr val="15171B"/>
          </a:solidFill>
          <a:ln w="12700">
            <a:solidFill>
              <a:srgbClr val="15171B"/>
            </a:solidFill>
            <a:prstDash val="solid"/>
          </a:ln>
        </p:spPr>
      </p:sp>
      <p:sp>
        <p:nvSpPr>
          <p:cNvPr id="17" name="Shape 15"/>
          <p:cNvSpPr/>
          <p:nvPr/>
        </p:nvSpPr>
        <p:spPr>
          <a:xfrm>
            <a:off x="8375904" y="2066544"/>
            <a:ext cx="310896" cy="310896"/>
          </a:xfrm>
          <a:prstGeom prst="roundRect">
            <a:avLst>
              <a:gd name="adj" fmla="val 26471"/>
            </a:avLst>
          </a:prstGeom>
          <a:solidFill>
            <a:srgbClr val="E8551F"/>
          </a:solidFill>
          <a:ln w="12700">
            <a:solidFill>
              <a:srgbClr val="E8551F"/>
            </a:solidFill>
            <a:prstDash val="solid"/>
          </a:ln>
        </p:spPr>
      </p:sp>
      <p:sp>
        <p:nvSpPr>
          <p:cNvPr id="18" name="Text 16"/>
          <p:cNvSpPr/>
          <p:nvPr/>
        </p:nvSpPr>
        <p:spPr>
          <a:xfrm>
            <a:off x="8375904" y="206654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9" name="Text 17"/>
          <p:cNvSpPr/>
          <p:nvPr/>
        </p:nvSpPr>
        <p:spPr>
          <a:xfrm>
            <a:off x="8796528" y="2066544"/>
            <a:ext cx="2578608"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1 dashboard</a:t>
            </a:r>
            <a:endParaRPr lang="en-US" sz="1400" dirty="0"/>
          </a:p>
        </p:txBody>
      </p:sp>
      <p:sp>
        <p:nvSpPr>
          <p:cNvPr id="20" name="Text 18"/>
          <p:cNvSpPr/>
          <p:nvPr/>
        </p:nvSpPr>
        <p:spPr>
          <a:xfrm>
            <a:off x="8375904" y="2523744"/>
            <a:ext cx="2999232" cy="1316736"/>
          </a:xfrm>
          <a:prstGeom prst="rect">
            <a:avLst/>
          </a:prstGeom>
          <a:noFill/>
          <a:ln/>
        </p:spPr>
        <p:txBody>
          <a:bodyPr wrap="square" lIns="0" tIns="0" rIns="0" bIns="0" rtlCol="0" anchor="t"/>
          <a:lstStyle/>
          <a:p>
            <a:pPr indent="0" marL="0">
              <a:lnSpc>
                <a:spcPts val="1300"/>
              </a:lnSpc>
              <a:buNone/>
            </a:pPr>
            <a:r>
              <a:rPr lang="en-US" sz="1000" dirty="0">
                <a:solidFill>
                  <a:srgbClr val="B4B7BD"/>
                </a:solidFill>
                <a:latin typeface="Calibri" pitchFamily="34" charset="0"/>
                <a:ea typeface="Calibri" pitchFamily="34" charset="-122"/>
                <a:cs typeface="Calibri" pitchFamily="34" charset="-120"/>
              </a:rPr>
              <a:t>An Alerts dashboard over koi_koi_raw — counting distinct notifications, not raw duplicated rows.</a:t>
            </a:r>
            <a:endParaRPr lang="en-US" sz="1000" dirty="0"/>
          </a:p>
        </p:txBody>
      </p:sp>
      <p:sp>
        <p:nvSpPr>
          <p:cNvPr id="21" name="Shape 19"/>
          <p:cNvSpPr/>
          <p:nvPr/>
        </p:nvSpPr>
        <p:spPr>
          <a:xfrm>
            <a:off x="548640" y="4187952"/>
            <a:ext cx="11064240" cy="1481328"/>
          </a:xfrm>
          <a:prstGeom prst="roundRect">
            <a:avLst>
              <a:gd name="adj" fmla="val 3086"/>
            </a:avLst>
          </a:prstGeom>
          <a:solidFill>
            <a:srgbClr val="1C2026"/>
          </a:solidFill>
          <a:ln w="12700">
            <a:solidFill>
              <a:srgbClr val="1C2026"/>
            </a:solidFill>
            <a:prstDash val="solid"/>
          </a:ln>
        </p:spPr>
      </p:sp>
      <p:sp>
        <p:nvSpPr>
          <p:cNvPr id="22" name="Shape 20"/>
          <p:cNvSpPr/>
          <p:nvPr/>
        </p:nvSpPr>
        <p:spPr>
          <a:xfrm>
            <a:off x="822960" y="4407408"/>
            <a:ext cx="365760" cy="365760"/>
          </a:xfrm>
          <a:prstGeom prst="roundRect">
            <a:avLst>
              <a:gd name="adj" fmla="val 22500"/>
            </a:avLst>
          </a:prstGeom>
          <a:solidFill>
            <a:srgbClr val="3FB950"/>
          </a:solidFill>
          <a:ln w="12700">
            <a:solidFill>
              <a:srgbClr val="3FB950"/>
            </a:solidFill>
            <a:prstDash val="solid"/>
          </a:ln>
        </p:spPr>
      </p:sp>
      <p:sp>
        <p:nvSpPr>
          <p:cNvPr id="23" name="Text 21"/>
          <p:cNvSpPr/>
          <p:nvPr/>
        </p:nvSpPr>
        <p:spPr>
          <a:xfrm>
            <a:off x="822960" y="44074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4" name="Text 22"/>
          <p:cNvSpPr/>
          <p:nvPr/>
        </p:nvSpPr>
        <p:spPr>
          <a:xfrm>
            <a:off x="1389888" y="4334256"/>
            <a:ext cx="987552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Separate, additional content</a:t>
            </a:r>
            <a:endParaRPr lang="en-US" sz="1500" dirty="0"/>
          </a:p>
        </p:txBody>
      </p:sp>
      <p:sp>
        <p:nvSpPr>
          <p:cNvPr id="25" name="Text 23"/>
          <p:cNvSpPr/>
          <p:nvPr/>
        </p:nvSpPr>
        <p:spPr>
          <a:xfrm>
            <a:off x="1389888" y="4663440"/>
            <a:ext cx="9930384" cy="932688"/>
          </a:xfrm>
          <a:prstGeom prst="rect">
            <a:avLst/>
          </a:prstGeom>
          <a:noFill/>
          <a:ln/>
        </p:spPr>
        <p:txBody>
          <a:bodyPr wrap="square" lIns="0" tIns="0" rIns="0" bIns="0" rtlCol="0" anchor="t"/>
          <a:lstStyle/>
          <a:p>
            <a:pPr indent="0" marL="0">
              <a:lnSpc>
                <a:spcPts val="1350"/>
              </a:lnSpc>
              <a:buNone/>
            </a:pPr>
            <a:r>
              <a:rPr lang="en-US" sz="1050" dirty="0">
                <a:solidFill>
                  <a:srgbClr val="B4B7BD"/>
                </a:solidFill>
                <a:latin typeface="Calibri" pitchFamily="34" charset="0"/>
                <a:ea typeface="Calibri" pitchFamily="34" charset="-122"/>
                <a:cs typeface="Calibri" pitchFamily="34" charset="-120"/>
              </a:rPr>
              <a:t>KoiContentExtension ("KOI Content Extension") v1.0.0 · community support · author Ayman Mahmoud. Depends on the KOI pack — install this pack first. It ships no integration and no commands of its own. </a:t>
            </a:r>
            <a:pPr indent="0" marL="0">
              <a:lnSpc>
                <a:spcPts val="1350"/>
              </a:lnSpc>
              <a:buNone/>
            </a:pPr>
            <a:r>
              <a:rPr lang="en-US" sz="1050" b="1" dirty="0">
                <a:solidFill>
                  <a:srgbClr val="F5A524"/>
                </a:solidFill>
                <a:latin typeface="Calibri" pitchFamily="34" charset="0"/>
                <a:ea typeface="Calibri" pitchFamily="34" charset="-122"/>
                <a:cs typeface="Calibri" pitchFamily="34" charset="-120"/>
              </a:rPr>
              <a:t>This is NOT the custom v1.3.0 pack from the comparison slide — that one conflicts and overwrites; this one layers on top.</a:t>
            </a:r>
            <a:endParaRPr lang="en-US" sz="1050" dirty="0"/>
          </a:p>
          <a:p>
            <a:pPr indent="0" marL="0">
              <a:lnSpc>
                <a:spcPts val="1350"/>
              </a:lnSpc>
              <a:buNone/>
            </a:pPr>
            <a:r>
              <a:rPr lang="en-US" sz="950" i="1" dirty="0">
                <a:solidFill>
                  <a:srgbClr val="6E747E"/>
                </a:solidFill>
                <a:latin typeface="Calibri" pitchFamily="34" charset="0"/>
                <a:ea typeface="Calibri" pitchFamily="34" charset="-122"/>
                <a:cs typeface="Calibri" pitchFamily="34" charset="-120"/>
              </a:rPr>
              <a:t>Its playbooks apply the event→API marketplace mapping and run inventory lookups continue-on-error — exactly the caveats on the “know before you query” slide.</a:t>
            </a:r>
            <a:endParaRPr lang="en-US" sz="1050" dirty="0"/>
          </a:p>
        </p:txBody>
      </p:sp>
      <p:sp>
        <p:nvSpPr>
          <p:cNvPr id="26" name="Text 24"/>
          <p:cNvSpPr/>
          <p:nvPr/>
        </p:nvSpPr>
        <p:spPr>
          <a:xfrm>
            <a:off x="548640" y="5833872"/>
            <a:ext cx="11064240" cy="274320"/>
          </a:xfrm>
          <a:prstGeom prst="rect">
            <a:avLst/>
          </a:prstGeom>
          <a:noFill/>
          <a:ln/>
        </p:spPr>
        <p:txBody>
          <a:bodyPr wrap="square" lIns="0" tIns="0" rIns="0" bIns="0" rtlCol="0" anchor="ctr"/>
          <a:lstStyle/>
          <a:p>
            <a:pPr indent="0" marL="0">
              <a:buNone/>
            </a:pPr>
            <a:r>
              <a:rPr lang="en-US" sz="950" i="1" dirty="0">
                <a:solidFill>
                  <a:srgbClr val="6E747E"/>
                </a:solidFill>
                <a:latin typeface="Calibri" pitchFamily="34" charset="0"/>
                <a:ea typeface="Calibri" pitchFamily="34" charset="-122"/>
                <a:cs typeface="Calibri" pitchFamily="34" charset="-120"/>
              </a:rPr>
              <a:t>Component counts read at build time from Packs/KoiContentExtension (pack_metadata.json + directory listing): 10 playbook files, 1 dashboard, ParsingRules + ModelingRules present.  Its role against koi_koi_raw and the §7c / §7d.3 behaviours its playbooks handle: VERIFIED_FACTS §7a, §7c, §7d.3.</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6419088"/>
            <a:ext cx="11064240" cy="237744"/>
          </a:xfrm>
          <a:prstGeom prst="rect">
            <a:avLst/>
          </a:prstGeom>
          <a:noFill/>
          <a:ln/>
        </p:spPr>
        <p:txBody>
          <a:bodyPr wrap="square" lIns="0" tIns="0" rIns="0" bIns="0" rtlCol="0" anchor="ctr"/>
          <a:lstStyle/>
          <a:p>
            <a:pPr indent="0" marL="0">
              <a:buNone/>
            </a:pPr>
            <a:r>
              <a:rPr lang="en-US" sz="800" dirty="0">
                <a:solidFill>
                  <a:srgbClr val="6E747E"/>
                </a:solidFill>
                <a:latin typeface="Calibri" pitchFamily="34" charset="0"/>
                <a:ea typeface="Calibri" pitchFamily="34" charset="-122"/>
                <a:cs typeface="Calibri" pitchFamily="34" charset="-120"/>
              </a:rPr>
              <a:t>Marketplace KOI pack v1.2.3  ·  demisto/content / Packs/Koi  ·  integration only, 13 commands  ·  not the custom v1.3.0 pack</a:t>
            </a:r>
            <a:endParaRPr lang="en-US" sz="800" dirty="0"/>
          </a:p>
        </p:txBody>
      </p:sp>
      <p:sp>
        <p:nvSpPr>
          <p:cNvPr id="3" name="Text 1"/>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200" kern="0" dirty="0">
                <a:solidFill>
                  <a:srgbClr val="E8551F"/>
                </a:solidFill>
                <a:latin typeface="Calibri" pitchFamily="34" charset="0"/>
                <a:ea typeface="Calibri" pitchFamily="34" charset="-122"/>
                <a:cs typeface="Calibri" pitchFamily="34" charset="-120"/>
              </a:rPr>
              <a:t>PROVENANCE</a:t>
            </a:r>
            <a:endParaRPr lang="en-US" sz="1100" dirty="0"/>
          </a:p>
        </p:txBody>
      </p:sp>
      <p:sp>
        <p:nvSpPr>
          <p:cNvPr id="4" name="Text 2"/>
          <p:cNvSpPr/>
          <p:nvPr/>
        </p:nvSpPr>
        <p:spPr>
          <a:xfrm>
            <a:off x="548640" y="612648"/>
            <a:ext cx="11064240" cy="658368"/>
          </a:xfrm>
          <a:prstGeom prst="rect">
            <a:avLst/>
          </a:prstGeom>
          <a:noFill/>
          <a:ln/>
        </p:spPr>
        <p:txBody>
          <a:bodyPr wrap="square" lIns="0" tIns="0" rIns="0" bIns="0" rtlCol="0" anchor="ctr"/>
          <a:lstStyle/>
          <a:p>
            <a:pPr indent="0" marL="0">
              <a:buNone/>
            </a:pPr>
            <a:r>
              <a:rPr lang="en-US" sz="3100" b="1" dirty="0">
                <a:solidFill>
                  <a:srgbClr val="FFFFFF"/>
                </a:solidFill>
                <a:latin typeface="Calibri" pitchFamily="34" charset="0"/>
                <a:ea typeface="Calibri" pitchFamily="34" charset="-122"/>
                <a:cs typeface="Calibri" pitchFamily="34" charset="-120"/>
              </a:rPr>
              <a:t>What was checked, and what was not</a:t>
            </a:r>
            <a:endParaRPr lang="en-US" sz="3100" dirty="0"/>
          </a:p>
        </p:txBody>
      </p:sp>
      <p:sp>
        <p:nvSpPr>
          <p:cNvPr id="5" name="Shape 3"/>
          <p:cNvSpPr/>
          <p:nvPr/>
        </p:nvSpPr>
        <p:spPr>
          <a:xfrm>
            <a:off x="548640" y="1335024"/>
            <a:ext cx="5326380" cy="3566160"/>
          </a:xfrm>
          <a:prstGeom prst="roundRect">
            <a:avLst>
              <a:gd name="adj" fmla="val 1282"/>
            </a:avLst>
          </a:prstGeom>
          <a:solidFill>
            <a:srgbClr val="15171B"/>
          </a:solidFill>
          <a:ln w="12700">
            <a:solidFill>
              <a:srgbClr val="15171B"/>
            </a:solidFill>
            <a:prstDash val="solid"/>
          </a:ln>
        </p:spPr>
      </p:sp>
      <p:sp>
        <p:nvSpPr>
          <p:cNvPr id="6" name="Text 4"/>
          <p:cNvSpPr/>
          <p:nvPr/>
        </p:nvSpPr>
        <p:spPr>
          <a:xfrm>
            <a:off x="822960" y="1499616"/>
            <a:ext cx="4777740" cy="310896"/>
          </a:xfrm>
          <a:prstGeom prst="rect">
            <a:avLst/>
          </a:prstGeom>
          <a:noFill/>
          <a:ln/>
        </p:spPr>
        <p:txBody>
          <a:bodyPr wrap="square" lIns="0" tIns="0" rIns="0" bIns="0" rtlCol="0" anchor="ctr"/>
          <a:lstStyle/>
          <a:p>
            <a:pPr indent="0" marL="0">
              <a:buNone/>
            </a:pPr>
            <a:r>
              <a:rPr lang="en-US" sz="1600" b="1" dirty="0">
                <a:solidFill>
                  <a:srgbClr val="3FB950"/>
                </a:solidFill>
                <a:latin typeface="Calibri" pitchFamily="34" charset="0"/>
                <a:ea typeface="Calibri" pitchFamily="34" charset="-122"/>
                <a:cs typeface="Calibri" pitchFamily="34" charset="-120"/>
              </a:rPr>
              <a:t>Verified</a:t>
            </a:r>
            <a:endParaRPr lang="en-US" sz="1600" dirty="0"/>
          </a:p>
        </p:txBody>
      </p:sp>
      <p:sp>
        <p:nvSpPr>
          <p:cNvPr id="7" name="Text 5"/>
          <p:cNvSpPr/>
          <p:nvPr/>
        </p:nvSpPr>
        <p:spPr>
          <a:xfrm>
            <a:off x="822960" y="1810512"/>
            <a:ext cx="4777740" cy="237744"/>
          </a:xfrm>
          <a:prstGeom prst="rect">
            <a:avLst/>
          </a:prstGeom>
          <a:noFill/>
          <a:ln/>
        </p:spPr>
        <p:txBody>
          <a:bodyPr wrap="square" lIns="0" tIns="0" rIns="0" bIns="0" rtlCol="0" anchor="ctr"/>
          <a:lstStyle/>
          <a:p>
            <a:pPr indent="0" marL="0">
              <a:buNone/>
            </a:pPr>
            <a:r>
              <a:rPr lang="en-US" sz="1000" dirty="0">
                <a:solidFill>
                  <a:srgbClr val="6E747E"/>
                </a:solidFill>
                <a:latin typeface="Courier New" pitchFamily="34" charset="0"/>
                <a:ea typeface="Courier New" pitchFamily="34" charset="-122"/>
                <a:cs typeface="Courier New" pitchFamily="34" charset="-120"/>
              </a:rPr>
              <a:t>on the tenant or against the KOI API, 20 Jul 2026</a:t>
            </a:r>
            <a:endParaRPr lang="en-US" sz="1000" dirty="0"/>
          </a:p>
        </p:txBody>
      </p:sp>
      <p:sp>
        <p:nvSpPr>
          <p:cNvPr id="8" name="Text 6"/>
          <p:cNvSpPr/>
          <p:nvPr/>
        </p:nvSpPr>
        <p:spPr>
          <a:xfrm>
            <a:off x="841248" y="2103120"/>
            <a:ext cx="4741164" cy="2743200"/>
          </a:xfrm>
          <a:prstGeom prst="rect">
            <a:avLst/>
          </a:prstGeom>
          <a:noFill/>
          <a:ln/>
        </p:spPr>
        <p:txBody>
          <a:bodyPr wrap="square" lIns="0" tIns="0" rIns="0" bIns="0" rtlCol="0" anchor="t"/>
          <a:lstStyle/>
          <a:p>
            <a:pPr marL="165100" indent="-165100">
              <a:lnSpc>
                <a:spcPts val="1300"/>
              </a:lnSpc>
              <a:spcAft>
                <a:spcPts val="300"/>
              </a:spcAft>
              <a:buSzPct val="100000"/>
              <a:buChar char="•"/>
            </a:pPr>
            <a:r>
              <a:rPr lang="en-US" sz="1000" dirty="0">
                <a:solidFill>
                  <a:srgbClr val="B4B7BD"/>
                </a:solidFill>
                <a:latin typeface="Calibri" pitchFamily="34" charset="0"/>
                <a:ea typeface="Calibri" pitchFamily="34" charset="-122"/>
                <a:cs typeface="Calibri" pitchFamily="34" charset="-120"/>
              </a:rPr>
              <a:t>Which pack is installed — the Marketplace pack, brand KOI</a:t>
            </a:r>
            <a:endParaRPr lang="en-US" sz="1000" dirty="0"/>
          </a:p>
          <a:p>
            <a:pPr marL="165100" indent="-165100">
              <a:lnSpc>
                <a:spcPts val="1300"/>
              </a:lnSpc>
              <a:spcAft>
                <a:spcPts val="300"/>
              </a:spcAft>
              <a:buSzPct val="100000"/>
              <a:buChar char="•"/>
            </a:pPr>
            <a:r>
              <a:rPr lang="en-US" sz="1000" dirty="0">
                <a:solidFill>
                  <a:srgbClr val="B4B7BD"/>
                </a:solidFill>
                <a:latin typeface="Calibri" pitchFamily="34" charset="0"/>
                <a:ea typeface="Calibri" pitchFamily="34" charset="-122"/>
                <a:cs typeface="Calibri" pitchFamily="34" charset="-120"/>
              </a:rPr>
              <a:t>The dataset name koi_koi_raw — measured, not inferred</a:t>
            </a:r>
            <a:endParaRPr lang="en-US" sz="1000" dirty="0"/>
          </a:p>
          <a:p>
            <a:pPr marL="165100" indent="-165100">
              <a:lnSpc>
                <a:spcPts val="1300"/>
              </a:lnSpc>
              <a:spcAft>
                <a:spcPts val="300"/>
              </a:spcAft>
              <a:buSzPct val="100000"/>
              <a:buChar char="•"/>
            </a:pPr>
            <a:r>
              <a:rPr lang="en-US" sz="1000" dirty="0">
                <a:solidFill>
                  <a:srgbClr val="B4B7BD"/>
                </a:solidFill>
                <a:latin typeface="Calibri" pitchFamily="34" charset="0"/>
                <a:ea typeface="Calibri" pitchFamily="34" charset="-122"/>
                <a:cs typeface="Calibri" pitchFamily="34" charset="-120"/>
              </a:rPr>
              <a:t>20,156 events and 80 distinct hostnames over 30 days — a snapshot that drifts</a:t>
            </a:r>
            <a:endParaRPr lang="en-US" sz="1000" dirty="0"/>
          </a:p>
          <a:p>
            <a:pPr marL="165100" indent="-165100">
              <a:lnSpc>
                <a:spcPts val="1300"/>
              </a:lnSpc>
              <a:spcAft>
                <a:spcPts val="300"/>
              </a:spcAft>
              <a:buSzPct val="100000"/>
              <a:buChar char="•"/>
            </a:pPr>
            <a:r>
              <a:rPr lang="en-US" sz="1000" dirty="0">
                <a:solidFill>
                  <a:srgbClr val="B4B7BD"/>
                </a:solidFill>
                <a:latin typeface="Calibri" pitchFamily="34" charset="0"/>
                <a:ea typeface="Calibri" pitchFamily="34" charset="-122"/>
                <a:cs typeface="Calibri" pitchFamily="34" charset="-120"/>
              </a:rPr>
              <a:t>The Audit / Alerts schema split and the OCSF class</a:t>
            </a:r>
            <a:endParaRPr lang="en-US" sz="1000" dirty="0"/>
          </a:p>
          <a:p>
            <a:pPr marL="165100" indent="-165100">
              <a:lnSpc>
                <a:spcPts val="1300"/>
              </a:lnSpc>
              <a:spcAft>
                <a:spcPts val="300"/>
              </a:spcAft>
              <a:buSzPct val="100000"/>
              <a:buChar char="•"/>
            </a:pPr>
            <a:r>
              <a:rPr lang="en-US" sz="1000" dirty="0">
                <a:solidFill>
                  <a:srgbClr val="B4B7BD"/>
                </a:solidFill>
                <a:latin typeface="Calibri" pitchFamily="34" charset="0"/>
                <a:ea typeface="Calibri" pitchFamily="34" charset="-122"/>
                <a:cs typeface="Calibri" pitchFamily="34" charset="-120"/>
              </a:rPr>
              <a:t>That no XDM field is populated anywhere</a:t>
            </a:r>
            <a:endParaRPr lang="en-US" sz="1000" dirty="0"/>
          </a:p>
          <a:p>
            <a:pPr marL="165100" indent="-165100">
              <a:lnSpc>
                <a:spcPts val="1300"/>
              </a:lnSpc>
              <a:spcAft>
                <a:spcPts val="300"/>
              </a:spcAft>
              <a:buSzPct val="100000"/>
              <a:buChar char="•"/>
            </a:pPr>
            <a:r>
              <a:rPr lang="en-US" sz="1000" dirty="0">
                <a:solidFill>
                  <a:srgbClr val="B4B7BD"/>
                </a:solidFill>
                <a:latin typeface="Calibri" pitchFamily="34" charset="0"/>
                <a:ea typeface="Calibri" pitchFamily="34" charset="-122"/>
                <a:cs typeface="Calibri" pitchFamily="34" charset="-120"/>
              </a:rPr>
              <a:t>Fetch events enabled on both instances — XSIAM only</a:t>
            </a:r>
            <a:endParaRPr lang="en-US" sz="1000" dirty="0"/>
          </a:p>
          <a:p>
            <a:pPr marL="165100" indent="-165100">
              <a:lnSpc>
                <a:spcPts val="1300"/>
              </a:lnSpc>
              <a:spcAft>
                <a:spcPts val="300"/>
              </a:spcAft>
              <a:buSzPct val="100000"/>
              <a:buChar char="•"/>
            </a:pPr>
            <a:r>
              <a:rPr lang="en-US" sz="1000" dirty="0">
                <a:solidFill>
                  <a:srgbClr val="B4B7BD"/>
                </a:solidFill>
                <a:latin typeface="Calibri" pitchFamily="34" charset="0"/>
                <a:ea typeface="Calibri" pitchFamily="34" charset="-122"/>
                <a:cs typeface="Calibri" pitchFamily="34" charset="-120"/>
              </a:rPr>
              <a:t>The API behind 8 of the 13 commands, exercised without changing tenant state — 7 of those are freely repeatable, get-events is not</a:t>
            </a:r>
            <a:endParaRPr lang="en-US" sz="1000" dirty="0"/>
          </a:p>
          <a:p>
            <a:pPr marL="165100" indent="-165100">
              <a:lnSpc>
                <a:spcPts val="1300"/>
              </a:lnSpc>
              <a:spcAft>
                <a:spcPts val="300"/>
              </a:spcAft>
              <a:buSzPct val="100000"/>
              <a:buChar char="•"/>
            </a:pPr>
            <a:r>
              <a:rPr lang="en-US" sz="1000" dirty="0">
                <a:solidFill>
                  <a:srgbClr val="B4B7BD"/>
                </a:solidFill>
                <a:latin typeface="Calibri" pitchFamily="34" charset="0"/>
                <a:ea typeface="Calibri" pitchFamily="34" charset="-122"/>
                <a:cs typeface="Calibri" pitchFamily="34" charset="-120"/>
              </a:rPr>
              <a:t>The 5 state-changing commands were deliberately NOT run: allowlist-items-remove, allowlist-items-add, blocklist-items-remove, blocklist-items-add, policy-status-update</a:t>
            </a:r>
            <a:endParaRPr lang="en-US" sz="1000" dirty="0"/>
          </a:p>
          <a:p>
            <a:pPr marL="165100" indent="-165100">
              <a:lnSpc>
                <a:spcPts val="1300"/>
              </a:lnSpc>
              <a:spcAft>
                <a:spcPts val="300"/>
              </a:spcAft>
              <a:buSzPct val="100000"/>
              <a:buChar char="•"/>
            </a:pPr>
            <a:r>
              <a:rPr lang="en-US" sz="1000" dirty="0">
                <a:solidFill>
                  <a:srgbClr val="B4B7BD"/>
                </a:solidFill>
                <a:latin typeface="Calibri" pitchFamily="34" charset="0"/>
                <a:ea typeface="Calibri" pitchFamily="34" charset="-122"/>
                <a:cs typeface="Calibri" pitchFamily="34" charset="-120"/>
              </a:rPr>
              <a:t>An invalid bearer token returns HTTP 401 (no 403 was ever observed)</a:t>
            </a:r>
            <a:endParaRPr lang="en-US" sz="1000" dirty="0"/>
          </a:p>
          <a:p>
            <a:pPr marL="165100" indent="-165100">
              <a:lnSpc>
                <a:spcPts val="1300"/>
              </a:lnSpc>
              <a:spcAft>
                <a:spcPts val="300"/>
              </a:spcAft>
              <a:buSzPct val="100000"/>
              <a:buChar char="•"/>
            </a:pPr>
            <a:r>
              <a:rPr lang="en-US" sz="1000" dirty="0">
                <a:solidFill>
                  <a:srgbClr val="B4B7BD"/>
                </a:solidFill>
                <a:latin typeface="Calibri" pitchFamily="34" charset="0"/>
                <a:ea typeface="Calibri" pitchFamily="34" charset="-122"/>
                <a:cs typeface="Calibri" pitchFamily="34" charset="-120"/>
              </a:rPr>
              <a:t>The two pack defects on the sharp-edges slide — the four other cards there are a documentation gap, two API observations and this tenant's configuration</a:t>
            </a:r>
            <a:endParaRPr lang="en-US" sz="1000" dirty="0"/>
          </a:p>
        </p:txBody>
      </p:sp>
      <p:sp>
        <p:nvSpPr>
          <p:cNvPr id="9" name="Shape 7"/>
          <p:cNvSpPr/>
          <p:nvPr/>
        </p:nvSpPr>
        <p:spPr>
          <a:xfrm>
            <a:off x="6286500" y="1335024"/>
            <a:ext cx="5326380" cy="3566160"/>
          </a:xfrm>
          <a:prstGeom prst="roundRect">
            <a:avLst>
              <a:gd name="adj" fmla="val 1282"/>
            </a:avLst>
          </a:prstGeom>
          <a:solidFill>
            <a:srgbClr val="15171B"/>
          </a:solidFill>
          <a:ln w="12700">
            <a:solidFill>
              <a:srgbClr val="15171B"/>
            </a:solidFill>
            <a:prstDash val="solid"/>
          </a:ln>
        </p:spPr>
      </p:sp>
      <p:sp>
        <p:nvSpPr>
          <p:cNvPr id="10" name="Text 8"/>
          <p:cNvSpPr/>
          <p:nvPr/>
        </p:nvSpPr>
        <p:spPr>
          <a:xfrm>
            <a:off x="6560820" y="1499616"/>
            <a:ext cx="4777740" cy="310896"/>
          </a:xfrm>
          <a:prstGeom prst="rect">
            <a:avLst/>
          </a:prstGeom>
          <a:noFill/>
          <a:ln/>
        </p:spPr>
        <p:txBody>
          <a:bodyPr wrap="square" lIns="0" tIns="0" rIns="0" bIns="0" rtlCol="0" anchor="ctr"/>
          <a:lstStyle/>
          <a:p>
            <a:pPr indent="0" marL="0">
              <a:buNone/>
            </a:pPr>
            <a:r>
              <a:rPr lang="en-US" sz="1600" b="1" dirty="0">
                <a:solidFill>
                  <a:srgbClr val="F5A524"/>
                </a:solidFill>
                <a:latin typeface="Calibri" pitchFamily="34" charset="0"/>
                <a:ea typeface="Calibri" pitchFamily="34" charset="-122"/>
                <a:cs typeface="Calibri" pitchFamily="34" charset="-120"/>
              </a:rPr>
              <a:t>Not verified</a:t>
            </a:r>
            <a:endParaRPr lang="en-US" sz="1600" dirty="0"/>
          </a:p>
        </p:txBody>
      </p:sp>
      <p:sp>
        <p:nvSpPr>
          <p:cNvPr id="11" name="Text 9"/>
          <p:cNvSpPr/>
          <p:nvPr/>
        </p:nvSpPr>
        <p:spPr>
          <a:xfrm>
            <a:off x="6560820" y="1810512"/>
            <a:ext cx="4777740" cy="237744"/>
          </a:xfrm>
          <a:prstGeom prst="rect">
            <a:avLst/>
          </a:prstGeom>
          <a:noFill/>
          <a:ln/>
        </p:spPr>
        <p:txBody>
          <a:bodyPr wrap="square" lIns="0" tIns="0" rIns="0" bIns="0" rtlCol="0" anchor="ctr"/>
          <a:lstStyle/>
          <a:p>
            <a:pPr indent="0" marL="0">
              <a:buNone/>
            </a:pPr>
            <a:r>
              <a:rPr lang="en-US" sz="1000" dirty="0">
                <a:solidFill>
                  <a:srgbClr val="6E747E"/>
                </a:solidFill>
                <a:latin typeface="Courier New" pitchFamily="34" charset="0"/>
                <a:ea typeface="Courier New" pitchFamily="34" charset="-122"/>
                <a:cs typeface="Courier New" pitchFamily="34" charset="-120"/>
              </a:rPr>
              <a:t>stated as unverified, never asserted</a:t>
            </a:r>
            <a:endParaRPr lang="en-US" sz="1000" dirty="0"/>
          </a:p>
        </p:txBody>
      </p:sp>
      <p:sp>
        <p:nvSpPr>
          <p:cNvPr id="12" name="Text 10"/>
          <p:cNvSpPr/>
          <p:nvPr/>
        </p:nvSpPr>
        <p:spPr>
          <a:xfrm>
            <a:off x="6579108" y="2103120"/>
            <a:ext cx="4741164" cy="2743200"/>
          </a:xfrm>
          <a:prstGeom prst="rect">
            <a:avLst/>
          </a:prstGeom>
          <a:noFill/>
          <a:ln/>
        </p:spPr>
        <p:txBody>
          <a:bodyPr wrap="square" lIns="0" tIns="0" rIns="0" bIns="0" rtlCol="0" anchor="t"/>
          <a:lstStyle/>
          <a:p>
            <a:pPr marL="165100" indent="-165100">
              <a:lnSpc>
                <a:spcPts val="1300"/>
              </a:lnSpc>
              <a:spcAft>
                <a:spcPts val="300"/>
              </a:spcAft>
              <a:buSzPct val="100000"/>
              <a:buChar char="•"/>
            </a:pPr>
            <a:r>
              <a:rPr lang="en-US" sz="1000" dirty="0">
                <a:solidFill>
                  <a:srgbClr val="B4B7BD"/>
                </a:solidFill>
                <a:latin typeface="Calibri" pitchFamily="34" charset="0"/>
                <a:ea typeface="Calibri" pitchFamily="34" charset="-122"/>
                <a:cs typeface="Calibri" pitchFamily="34" charset="-120"/>
              </a:rPr>
              <a:t>Not one of the 13 commands was executed through XSIAM — no war-room output and no context mapping was observed</a:t>
            </a:r>
            <a:endParaRPr lang="en-US" sz="1000" dirty="0"/>
          </a:p>
          <a:p>
            <a:pPr marL="165100" indent="-165100">
              <a:lnSpc>
                <a:spcPts val="1300"/>
              </a:lnSpc>
              <a:spcAft>
                <a:spcPts val="300"/>
              </a:spcAft>
              <a:buSzPct val="100000"/>
              <a:buChar char="•"/>
            </a:pPr>
            <a:r>
              <a:rPr lang="en-US" sz="1000" dirty="0">
                <a:solidFill>
                  <a:srgbClr val="B4B7BD"/>
                </a:solidFill>
                <a:latin typeface="Calibri" pitchFamily="34" charset="0"/>
                <a:ea typeface="Calibri" pitchFamily="34" charset="-122"/>
                <a:cs typeface="Calibri" pitchFamily="34" charset="-120"/>
              </a:rPr>
              <a:t>POST /investigations/search returns a 303 to /#/404, so demisto-sdk run cannot reach this tenant at all</a:t>
            </a:r>
            <a:endParaRPr lang="en-US" sz="1000" dirty="0"/>
          </a:p>
          <a:p>
            <a:pPr marL="165100" indent="-165100">
              <a:lnSpc>
                <a:spcPts val="1300"/>
              </a:lnSpc>
              <a:spcAft>
                <a:spcPts val="300"/>
              </a:spcAft>
              <a:buSzPct val="100000"/>
              <a:buChar char="•"/>
            </a:pPr>
            <a:r>
              <a:rPr lang="en-US" sz="1000" dirty="0">
                <a:solidFill>
                  <a:srgbClr val="B4B7BD"/>
                </a:solidFill>
                <a:latin typeface="Calibri" pitchFamily="34" charset="0"/>
                <a:ea typeface="Calibri" pitchFamily="34" charset="-122"/>
                <a:cs typeface="Calibri" pitchFamily="34" charset="-120"/>
              </a:rPr>
              <a:t>POST /incident returns 200 with an empty body and creates nothing</a:t>
            </a:r>
            <a:endParaRPr lang="en-US" sz="1000" dirty="0"/>
          </a:p>
          <a:p>
            <a:pPr marL="165100" indent="-165100">
              <a:lnSpc>
                <a:spcPts val="1300"/>
              </a:lnSpc>
              <a:spcAft>
                <a:spcPts val="300"/>
              </a:spcAft>
              <a:buSzPct val="100000"/>
              <a:buChar char="•"/>
            </a:pPr>
            <a:r>
              <a:rPr lang="en-US" sz="1000" dirty="0">
                <a:solidFill>
                  <a:srgbClr val="B4B7BD"/>
                </a:solidFill>
                <a:latin typeface="Calibri" pitchFamily="34" charset="0"/>
                <a:ea typeface="Calibri" pitchFamily="34" charset="-122"/>
                <a:cs typeface="Calibri" pitchFamily="34" charset="-120"/>
              </a:rPr>
              <a:t>An API-key user's playground is a malformed stub — every command there panics, including the built-in !Print</a:t>
            </a:r>
            <a:endParaRPr lang="en-US" sz="1000" dirty="0"/>
          </a:p>
          <a:p>
            <a:pPr marL="165100" indent="-165100">
              <a:lnSpc>
                <a:spcPts val="1300"/>
              </a:lnSpc>
              <a:spcAft>
                <a:spcPts val="300"/>
              </a:spcAft>
              <a:buSzPct val="100000"/>
              <a:buChar char="•"/>
            </a:pPr>
            <a:r>
              <a:rPr lang="en-US" sz="1000" dirty="0">
                <a:solidFill>
                  <a:srgbClr val="B4B7BD"/>
                </a:solidFill>
                <a:latin typeface="Calibri" pitchFamily="34" charset="0"/>
                <a:ea typeface="Calibri" pitchFamily="34" charset="-122"/>
                <a:cs typeface="Calibri" pitchFamily="34" charset="-120"/>
              </a:rPr>
              <a:t>So: XSOAR-side context mapping and human-readable output are asserted from the YAML and Koi.py, not observed</a:t>
            </a:r>
            <a:endParaRPr lang="en-US" sz="1000" dirty="0"/>
          </a:p>
          <a:p>
            <a:pPr marL="165100" indent="-165100">
              <a:lnSpc>
                <a:spcPts val="1300"/>
              </a:lnSpc>
              <a:spcAft>
                <a:spcPts val="300"/>
              </a:spcAft>
              <a:buSzPct val="100000"/>
              <a:buChar char="•"/>
            </a:pPr>
            <a:r>
              <a:rPr lang="en-US" sz="1000" dirty="0">
                <a:solidFill>
                  <a:srgbClr val="B4B7BD"/>
                </a:solidFill>
                <a:latin typeface="Calibri" pitchFamily="34" charset="0"/>
                <a:ea typeface="Calibri" pitchFamily="34" charset="-122"/>
                <a:cs typeface="Calibri" pitchFamily="34" charset="-120"/>
              </a:rPr>
              <a:t>The five state-changing commands, whose real behaviour is untested by design</a:t>
            </a:r>
            <a:endParaRPr lang="en-US" sz="1000" dirty="0"/>
          </a:p>
          <a:p>
            <a:pPr marL="165100" indent="-165100">
              <a:lnSpc>
                <a:spcPts val="1300"/>
              </a:lnSpc>
              <a:spcAft>
                <a:spcPts val="300"/>
              </a:spcAft>
              <a:buSzPct val="100000"/>
              <a:buChar char="•"/>
            </a:pPr>
            <a:r>
              <a:rPr lang="en-US" sz="1000" dirty="0">
                <a:solidFill>
                  <a:srgbClr val="B4B7BD"/>
                </a:solidFill>
                <a:latin typeface="Calibri" pitchFamily="34" charset="0"/>
                <a:ea typeface="Calibri" pitchFamily="34" charset="-122"/>
                <a:cs typeface="Calibri" pitchFamily="34" charset="-120"/>
              </a:rPr>
              <a:t>To close it: run the sweep from the XSIAM war room and compare against evidence/command-sweep.json</a:t>
            </a:r>
            <a:endParaRPr lang="en-US" sz="1000" dirty="0"/>
          </a:p>
        </p:txBody>
      </p:sp>
      <p:sp>
        <p:nvSpPr>
          <p:cNvPr id="13" name="Shape 11"/>
          <p:cNvSpPr/>
          <p:nvPr/>
        </p:nvSpPr>
        <p:spPr>
          <a:xfrm>
            <a:off x="548640" y="5010912"/>
            <a:ext cx="11064240" cy="786384"/>
          </a:xfrm>
          <a:prstGeom prst="roundRect">
            <a:avLst>
              <a:gd name="adj" fmla="val 5814"/>
            </a:avLst>
          </a:prstGeom>
          <a:solidFill>
            <a:srgbClr val="1C2026"/>
          </a:solidFill>
          <a:ln w="12700">
            <a:solidFill>
              <a:srgbClr val="1C2026"/>
            </a:solidFill>
            <a:prstDash val="solid"/>
          </a:ln>
        </p:spPr>
      </p:sp>
      <p:sp>
        <p:nvSpPr>
          <p:cNvPr id="14" name="Text 12"/>
          <p:cNvSpPr/>
          <p:nvPr/>
        </p:nvSpPr>
        <p:spPr>
          <a:xfrm>
            <a:off x="822960" y="5120640"/>
            <a:ext cx="10515600" cy="585216"/>
          </a:xfrm>
          <a:prstGeom prst="rect">
            <a:avLst/>
          </a:prstGeom>
          <a:noFill/>
          <a:ln/>
        </p:spPr>
        <p:txBody>
          <a:bodyPr wrap="square" lIns="0" tIns="0" rIns="0" bIns="0" rtlCol="0" anchor="t"/>
          <a:lstStyle/>
          <a:p>
            <a:pPr indent="0" marL="0">
              <a:lnSpc>
                <a:spcPts val="1300"/>
              </a:lnSpc>
              <a:buNone/>
            </a:pPr>
            <a:r>
              <a:rPr lang="en-US" sz="1050" b="1" dirty="0">
                <a:solidFill>
                  <a:srgbClr val="FFFFFF"/>
                </a:solidFill>
                <a:latin typeface="Calibri" pitchFamily="34" charset="0"/>
                <a:ea typeface="Calibri" pitchFamily="34" charset="-122"/>
                <a:cs typeface="Calibri" pitchFamily="34" charset="-120"/>
              </a:rPr>
              <a:t>How this deck is built:  </a:t>
            </a:r>
            <a:pPr indent="0" marL="0">
              <a:lnSpc>
                <a:spcPts val="1300"/>
              </a:lnSpc>
              <a:buNone/>
            </a:pPr>
            <a:r>
              <a:rPr lang="en-US" sz="1050" dirty="0">
                <a:solidFill>
                  <a:srgbClr val="B4B7BD"/>
                </a:solidFill>
                <a:latin typeface="Calibri" pitchFamily="34" charset="0"/>
                <a:ea typeface="Calibri" pitchFamily="34" charset="-122"/>
                <a:cs typeface="Calibri" pitchFamily="34" charset="-120"/>
              </a:rPr>
              <a:t>every command, argument, enum, context path and configuration value on these slides is read at build time from reference/marketplace-pack.json, derived mechanically from demisto/content Packs/Koi/Integrations/Koi/Koi.yml (md5 5497cdddedeb0c0d7d0b371aa075a64c, checked against master 2026-07-20). Nothing about the command surface is hand-typed. The endpoint and auth details come from Koi.py, not the YAML.</a:t>
            </a:r>
            <a:endParaRPr lang="en-US" sz="1050" dirty="0"/>
          </a:p>
        </p:txBody>
      </p:sp>
      <p:sp>
        <p:nvSpPr>
          <p:cNvPr id="15" name="Text 13"/>
          <p:cNvSpPr/>
          <p:nvPr/>
        </p:nvSpPr>
        <p:spPr>
          <a:xfrm>
            <a:off x="548640" y="5888736"/>
            <a:ext cx="11064240" cy="274320"/>
          </a:xfrm>
          <a:prstGeom prst="rect">
            <a:avLst/>
          </a:prstGeom>
          <a:noFill/>
          <a:ln/>
        </p:spPr>
        <p:txBody>
          <a:bodyPr wrap="square" lIns="0" tIns="0" rIns="0" bIns="0" rtlCol="0" anchor="ctr"/>
          <a:lstStyle/>
          <a:p>
            <a:pPr indent="0" marL="0">
              <a:buNone/>
            </a:pPr>
            <a:r>
              <a:rPr lang="en-US" sz="950" i="1" dirty="0">
                <a:solidFill>
                  <a:srgbClr val="6E747E"/>
                </a:solidFill>
                <a:latin typeface="Calibri" pitchFamily="34" charset="0"/>
                <a:ea typeface="Calibri" pitchFamily="34" charset="-122"/>
                <a:cs typeface="Calibri" pitchFamily="34" charset="-120"/>
              </a:rPr>
              <a:t>VERIFIED_FACTS §1.1, §3, §4.1, §5 and §6.</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6419088"/>
            <a:ext cx="11064240" cy="237744"/>
          </a:xfrm>
          <a:prstGeom prst="rect">
            <a:avLst/>
          </a:prstGeom>
          <a:noFill/>
          <a:ln/>
        </p:spPr>
        <p:txBody>
          <a:bodyPr wrap="square" lIns="0" tIns="0" rIns="0" bIns="0" rtlCol="0" anchor="ctr"/>
          <a:lstStyle/>
          <a:p>
            <a:pPr indent="0" marL="0">
              <a:buNone/>
            </a:pPr>
            <a:r>
              <a:rPr lang="en-US" sz="800" dirty="0">
                <a:solidFill>
                  <a:srgbClr val="6E747E"/>
                </a:solidFill>
                <a:latin typeface="Calibri" pitchFamily="34" charset="0"/>
                <a:ea typeface="Calibri" pitchFamily="34" charset="-122"/>
                <a:cs typeface="Calibri" pitchFamily="34" charset="-120"/>
              </a:rPr>
              <a:t>Marketplace KOI pack v1.2.3  ·  demisto/content / Packs/Koi  ·  integration only, 13 commands  ·  not the custom v1.3.0 pack</a:t>
            </a:r>
            <a:endParaRPr lang="en-US" sz="800" dirty="0"/>
          </a:p>
        </p:txBody>
      </p:sp>
      <p:sp>
        <p:nvSpPr>
          <p:cNvPr id="3" name="Shape 1"/>
          <p:cNvSpPr/>
          <p:nvPr/>
        </p:nvSpPr>
        <p:spPr>
          <a:xfrm>
            <a:off x="9326880" y="-2011680"/>
            <a:ext cx="4937760" cy="4937760"/>
          </a:xfrm>
          <a:prstGeom prst="ellipse">
            <a:avLst/>
          </a:prstGeom>
          <a:solidFill>
            <a:srgbClr val="E8551F">
              <a:alpha val="8000"/>
            </a:srgbClr>
          </a:solidFill>
          <a:ln w="12700">
            <a:solidFill>
              <a:srgbClr val="E8551F"/>
            </a:solidFill>
            <a:prstDash val="solid"/>
          </a:ln>
        </p:spPr>
      </p:sp>
      <p:sp>
        <p:nvSpPr>
          <p:cNvPr id="4" name="Text 2"/>
          <p:cNvSpPr/>
          <p:nvPr/>
        </p:nvSpPr>
        <p:spPr>
          <a:xfrm>
            <a:off x="548640" y="1417320"/>
            <a:ext cx="11064240" cy="274320"/>
          </a:xfrm>
          <a:prstGeom prst="rect">
            <a:avLst/>
          </a:prstGeom>
          <a:noFill/>
          <a:ln/>
        </p:spPr>
        <p:txBody>
          <a:bodyPr wrap="square" lIns="0" tIns="0" rIns="0" bIns="0" rtlCol="0" anchor="ctr"/>
          <a:lstStyle/>
          <a:p>
            <a:pPr indent="0" marL="0">
              <a:buNone/>
            </a:pPr>
            <a:r>
              <a:rPr lang="en-US" sz="1200" b="1" spc="300" kern="0" dirty="0">
                <a:solidFill>
                  <a:srgbClr val="E8551F"/>
                </a:solidFill>
                <a:latin typeface="Calibri" pitchFamily="34" charset="0"/>
                <a:ea typeface="Calibri" pitchFamily="34" charset="-122"/>
                <a:cs typeface="Calibri" pitchFamily="34" charset="-120"/>
              </a:rPr>
              <a:t>IN ONE LINE</a:t>
            </a:r>
            <a:endParaRPr lang="en-US" sz="1200" dirty="0"/>
          </a:p>
        </p:txBody>
      </p:sp>
      <p:sp>
        <p:nvSpPr>
          <p:cNvPr id="5" name="Text 3"/>
          <p:cNvSpPr/>
          <p:nvPr/>
        </p:nvSpPr>
        <p:spPr>
          <a:xfrm>
            <a:off x="548640" y="1737360"/>
            <a:ext cx="8778240" cy="155448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libri" pitchFamily="34" charset="0"/>
                <a:ea typeface="Calibri" pitchFamily="34" charset="-122"/>
                <a:cs typeface="Calibri" pitchFamily="34" charset="-120"/>
              </a:rPr>
              <a:t>A supported client, and a collector on XSIAM.</a:t>
            </a:r>
            <a:endParaRPr lang="en-US" sz="3400" dirty="0"/>
          </a:p>
          <a:p>
            <a:pPr indent="0" marL="0">
              <a:lnSpc>
                <a:spcPts val="4200"/>
              </a:lnSpc>
              <a:buNone/>
            </a:pPr>
            <a:r>
              <a:rPr lang="en-US" sz="3400" b="1" dirty="0">
                <a:solidFill>
                  <a:srgbClr val="FFFFFF"/>
                </a:solidFill>
                <a:latin typeface="Calibri" pitchFamily="34" charset="0"/>
                <a:ea typeface="Calibri" pitchFamily="34" charset="-122"/>
                <a:cs typeface="Calibri" pitchFamily="34" charset="-120"/>
              </a:rPr>
              <a:t>The content layer is yours.</a:t>
            </a:r>
            <a:endParaRPr lang="en-US" sz="3400" dirty="0"/>
          </a:p>
        </p:txBody>
      </p:sp>
      <p:sp>
        <p:nvSpPr>
          <p:cNvPr id="6" name="Shape 4"/>
          <p:cNvSpPr/>
          <p:nvPr/>
        </p:nvSpPr>
        <p:spPr>
          <a:xfrm>
            <a:off x="548640" y="3566160"/>
            <a:ext cx="3474720" cy="1783080"/>
          </a:xfrm>
          <a:prstGeom prst="roundRect">
            <a:avLst>
              <a:gd name="adj" fmla="val 2564"/>
            </a:avLst>
          </a:prstGeom>
          <a:solidFill>
            <a:srgbClr val="15171B"/>
          </a:solidFill>
          <a:ln w="12700">
            <a:solidFill>
              <a:srgbClr val="15171B"/>
            </a:solidFill>
            <a:prstDash val="solid"/>
          </a:ln>
        </p:spPr>
      </p:sp>
      <p:sp>
        <p:nvSpPr>
          <p:cNvPr id="7" name="Shape 5"/>
          <p:cNvSpPr/>
          <p:nvPr/>
        </p:nvSpPr>
        <p:spPr>
          <a:xfrm>
            <a:off x="804672" y="3785616"/>
            <a:ext cx="329184" cy="329184"/>
          </a:xfrm>
          <a:prstGeom prst="roundRect">
            <a:avLst>
              <a:gd name="adj" fmla="val 25000"/>
            </a:avLst>
          </a:prstGeom>
          <a:solidFill>
            <a:srgbClr val="E8551F"/>
          </a:solidFill>
          <a:ln w="12700">
            <a:solidFill>
              <a:srgbClr val="E8551F"/>
            </a:solidFill>
            <a:prstDash val="solid"/>
          </a:ln>
        </p:spPr>
      </p:sp>
      <p:sp>
        <p:nvSpPr>
          <p:cNvPr id="8" name="Text 6"/>
          <p:cNvSpPr/>
          <p:nvPr/>
        </p:nvSpPr>
        <p:spPr>
          <a:xfrm>
            <a:off x="804672" y="37856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804672" y="4224528"/>
            <a:ext cx="2962656"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Install it if</a:t>
            </a:r>
            <a:endParaRPr lang="en-US" sz="1350" dirty="0"/>
          </a:p>
        </p:txBody>
      </p:sp>
      <p:sp>
        <p:nvSpPr>
          <p:cNvPr id="10" name="Text 8"/>
          <p:cNvSpPr/>
          <p:nvPr/>
        </p:nvSpPr>
        <p:spPr>
          <a:xfrm>
            <a:off x="804672" y="4535424"/>
            <a:ext cx="2962656" cy="731520"/>
          </a:xfrm>
          <a:prstGeom prst="rect">
            <a:avLst/>
          </a:prstGeom>
          <a:noFill/>
          <a:ln/>
        </p:spPr>
        <p:txBody>
          <a:bodyPr wrap="square" lIns="0" tIns="0" rIns="0" bIns="0" rtlCol="0" anchor="t"/>
          <a:lstStyle/>
          <a:p>
            <a:pPr indent="0" marL="0">
              <a:lnSpc>
                <a:spcPts val="1300"/>
              </a:lnSpc>
              <a:buNone/>
            </a:pPr>
            <a:r>
              <a:rPr lang="en-US" sz="1050" dirty="0">
                <a:solidFill>
                  <a:srgbClr val="B4B7BD"/>
                </a:solidFill>
                <a:latin typeface="Calibri" pitchFamily="34" charset="0"/>
                <a:ea typeface="Calibri" pitchFamily="34" charset="-122"/>
                <a:cs typeface="Calibri" pitchFamily="34" charset="-120"/>
              </a:rPr>
              <a:t>you want 13 supported commands over the KOI inventory, policy and allow/block lists — and, on XSIAM, Alerts and Audit into koi_koi_raw with no code to maintain.</a:t>
            </a:r>
            <a:endParaRPr lang="en-US" sz="1050" dirty="0"/>
          </a:p>
        </p:txBody>
      </p:sp>
      <p:sp>
        <p:nvSpPr>
          <p:cNvPr id="11" name="Shape 9"/>
          <p:cNvSpPr/>
          <p:nvPr/>
        </p:nvSpPr>
        <p:spPr>
          <a:xfrm>
            <a:off x="4343400" y="3566160"/>
            <a:ext cx="3474720" cy="1783080"/>
          </a:xfrm>
          <a:prstGeom prst="roundRect">
            <a:avLst>
              <a:gd name="adj" fmla="val 2564"/>
            </a:avLst>
          </a:prstGeom>
          <a:solidFill>
            <a:srgbClr val="15171B"/>
          </a:solidFill>
          <a:ln w="12700">
            <a:solidFill>
              <a:srgbClr val="15171B"/>
            </a:solidFill>
            <a:prstDash val="solid"/>
          </a:ln>
        </p:spPr>
      </p:sp>
      <p:sp>
        <p:nvSpPr>
          <p:cNvPr id="12" name="Shape 10"/>
          <p:cNvSpPr/>
          <p:nvPr/>
        </p:nvSpPr>
        <p:spPr>
          <a:xfrm>
            <a:off x="4599432" y="3785616"/>
            <a:ext cx="329184" cy="329184"/>
          </a:xfrm>
          <a:prstGeom prst="roundRect">
            <a:avLst>
              <a:gd name="adj" fmla="val 25000"/>
            </a:avLst>
          </a:prstGeom>
          <a:solidFill>
            <a:srgbClr val="22D3EE"/>
          </a:solidFill>
          <a:ln w="12700">
            <a:solidFill>
              <a:srgbClr val="22D3EE"/>
            </a:solidFill>
            <a:prstDash val="solid"/>
          </a:ln>
        </p:spPr>
      </p:sp>
      <p:sp>
        <p:nvSpPr>
          <p:cNvPr id="13" name="Text 11"/>
          <p:cNvSpPr/>
          <p:nvPr/>
        </p:nvSpPr>
        <p:spPr>
          <a:xfrm>
            <a:off x="4599432" y="37856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4599432" y="4224528"/>
            <a:ext cx="2962656"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Budget for</a:t>
            </a:r>
            <a:endParaRPr lang="en-US" sz="1350" dirty="0"/>
          </a:p>
        </p:txBody>
      </p:sp>
      <p:sp>
        <p:nvSpPr>
          <p:cNvPr id="15" name="Text 13"/>
          <p:cNvSpPr/>
          <p:nvPr/>
        </p:nvSpPr>
        <p:spPr>
          <a:xfrm>
            <a:off x="4599432" y="4535424"/>
            <a:ext cx="2962656" cy="731520"/>
          </a:xfrm>
          <a:prstGeom prst="rect">
            <a:avLst/>
          </a:prstGeom>
          <a:noFill/>
          <a:ln/>
        </p:spPr>
        <p:txBody>
          <a:bodyPr wrap="square" lIns="0" tIns="0" rIns="0" bIns="0" rtlCol="0" anchor="t"/>
          <a:lstStyle/>
          <a:p>
            <a:pPr indent="0" marL="0">
              <a:lnSpc>
                <a:spcPts val="1300"/>
              </a:lnSpc>
              <a:buNone/>
            </a:pPr>
            <a:r>
              <a:rPr lang="en-US" sz="1050" dirty="0">
                <a:solidFill>
                  <a:srgbClr val="B4B7BD"/>
                </a:solidFill>
                <a:latin typeface="Calibri" pitchFamily="34" charset="0"/>
                <a:ea typeface="Calibri" pitchFamily="34" charset="-122"/>
                <a:cs typeface="Calibri" pitchFamily="34" charset="-120"/>
              </a:rPr>
              <a:t>normalisation and triage content. There are no rules, no playbooks and no dashboard in this pack.</a:t>
            </a:r>
            <a:endParaRPr lang="en-US" sz="1050" dirty="0"/>
          </a:p>
        </p:txBody>
      </p:sp>
      <p:sp>
        <p:nvSpPr>
          <p:cNvPr id="16" name="Shape 14"/>
          <p:cNvSpPr/>
          <p:nvPr/>
        </p:nvSpPr>
        <p:spPr>
          <a:xfrm>
            <a:off x="8138160" y="3566160"/>
            <a:ext cx="3474720" cy="1783080"/>
          </a:xfrm>
          <a:prstGeom prst="roundRect">
            <a:avLst>
              <a:gd name="adj" fmla="val 2564"/>
            </a:avLst>
          </a:prstGeom>
          <a:solidFill>
            <a:srgbClr val="15171B"/>
          </a:solidFill>
          <a:ln w="12700">
            <a:solidFill>
              <a:srgbClr val="15171B"/>
            </a:solidFill>
            <a:prstDash val="solid"/>
          </a:ln>
        </p:spPr>
      </p:sp>
      <p:sp>
        <p:nvSpPr>
          <p:cNvPr id="17" name="Shape 15"/>
          <p:cNvSpPr/>
          <p:nvPr/>
        </p:nvSpPr>
        <p:spPr>
          <a:xfrm>
            <a:off x="8394192" y="3785616"/>
            <a:ext cx="329184" cy="329184"/>
          </a:xfrm>
          <a:prstGeom prst="roundRect">
            <a:avLst>
              <a:gd name="adj" fmla="val 25000"/>
            </a:avLst>
          </a:prstGeom>
          <a:solidFill>
            <a:srgbClr val="F5A524"/>
          </a:solidFill>
          <a:ln w="12700">
            <a:solidFill>
              <a:srgbClr val="F5A524"/>
            </a:solidFill>
            <a:prstDash val="solid"/>
          </a:ln>
        </p:spPr>
      </p:sp>
      <p:sp>
        <p:nvSpPr>
          <p:cNvPr id="18" name="Text 16"/>
          <p:cNvSpPr/>
          <p:nvPr/>
        </p:nvSpPr>
        <p:spPr>
          <a:xfrm>
            <a:off x="8394192" y="37856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394192" y="4224528"/>
            <a:ext cx="2962656"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Check first</a:t>
            </a:r>
            <a:endParaRPr lang="en-US" sz="1350" dirty="0"/>
          </a:p>
        </p:txBody>
      </p:sp>
      <p:sp>
        <p:nvSpPr>
          <p:cNvPr id="20" name="Text 18"/>
          <p:cNvSpPr/>
          <p:nvPr/>
        </p:nvSpPr>
        <p:spPr>
          <a:xfrm>
            <a:off x="8394192" y="4535424"/>
            <a:ext cx="2962656" cy="731520"/>
          </a:xfrm>
          <a:prstGeom prst="rect">
            <a:avLst/>
          </a:prstGeom>
          <a:noFill/>
          <a:ln/>
        </p:spPr>
        <p:txBody>
          <a:bodyPr wrap="square" lIns="0" tIns="0" rIns="0" bIns="0" rtlCol="0" anchor="t"/>
          <a:lstStyle/>
          <a:p>
            <a:pPr indent="0" marL="0">
              <a:lnSpc>
                <a:spcPts val="1300"/>
              </a:lnSpc>
              <a:buNone/>
            </a:pPr>
            <a:r>
              <a:rPr lang="en-US" sz="1050" dirty="0">
                <a:solidFill>
                  <a:srgbClr val="B4B7BD"/>
                </a:solidFill>
                <a:latin typeface="Calibri" pitchFamily="34" charset="0"/>
                <a:ea typeface="Calibri" pitchFamily="34" charset="-122"/>
                <a:cs typeface="Calibri" pitchFamily="34" charset="-120"/>
              </a:rPr>
              <a:t>that the other KOI pack is not installed. Same name, same integration id — one overwrites the other.</a:t>
            </a:r>
            <a:endParaRPr lang="en-US" sz="1050" dirty="0"/>
          </a:p>
        </p:txBody>
      </p:sp>
      <p:sp>
        <p:nvSpPr>
          <p:cNvPr id="21" name="Text 19"/>
          <p:cNvSpPr/>
          <p:nvPr/>
        </p:nvSpPr>
        <p:spPr>
          <a:xfrm>
            <a:off x="548640" y="5760720"/>
            <a:ext cx="11064240" cy="274320"/>
          </a:xfrm>
          <a:prstGeom prst="rect">
            <a:avLst/>
          </a:prstGeom>
          <a:noFill/>
          <a:ln/>
        </p:spPr>
        <p:txBody>
          <a:bodyPr wrap="square" lIns="0" tIns="0" rIns="0" bIns="0" rtlCol="0" anchor="ctr"/>
          <a:lstStyle/>
          <a:p>
            <a:pPr indent="0" marL="0">
              <a:buNone/>
            </a:pPr>
            <a:r>
              <a:rPr lang="en-US" sz="1100" dirty="0">
                <a:solidFill>
                  <a:srgbClr val="6E747E"/>
                </a:solidFill>
                <a:latin typeface="Courier New" pitchFamily="34" charset="0"/>
                <a:ea typeface="Courier New" pitchFamily="34" charset="-122"/>
                <a:cs typeface="Courier New" pitchFamily="34" charset="-120"/>
              </a:rPr>
              <a:t>KOI  ·  Marketplace pack v1.2.3  ·  demisto/content / Packs/Koi/Integrations/Koi/Koi.yml  ·  13 commands  ·  integration only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KOI Marketplace Pack v1.2.3 — Overview</dc:title>
  <dc:subject>Official Marketplace KOI pack (demisto/content, Packs/Koi) — overview</dc:subject>
  <dc:creator>Cortex XSIAM</dc:creator>
  <cp:lastModifiedBy>Cortex XSIAM</cp:lastModifiedBy>
  <cp:revision>1</cp:revision>
  <dcterms:created xsi:type="dcterms:W3CDTF">2026-07-20T00:00:00Z</dcterms:created>
  <dcterms:modified xsi:type="dcterms:W3CDTF">2026-07-20T00:00:00Z</dcterms:modified>
</cp:coreProperties>
</file>