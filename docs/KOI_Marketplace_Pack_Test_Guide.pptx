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honestly: this pack ships an integration and nothing else — no playbooks, no parsing rules, no modeling rules, no dashboard. Tests 1-2 prove identity and connectivity, 3-8 the command surface, 9-10 event collection. The triage / investigation / gated-response tests from the custom pack are absent because the commands they depend on do not exist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Right-hand column is given only so a reader can recognise the wrong pack. Do not run any test in this guide against it — the command set is a superset and several expected results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3, 4, 5 and 7 are read-only and safe to repeat. Test 6 is the exception among the reads: the pack's own description calls koi-get-events development-and-debugging only (duplicate events, rate limits, disrupted fetch) and its should_push_events argument writes into koi_koi_raw when true — 7 of the 8 non-mutating commands are freely repeatable, this one is not (VERIFIED_FACTS §1.1). Test 8 changes tenant state in KOI, not in Cortex.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engine-vs-direct distinction is the single most common source of a misdiagnosed connectivity failure. It is also why this guide does not tell you to curl the KOI API from a laptop and conclude anything. Be equally plain about the second half: only 8 of the 13 commands had their API exercised at all, and none of the 13 was run through XSIAM — a war room is where that gets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 commands, from the pinned YAML: koi-get-events, koi-policy-list, koi-policy-status-update, koi-allowlist-get, koi-allowlist-items-add, koi-allowlist-items-remove, koi-blocklist-get, koi-blocklist-items-add, koi-blocklist-items-remove, koi-inventory-list, koi-inventory-item-get, koi-inventory-search, koi-inventory-item-endpoints-list. The custom pack adds 13 more on top of these; the Marketplace set is a strict subset of it, which is exactly why counting is the reliable discriminator and reading command names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 output declarations span 68 distinct context paths (VERIFIED_FACTS §4): the three Koi.Inventory writers declare identical paths, and koi-policy-list and koi-policy-status-update share all nine Koi.Policy paths. Consequence for testing: the last command to run overwrites the previous one's context, so check context immediately after each command rather than at the end of a sweep. If asked why two commands say "not exercised": test 8 demonstrates the add-and-reverse protocol on the blocklist pair only, so nothing in these ten tests runs koi-allowlist-items-add or -remove. The protocol transfers to them unchanged — the arguments are identical — but this guide does not claim to have covered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fields are read from the pack JSON, so this slide cannot drift from the YAML. Note that isFetchEvents, event_types_to_fetch, audit_types_filter, max_fetch and eventFetchInterval are all hidden on the xsoar marketplace — on XSOAR you will not see the Collect section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Collect section is hidden on the xsoar marketplace, which is why a reader on XSOAR reports "there is no Fetch events checkbox" — that is by design, not a broken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Underlying endpoints (VERIFIED_FACTS §4.1): GET /api/external/v2/policies, GET /policies/allowlist, GET /policies/blocklist, all on base https://api.prod.koi.security. Only the allowlist and blocklist responses lack total_count.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koi-inventory-list carries 21 arguments — the largest surface in the pack. Its filter arguments are: brew_category_koi, browser_category_koi, chocolatey_category_koi, device_id, finding_id, first_seen, ide_category_koi, installation_method, item_display_name, item_id, marketplace, platform, publisher_name, risk_level, software_category_koi,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exact filter on the slide was sent to the API on 20 July 2026 and returned total_count 145 on KOI_PAET and 75 on KOI_PLTS (VERIFIED_FACTS §5.3, evidence/followup-probes.json). Each is a single reading on a named instance, and KOI_PLTS was separately seen to grow between sweeps — the point is that the filter parses and the response carries a total_count, not the value. Step 2 is deliberately not a pass/fail: no comparison between koi-inventory-search with a risk_level=high filter and koi-inventory-list risk_level=high was ever run, so the reader is establishing that relationship for the first time and must not be told what to expect. The priority of filter_raw_json_entry_id over filter_json is likewise a YAML argument description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quoted from the pack JSON. The upper-case KOI.Event prefix against Koi.* everywhere else is a genuine inconsistency in both packs — preserve it, DT paths are case-sensitive.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states its own contract in the 400 body: "view must be one of the following values: agentic_ai, ai_models, all_items, code_packages, extensions, mcp_servers, os_packages, repositories, software" (VERIFIED_FACTS §5.1). All twelve values were probed individually on BOTH instances, KOI_PAET / KOI_PLTS: agentic_ai 226 / 1,342, ai_models 3 / 28, code_packages 2,315 / 2,572, extensions 180 / 417, os_packages 350 / 393, software 406 / 1,044 (KOI_PLTS 1,046 in a later sweep), mcp_servers 21 / 42, repositories 15 / 77, all_items 200 but total_count 0 / 0, and browser_extensions / ide_extensions / packages 400 on both. Omitting view entirely returned 3,447 / 5,644 (KOI_PLTS 5,646 in the later sweep; KOI_PAET returned 3,447 in both). Only KOI_PLTS moved, and only BETWEEN runs — probing twice inside one run gave identical values every time (evidence/followup-probes.json). That is real inventory growth on one tenant, not API instability (VERIFIED_FACTS §7) — so quote every figure with its instance, as scale, never as an expected result. Only browser_extensions appears in the pack's shipped command_examples.txt (VERIFIED_FACTS §5.2), so that is the one a reader hits by copying the example; the other two are values they might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blocklist pair is used in the example because a disposable blocklist entry is easier to reason about than an allowlist entry, which loosens policy while it exists. Be explicit that this means koi-allowlist-items-add and koi-allowlist-items-remove are exercised by NO test in this guide — the command reference marks them "not exercised" and the sign-off slide says the same. The protocol transfers to them unchanged, because the allowlist pair takes identical arguments, but running it is the reader's decision and their evidence. Both remove commands carry execution: true. marketplace is a closed list of 22 values and must match the item's own marketplace exactly. Bulk mode via items_list_raw_json_entry_id is deliberately out of scope for an acceptance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measurement (VERIFIED_FACTS §3, tenant api-ayman.xdr.eu.paloaltonetworks.com, 30-day window 20 June - 20 July 2026): 20,156 events across 80 distinct hostnames, split 19,842 Audit / 314 Alerts. Your numbers will differ; the shape is what you are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Audit type values and counts over 30 days (VERIFIED_FACTS §3.1): extensions 16,579, devices 2,971, remediation 244, policies 32, approval_requests 8, guardrails 6, notifications 2; category system 16,825, user 3,017. Any playbook or query keyed on alert_type — as the custom pack's triage is — matches nothing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instances checked on 20 July 2026 held very different volumes — inventory items 3,447 on KOI_PAET vs 5,644 on KOI_PLTS (5,646 in a later sweep the same day); policies 32 vs 28; allowlist entries 0 vs 5; blocklist entries 0 vs 17 (VERIFIED_FACTS §7). Only KOI_PLTS moved between the two sweeps — KOI_PAET returned 3,447 both times — and only between runs, never within one. Always name the instance when you quote a count, and never treat a row count, from another tenant or from this guide, as an expected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this in front of a customer. What is verified: the endpoints, the parameters they accept or reject, and the response shapes, for the 8 read commands. What is not: the 5 state-changing commands, which were never run, and the integration's mapping of any response into context, which is a YAML assertion. The risk_level=high row is the query-builder filter on this deck's test 5 slide, sent to /inventory/search on both instances (evidence/followup-probes.json). Two KOI_PLTS rows carry two readings hours apart on the same day; KOI_PAET did not move on either — it returned 3,447 in both sweeps. So drift here is per tenant and between runs, real inventory growth rather than API instability (VERIFIED_FACTS §7). The allowlist row cites test 3 only: test 8 works the blocklist pair, so nothing in this guide exercises the allowlist writes. Present the whole table as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 pack has 26 commands; this pack's 13 are a strict subset. There is no Koi.Device.* context prefix here at all — endpoints are reached only from an item, via Koi.Inventory.Endpoint.*. The model is item-centric, not device-centric, and that inversion is why the device tests cannot simply be rewritten.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by parsing the custom pack's playbook YAML (VERIFIED_FACTS §7a): the three Koi Unified playbooks contain no koi-* string at all. Do not overstate it as "the only commands they invoke are the three core-* ones" — only Execute Endpoint Script calls those three; the other two run common automations (Print, PrintErrorEntry, SetAndHandleEmpty, DeleteContext, GetErrorsFromEntry) and Builtin closeInvestigation. The correct sentence is "the only KOI commands they invoke: none". Detail on their List schema and naming requirements is in the custom pack's own documentation — it is deliberately not reproduced here, because reproducing it inside a Marketplace-pack guide is exactly how the two packs get confused.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1 and 2 are gates. Test 8 is the only destructive one and should be re-run only when the governance commands change. If the Script Runner playbooks were also tested, report them under a separate heading as additional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Shape 1"/>
          <p:cNvSpPr/>
          <p:nvPr/>
        </p:nvSpPr>
        <p:spPr>
          <a:xfrm>
            <a:off x="8503920" y="-1463040"/>
            <a:ext cx="5486400" cy="5486400"/>
          </a:xfrm>
          <a:prstGeom prst="ellipse">
            <a:avLst/>
          </a:prstGeom>
          <a:solidFill>
            <a:srgbClr val="3FB950">
              <a:alpha val="7000"/>
            </a:srgbClr>
          </a:solidFill>
          <a:ln w="12700">
            <a:solidFill>
              <a:srgbClr val="3FB950"/>
            </a:solidFill>
            <a:prstDash val="solid"/>
          </a:ln>
        </p:spPr>
      </p:sp>
      <p:sp>
        <p:nvSpPr>
          <p:cNvPr id="4" name="Shape 2"/>
          <p:cNvSpPr/>
          <p:nvPr/>
        </p:nvSpPr>
        <p:spPr>
          <a:xfrm>
            <a:off x="9875520" y="3200400"/>
            <a:ext cx="3108960" cy="3108960"/>
          </a:xfrm>
          <a:prstGeom prst="ellipse">
            <a:avLst/>
          </a:prstGeom>
          <a:solidFill>
            <a:srgbClr val="E8551F">
              <a:alpha val="7000"/>
            </a:srgbClr>
          </a:solidFill>
          <a:ln w="12700">
            <a:solidFill>
              <a:srgbClr val="E8551F"/>
            </a:solidFill>
            <a:prstDash val="solid"/>
          </a:ln>
        </p:spPr>
      </p:sp>
      <p:sp>
        <p:nvSpPr>
          <p:cNvPr id="5" name="Text 3"/>
          <p:cNvSpPr/>
          <p:nvPr/>
        </p:nvSpPr>
        <p:spPr>
          <a:xfrm>
            <a:off x="548640" y="1481328"/>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MARKETPLACE KOI PACK  v1.2.3  ·  ACCEPTANCE TESTING</a:t>
            </a:r>
            <a:endParaRPr lang="en-US" sz="1200" dirty="0"/>
          </a:p>
        </p:txBody>
      </p:sp>
      <p:sp>
        <p:nvSpPr>
          <p:cNvPr id="6" name="Text 4"/>
          <p:cNvSpPr/>
          <p:nvPr/>
        </p:nvSpPr>
        <p:spPr>
          <a:xfrm>
            <a:off x="548640" y="1755648"/>
            <a:ext cx="7863840" cy="123444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Test Guide</a:t>
            </a:r>
            <a:endParaRPr lang="en-US" sz="6600" dirty="0"/>
          </a:p>
        </p:txBody>
      </p:sp>
      <p:sp>
        <p:nvSpPr>
          <p:cNvPr id="7" name="Text 5"/>
          <p:cNvSpPr/>
          <p:nvPr/>
        </p:nvSpPr>
        <p:spPr>
          <a:xfrm>
            <a:off x="548640" y="3127248"/>
            <a:ext cx="7772400" cy="1188720"/>
          </a:xfrm>
          <a:prstGeom prst="rect">
            <a:avLst/>
          </a:prstGeom>
          <a:noFill/>
          <a:ln/>
        </p:spPr>
        <p:txBody>
          <a:bodyPr wrap="square" lIns="0" tIns="0" rIns="0" bIns="0" rtlCol="0" anchor="t"/>
          <a:lstStyle/>
          <a:p>
            <a:pPr indent="0" marL="0">
              <a:lnSpc>
                <a:spcPts val="2100"/>
              </a:lnSpc>
              <a:buNone/>
            </a:pPr>
            <a:r>
              <a:rPr lang="en-US" sz="1500" dirty="0">
                <a:solidFill>
                  <a:srgbClr val="B4B7BD"/>
                </a:solidFill>
                <a:latin typeface="Calibri" pitchFamily="34" charset="0"/>
                <a:ea typeface="Calibri" pitchFamily="34" charset="-122"/>
                <a:cs typeface="Calibri" pitchFamily="34" charset="-120"/>
              </a:rPr>
              <a:t>Ten tests for the official pack from demisto/content — Packs/Koi/Integrations/Koi/Koi.yml — pack version 1.2.3, 13 commands, integration only. This is NOT the custom in-house KOI pack (v1.3.0, 26 commands): both present as "KOI", so test 1 exists purely to tell them apart.</a:t>
            </a:r>
            <a:endParaRPr lang="en-US" sz="1500" dirty="0"/>
          </a:p>
        </p:txBody>
      </p:sp>
      <p:sp>
        <p:nvSpPr>
          <p:cNvPr id="8" name="Text 6"/>
          <p:cNvSpPr/>
          <p:nvPr/>
        </p:nvSpPr>
        <p:spPr>
          <a:xfrm>
            <a:off x="548640"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10</a:t>
            </a:r>
            <a:endParaRPr lang="en-US" sz="3200" dirty="0"/>
          </a:p>
        </p:txBody>
      </p:sp>
      <p:sp>
        <p:nvSpPr>
          <p:cNvPr id="9" name="Text 7"/>
          <p:cNvSpPr/>
          <p:nvPr/>
        </p:nvSpPr>
        <p:spPr>
          <a:xfrm>
            <a:off x="548640"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tests</a:t>
            </a:r>
            <a:endParaRPr lang="en-US" sz="1050" dirty="0"/>
          </a:p>
        </p:txBody>
      </p:sp>
      <p:sp>
        <p:nvSpPr>
          <p:cNvPr id="10" name="Text 8"/>
          <p:cNvSpPr/>
          <p:nvPr/>
        </p:nvSpPr>
        <p:spPr>
          <a:xfrm>
            <a:off x="2121408"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13</a:t>
            </a:r>
            <a:endParaRPr lang="en-US" sz="3200" dirty="0"/>
          </a:p>
        </p:txBody>
      </p:sp>
      <p:sp>
        <p:nvSpPr>
          <p:cNvPr id="11" name="Text 9"/>
          <p:cNvSpPr/>
          <p:nvPr/>
        </p:nvSpPr>
        <p:spPr>
          <a:xfrm>
            <a:off x="2121408"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commands</a:t>
            </a:r>
            <a:endParaRPr lang="en-US" sz="1050" dirty="0"/>
          </a:p>
        </p:txBody>
      </p:sp>
      <p:sp>
        <p:nvSpPr>
          <p:cNvPr id="12" name="Text 10"/>
          <p:cNvSpPr/>
          <p:nvPr/>
        </p:nvSpPr>
        <p:spPr>
          <a:xfrm>
            <a:off x="3694176"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8</a:t>
            </a:r>
            <a:endParaRPr lang="en-US" sz="3200" dirty="0"/>
          </a:p>
        </p:txBody>
      </p:sp>
      <p:sp>
        <p:nvSpPr>
          <p:cNvPr id="13" name="Text 11"/>
          <p:cNvSpPr/>
          <p:nvPr/>
        </p:nvSpPr>
        <p:spPr>
          <a:xfrm>
            <a:off x="3694176"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non-mutating</a:t>
            </a:r>
            <a:endParaRPr lang="en-US" sz="1050" dirty="0"/>
          </a:p>
        </p:txBody>
      </p:sp>
      <p:sp>
        <p:nvSpPr>
          <p:cNvPr id="14" name="Text 12"/>
          <p:cNvSpPr/>
          <p:nvPr/>
        </p:nvSpPr>
        <p:spPr>
          <a:xfrm>
            <a:off x="5266944"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5</a:t>
            </a:r>
            <a:endParaRPr lang="en-US" sz="3200" dirty="0"/>
          </a:p>
        </p:txBody>
      </p:sp>
      <p:sp>
        <p:nvSpPr>
          <p:cNvPr id="15" name="Text 13"/>
          <p:cNvSpPr/>
          <p:nvPr/>
        </p:nvSpPr>
        <p:spPr>
          <a:xfrm>
            <a:off x="5266944"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state-changing</a:t>
            </a:r>
            <a:endParaRPr lang="en-US" sz="1050" dirty="0"/>
          </a:p>
        </p:txBody>
      </p:sp>
      <p:sp>
        <p:nvSpPr>
          <p:cNvPr id="16" name="Text 14"/>
          <p:cNvSpPr/>
          <p:nvPr/>
        </p:nvSpPr>
        <p:spPr>
          <a:xfrm>
            <a:off x="6839712"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0</a:t>
            </a:r>
            <a:endParaRPr lang="en-US" sz="3200" dirty="0"/>
          </a:p>
        </p:txBody>
      </p:sp>
      <p:sp>
        <p:nvSpPr>
          <p:cNvPr id="17" name="Text 15"/>
          <p:cNvSpPr/>
          <p:nvPr/>
        </p:nvSpPr>
        <p:spPr>
          <a:xfrm>
            <a:off x="6839712"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playbooks in pack</a:t>
            </a:r>
            <a:endParaRPr lang="en-US" sz="1050" dirty="0"/>
          </a:p>
        </p:txBody>
      </p:sp>
      <p:sp>
        <p:nvSpPr>
          <p:cNvPr id="18" name="Text 16"/>
          <p:cNvSpPr/>
          <p:nvPr/>
        </p:nvSpPr>
        <p:spPr>
          <a:xfrm>
            <a:off x="548640" y="5705856"/>
            <a:ext cx="9509760" cy="548640"/>
          </a:xfrm>
          <a:prstGeom prst="rect">
            <a:avLst/>
          </a:prstGeom>
          <a:noFill/>
          <a:ln/>
        </p:spPr>
        <p:txBody>
          <a:bodyPr wrap="square" lIns="0" tIns="0" rIns="0" bIns="0" rtlCol="0" anchor="t"/>
          <a:lstStyle/>
          <a:p>
            <a:pPr indent="0" marL="0">
              <a:lnSpc>
                <a:spcPts val="1200"/>
              </a:lnSpc>
              <a:buNone/>
            </a:pPr>
            <a:r>
              <a:rPr lang="en-US" sz="950" i="1" dirty="0">
                <a:solidFill>
                  <a:srgbClr val="6E747E"/>
                </a:solidFill>
                <a:latin typeface="Calibri" pitchFamily="34" charset="0"/>
                <a:ea typeface="Calibri" pitchFamily="34" charset="-122"/>
                <a:cs typeface="Calibri" pitchFamily="34" charset="-120"/>
              </a:rPr>
              <a:t>Command surface generated at build time from reference/marketplace-pack.json  (upstream demisto/content Packs/Koi/Integrations/Koi/Koi.yml, md5 5497cdddedeb0c0d7d0b371aa075a64c, checked against master 2026-07-20). Tenant observations cited to VERIFIED_FACTS.md, verified 20 July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START</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Two different packs are both called KOI</a:t>
            </a:r>
            <a:endParaRPr lang="en-US" sz="3100" dirty="0"/>
          </a:p>
        </p:txBody>
      </p:sp>
      <p:sp>
        <p:nvSpPr>
          <p:cNvPr id="5" name="Text 3"/>
          <p:cNvSpPr/>
          <p:nvPr/>
        </p:nvSpPr>
        <p:spPr>
          <a:xfrm>
            <a:off x="548640" y="1298448"/>
            <a:ext cx="10424160" cy="548640"/>
          </a:xfrm>
          <a:prstGeom prst="rect">
            <a:avLst/>
          </a:prstGeom>
          <a:noFill/>
          <a:ln/>
        </p:spPr>
        <p:txBody>
          <a:bodyPr wrap="square" lIns="0" tIns="0" rIns="0" bIns="0" rtlCol="0" anchor="t"/>
          <a:lstStyle/>
          <a:p>
            <a:pPr indent="0" marL="0">
              <a:lnSpc>
                <a:spcPts val="1600"/>
              </a:lnSpc>
              <a:buNone/>
            </a:pPr>
            <a:r>
              <a:rPr lang="en-US" sz="1250" dirty="0">
                <a:solidFill>
                  <a:srgbClr val="B4B7BD"/>
                </a:solidFill>
                <a:latin typeface="Calibri" pitchFamily="34" charset="0"/>
                <a:ea typeface="Calibri" pitchFamily="34" charset="-122"/>
                <a:cs typeface="Calibri" pitchFamily="34" charset="-120"/>
              </a:rPr>
              <a:t>They share a pack name, an integration id, a category, an author and the koi-* command prefix. They cannot coexist on one tenant — installing one overwrites the other. Everything in this guide is written for the left-hand column.</a:t>
            </a:r>
            <a:endParaRPr lang="en-US" sz="1250" dirty="0"/>
          </a:p>
        </p:txBody>
      </p:sp>
      <p:sp>
        <p:nvSpPr>
          <p:cNvPr id="6" name="Text 4"/>
          <p:cNvSpPr/>
          <p:nvPr/>
        </p:nvSpPr>
        <p:spPr>
          <a:xfrm>
            <a:off x="822960" y="1975104"/>
            <a:ext cx="27432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to check</a:t>
            </a:r>
            <a:endParaRPr lang="en-US" sz="1050" dirty="0"/>
          </a:p>
        </p:txBody>
      </p:sp>
      <p:sp>
        <p:nvSpPr>
          <p:cNvPr id="7" name="Text 5"/>
          <p:cNvSpPr/>
          <p:nvPr/>
        </p:nvSpPr>
        <p:spPr>
          <a:xfrm>
            <a:off x="3749040" y="1975104"/>
            <a:ext cx="3931920" cy="256032"/>
          </a:xfrm>
          <a:prstGeom prst="rect">
            <a:avLst/>
          </a:prstGeom>
          <a:noFill/>
          <a:ln/>
        </p:spPr>
        <p:txBody>
          <a:bodyPr wrap="square" lIns="0" tIns="0" rIns="0" bIns="0" rtlCol="0" anchor="t"/>
          <a:lstStyle/>
          <a:p>
            <a:pPr indent="0" marL="0">
              <a:buNone/>
            </a:pPr>
            <a:r>
              <a:rPr lang="en-US" sz="1050" b="1" spc="100" kern="0" dirty="0">
                <a:solidFill>
                  <a:srgbClr val="3FB950"/>
                </a:solidFill>
                <a:latin typeface="Calibri" pitchFamily="34" charset="0"/>
                <a:ea typeface="Calibri" pitchFamily="34" charset="-122"/>
                <a:cs typeface="Calibri" pitchFamily="34" charset="-120"/>
              </a:rPr>
              <a:t>THIS pack — Marketplace</a:t>
            </a:r>
            <a:endParaRPr lang="en-US" sz="1050" dirty="0"/>
          </a:p>
        </p:txBody>
      </p:sp>
      <p:sp>
        <p:nvSpPr>
          <p:cNvPr id="8" name="Text 6"/>
          <p:cNvSpPr/>
          <p:nvPr/>
        </p:nvSpPr>
        <p:spPr>
          <a:xfrm>
            <a:off x="7863840" y="1975104"/>
            <a:ext cx="3749040" cy="256032"/>
          </a:xfrm>
          <a:prstGeom prst="rect">
            <a:avLst/>
          </a:prstGeom>
          <a:noFill/>
          <a:ln/>
        </p:spPr>
        <p:txBody>
          <a:bodyPr wrap="square" lIns="0" tIns="0" rIns="0" bIns="0" rtlCol="0" anchor="t"/>
          <a:lstStyle/>
          <a:p>
            <a:pPr indent="0" marL="0">
              <a:buNone/>
            </a:pPr>
            <a:r>
              <a:rPr lang="en-US" sz="1050" b="1" spc="100" kern="0" dirty="0">
                <a:solidFill>
                  <a:srgbClr val="F04438"/>
                </a:solidFill>
                <a:latin typeface="Calibri" pitchFamily="34" charset="0"/>
                <a:ea typeface="Calibri" pitchFamily="34" charset="-122"/>
                <a:cs typeface="Calibri" pitchFamily="34" charset="-120"/>
              </a:rPr>
              <a:t>The custom pack — out of scope</a:t>
            </a:r>
            <a:endParaRPr lang="en-US" sz="1050" dirty="0"/>
          </a:p>
        </p:txBody>
      </p:sp>
      <p:sp>
        <p:nvSpPr>
          <p:cNvPr id="9" name="Shape 7"/>
          <p:cNvSpPr/>
          <p:nvPr/>
        </p:nvSpPr>
        <p:spPr>
          <a:xfrm>
            <a:off x="548640" y="2231136"/>
            <a:ext cx="11064240" cy="457200"/>
          </a:xfrm>
          <a:prstGeom prst="roundRect">
            <a:avLst>
              <a:gd name="adj" fmla="val 10000"/>
            </a:avLst>
          </a:prstGeom>
          <a:solidFill>
            <a:srgbClr val="15171B"/>
          </a:solidFill>
          <a:ln w="12700">
            <a:solidFill>
              <a:srgbClr val="15171B"/>
            </a:solidFill>
            <a:prstDash val="solid"/>
          </a:ln>
        </p:spPr>
      </p:sp>
      <p:sp>
        <p:nvSpPr>
          <p:cNvPr id="10" name="Text 8"/>
          <p:cNvSpPr/>
          <p:nvPr/>
        </p:nvSpPr>
        <p:spPr>
          <a:xfrm>
            <a:off x="822960" y="2359152"/>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Pack version</a:t>
            </a:r>
            <a:endParaRPr lang="en-US" sz="1050" dirty="0"/>
          </a:p>
        </p:txBody>
      </p:sp>
      <p:sp>
        <p:nvSpPr>
          <p:cNvPr id="11" name="Text 9"/>
          <p:cNvSpPr/>
          <p:nvPr/>
        </p:nvSpPr>
        <p:spPr>
          <a:xfrm>
            <a:off x="3749040" y="2359152"/>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1.2.3</a:t>
            </a:r>
            <a:endParaRPr lang="en-US" sz="1050" dirty="0"/>
          </a:p>
        </p:txBody>
      </p:sp>
      <p:sp>
        <p:nvSpPr>
          <p:cNvPr id="12" name="Text 10"/>
          <p:cNvSpPr/>
          <p:nvPr/>
        </p:nvSpPr>
        <p:spPr>
          <a:xfrm>
            <a:off x="7863840" y="2359152"/>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1.3.0</a:t>
            </a:r>
            <a:endParaRPr lang="en-US" sz="1050" dirty="0"/>
          </a:p>
        </p:txBody>
      </p:sp>
      <p:sp>
        <p:nvSpPr>
          <p:cNvPr id="13" name="Shape 11"/>
          <p:cNvSpPr/>
          <p:nvPr/>
        </p:nvSpPr>
        <p:spPr>
          <a:xfrm>
            <a:off x="548640" y="2752344"/>
            <a:ext cx="11064240" cy="457200"/>
          </a:xfrm>
          <a:prstGeom prst="roundRect">
            <a:avLst>
              <a:gd name="adj" fmla="val 10000"/>
            </a:avLst>
          </a:prstGeom>
          <a:solidFill>
            <a:srgbClr val="15171B"/>
          </a:solidFill>
          <a:ln w="12700">
            <a:solidFill>
              <a:srgbClr val="15171B"/>
            </a:solidFill>
            <a:prstDash val="solid"/>
          </a:ln>
        </p:spPr>
      </p:sp>
      <p:sp>
        <p:nvSpPr>
          <p:cNvPr id="14" name="Text 12"/>
          <p:cNvSpPr/>
          <p:nvPr/>
        </p:nvSpPr>
        <p:spPr>
          <a:xfrm>
            <a:off x="822960" y="2880360"/>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Commands</a:t>
            </a:r>
            <a:endParaRPr lang="en-US" sz="1050" dirty="0"/>
          </a:p>
        </p:txBody>
      </p:sp>
      <p:sp>
        <p:nvSpPr>
          <p:cNvPr id="15" name="Text 13"/>
          <p:cNvSpPr/>
          <p:nvPr/>
        </p:nvSpPr>
        <p:spPr>
          <a:xfrm>
            <a:off x="3749040" y="2880360"/>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13</a:t>
            </a:r>
            <a:endParaRPr lang="en-US" sz="1050" dirty="0"/>
          </a:p>
        </p:txBody>
      </p:sp>
      <p:sp>
        <p:nvSpPr>
          <p:cNvPr id="16" name="Text 14"/>
          <p:cNvSpPr/>
          <p:nvPr/>
        </p:nvSpPr>
        <p:spPr>
          <a:xfrm>
            <a:off x="7863840" y="2880360"/>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26</a:t>
            </a:r>
            <a:endParaRPr lang="en-US" sz="1050" dirty="0"/>
          </a:p>
        </p:txBody>
      </p:sp>
      <p:sp>
        <p:nvSpPr>
          <p:cNvPr id="17" name="Shape 15"/>
          <p:cNvSpPr/>
          <p:nvPr/>
        </p:nvSpPr>
        <p:spPr>
          <a:xfrm>
            <a:off x="548640" y="3273552"/>
            <a:ext cx="11064240" cy="457200"/>
          </a:xfrm>
          <a:prstGeom prst="roundRect">
            <a:avLst>
              <a:gd name="adj" fmla="val 10000"/>
            </a:avLst>
          </a:prstGeom>
          <a:solidFill>
            <a:srgbClr val="15171B"/>
          </a:solidFill>
          <a:ln w="12700">
            <a:solidFill>
              <a:srgbClr val="15171B"/>
            </a:solidFill>
            <a:prstDash val="solid"/>
          </a:ln>
        </p:spPr>
      </p:sp>
      <p:sp>
        <p:nvSpPr>
          <p:cNvPr id="18" name="Text 16"/>
          <p:cNvSpPr/>
          <p:nvPr/>
        </p:nvSpPr>
        <p:spPr>
          <a:xfrm>
            <a:off x="822960" y="3401568"/>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Content items</a:t>
            </a:r>
            <a:endParaRPr lang="en-US" sz="1050" dirty="0"/>
          </a:p>
        </p:txBody>
      </p:sp>
      <p:sp>
        <p:nvSpPr>
          <p:cNvPr id="19" name="Text 17"/>
          <p:cNvSpPr/>
          <p:nvPr/>
        </p:nvSpPr>
        <p:spPr>
          <a:xfrm>
            <a:off x="3749040" y="3401568"/>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Integration only</a:t>
            </a:r>
            <a:endParaRPr lang="en-US" sz="1050" dirty="0"/>
          </a:p>
        </p:txBody>
      </p:sp>
      <p:sp>
        <p:nvSpPr>
          <p:cNvPr id="20" name="Text 18"/>
          <p:cNvSpPr/>
          <p:nvPr/>
        </p:nvSpPr>
        <p:spPr>
          <a:xfrm>
            <a:off x="7863840" y="3401568"/>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Integration + 10 playbooks + rules + dashboard</a:t>
            </a:r>
            <a:endParaRPr lang="en-US" sz="1050" dirty="0"/>
          </a:p>
        </p:txBody>
      </p:sp>
      <p:sp>
        <p:nvSpPr>
          <p:cNvPr id="21" name="Shape 19"/>
          <p:cNvSpPr/>
          <p:nvPr/>
        </p:nvSpPr>
        <p:spPr>
          <a:xfrm>
            <a:off x="548640" y="3794760"/>
            <a:ext cx="11064240" cy="640080"/>
          </a:xfrm>
          <a:prstGeom prst="roundRect">
            <a:avLst>
              <a:gd name="adj" fmla="val 7143"/>
            </a:avLst>
          </a:prstGeom>
          <a:solidFill>
            <a:srgbClr val="15171B"/>
          </a:solidFill>
          <a:ln w="12700">
            <a:solidFill>
              <a:srgbClr val="15171B"/>
            </a:solidFill>
            <a:prstDash val="solid"/>
          </a:ln>
        </p:spPr>
      </p:sp>
      <p:sp>
        <p:nvSpPr>
          <p:cNvPr id="22" name="Text 20"/>
          <p:cNvSpPr/>
          <p:nvPr/>
        </p:nvSpPr>
        <p:spPr>
          <a:xfrm>
            <a:off x="822960" y="3922776"/>
            <a:ext cx="2743200" cy="448056"/>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Context prefixes</a:t>
            </a:r>
            <a:endParaRPr lang="en-US" sz="1050" dirty="0"/>
          </a:p>
        </p:txBody>
      </p:sp>
      <p:sp>
        <p:nvSpPr>
          <p:cNvPr id="23" name="Text 21"/>
          <p:cNvSpPr/>
          <p:nvPr/>
        </p:nvSpPr>
        <p:spPr>
          <a:xfrm>
            <a:off x="3749040" y="3922776"/>
            <a:ext cx="3931920" cy="448056"/>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ourier New" pitchFamily="34" charset="0"/>
                <a:ea typeface="Courier New" pitchFamily="34" charset="-122"/>
                <a:cs typeface="Courier New" pitchFamily="34" charset="-120"/>
              </a:rPr>
              <a:t>KOI.Event, Koi.Allowlist, Koi.Blocklist, Koi.Inventory, Koi.Policy</a:t>
            </a:r>
            <a:endParaRPr lang="en-US" sz="1050" dirty="0"/>
          </a:p>
        </p:txBody>
      </p:sp>
      <p:sp>
        <p:nvSpPr>
          <p:cNvPr id="24" name="Text 22"/>
          <p:cNvSpPr/>
          <p:nvPr/>
        </p:nvSpPr>
        <p:spPr>
          <a:xfrm>
            <a:off x="7863840" y="3922776"/>
            <a:ext cx="3749040" cy="448056"/>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17 prefixes, incl. Koi.Device.*</a:t>
            </a:r>
            <a:endParaRPr lang="en-US" sz="1050" dirty="0"/>
          </a:p>
        </p:txBody>
      </p:sp>
      <p:sp>
        <p:nvSpPr>
          <p:cNvPr id="25" name="Shape 23"/>
          <p:cNvSpPr/>
          <p:nvPr/>
        </p:nvSpPr>
        <p:spPr>
          <a:xfrm>
            <a:off x="548640" y="4498848"/>
            <a:ext cx="11064240" cy="457200"/>
          </a:xfrm>
          <a:prstGeom prst="roundRect">
            <a:avLst>
              <a:gd name="adj" fmla="val 10000"/>
            </a:avLst>
          </a:prstGeom>
          <a:solidFill>
            <a:srgbClr val="15171B"/>
          </a:solidFill>
          <a:ln w="12700">
            <a:solidFill>
              <a:srgbClr val="15171B"/>
            </a:solidFill>
            <a:prstDash val="solid"/>
          </a:ln>
        </p:spPr>
      </p:sp>
      <p:sp>
        <p:nvSpPr>
          <p:cNvPr id="26" name="Text 24"/>
          <p:cNvSpPr/>
          <p:nvPr/>
        </p:nvSpPr>
        <p:spPr>
          <a:xfrm>
            <a:off x="822960" y="4626864"/>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Parsing / modeling rules</a:t>
            </a:r>
            <a:endParaRPr lang="en-US" sz="1050" dirty="0"/>
          </a:p>
        </p:txBody>
      </p:sp>
      <p:sp>
        <p:nvSpPr>
          <p:cNvPr id="27" name="Text 25"/>
          <p:cNvSpPr/>
          <p:nvPr/>
        </p:nvSpPr>
        <p:spPr>
          <a:xfrm>
            <a:off x="3749040" y="4626864"/>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None ship</a:t>
            </a:r>
            <a:endParaRPr lang="en-US" sz="1050" dirty="0"/>
          </a:p>
        </p:txBody>
      </p:sp>
      <p:sp>
        <p:nvSpPr>
          <p:cNvPr id="28" name="Text 26"/>
          <p:cNvSpPr/>
          <p:nvPr/>
        </p:nvSpPr>
        <p:spPr>
          <a:xfrm>
            <a:off x="7863840" y="4626864"/>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Both ship</a:t>
            </a:r>
            <a:endParaRPr lang="en-US" sz="1050" dirty="0"/>
          </a:p>
        </p:txBody>
      </p:sp>
      <p:sp>
        <p:nvSpPr>
          <p:cNvPr id="29" name="Shape 27"/>
          <p:cNvSpPr/>
          <p:nvPr/>
        </p:nvSpPr>
        <p:spPr>
          <a:xfrm>
            <a:off x="548640" y="5020056"/>
            <a:ext cx="11064240" cy="457200"/>
          </a:xfrm>
          <a:prstGeom prst="roundRect">
            <a:avLst>
              <a:gd name="adj" fmla="val 10000"/>
            </a:avLst>
          </a:prstGeom>
          <a:solidFill>
            <a:srgbClr val="15171B"/>
          </a:solidFill>
          <a:ln w="12700">
            <a:solidFill>
              <a:srgbClr val="15171B"/>
            </a:solidFill>
            <a:prstDash val="solid"/>
          </a:ln>
        </p:spPr>
      </p:sp>
      <p:sp>
        <p:nvSpPr>
          <p:cNvPr id="30" name="Text 28"/>
          <p:cNvSpPr/>
          <p:nvPr/>
        </p:nvSpPr>
        <p:spPr>
          <a:xfrm>
            <a:off x="822960" y="5148072"/>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fromversion</a:t>
            </a:r>
            <a:endParaRPr lang="en-US" sz="1050" dirty="0"/>
          </a:p>
        </p:txBody>
      </p:sp>
      <p:sp>
        <p:nvSpPr>
          <p:cNvPr id="31" name="Text 29"/>
          <p:cNvSpPr/>
          <p:nvPr/>
        </p:nvSpPr>
        <p:spPr>
          <a:xfrm>
            <a:off x="3749040" y="5148072"/>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6.10.0</a:t>
            </a:r>
            <a:endParaRPr lang="en-US" sz="1050" dirty="0"/>
          </a:p>
        </p:txBody>
      </p:sp>
      <p:sp>
        <p:nvSpPr>
          <p:cNvPr id="32" name="Text 30"/>
          <p:cNvSpPr/>
          <p:nvPr/>
        </p:nvSpPr>
        <p:spPr>
          <a:xfrm>
            <a:off x="7863840" y="5148072"/>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8.2.0 integration / 8.4.0 rules</a:t>
            </a:r>
            <a:endParaRPr lang="en-US" sz="1050" dirty="0"/>
          </a:p>
        </p:txBody>
      </p:sp>
      <p:sp>
        <p:nvSpPr>
          <p:cNvPr id="33" name="Shape 31"/>
          <p:cNvSpPr/>
          <p:nvPr/>
        </p:nvSpPr>
        <p:spPr>
          <a:xfrm>
            <a:off x="548640" y="5541264"/>
            <a:ext cx="11064240" cy="457200"/>
          </a:xfrm>
          <a:prstGeom prst="roundRect">
            <a:avLst>
              <a:gd name="adj" fmla="val 10000"/>
            </a:avLst>
          </a:prstGeom>
          <a:solidFill>
            <a:srgbClr val="15171B"/>
          </a:solidFill>
          <a:ln w="12700">
            <a:solidFill>
              <a:srgbClr val="15171B"/>
            </a:solidFill>
            <a:prstDash val="solid"/>
          </a:ln>
        </p:spPr>
      </p:sp>
      <p:sp>
        <p:nvSpPr>
          <p:cNvPr id="34" name="Text 32"/>
          <p:cNvSpPr/>
          <p:nvPr/>
        </p:nvSpPr>
        <p:spPr>
          <a:xfrm>
            <a:off x="822960" y="5669280"/>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Docker image</a:t>
            </a:r>
            <a:endParaRPr lang="en-US" sz="1050" dirty="0"/>
          </a:p>
        </p:txBody>
      </p:sp>
      <p:sp>
        <p:nvSpPr>
          <p:cNvPr id="35" name="Text 33"/>
          <p:cNvSpPr/>
          <p:nvPr/>
        </p:nvSpPr>
        <p:spPr>
          <a:xfrm>
            <a:off x="3749040" y="5669280"/>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ourier New" pitchFamily="34" charset="0"/>
                <a:ea typeface="Courier New" pitchFamily="34" charset="-122"/>
                <a:cs typeface="Courier New" pitchFamily="34" charset="-120"/>
              </a:rPr>
              <a:t>demisto/fastapi:0.125.0.10158186</a:t>
            </a:r>
            <a:endParaRPr lang="en-US" sz="1050" dirty="0"/>
          </a:p>
        </p:txBody>
      </p:sp>
      <p:sp>
        <p:nvSpPr>
          <p:cNvPr id="36" name="Text 34"/>
          <p:cNvSpPr/>
          <p:nvPr/>
        </p:nvSpPr>
        <p:spPr>
          <a:xfrm>
            <a:off x="7863840" y="5669280"/>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demisto/fastapi:0.125.0.9094740</a:t>
            </a:r>
            <a:endParaRPr lang="en-US" sz="1050" dirty="0"/>
          </a:p>
        </p:txBody>
      </p:sp>
      <p:sp>
        <p:nvSpPr>
          <p:cNvPr id="37" name="Text 35"/>
          <p:cNvSpPr/>
          <p:nvPr/>
        </p:nvSpPr>
        <p:spPr>
          <a:xfrm>
            <a:off x="548640" y="6117336"/>
            <a:ext cx="11064240" cy="274320"/>
          </a:xfrm>
          <a:prstGeom prst="rect">
            <a:avLst/>
          </a:prstGeom>
          <a:noFill/>
          <a:ln/>
        </p:spPr>
        <p:txBody>
          <a:bodyPr wrap="square" lIns="0" tIns="0" rIns="0" bIns="0" rtlCol="0" anchor="t"/>
          <a:lstStyle/>
          <a:p>
            <a:pPr indent="0" marL="0">
              <a:buNone/>
            </a:pPr>
            <a:r>
              <a:rPr lang="en-US" sz="1050" i="1" dirty="0">
                <a:solidFill>
                  <a:srgbClr val="F5A524"/>
                </a:solidFill>
                <a:latin typeface="Calibri" pitchFamily="34" charset="0"/>
                <a:ea typeface="Calibri" pitchFamily="34" charset="-122"/>
                <a:cs typeface="Calibri" pitchFamily="34" charset="-120"/>
              </a:rPr>
              <a:t>Preserve the casing inconsistency in both packs: events are KOI.Event.*, everything else is Koi.*. "Fixing" it breaks DT paths.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Ten tests, in order</a:t>
            </a:r>
            <a:endParaRPr lang="en-US" sz="3100" dirty="0"/>
          </a:p>
        </p:txBody>
      </p:sp>
      <p:sp>
        <p:nvSpPr>
          <p:cNvPr id="5" name="Shape 3"/>
          <p:cNvSpPr/>
          <p:nvPr/>
        </p:nvSpPr>
        <p:spPr>
          <a:xfrm>
            <a:off x="548640" y="1408176"/>
            <a:ext cx="3505200" cy="1078992"/>
          </a:xfrm>
          <a:prstGeom prst="roundRect">
            <a:avLst>
              <a:gd name="adj" fmla="val 4237"/>
            </a:avLst>
          </a:prstGeom>
          <a:solidFill>
            <a:srgbClr val="15171B"/>
          </a:solidFill>
          <a:ln w="12700">
            <a:solidFill>
              <a:srgbClr val="15171B"/>
            </a:solidFill>
            <a:prstDash val="solid"/>
          </a:ln>
        </p:spPr>
      </p:sp>
      <p:sp>
        <p:nvSpPr>
          <p:cNvPr id="6" name="Shape 4"/>
          <p:cNvSpPr/>
          <p:nvPr/>
        </p:nvSpPr>
        <p:spPr>
          <a:xfrm>
            <a:off x="786384" y="1572768"/>
            <a:ext cx="292608" cy="292608"/>
          </a:xfrm>
          <a:prstGeom prst="roundRect">
            <a:avLst>
              <a:gd name="adj" fmla="val 28125"/>
            </a:avLst>
          </a:prstGeom>
          <a:solidFill>
            <a:srgbClr val="E8551F"/>
          </a:solidFill>
          <a:ln w="12700">
            <a:solidFill>
              <a:srgbClr val="E8551F"/>
            </a:solidFill>
            <a:prstDash val="solid"/>
          </a:ln>
        </p:spPr>
      </p:sp>
      <p:sp>
        <p:nvSpPr>
          <p:cNvPr id="7" name="Text 5"/>
          <p:cNvSpPr/>
          <p:nvPr/>
        </p:nvSpPr>
        <p:spPr>
          <a:xfrm>
            <a:off x="786384"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86384" y="1920240"/>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Pack identity</a:t>
            </a:r>
            <a:endParaRPr lang="en-US" sz="1200" dirty="0"/>
          </a:p>
        </p:txBody>
      </p:sp>
      <p:sp>
        <p:nvSpPr>
          <p:cNvPr id="9" name="Text 7"/>
          <p:cNvSpPr/>
          <p:nvPr/>
        </p:nvSpPr>
        <p:spPr>
          <a:xfrm>
            <a:off x="786384" y="2176272"/>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currentVersion is 1.2.3 and 13 commands are registered</a:t>
            </a:r>
            <a:endParaRPr lang="en-US" sz="950" dirty="0"/>
          </a:p>
        </p:txBody>
      </p:sp>
      <p:sp>
        <p:nvSpPr>
          <p:cNvPr id="10" name="Shape 8"/>
          <p:cNvSpPr/>
          <p:nvPr/>
        </p:nvSpPr>
        <p:spPr>
          <a:xfrm>
            <a:off x="4328160" y="1408176"/>
            <a:ext cx="3505200" cy="1078992"/>
          </a:xfrm>
          <a:prstGeom prst="roundRect">
            <a:avLst>
              <a:gd name="adj" fmla="val 4237"/>
            </a:avLst>
          </a:prstGeom>
          <a:solidFill>
            <a:srgbClr val="15171B"/>
          </a:solidFill>
          <a:ln w="12700">
            <a:solidFill>
              <a:srgbClr val="15171B"/>
            </a:solidFill>
            <a:prstDash val="solid"/>
          </a:ln>
        </p:spPr>
      </p:sp>
      <p:sp>
        <p:nvSpPr>
          <p:cNvPr id="11" name="Shape 9"/>
          <p:cNvSpPr/>
          <p:nvPr/>
        </p:nvSpPr>
        <p:spPr>
          <a:xfrm>
            <a:off x="4565904" y="1572768"/>
            <a:ext cx="292608" cy="292608"/>
          </a:xfrm>
          <a:prstGeom prst="roundRect">
            <a:avLst>
              <a:gd name="adj" fmla="val 28125"/>
            </a:avLst>
          </a:prstGeom>
          <a:solidFill>
            <a:srgbClr val="E8551F"/>
          </a:solidFill>
          <a:ln w="12700">
            <a:solidFill>
              <a:srgbClr val="E8551F"/>
            </a:solidFill>
            <a:prstDash val="solid"/>
          </a:ln>
        </p:spPr>
      </p:sp>
      <p:sp>
        <p:nvSpPr>
          <p:cNvPr id="12" name="Text 10"/>
          <p:cNvSpPr/>
          <p:nvPr/>
        </p:nvSpPr>
        <p:spPr>
          <a:xfrm>
            <a:off x="4565904"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4565904" y="1920240"/>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Instance config + Test</a:t>
            </a:r>
            <a:endParaRPr lang="en-US" sz="1200" dirty="0"/>
          </a:p>
        </p:txBody>
      </p:sp>
      <p:sp>
        <p:nvSpPr>
          <p:cNvPr id="14" name="Text 12"/>
          <p:cNvSpPr/>
          <p:nvPr/>
        </p:nvSpPr>
        <p:spPr>
          <a:xfrm>
            <a:off x="4565904" y="2176272"/>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The instance saves and the Test button returns Success</a:t>
            </a:r>
            <a:endParaRPr lang="en-US" sz="950" dirty="0"/>
          </a:p>
        </p:txBody>
      </p:sp>
      <p:sp>
        <p:nvSpPr>
          <p:cNvPr id="15" name="Shape 13"/>
          <p:cNvSpPr/>
          <p:nvPr/>
        </p:nvSpPr>
        <p:spPr>
          <a:xfrm>
            <a:off x="8107680" y="1408176"/>
            <a:ext cx="3505200" cy="1078992"/>
          </a:xfrm>
          <a:prstGeom prst="roundRect">
            <a:avLst>
              <a:gd name="adj" fmla="val 4237"/>
            </a:avLst>
          </a:prstGeom>
          <a:solidFill>
            <a:srgbClr val="15171B"/>
          </a:solidFill>
          <a:ln w="12700">
            <a:solidFill>
              <a:srgbClr val="15171B"/>
            </a:solidFill>
            <a:prstDash val="solid"/>
          </a:ln>
        </p:spPr>
      </p:sp>
      <p:sp>
        <p:nvSpPr>
          <p:cNvPr id="16" name="Shape 14"/>
          <p:cNvSpPr/>
          <p:nvPr/>
        </p:nvSpPr>
        <p:spPr>
          <a:xfrm>
            <a:off x="8345424" y="1572768"/>
            <a:ext cx="292608" cy="292608"/>
          </a:xfrm>
          <a:prstGeom prst="roundRect">
            <a:avLst>
              <a:gd name="adj" fmla="val 28125"/>
            </a:avLst>
          </a:prstGeom>
          <a:solidFill>
            <a:srgbClr val="22D3EE"/>
          </a:solidFill>
          <a:ln w="12700">
            <a:solidFill>
              <a:srgbClr val="22D3EE"/>
            </a:solidFill>
            <a:prstDash val="solid"/>
          </a:ln>
        </p:spPr>
      </p:sp>
      <p:sp>
        <p:nvSpPr>
          <p:cNvPr id="17" name="Text 15"/>
          <p:cNvSpPr/>
          <p:nvPr/>
        </p:nvSpPr>
        <p:spPr>
          <a:xfrm>
            <a:off x="8345424"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8345424" y="1920240"/>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Policy &amp; governance reads</a:t>
            </a:r>
            <a:endParaRPr lang="en-US" sz="1200" dirty="0"/>
          </a:p>
        </p:txBody>
      </p:sp>
      <p:sp>
        <p:nvSpPr>
          <p:cNvPr id="19" name="Text 17"/>
          <p:cNvSpPr/>
          <p:nvPr/>
        </p:nvSpPr>
        <p:spPr>
          <a:xfrm>
            <a:off x="8345424" y="2176272"/>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koi-policy-list, koi-allowlist-get, koi-blocklist-get</a:t>
            </a:r>
            <a:endParaRPr lang="en-US" sz="950" dirty="0"/>
          </a:p>
        </p:txBody>
      </p:sp>
      <p:sp>
        <p:nvSpPr>
          <p:cNvPr id="20" name="Shape 18"/>
          <p:cNvSpPr/>
          <p:nvPr/>
        </p:nvSpPr>
        <p:spPr>
          <a:xfrm>
            <a:off x="548640" y="2651760"/>
            <a:ext cx="3505200" cy="1078992"/>
          </a:xfrm>
          <a:prstGeom prst="roundRect">
            <a:avLst>
              <a:gd name="adj" fmla="val 4237"/>
            </a:avLst>
          </a:prstGeom>
          <a:solidFill>
            <a:srgbClr val="15171B"/>
          </a:solidFill>
          <a:ln w="12700">
            <a:solidFill>
              <a:srgbClr val="15171B"/>
            </a:solidFill>
            <a:prstDash val="solid"/>
          </a:ln>
        </p:spPr>
      </p:sp>
      <p:sp>
        <p:nvSpPr>
          <p:cNvPr id="21" name="Shape 19"/>
          <p:cNvSpPr/>
          <p:nvPr/>
        </p:nvSpPr>
        <p:spPr>
          <a:xfrm>
            <a:off x="786384" y="2816352"/>
            <a:ext cx="292608" cy="292608"/>
          </a:xfrm>
          <a:prstGeom prst="roundRect">
            <a:avLst>
              <a:gd name="adj" fmla="val 28125"/>
            </a:avLst>
          </a:prstGeom>
          <a:solidFill>
            <a:srgbClr val="22D3EE"/>
          </a:solidFill>
          <a:ln w="12700">
            <a:solidFill>
              <a:srgbClr val="22D3EE"/>
            </a:solidFill>
            <a:prstDash val="solid"/>
          </a:ln>
        </p:spPr>
      </p:sp>
      <p:sp>
        <p:nvSpPr>
          <p:cNvPr id="22" name="Text 20"/>
          <p:cNvSpPr/>
          <p:nvPr/>
        </p:nvSpPr>
        <p:spPr>
          <a:xfrm>
            <a:off x="786384" y="28163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786384" y="3163824"/>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Inventory reads</a:t>
            </a:r>
            <a:endParaRPr lang="en-US" sz="1200" dirty="0"/>
          </a:p>
        </p:txBody>
      </p:sp>
      <p:sp>
        <p:nvSpPr>
          <p:cNvPr id="24" name="Text 22"/>
          <p:cNvSpPr/>
          <p:nvPr/>
        </p:nvSpPr>
        <p:spPr>
          <a:xfrm>
            <a:off x="786384" y="3419856"/>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list, item-get, item-endpoints-list return Koi.Inventory.*</a:t>
            </a:r>
            <a:endParaRPr lang="en-US" sz="950" dirty="0"/>
          </a:p>
        </p:txBody>
      </p:sp>
      <p:sp>
        <p:nvSpPr>
          <p:cNvPr id="25" name="Shape 23"/>
          <p:cNvSpPr/>
          <p:nvPr/>
        </p:nvSpPr>
        <p:spPr>
          <a:xfrm>
            <a:off x="4328160" y="2651760"/>
            <a:ext cx="3505200" cy="1078992"/>
          </a:xfrm>
          <a:prstGeom prst="roundRect">
            <a:avLst>
              <a:gd name="adj" fmla="val 4237"/>
            </a:avLst>
          </a:prstGeom>
          <a:solidFill>
            <a:srgbClr val="15171B"/>
          </a:solidFill>
          <a:ln w="12700">
            <a:solidFill>
              <a:srgbClr val="15171B"/>
            </a:solidFill>
            <a:prstDash val="solid"/>
          </a:ln>
        </p:spPr>
      </p:sp>
      <p:sp>
        <p:nvSpPr>
          <p:cNvPr id="26" name="Shape 24"/>
          <p:cNvSpPr/>
          <p:nvPr/>
        </p:nvSpPr>
        <p:spPr>
          <a:xfrm>
            <a:off x="4565904" y="2816352"/>
            <a:ext cx="292608" cy="292608"/>
          </a:xfrm>
          <a:prstGeom prst="roundRect">
            <a:avLst>
              <a:gd name="adj" fmla="val 28125"/>
            </a:avLst>
          </a:prstGeom>
          <a:solidFill>
            <a:srgbClr val="22D3EE"/>
          </a:solidFill>
          <a:ln w="12700">
            <a:solidFill>
              <a:srgbClr val="22D3EE"/>
            </a:solidFill>
            <a:prstDash val="solid"/>
          </a:ln>
        </p:spPr>
      </p:sp>
      <p:sp>
        <p:nvSpPr>
          <p:cNvPr id="27" name="Text 25"/>
          <p:cNvSpPr/>
          <p:nvPr/>
        </p:nvSpPr>
        <p:spPr>
          <a:xfrm>
            <a:off x="4565904" y="28163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4565904" y="3163824"/>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Advanced search</a:t>
            </a:r>
            <a:endParaRPr lang="en-US" sz="1200" dirty="0"/>
          </a:p>
        </p:txBody>
      </p:sp>
      <p:sp>
        <p:nvSpPr>
          <p:cNvPr id="29" name="Text 27"/>
          <p:cNvSpPr/>
          <p:nvPr/>
        </p:nvSpPr>
        <p:spPr>
          <a:xfrm>
            <a:off x="4565904" y="3419856"/>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koi-inventory-search with a query-builder filter</a:t>
            </a:r>
            <a:endParaRPr lang="en-US" sz="950" dirty="0"/>
          </a:p>
        </p:txBody>
      </p:sp>
      <p:sp>
        <p:nvSpPr>
          <p:cNvPr id="30" name="Shape 28"/>
          <p:cNvSpPr/>
          <p:nvPr/>
        </p:nvSpPr>
        <p:spPr>
          <a:xfrm>
            <a:off x="8107680" y="2651760"/>
            <a:ext cx="3505200" cy="1078992"/>
          </a:xfrm>
          <a:prstGeom prst="roundRect">
            <a:avLst>
              <a:gd name="adj" fmla="val 4237"/>
            </a:avLst>
          </a:prstGeom>
          <a:solidFill>
            <a:srgbClr val="15171B"/>
          </a:solidFill>
          <a:ln w="12700">
            <a:solidFill>
              <a:srgbClr val="15171B"/>
            </a:solidFill>
            <a:prstDash val="solid"/>
          </a:ln>
        </p:spPr>
      </p:sp>
      <p:sp>
        <p:nvSpPr>
          <p:cNvPr id="31" name="Shape 29"/>
          <p:cNvSpPr/>
          <p:nvPr/>
        </p:nvSpPr>
        <p:spPr>
          <a:xfrm>
            <a:off x="8345424" y="2816352"/>
            <a:ext cx="292608" cy="292608"/>
          </a:xfrm>
          <a:prstGeom prst="roundRect">
            <a:avLst>
              <a:gd name="adj" fmla="val 28125"/>
            </a:avLst>
          </a:prstGeom>
          <a:solidFill>
            <a:srgbClr val="22D3EE"/>
          </a:solidFill>
          <a:ln w="12700">
            <a:solidFill>
              <a:srgbClr val="22D3EE"/>
            </a:solidFill>
            <a:prstDash val="solid"/>
          </a:ln>
        </p:spPr>
      </p:sp>
      <p:sp>
        <p:nvSpPr>
          <p:cNvPr id="32" name="Text 30"/>
          <p:cNvSpPr/>
          <p:nvPr/>
        </p:nvSpPr>
        <p:spPr>
          <a:xfrm>
            <a:off x="8345424" y="28163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8345424" y="3163824"/>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Event command</a:t>
            </a:r>
            <a:endParaRPr lang="en-US" sz="1200" dirty="0"/>
          </a:p>
        </p:txBody>
      </p:sp>
      <p:sp>
        <p:nvSpPr>
          <p:cNvPr id="34" name="Text 32"/>
          <p:cNvSpPr/>
          <p:nvPr/>
        </p:nvSpPr>
        <p:spPr>
          <a:xfrm>
            <a:off x="8345424" y="3419856"/>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koi-get-events, debug only, push disabled</a:t>
            </a:r>
            <a:endParaRPr lang="en-US" sz="950" dirty="0"/>
          </a:p>
        </p:txBody>
      </p:sp>
      <p:sp>
        <p:nvSpPr>
          <p:cNvPr id="35" name="Shape 33"/>
          <p:cNvSpPr/>
          <p:nvPr/>
        </p:nvSpPr>
        <p:spPr>
          <a:xfrm>
            <a:off x="548640" y="3895344"/>
            <a:ext cx="3505200" cy="1078992"/>
          </a:xfrm>
          <a:prstGeom prst="roundRect">
            <a:avLst>
              <a:gd name="adj" fmla="val 4237"/>
            </a:avLst>
          </a:prstGeom>
          <a:solidFill>
            <a:srgbClr val="15171B"/>
          </a:solidFill>
          <a:ln w="12700">
            <a:solidFill>
              <a:srgbClr val="15171B"/>
            </a:solidFill>
            <a:prstDash val="solid"/>
          </a:ln>
        </p:spPr>
      </p:sp>
      <p:sp>
        <p:nvSpPr>
          <p:cNvPr id="36" name="Shape 34"/>
          <p:cNvSpPr/>
          <p:nvPr/>
        </p:nvSpPr>
        <p:spPr>
          <a:xfrm>
            <a:off x="786384" y="4059936"/>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40599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8" name="Text 36"/>
          <p:cNvSpPr/>
          <p:nvPr/>
        </p:nvSpPr>
        <p:spPr>
          <a:xfrm>
            <a:off x="786384" y="4407408"/>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The mcp_servers view</a:t>
            </a:r>
            <a:endParaRPr lang="en-US" sz="1200" dirty="0"/>
          </a:p>
        </p:txBody>
      </p:sp>
      <p:sp>
        <p:nvSpPr>
          <p:cNvPr id="39" name="Text 37"/>
          <p:cNvSpPr/>
          <p:nvPr/>
        </p:nvSpPr>
        <p:spPr>
          <a:xfrm>
            <a:off x="786384" y="4663440"/>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Works, but is missing from the argument dropdown</a:t>
            </a:r>
            <a:endParaRPr lang="en-US" sz="950" dirty="0"/>
          </a:p>
        </p:txBody>
      </p:sp>
      <p:sp>
        <p:nvSpPr>
          <p:cNvPr id="40" name="Shape 38"/>
          <p:cNvSpPr/>
          <p:nvPr/>
        </p:nvSpPr>
        <p:spPr>
          <a:xfrm>
            <a:off x="4328160" y="3895344"/>
            <a:ext cx="3505200" cy="1078992"/>
          </a:xfrm>
          <a:prstGeom prst="roundRect">
            <a:avLst>
              <a:gd name="adj" fmla="val 4237"/>
            </a:avLst>
          </a:prstGeom>
          <a:solidFill>
            <a:srgbClr val="15171B"/>
          </a:solidFill>
          <a:ln w="12700">
            <a:solidFill>
              <a:srgbClr val="15171B"/>
            </a:solidFill>
            <a:prstDash val="solid"/>
          </a:ln>
        </p:spPr>
      </p:sp>
      <p:sp>
        <p:nvSpPr>
          <p:cNvPr id="41" name="Shape 39"/>
          <p:cNvSpPr/>
          <p:nvPr/>
        </p:nvSpPr>
        <p:spPr>
          <a:xfrm>
            <a:off x="4565904" y="4059936"/>
            <a:ext cx="292608" cy="292608"/>
          </a:xfrm>
          <a:prstGeom prst="roundRect">
            <a:avLst>
              <a:gd name="adj" fmla="val 28125"/>
            </a:avLst>
          </a:prstGeom>
          <a:solidFill>
            <a:srgbClr val="F04438"/>
          </a:solidFill>
          <a:ln w="12700">
            <a:solidFill>
              <a:srgbClr val="F04438"/>
            </a:solidFill>
            <a:prstDash val="solid"/>
          </a:ln>
        </p:spPr>
      </p:sp>
      <p:sp>
        <p:nvSpPr>
          <p:cNvPr id="42" name="Text 40"/>
          <p:cNvSpPr/>
          <p:nvPr/>
        </p:nvSpPr>
        <p:spPr>
          <a:xfrm>
            <a:off x="4565904" y="40599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3" name="Text 41"/>
          <p:cNvSpPr/>
          <p:nvPr/>
        </p:nvSpPr>
        <p:spPr>
          <a:xfrm>
            <a:off x="4565904" y="4407408"/>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State-changing commands</a:t>
            </a:r>
            <a:endParaRPr lang="en-US" sz="1200" dirty="0"/>
          </a:p>
        </p:txBody>
      </p:sp>
      <p:sp>
        <p:nvSpPr>
          <p:cNvPr id="44" name="Text 42"/>
          <p:cNvSpPr/>
          <p:nvPr/>
        </p:nvSpPr>
        <p:spPr>
          <a:xfrm>
            <a:off x="4565904" y="4663440"/>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Controlled protocol — record, change, reverse</a:t>
            </a:r>
            <a:endParaRPr lang="en-US" sz="950" dirty="0"/>
          </a:p>
        </p:txBody>
      </p:sp>
      <p:sp>
        <p:nvSpPr>
          <p:cNvPr id="45" name="Shape 43"/>
          <p:cNvSpPr/>
          <p:nvPr/>
        </p:nvSpPr>
        <p:spPr>
          <a:xfrm>
            <a:off x="8107680" y="3895344"/>
            <a:ext cx="3505200" cy="1078992"/>
          </a:xfrm>
          <a:prstGeom prst="roundRect">
            <a:avLst>
              <a:gd name="adj" fmla="val 4237"/>
            </a:avLst>
          </a:prstGeom>
          <a:solidFill>
            <a:srgbClr val="15171B"/>
          </a:solidFill>
          <a:ln w="12700">
            <a:solidFill>
              <a:srgbClr val="15171B"/>
            </a:solidFill>
            <a:prstDash val="solid"/>
          </a:ln>
        </p:spPr>
      </p:sp>
      <p:sp>
        <p:nvSpPr>
          <p:cNvPr id="46" name="Shape 44"/>
          <p:cNvSpPr/>
          <p:nvPr/>
        </p:nvSpPr>
        <p:spPr>
          <a:xfrm>
            <a:off x="8345424" y="4059936"/>
            <a:ext cx="292608" cy="292608"/>
          </a:xfrm>
          <a:prstGeom prst="roundRect">
            <a:avLst>
              <a:gd name="adj" fmla="val 28125"/>
            </a:avLst>
          </a:prstGeom>
          <a:solidFill>
            <a:srgbClr val="3FB950"/>
          </a:solidFill>
          <a:ln w="12700">
            <a:solidFill>
              <a:srgbClr val="3FB950"/>
            </a:solidFill>
            <a:prstDash val="solid"/>
          </a:ln>
        </p:spPr>
      </p:sp>
      <p:sp>
        <p:nvSpPr>
          <p:cNvPr id="47" name="Text 45"/>
          <p:cNvSpPr/>
          <p:nvPr/>
        </p:nvSpPr>
        <p:spPr>
          <a:xfrm>
            <a:off x="8345424" y="40599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8" name="Text 46"/>
          <p:cNvSpPr/>
          <p:nvPr/>
        </p:nvSpPr>
        <p:spPr>
          <a:xfrm>
            <a:off x="8345424" y="4407408"/>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Event collection</a:t>
            </a:r>
            <a:endParaRPr lang="en-US" sz="1200" dirty="0"/>
          </a:p>
        </p:txBody>
      </p:sp>
      <p:sp>
        <p:nvSpPr>
          <p:cNvPr id="49" name="Text 47"/>
          <p:cNvSpPr/>
          <p:nvPr/>
        </p:nvSpPr>
        <p:spPr>
          <a:xfrm>
            <a:off x="8345424" y="4663440"/>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koi_koi_raw is populated by the collector</a:t>
            </a:r>
            <a:endParaRPr lang="en-US" sz="950" dirty="0"/>
          </a:p>
        </p:txBody>
      </p:sp>
      <p:sp>
        <p:nvSpPr>
          <p:cNvPr id="50" name="Shape 48"/>
          <p:cNvSpPr/>
          <p:nvPr/>
        </p:nvSpPr>
        <p:spPr>
          <a:xfrm>
            <a:off x="548640" y="5138928"/>
            <a:ext cx="3505200" cy="1078992"/>
          </a:xfrm>
          <a:prstGeom prst="roundRect">
            <a:avLst>
              <a:gd name="adj" fmla="val 4237"/>
            </a:avLst>
          </a:prstGeom>
          <a:solidFill>
            <a:srgbClr val="15171B"/>
          </a:solidFill>
          <a:ln w="12700">
            <a:solidFill>
              <a:srgbClr val="15171B"/>
            </a:solidFill>
            <a:prstDash val="solid"/>
          </a:ln>
        </p:spPr>
      </p:sp>
      <p:sp>
        <p:nvSpPr>
          <p:cNvPr id="51" name="Shape 49"/>
          <p:cNvSpPr/>
          <p:nvPr/>
        </p:nvSpPr>
        <p:spPr>
          <a:xfrm>
            <a:off x="786384" y="5303520"/>
            <a:ext cx="292608" cy="292608"/>
          </a:xfrm>
          <a:prstGeom prst="roundRect">
            <a:avLst>
              <a:gd name="adj" fmla="val 28125"/>
            </a:avLst>
          </a:prstGeom>
          <a:solidFill>
            <a:srgbClr val="3FB950"/>
          </a:solidFill>
          <a:ln w="12700">
            <a:solidFill>
              <a:srgbClr val="3FB950"/>
            </a:solidFill>
            <a:prstDash val="solid"/>
          </a:ln>
        </p:spPr>
      </p:sp>
      <p:sp>
        <p:nvSpPr>
          <p:cNvPr id="52" name="Text 50"/>
          <p:cNvSpPr/>
          <p:nvPr/>
        </p:nvSpPr>
        <p:spPr>
          <a:xfrm>
            <a:off x="786384" y="53035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53" name="Text 51"/>
          <p:cNvSpPr/>
          <p:nvPr/>
        </p:nvSpPr>
        <p:spPr>
          <a:xfrm>
            <a:off x="786384" y="5650992"/>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vs Audit, and XDM</a:t>
            </a:r>
            <a:endParaRPr lang="en-US" sz="1200" dirty="0"/>
          </a:p>
        </p:txBody>
      </p:sp>
      <p:sp>
        <p:nvSpPr>
          <p:cNvPr id="54" name="Text 52"/>
          <p:cNvSpPr/>
          <p:nvPr/>
        </p:nvSpPr>
        <p:spPr>
          <a:xfrm>
            <a:off x="786384" y="5907024"/>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Split by source_log_type; XDM is empty by design</a:t>
            </a:r>
            <a:endParaRPr lang="en-US" sz="950" dirty="0"/>
          </a:p>
        </p:txBody>
      </p:sp>
      <p:sp>
        <p:nvSpPr>
          <p:cNvPr id="55" name="Text 53"/>
          <p:cNvSpPr/>
          <p:nvPr/>
        </p:nvSpPr>
        <p:spPr>
          <a:xfrm>
            <a:off x="4328160" y="5230368"/>
            <a:ext cx="7284720" cy="1060704"/>
          </a:xfrm>
          <a:prstGeom prst="rect">
            <a:avLst/>
          </a:prstGeom>
          <a:noFill/>
          <a:ln/>
        </p:spPr>
        <p:txBody>
          <a:bodyPr wrap="square" lIns="0" tIns="0" rIns="0" bIns="0" rtlCol="0" anchor="t"/>
          <a:lstStyle/>
          <a:p>
            <a:pPr indent="0" marL="0">
              <a:lnSpc>
                <a:spcPts val="1500"/>
              </a:lnSpc>
              <a:buNone/>
            </a:pPr>
            <a:r>
              <a:rPr lang="en-US" sz="1100" i="1" dirty="0">
                <a:solidFill>
                  <a:srgbClr val="6E747E"/>
                </a:solidFill>
                <a:latin typeface="Calibri" pitchFamily="34" charset="0"/>
                <a:ea typeface="Calibri" pitchFamily="34" charset="-122"/>
                <a:cs typeface="Calibri" pitchFamily="34" charset="-120"/>
              </a:rPr>
              <a:t>Tests 1 and 2 are gates: do not interpret any later result until both pass.</a:t>
            </a:r>
            <a:endParaRPr lang="en-US" sz="1100" dirty="0"/>
          </a:p>
          <a:p>
            <a:pPr indent="0" marL="0">
              <a:lnSpc>
                <a:spcPts val="1500"/>
              </a:lnSpc>
              <a:buNone/>
            </a:pPr>
            <a:r>
              <a:rPr lang="en-US" sz="1100" i="1" dirty="0">
                <a:solidFill>
                  <a:srgbClr val="6E747E"/>
                </a:solidFill>
                <a:latin typeface="Calibri" pitchFamily="34" charset="0"/>
                <a:ea typeface="Calibri" pitchFamily="34" charset="-122"/>
                <a:cs typeface="Calibri" pitchFamily="34" charset="-120"/>
              </a:rPr>
              <a:t>Test 8 is the only one that writes to KOI — run it last, on a disposable item, and reverse it.</a:t>
            </a:r>
            <a:endParaRPr lang="en-US" sz="1100" dirty="0"/>
          </a:p>
          <a:p>
            <a:pPr indent="0" marL="0">
              <a:lnSpc>
                <a:spcPts val="1500"/>
              </a:lnSpc>
              <a:buNone/>
            </a:pPr>
            <a:r>
              <a:rPr lang="en-US" sz="1100" i="1" dirty="0">
                <a:solidFill>
                  <a:srgbClr val="6E747E"/>
                </a:solidFill>
                <a:latin typeface="Calibri" pitchFamily="34" charset="0"/>
                <a:ea typeface="Calibri" pitchFamily="34" charset="-122"/>
                <a:cs typeface="Calibri" pitchFamily="34" charset="-120"/>
              </a:rPr>
              <a:t>Tests 3, 4, 5 and 7 are read-only and safe to repeat. Test 6 is NOT: the pack calls koi-get-events debugging-only — it may duplicate events, exceed rate limits or disrupt the fetch, and should_push_events=true writes events into koi_koi_raw.</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PRECONDITIONS</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must be true before test 1</a:t>
            </a:r>
            <a:endParaRPr lang="en-US" sz="3100" dirty="0"/>
          </a:p>
        </p:txBody>
      </p:sp>
      <p:sp>
        <p:nvSpPr>
          <p:cNvPr id="5" name="Shape 3"/>
          <p:cNvSpPr/>
          <p:nvPr/>
        </p:nvSpPr>
        <p:spPr>
          <a:xfrm>
            <a:off x="548640" y="1444752"/>
            <a:ext cx="5349240" cy="3246120"/>
          </a:xfrm>
          <a:prstGeom prst="roundRect">
            <a:avLst>
              <a:gd name="adj" fmla="val 1408"/>
            </a:avLst>
          </a:prstGeom>
          <a:solidFill>
            <a:srgbClr val="15171B"/>
          </a:solidFill>
          <a:ln w="12700">
            <a:solidFill>
              <a:srgbClr val="15171B"/>
            </a:solidFill>
            <a:prstDash val="solid"/>
          </a:ln>
        </p:spPr>
      </p:sp>
      <p:sp>
        <p:nvSpPr>
          <p:cNvPr id="6" name="Text 4"/>
          <p:cNvSpPr/>
          <p:nvPr/>
        </p:nvSpPr>
        <p:spPr>
          <a:xfrm>
            <a:off x="859536" y="1645920"/>
            <a:ext cx="4727448" cy="310896"/>
          </a:xfrm>
          <a:prstGeom prst="rect">
            <a:avLst/>
          </a:prstGeom>
          <a:noFill/>
          <a:ln/>
        </p:spPr>
        <p:txBody>
          <a:bodyPr wrap="square" lIns="0" tIns="0" rIns="0" bIns="0" rtlCol="0" anchor="t"/>
          <a:lstStyle/>
          <a:p>
            <a:pPr indent="0" marL="0">
              <a:buNone/>
            </a:pPr>
            <a:r>
              <a:rPr lang="en-US" sz="1600" b="1" dirty="0">
                <a:solidFill>
                  <a:srgbClr val="E8551F"/>
                </a:solidFill>
                <a:latin typeface="Calibri" pitchFamily="34" charset="0"/>
                <a:ea typeface="Calibri" pitchFamily="34" charset="-122"/>
                <a:cs typeface="Calibri" pitchFamily="34" charset="-120"/>
              </a:rPr>
              <a:t>For every test</a:t>
            </a:r>
            <a:endParaRPr lang="en-US" sz="1600" dirty="0"/>
          </a:p>
        </p:txBody>
      </p:sp>
      <p:sp>
        <p:nvSpPr>
          <p:cNvPr id="7" name="Text 5"/>
          <p:cNvSpPr/>
          <p:nvPr/>
        </p:nvSpPr>
        <p:spPr>
          <a:xfrm>
            <a:off x="859536" y="1993392"/>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Identity, access, and a place to type commands</a:t>
            </a:r>
            <a:endParaRPr lang="en-US" sz="1100" dirty="0"/>
          </a:p>
        </p:txBody>
      </p:sp>
      <p:sp>
        <p:nvSpPr>
          <p:cNvPr id="8" name="Text 6"/>
          <p:cNvSpPr/>
          <p:nvPr/>
        </p:nvSpPr>
        <p:spPr>
          <a:xfrm>
            <a:off x="859536" y="23957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9" name="Text 7"/>
          <p:cNvSpPr/>
          <p:nvPr/>
        </p:nvSpPr>
        <p:spPr>
          <a:xfrm>
            <a:off x="1152144" y="2395728"/>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Marketplace KOI pack v1.2.3 installed — and the custom pack NOT installed</a:t>
            </a:r>
            <a:endParaRPr lang="en-US" sz="1150" dirty="0"/>
          </a:p>
        </p:txBody>
      </p:sp>
      <p:sp>
        <p:nvSpPr>
          <p:cNvPr id="10" name="Text 8"/>
          <p:cNvSpPr/>
          <p:nvPr/>
        </p:nvSpPr>
        <p:spPr>
          <a:xfrm>
            <a:off x="859536" y="29123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1152144" y="2912364"/>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Cortex platform at or above fromversion 6.10.0</a:t>
            </a:r>
            <a:endParaRPr lang="en-US" sz="1150" dirty="0"/>
          </a:p>
        </p:txBody>
      </p:sp>
      <p:sp>
        <p:nvSpPr>
          <p:cNvPr id="12" name="Text 10"/>
          <p:cNvSpPr/>
          <p:nvPr/>
        </p:nvSpPr>
        <p:spPr>
          <a:xfrm>
            <a:off x="859536" y="324154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3" name="Text 11"/>
          <p:cNvSpPr/>
          <p:nvPr/>
        </p:nvSpPr>
        <p:spPr>
          <a:xfrm>
            <a:off x="1152144" y="3241548"/>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KOI API key, and an egress path KOI accepts (direct tenant egress or an engine)</a:t>
            </a:r>
            <a:endParaRPr lang="en-US" sz="1150" dirty="0"/>
          </a:p>
        </p:txBody>
      </p:sp>
      <p:sp>
        <p:nvSpPr>
          <p:cNvPr id="14" name="Text 12"/>
          <p:cNvSpPr/>
          <p:nvPr/>
        </p:nvSpPr>
        <p:spPr>
          <a:xfrm>
            <a:off x="859536" y="375818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5" name="Text 13"/>
          <p:cNvSpPr/>
          <p:nvPr/>
        </p:nvSpPr>
        <p:spPr>
          <a:xfrm>
            <a:off x="1152144" y="3758184"/>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war room / playground where you can type ! commands</a:t>
            </a:r>
            <a:endParaRPr lang="en-US" sz="1150" dirty="0"/>
          </a:p>
        </p:txBody>
      </p:sp>
      <p:sp>
        <p:nvSpPr>
          <p:cNvPr id="16" name="Text 14"/>
          <p:cNvSpPr/>
          <p:nvPr/>
        </p:nvSpPr>
        <p:spPr>
          <a:xfrm>
            <a:off x="859536" y="408736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1152144" y="408736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Permission to read the instance configuration</a:t>
            </a:r>
            <a:endParaRPr lang="en-US" sz="1150" dirty="0"/>
          </a:p>
        </p:txBody>
      </p:sp>
      <p:sp>
        <p:nvSpPr>
          <p:cNvPr id="18" name="Shape 16"/>
          <p:cNvSpPr/>
          <p:nvPr/>
        </p:nvSpPr>
        <p:spPr>
          <a:xfrm>
            <a:off x="6263640" y="1444752"/>
            <a:ext cx="5349240" cy="3246120"/>
          </a:xfrm>
          <a:prstGeom prst="roundRect">
            <a:avLst>
              <a:gd name="adj" fmla="val 1408"/>
            </a:avLst>
          </a:prstGeom>
          <a:solidFill>
            <a:srgbClr val="1C2026"/>
          </a:solidFill>
          <a:ln w="12700">
            <a:solidFill>
              <a:srgbClr val="1C2026"/>
            </a:solidFill>
            <a:prstDash val="solid"/>
          </a:ln>
        </p:spPr>
      </p:sp>
      <p:sp>
        <p:nvSpPr>
          <p:cNvPr id="19" name="Text 17"/>
          <p:cNvSpPr/>
          <p:nvPr/>
        </p:nvSpPr>
        <p:spPr>
          <a:xfrm>
            <a:off x="6574536" y="1645920"/>
            <a:ext cx="4727448" cy="310896"/>
          </a:xfrm>
          <a:prstGeom prst="rect">
            <a:avLst/>
          </a:prstGeom>
          <a:noFill/>
          <a:ln/>
        </p:spPr>
        <p:txBody>
          <a:bodyPr wrap="square" lIns="0" tIns="0" rIns="0" bIns="0" rtlCol="0" anchor="t"/>
          <a:lstStyle/>
          <a:p>
            <a:pPr indent="0" marL="0">
              <a:buNone/>
            </a:pPr>
            <a:r>
              <a:rPr lang="en-US" sz="1600" b="1" dirty="0">
                <a:solidFill>
                  <a:srgbClr val="3FB950"/>
                </a:solidFill>
                <a:latin typeface="Calibri" pitchFamily="34" charset="0"/>
                <a:ea typeface="Calibri" pitchFamily="34" charset="-122"/>
                <a:cs typeface="Calibri" pitchFamily="34" charset="-120"/>
              </a:rPr>
              <a:t>For tests 9 and 10 only</a:t>
            </a:r>
            <a:endParaRPr lang="en-US" sz="1600" dirty="0"/>
          </a:p>
        </p:txBody>
      </p:sp>
      <p:sp>
        <p:nvSpPr>
          <p:cNvPr id="20" name="Text 18"/>
          <p:cNvSpPr/>
          <p:nvPr/>
        </p:nvSpPr>
        <p:spPr>
          <a:xfrm>
            <a:off x="6574536" y="1993392"/>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Event collection into the dataset — XSIAM / platform only</a:t>
            </a:r>
            <a:endParaRPr lang="en-US" sz="1100" dirty="0"/>
          </a:p>
        </p:txBody>
      </p:sp>
      <p:sp>
        <p:nvSpPr>
          <p:cNvPr id="21" name="Text 19"/>
          <p:cNvSpPr/>
          <p:nvPr/>
        </p:nvSpPr>
        <p:spPr>
          <a:xfrm>
            <a:off x="6574536" y="23957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6867144" y="2395728"/>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events enabled — the Collect section is hidden on XSOAR, where the collector is off</a:t>
            </a:r>
            <a:endParaRPr lang="en-US" sz="1150" dirty="0"/>
          </a:p>
        </p:txBody>
      </p:sp>
      <p:sp>
        <p:nvSpPr>
          <p:cNvPr id="23" name="Text 21"/>
          <p:cNvSpPr/>
          <p:nvPr/>
        </p:nvSpPr>
        <p:spPr>
          <a:xfrm>
            <a:off x="6574536" y="29123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6867144" y="2912364"/>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event types set — default is Alerts,Audit</a:t>
            </a:r>
            <a:endParaRPr lang="en-US" sz="1150" dirty="0"/>
          </a:p>
        </p:txBody>
      </p:sp>
      <p:sp>
        <p:nvSpPr>
          <p:cNvPr id="25" name="Text 23"/>
          <p:cNvSpPr/>
          <p:nvPr/>
        </p:nvSpPr>
        <p:spPr>
          <a:xfrm>
            <a:off x="6574536" y="324154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6867144" y="324154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 least two completed fetch cycles</a:t>
            </a:r>
            <a:endParaRPr lang="en-US" sz="1150" dirty="0"/>
          </a:p>
        </p:txBody>
      </p:sp>
      <p:sp>
        <p:nvSpPr>
          <p:cNvPr id="27" name="Text 25"/>
          <p:cNvSpPr/>
          <p:nvPr/>
        </p:nvSpPr>
        <p:spPr>
          <a:xfrm>
            <a:off x="6574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6867144" y="357073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XQL search access on the tenant</a:t>
            </a:r>
            <a:endParaRPr lang="en-US" sz="1150" dirty="0"/>
          </a:p>
        </p:txBody>
      </p:sp>
      <p:sp>
        <p:nvSpPr>
          <p:cNvPr id="29" name="Text 27"/>
          <p:cNvSpPr/>
          <p:nvPr/>
        </p:nvSpPr>
        <p:spPr>
          <a:xfrm>
            <a:off x="6574536" y="38999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6867144" y="3899916"/>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Real activity in KOI in the window you query — an idle tenant legitimately returns nothing</a:t>
            </a:r>
            <a:endParaRPr lang="en-US" sz="1150" dirty="0"/>
          </a:p>
        </p:txBody>
      </p:sp>
      <p:sp>
        <p:nvSpPr>
          <p:cNvPr id="31" name="Shape 29"/>
          <p:cNvSpPr/>
          <p:nvPr/>
        </p:nvSpPr>
        <p:spPr>
          <a:xfrm>
            <a:off x="548640" y="4864608"/>
            <a:ext cx="11064240" cy="1188720"/>
          </a:xfrm>
          <a:prstGeom prst="roundRect">
            <a:avLst>
              <a:gd name="adj" fmla="val 3846"/>
            </a:avLst>
          </a:prstGeom>
          <a:solidFill>
            <a:srgbClr val="1C2026"/>
          </a:solidFill>
          <a:ln w="12700">
            <a:solidFill>
              <a:srgbClr val="1C2026"/>
            </a:solidFill>
            <a:prstDash val="solid"/>
          </a:ln>
        </p:spPr>
      </p:sp>
      <p:sp>
        <p:nvSpPr>
          <p:cNvPr id="32" name="Shape 30"/>
          <p:cNvSpPr/>
          <p:nvPr/>
        </p:nvSpPr>
        <p:spPr>
          <a:xfrm>
            <a:off x="804672" y="5102352"/>
            <a:ext cx="310896" cy="310896"/>
          </a:xfrm>
          <a:prstGeom prst="roundRect">
            <a:avLst>
              <a:gd name="adj" fmla="val 26471"/>
            </a:avLst>
          </a:prstGeom>
          <a:solidFill>
            <a:srgbClr val="F5A524"/>
          </a:solidFill>
          <a:ln w="12700">
            <a:solidFill>
              <a:srgbClr val="F5A524"/>
            </a:solidFill>
            <a:prstDash val="solid"/>
          </a:ln>
        </p:spPr>
      </p:sp>
      <p:sp>
        <p:nvSpPr>
          <p:cNvPr id="33" name="Text 31"/>
          <p:cNvSpPr/>
          <p:nvPr/>
        </p:nvSpPr>
        <p:spPr>
          <a:xfrm>
            <a:off x="804672" y="51023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98448" y="4974336"/>
            <a:ext cx="9966960" cy="237744"/>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Know how your instance reaches KOI — and what this guide has NOT seen</a:t>
            </a:r>
            <a:endParaRPr lang="en-US" sz="1100" dirty="0"/>
          </a:p>
        </p:txBody>
      </p:sp>
      <p:sp>
        <p:nvSpPr>
          <p:cNvPr id="35" name="Text 33"/>
          <p:cNvSpPr/>
          <p:nvPr/>
        </p:nvSpPr>
        <p:spPr>
          <a:xfrm>
            <a:off x="1298448" y="5230368"/>
            <a:ext cx="9966960" cy="78638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On the tenant behind this guide, both KOI instances run through a Cortex engine rather than direct tenant egress (VERIFIED_FACTS §2). That matters for every connectivity conclusion: a reachability check from the tenant itself proves nothing about the path the commands actually take. Separately: the koi-* commands were never executed from a war room on that tenant (VERIFIED_FACTS §6), so every war-room table, context path and human-readable output stated in this guide is asserted from the pack YAML, not observed. Running these tests is what closes that gap.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  ·  GATE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Confirm WHICH KOI pack is installed</a:t>
            </a:r>
            <a:endParaRPr lang="en-US" sz="3100" dirty="0"/>
          </a:p>
        </p:txBody>
      </p:sp>
      <p:sp>
        <p:nvSpPr>
          <p:cNvPr id="5" name="Shape 3"/>
          <p:cNvSpPr/>
          <p:nvPr/>
        </p:nvSpPr>
        <p:spPr>
          <a:xfrm>
            <a:off x="548640" y="1444752"/>
            <a:ext cx="6400800" cy="3511296"/>
          </a:xfrm>
          <a:prstGeom prst="roundRect">
            <a:avLst>
              <a:gd name="adj" fmla="val 1302"/>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Marketplace → Installed content → open the pack named KOI.</a:t>
            </a:r>
            <a:endParaRPr lang="en-US" sz="1150" dirty="0"/>
          </a:p>
        </p:txBody>
      </p:sp>
      <p:sp>
        <p:nvSpPr>
          <p:cNvPr id="9" name="Text 7"/>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installed version. It must be 1.2.3.</a:t>
            </a:r>
            <a:endParaRPr lang="en-US" sz="1150" dirty="0"/>
          </a:p>
        </p:txBody>
      </p:sp>
      <p:sp>
        <p:nvSpPr>
          <p:cNvPr id="11" name="Text 9"/>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2" name="Text 10"/>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Settings → Integrations → Instances, find the KOI integration.</a:t>
            </a:r>
            <a:endParaRPr lang="en-US" sz="1150" dirty="0"/>
          </a:p>
        </p:txBody>
      </p:sp>
      <p:sp>
        <p:nvSpPr>
          <p:cNvPr id="13" name="Text 11"/>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4" name="Text 12"/>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its command list (or type ! in a war room and filter on koi-).</a:t>
            </a:r>
            <a:endParaRPr lang="en-US" sz="1150" dirty="0"/>
          </a:p>
        </p:txBody>
      </p:sp>
      <p:sp>
        <p:nvSpPr>
          <p:cNvPr id="15" name="Text 13"/>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6" name="Text 14"/>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 the commands. There must be exactly 13.</a:t>
            </a:r>
            <a:endParaRPr lang="en-US" sz="1150" dirty="0"/>
          </a:p>
        </p:txBody>
      </p:sp>
      <p:sp>
        <p:nvSpPr>
          <p:cNvPr id="17" name="Text 15"/>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8" name="Text 16"/>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Spot-check that these are ABSENT — they belong to the other pack:</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koi-koidex-search   koi-findings-list</a:t>
            </a:r>
            <a:endParaRPr lang="en-US" sz="10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the pack contains no playbooks, no rules and no dashboard.</a:t>
            </a:r>
            <a:endParaRPr lang="en-US" sz="1150" dirty="0"/>
          </a:p>
        </p:txBody>
      </p:sp>
      <p:sp>
        <p:nvSpPr>
          <p:cNvPr id="22" name="Shape 20"/>
          <p:cNvSpPr/>
          <p:nvPr/>
        </p:nvSpPr>
        <p:spPr>
          <a:xfrm>
            <a:off x="7315200" y="1444752"/>
            <a:ext cx="4297680" cy="3511296"/>
          </a:xfrm>
          <a:prstGeom prst="roundRect">
            <a:avLst>
              <a:gd name="adj" fmla="val 1302"/>
            </a:avLst>
          </a:prstGeom>
          <a:solidFill>
            <a:srgbClr val="1C2026"/>
          </a:solidFill>
          <a:ln w="12700">
            <a:solidFill>
              <a:srgbClr val="1C2026"/>
            </a:solidFill>
            <a:prstDash val="solid"/>
          </a:ln>
        </p:spPr>
      </p:sp>
      <p:sp>
        <p:nvSpPr>
          <p:cNvPr id="23" name="Text 21"/>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4" name="Text 22"/>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Pack currentVersion reads 1.2.3.</a:t>
            </a:r>
            <a:endParaRPr lang="en-US" sz="1150" dirty="0"/>
          </a:p>
        </p:txBody>
      </p:sp>
      <p:sp>
        <p:nvSpPr>
          <p:cNvPr id="26" name="Text 24"/>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Exactly 13 koi-* commands are registered.</a:t>
            </a:r>
            <a:endParaRPr lang="en-US" sz="1150" dirty="0"/>
          </a:p>
        </p:txBody>
      </p:sp>
      <p:sp>
        <p:nvSpPr>
          <p:cNvPr id="28" name="Text 26"/>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706624"/>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prefixes offered are only: KOI.Event, Koi.Allowlist, Koi.Blocklist, Koi.Inventory, Koi.Policy.</a:t>
            </a:r>
            <a:endParaRPr lang="en-US" sz="1150" dirty="0"/>
          </a:p>
        </p:txBody>
      </p:sp>
      <p:sp>
        <p:nvSpPr>
          <p:cNvPr id="30" name="Text 28"/>
          <p:cNvSpPr/>
          <p:nvPr/>
        </p:nvSpPr>
        <p:spPr>
          <a:xfrm>
            <a:off x="7626096" y="34107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41071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Koi.Device.* prefix exists anywhere.</a:t>
            </a:r>
            <a:endParaRPr lang="en-US" sz="1150" dirty="0"/>
          </a:p>
        </p:txBody>
      </p:sp>
      <p:sp>
        <p:nvSpPr>
          <p:cNvPr id="32" name="Text 30"/>
          <p:cNvSpPr/>
          <p:nvPr/>
        </p:nvSpPr>
        <p:spPr>
          <a:xfrm>
            <a:off x="7626096" y="37398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3" name="Text 31"/>
          <p:cNvSpPr/>
          <p:nvPr/>
        </p:nvSpPr>
        <p:spPr>
          <a:xfrm>
            <a:off x="7918704" y="373989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pack lists one content item: the KOI integration.</a:t>
            </a:r>
            <a:endParaRPr lang="en-US" sz="1150" dirty="0"/>
          </a:p>
        </p:txBody>
      </p:sp>
      <p:sp>
        <p:nvSpPr>
          <p:cNvPr id="34" name="Text 32"/>
          <p:cNvSpPr/>
          <p:nvPr/>
        </p:nvSpPr>
        <p:spPr>
          <a:xfrm>
            <a:off x="7626096" y="42565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5" name="Text 33"/>
          <p:cNvSpPr/>
          <p:nvPr/>
        </p:nvSpPr>
        <p:spPr>
          <a:xfrm>
            <a:off x="7918704" y="425653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None of the three spot-check commands resolve.</a:t>
            </a:r>
            <a:endParaRPr lang="en-US" sz="1150" dirty="0"/>
          </a:p>
        </p:txBody>
      </p:sp>
      <p:sp>
        <p:nvSpPr>
          <p:cNvPr id="36" name="Shape 34"/>
          <p:cNvSpPr/>
          <p:nvPr/>
        </p:nvSpPr>
        <p:spPr>
          <a:xfrm>
            <a:off x="548640" y="5157216"/>
            <a:ext cx="11064240" cy="914400"/>
          </a:xfrm>
          <a:prstGeom prst="roundRect">
            <a:avLst>
              <a:gd name="adj" fmla="val 5000"/>
            </a:avLst>
          </a:prstGeom>
          <a:solidFill>
            <a:srgbClr val="1C2026"/>
          </a:solidFill>
          <a:ln w="12700">
            <a:solidFill>
              <a:srgbClr val="1C2026"/>
            </a:solidFill>
            <a:prstDash val="solid"/>
          </a:ln>
        </p:spPr>
      </p:sp>
      <p:sp>
        <p:nvSpPr>
          <p:cNvPr id="37" name="Shape 35"/>
          <p:cNvSpPr/>
          <p:nvPr/>
        </p:nvSpPr>
        <p:spPr>
          <a:xfrm>
            <a:off x="804672" y="5458968"/>
            <a:ext cx="310896" cy="310896"/>
          </a:xfrm>
          <a:prstGeom prst="roundRect">
            <a:avLst>
              <a:gd name="adj" fmla="val 26471"/>
            </a:avLst>
          </a:prstGeom>
          <a:solidFill>
            <a:srgbClr val="F5A524"/>
          </a:solidFill>
          <a:ln w="12700">
            <a:solidFill>
              <a:srgbClr val="F5A524"/>
            </a:solidFill>
            <a:prstDash val="solid"/>
          </a:ln>
        </p:spPr>
      </p:sp>
      <p:sp>
        <p:nvSpPr>
          <p:cNvPr id="38" name="Text 36"/>
          <p:cNvSpPr/>
          <p:nvPr/>
        </p:nvSpPr>
        <p:spPr>
          <a:xfrm>
            <a:off x="804672" y="54589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1298448" y="5276088"/>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40" name="Text 38"/>
          <p:cNvSpPr/>
          <p:nvPr/>
        </p:nvSpPr>
        <p:spPr>
          <a:xfrm>
            <a:off x="1298448" y="5486400"/>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This test has no empty-but-correct outcome — it is pass or fail. If you see 26 commands, or a version of 1.3.0, or any Koi.Device.* path, you are on the custom pack and NOTHING else in this guide applies. Stop and change tenant. A partial count (fewer than 13) means a failed or interrupted install, not the wrong pack.</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REFERENCE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All 13 commands — expected shape of each</a:t>
            </a:r>
            <a:endParaRPr lang="en-US" sz="3100" dirty="0"/>
          </a:p>
        </p:txBody>
      </p:sp>
      <p:sp>
        <p:nvSpPr>
          <p:cNvPr id="5" name="Text 3"/>
          <p:cNvSpPr/>
          <p:nvPr/>
        </p:nvSpPr>
        <p:spPr>
          <a:xfrm>
            <a:off x="548640" y="1243584"/>
            <a:ext cx="11064240" cy="274320"/>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Generated from reference/marketplace-pack.json. Totals across the pack: 13 commands, 67 arguments, 131 declared outputs.</a:t>
            </a:r>
            <a:endParaRPr lang="en-US" sz="1100" dirty="0"/>
          </a:p>
        </p:txBody>
      </p:sp>
      <p:sp>
        <p:nvSpPr>
          <p:cNvPr id="6" name="Text 4"/>
          <p:cNvSpPr/>
          <p:nvPr/>
        </p:nvSpPr>
        <p:spPr>
          <a:xfrm>
            <a:off x="804672" y="1572768"/>
            <a:ext cx="32461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Command</a:t>
            </a:r>
            <a:endParaRPr lang="en-US" sz="1000" dirty="0"/>
          </a:p>
        </p:txBody>
      </p:sp>
      <p:sp>
        <p:nvSpPr>
          <p:cNvPr id="7" name="Text 5"/>
          <p:cNvSpPr/>
          <p:nvPr/>
        </p:nvSpPr>
        <p:spPr>
          <a:xfrm>
            <a:off x="4160520" y="1572768"/>
            <a:ext cx="5029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Args</a:t>
            </a:r>
            <a:endParaRPr lang="en-US" sz="1000" dirty="0"/>
          </a:p>
        </p:txBody>
      </p:sp>
      <p:sp>
        <p:nvSpPr>
          <p:cNvPr id="8" name="Text 6"/>
          <p:cNvSpPr/>
          <p:nvPr/>
        </p:nvSpPr>
        <p:spPr>
          <a:xfrm>
            <a:off x="4754880" y="1572768"/>
            <a:ext cx="6858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Outputs</a:t>
            </a:r>
            <a:endParaRPr lang="en-US" sz="1000" dirty="0"/>
          </a:p>
        </p:txBody>
      </p:sp>
      <p:sp>
        <p:nvSpPr>
          <p:cNvPr id="9" name="Text 7"/>
          <p:cNvSpPr/>
          <p:nvPr/>
        </p:nvSpPr>
        <p:spPr>
          <a:xfrm>
            <a:off x="5532120" y="1572768"/>
            <a:ext cx="29718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Context prefix written</a:t>
            </a:r>
            <a:endParaRPr lang="en-US" sz="1000" dirty="0"/>
          </a:p>
        </p:txBody>
      </p:sp>
      <p:sp>
        <p:nvSpPr>
          <p:cNvPr id="10" name="Text 8"/>
          <p:cNvSpPr/>
          <p:nvPr/>
        </p:nvSpPr>
        <p:spPr>
          <a:xfrm>
            <a:off x="8641080" y="1572768"/>
            <a:ext cx="14173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Effect</a:t>
            </a:r>
            <a:endParaRPr lang="en-US" sz="1000" dirty="0"/>
          </a:p>
        </p:txBody>
      </p:sp>
      <p:sp>
        <p:nvSpPr>
          <p:cNvPr id="11" name="Text 9"/>
          <p:cNvSpPr/>
          <p:nvPr/>
        </p:nvSpPr>
        <p:spPr>
          <a:xfrm>
            <a:off x="10149840" y="1572768"/>
            <a:ext cx="128016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Test</a:t>
            </a:r>
            <a:endParaRPr lang="en-US" sz="1000" dirty="0"/>
          </a:p>
        </p:txBody>
      </p:sp>
      <p:sp>
        <p:nvSpPr>
          <p:cNvPr id="12" name="Shape 10"/>
          <p:cNvSpPr/>
          <p:nvPr/>
        </p:nvSpPr>
        <p:spPr>
          <a:xfrm>
            <a:off x="548640" y="1810512"/>
            <a:ext cx="11064240" cy="274320"/>
          </a:xfrm>
          <a:prstGeom prst="roundRect">
            <a:avLst>
              <a:gd name="adj" fmla="val 16667"/>
            </a:avLst>
          </a:prstGeom>
          <a:solidFill>
            <a:srgbClr val="15171B"/>
          </a:solidFill>
          <a:ln w="12700">
            <a:solidFill>
              <a:srgbClr val="15171B"/>
            </a:solidFill>
            <a:prstDash val="solid"/>
          </a:ln>
        </p:spPr>
      </p:sp>
      <p:sp>
        <p:nvSpPr>
          <p:cNvPr id="13" name="Text 11"/>
          <p:cNvSpPr/>
          <p:nvPr/>
        </p:nvSpPr>
        <p:spPr>
          <a:xfrm>
            <a:off x="804672" y="1860804"/>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koi-get-events</a:t>
            </a:r>
            <a:endParaRPr lang="en-US" sz="950" dirty="0"/>
          </a:p>
        </p:txBody>
      </p:sp>
      <p:sp>
        <p:nvSpPr>
          <p:cNvPr id="14" name="Text 12"/>
          <p:cNvSpPr/>
          <p:nvPr/>
        </p:nvSpPr>
        <p:spPr>
          <a:xfrm>
            <a:off x="4160520" y="1860804"/>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15" name="Text 13"/>
          <p:cNvSpPr/>
          <p:nvPr/>
        </p:nvSpPr>
        <p:spPr>
          <a:xfrm>
            <a:off x="4754880" y="1860804"/>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4</a:t>
            </a:r>
            <a:endParaRPr lang="en-US" sz="950" dirty="0"/>
          </a:p>
        </p:txBody>
      </p:sp>
      <p:sp>
        <p:nvSpPr>
          <p:cNvPr id="16" name="Text 14"/>
          <p:cNvSpPr/>
          <p:nvPr/>
        </p:nvSpPr>
        <p:spPr>
          <a:xfrm>
            <a:off x="5532120" y="1860804"/>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KOI.Event.*</a:t>
            </a:r>
            <a:endParaRPr lang="en-US" sz="950" dirty="0"/>
          </a:p>
        </p:txBody>
      </p:sp>
      <p:sp>
        <p:nvSpPr>
          <p:cNvPr id="17" name="Text 15"/>
          <p:cNvSpPr/>
          <p:nvPr/>
        </p:nvSpPr>
        <p:spPr>
          <a:xfrm>
            <a:off x="8641080" y="1860804"/>
            <a:ext cx="1481328" cy="219456"/>
          </a:xfrm>
          <a:prstGeom prst="rect">
            <a:avLst/>
          </a:prstGeom>
          <a:noFill/>
          <a:ln/>
        </p:spPr>
        <p:txBody>
          <a:bodyPr wrap="square" lIns="0" tIns="0" rIns="0" bIns="0" rtlCol="0" anchor="t"/>
          <a:lstStyle/>
          <a:p>
            <a:pPr indent="0" marL="0">
              <a:buNone/>
            </a:pPr>
            <a:r>
              <a:rPr lang="en-US" sz="950" dirty="0">
                <a:solidFill>
                  <a:srgbClr val="F5A524"/>
                </a:solidFill>
                <a:latin typeface="Calibri" pitchFamily="34" charset="0"/>
                <a:ea typeface="Calibri" pitchFamily="34" charset="-122"/>
                <a:cs typeface="Calibri" pitchFamily="34" charset="-120"/>
              </a:rPr>
              <a:t>read-only · debug only</a:t>
            </a:r>
            <a:endParaRPr lang="en-US" sz="950" dirty="0"/>
          </a:p>
        </p:txBody>
      </p:sp>
      <p:sp>
        <p:nvSpPr>
          <p:cNvPr id="18" name="Text 16"/>
          <p:cNvSpPr/>
          <p:nvPr/>
        </p:nvSpPr>
        <p:spPr>
          <a:xfrm>
            <a:off x="10149840" y="1860804"/>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6</a:t>
            </a:r>
            <a:endParaRPr lang="en-US" sz="950" dirty="0"/>
          </a:p>
        </p:txBody>
      </p:sp>
      <p:sp>
        <p:nvSpPr>
          <p:cNvPr id="19" name="Shape 17"/>
          <p:cNvSpPr/>
          <p:nvPr/>
        </p:nvSpPr>
        <p:spPr>
          <a:xfrm>
            <a:off x="548640" y="2104949"/>
            <a:ext cx="11064240" cy="274320"/>
          </a:xfrm>
          <a:prstGeom prst="roundRect">
            <a:avLst>
              <a:gd name="adj" fmla="val 16667"/>
            </a:avLst>
          </a:prstGeom>
          <a:solidFill>
            <a:srgbClr val="15171B"/>
          </a:solidFill>
          <a:ln w="12700">
            <a:solidFill>
              <a:srgbClr val="15171B"/>
            </a:solidFill>
            <a:prstDash val="solid"/>
          </a:ln>
        </p:spPr>
      </p:sp>
      <p:sp>
        <p:nvSpPr>
          <p:cNvPr id="20" name="Text 18"/>
          <p:cNvSpPr/>
          <p:nvPr/>
        </p:nvSpPr>
        <p:spPr>
          <a:xfrm>
            <a:off x="804672" y="2155241"/>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koi-policy-list</a:t>
            </a:r>
            <a:endParaRPr lang="en-US" sz="950" dirty="0"/>
          </a:p>
        </p:txBody>
      </p:sp>
      <p:sp>
        <p:nvSpPr>
          <p:cNvPr id="21" name="Text 19"/>
          <p:cNvSpPr/>
          <p:nvPr/>
        </p:nvSpPr>
        <p:spPr>
          <a:xfrm>
            <a:off x="4160520" y="2155241"/>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3</a:t>
            </a:r>
            <a:endParaRPr lang="en-US" sz="950" dirty="0"/>
          </a:p>
        </p:txBody>
      </p:sp>
      <p:sp>
        <p:nvSpPr>
          <p:cNvPr id="22" name="Text 20"/>
          <p:cNvSpPr/>
          <p:nvPr/>
        </p:nvSpPr>
        <p:spPr>
          <a:xfrm>
            <a:off x="4754880" y="2155241"/>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9</a:t>
            </a:r>
            <a:endParaRPr lang="en-US" sz="950" dirty="0"/>
          </a:p>
        </p:txBody>
      </p:sp>
      <p:sp>
        <p:nvSpPr>
          <p:cNvPr id="23" name="Text 21"/>
          <p:cNvSpPr/>
          <p:nvPr/>
        </p:nvSpPr>
        <p:spPr>
          <a:xfrm>
            <a:off x="5532120" y="2155241"/>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Koi.Policy.*</a:t>
            </a:r>
            <a:endParaRPr lang="en-US" sz="950" dirty="0"/>
          </a:p>
        </p:txBody>
      </p:sp>
      <p:sp>
        <p:nvSpPr>
          <p:cNvPr id="24" name="Text 22"/>
          <p:cNvSpPr/>
          <p:nvPr/>
        </p:nvSpPr>
        <p:spPr>
          <a:xfrm>
            <a:off x="8641080" y="2155241"/>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25" name="Text 23"/>
          <p:cNvSpPr/>
          <p:nvPr/>
        </p:nvSpPr>
        <p:spPr>
          <a:xfrm>
            <a:off x="10149840" y="2155241"/>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3</a:t>
            </a:r>
            <a:endParaRPr lang="en-US" sz="950" dirty="0"/>
          </a:p>
        </p:txBody>
      </p:sp>
      <p:sp>
        <p:nvSpPr>
          <p:cNvPr id="26" name="Shape 24"/>
          <p:cNvSpPr/>
          <p:nvPr/>
        </p:nvSpPr>
        <p:spPr>
          <a:xfrm>
            <a:off x="548640" y="2399386"/>
            <a:ext cx="11064240" cy="274320"/>
          </a:xfrm>
          <a:prstGeom prst="roundRect">
            <a:avLst>
              <a:gd name="adj" fmla="val 16667"/>
            </a:avLst>
          </a:prstGeom>
          <a:solidFill>
            <a:srgbClr val="1C2026"/>
          </a:solidFill>
          <a:ln w="12700">
            <a:solidFill>
              <a:srgbClr val="1C2026"/>
            </a:solidFill>
            <a:prstDash val="solid"/>
          </a:ln>
        </p:spPr>
      </p:sp>
      <p:sp>
        <p:nvSpPr>
          <p:cNvPr id="27" name="Text 25"/>
          <p:cNvSpPr/>
          <p:nvPr/>
        </p:nvSpPr>
        <p:spPr>
          <a:xfrm>
            <a:off x="804672" y="2449678"/>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koi-policy-status-update</a:t>
            </a:r>
            <a:endParaRPr lang="en-US" sz="950" dirty="0"/>
          </a:p>
        </p:txBody>
      </p:sp>
      <p:sp>
        <p:nvSpPr>
          <p:cNvPr id="28" name="Text 26"/>
          <p:cNvSpPr/>
          <p:nvPr/>
        </p:nvSpPr>
        <p:spPr>
          <a:xfrm>
            <a:off x="4160520" y="2449678"/>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a:t>
            </a:r>
            <a:endParaRPr lang="en-US" sz="950" dirty="0"/>
          </a:p>
        </p:txBody>
      </p:sp>
      <p:sp>
        <p:nvSpPr>
          <p:cNvPr id="29" name="Text 27"/>
          <p:cNvSpPr/>
          <p:nvPr/>
        </p:nvSpPr>
        <p:spPr>
          <a:xfrm>
            <a:off x="4754880" y="2449678"/>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9</a:t>
            </a:r>
            <a:endParaRPr lang="en-US" sz="950" dirty="0"/>
          </a:p>
        </p:txBody>
      </p:sp>
      <p:sp>
        <p:nvSpPr>
          <p:cNvPr id="30" name="Text 28"/>
          <p:cNvSpPr/>
          <p:nvPr/>
        </p:nvSpPr>
        <p:spPr>
          <a:xfrm>
            <a:off x="5532120" y="2449678"/>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Koi.Policy.*</a:t>
            </a:r>
            <a:endParaRPr lang="en-US" sz="950" dirty="0"/>
          </a:p>
        </p:txBody>
      </p:sp>
      <p:sp>
        <p:nvSpPr>
          <p:cNvPr id="31" name="Text 29"/>
          <p:cNvSpPr/>
          <p:nvPr/>
        </p:nvSpPr>
        <p:spPr>
          <a:xfrm>
            <a:off x="8641080" y="2449678"/>
            <a:ext cx="1481328"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WRITE</a:t>
            </a:r>
            <a:endParaRPr lang="en-US" sz="950" dirty="0"/>
          </a:p>
        </p:txBody>
      </p:sp>
      <p:sp>
        <p:nvSpPr>
          <p:cNvPr id="32" name="Text 30"/>
          <p:cNvSpPr/>
          <p:nvPr/>
        </p:nvSpPr>
        <p:spPr>
          <a:xfrm>
            <a:off x="10149840" y="2449678"/>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8</a:t>
            </a:r>
            <a:endParaRPr lang="en-US" sz="950" dirty="0"/>
          </a:p>
        </p:txBody>
      </p:sp>
      <p:sp>
        <p:nvSpPr>
          <p:cNvPr id="33" name="Shape 31"/>
          <p:cNvSpPr/>
          <p:nvPr/>
        </p:nvSpPr>
        <p:spPr>
          <a:xfrm>
            <a:off x="548640" y="2693822"/>
            <a:ext cx="11064240" cy="274320"/>
          </a:xfrm>
          <a:prstGeom prst="roundRect">
            <a:avLst>
              <a:gd name="adj" fmla="val 16667"/>
            </a:avLst>
          </a:prstGeom>
          <a:solidFill>
            <a:srgbClr val="15171B"/>
          </a:solidFill>
          <a:ln w="12700">
            <a:solidFill>
              <a:srgbClr val="15171B"/>
            </a:solidFill>
            <a:prstDash val="solid"/>
          </a:ln>
        </p:spPr>
      </p:sp>
      <p:sp>
        <p:nvSpPr>
          <p:cNvPr id="34" name="Text 32"/>
          <p:cNvSpPr/>
          <p:nvPr/>
        </p:nvSpPr>
        <p:spPr>
          <a:xfrm>
            <a:off x="804672" y="2744114"/>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koi-allowlist-get</a:t>
            </a:r>
            <a:endParaRPr lang="en-US" sz="950" dirty="0"/>
          </a:p>
        </p:txBody>
      </p:sp>
      <p:sp>
        <p:nvSpPr>
          <p:cNvPr id="35" name="Text 33"/>
          <p:cNvSpPr/>
          <p:nvPr/>
        </p:nvSpPr>
        <p:spPr>
          <a:xfrm>
            <a:off x="4160520" y="2744114"/>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0</a:t>
            </a:r>
            <a:endParaRPr lang="en-US" sz="950" dirty="0"/>
          </a:p>
        </p:txBody>
      </p:sp>
      <p:sp>
        <p:nvSpPr>
          <p:cNvPr id="36" name="Text 34"/>
          <p:cNvSpPr/>
          <p:nvPr/>
        </p:nvSpPr>
        <p:spPr>
          <a:xfrm>
            <a:off x="4754880" y="2744114"/>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9</a:t>
            </a:r>
            <a:endParaRPr lang="en-US" sz="950" dirty="0"/>
          </a:p>
        </p:txBody>
      </p:sp>
      <p:sp>
        <p:nvSpPr>
          <p:cNvPr id="37" name="Text 35"/>
          <p:cNvSpPr/>
          <p:nvPr/>
        </p:nvSpPr>
        <p:spPr>
          <a:xfrm>
            <a:off x="5532120" y="2744114"/>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Koi.Allowlist.*</a:t>
            </a:r>
            <a:endParaRPr lang="en-US" sz="950" dirty="0"/>
          </a:p>
        </p:txBody>
      </p:sp>
      <p:sp>
        <p:nvSpPr>
          <p:cNvPr id="38" name="Text 36"/>
          <p:cNvSpPr/>
          <p:nvPr/>
        </p:nvSpPr>
        <p:spPr>
          <a:xfrm>
            <a:off x="8641080" y="2744114"/>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39" name="Text 37"/>
          <p:cNvSpPr/>
          <p:nvPr/>
        </p:nvSpPr>
        <p:spPr>
          <a:xfrm>
            <a:off x="10149840" y="2744114"/>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3</a:t>
            </a:r>
            <a:endParaRPr lang="en-US" sz="950" dirty="0"/>
          </a:p>
        </p:txBody>
      </p:sp>
      <p:sp>
        <p:nvSpPr>
          <p:cNvPr id="40" name="Shape 38"/>
          <p:cNvSpPr/>
          <p:nvPr/>
        </p:nvSpPr>
        <p:spPr>
          <a:xfrm>
            <a:off x="548640" y="2988259"/>
            <a:ext cx="11064240" cy="274320"/>
          </a:xfrm>
          <a:prstGeom prst="roundRect">
            <a:avLst>
              <a:gd name="adj" fmla="val 16667"/>
            </a:avLst>
          </a:prstGeom>
          <a:solidFill>
            <a:srgbClr val="1C2026"/>
          </a:solidFill>
          <a:ln w="12700">
            <a:solidFill>
              <a:srgbClr val="1C2026"/>
            </a:solidFill>
            <a:prstDash val="solid"/>
          </a:ln>
        </p:spPr>
      </p:sp>
      <p:sp>
        <p:nvSpPr>
          <p:cNvPr id="41" name="Text 39"/>
          <p:cNvSpPr/>
          <p:nvPr/>
        </p:nvSpPr>
        <p:spPr>
          <a:xfrm>
            <a:off x="804672" y="3038551"/>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koi-allowlist-items-add</a:t>
            </a:r>
            <a:endParaRPr lang="en-US" sz="950" dirty="0"/>
          </a:p>
        </p:txBody>
      </p:sp>
      <p:sp>
        <p:nvSpPr>
          <p:cNvPr id="42" name="Text 40"/>
          <p:cNvSpPr/>
          <p:nvPr/>
        </p:nvSpPr>
        <p:spPr>
          <a:xfrm>
            <a:off x="4160520" y="3038551"/>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43" name="Text 41"/>
          <p:cNvSpPr/>
          <p:nvPr/>
        </p:nvSpPr>
        <p:spPr>
          <a:xfrm>
            <a:off x="4754880" y="3038551"/>
            <a:ext cx="685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0</a:t>
            </a:r>
            <a:endParaRPr lang="en-US" sz="950" dirty="0"/>
          </a:p>
        </p:txBody>
      </p:sp>
      <p:sp>
        <p:nvSpPr>
          <p:cNvPr id="44" name="Text 42"/>
          <p:cNvSpPr/>
          <p:nvPr/>
        </p:nvSpPr>
        <p:spPr>
          <a:xfrm>
            <a:off x="5532120" y="3038551"/>
            <a:ext cx="2971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none — war-room message only</a:t>
            </a:r>
            <a:endParaRPr lang="en-US" sz="950" dirty="0"/>
          </a:p>
        </p:txBody>
      </p:sp>
      <p:sp>
        <p:nvSpPr>
          <p:cNvPr id="45" name="Text 43"/>
          <p:cNvSpPr/>
          <p:nvPr/>
        </p:nvSpPr>
        <p:spPr>
          <a:xfrm>
            <a:off x="8641080" y="3038551"/>
            <a:ext cx="1481328"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WRITE</a:t>
            </a:r>
            <a:endParaRPr lang="en-US" sz="950" dirty="0"/>
          </a:p>
        </p:txBody>
      </p:sp>
      <p:sp>
        <p:nvSpPr>
          <p:cNvPr id="46" name="Text 44"/>
          <p:cNvSpPr/>
          <p:nvPr/>
        </p:nvSpPr>
        <p:spPr>
          <a:xfrm>
            <a:off x="10149840" y="3038551"/>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not exercised</a:t>
            </a:r>
            <a:endParaRPr lang="en-US" sz="950" dirty="0"/>
          </a:p>
        </p:txBody>
      </p:sp>
      <p:sp>
        <p:nvSpPr>
          <p:cNvPr id="47" name="Shape 45"/>
          <p:cNvSpPr/>
          <p:nvPr/>
        </p:nvSpPr>
        <p:spPr>
          <a:xfrm>
            <a:off x="548640" y="3282696"/>
            <a:ext cx="11064240" cy="274320"/>
          </a:xfrm>
          <a:prstGeom prst="roundRect">
            <a:avLst>
              <a:gd name="adj" fmla="val 16667"/>
            </a:avLst>
          </a:prstGeom>
          <a:solidFill>
            <a:srgbClr val="1C2026"/>
          </a:solidFill>
          <a:ln w="12700">
            <a:solidFill>
              <a:srgbClr val="1C2026"/>
            </a:solidFill>
            <a:prstDash val="solid"/>
          </a:ln>
        </p:spPr>
      </p:sp>
      <p:sp>
        <p:nvSpPr>
          <p:cNvPr id="48" name="Text 46"/>
          <p:cNvSpPr/>
          <p:nvPr/>
        </p:nvSpPr>
        <p:spPr>
          <a:xfrm>
            <a:off x="804672" y="3332988"/>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koi-allowlist-items-remove</a:t>
            </a:r>
            <a:endParaRPr lang="en-US" sz="950" dirty="0"/>
          </a:p>
        </p:txBody>
      </p:sp>
      <p:sp>
        <p:nvSpPr>
          <p:cNvPr id="49" name="Text 47"/>
          <p:cNvSpPr/>
          <p:nvPr/>
        </p:nvSpPr>
        <p:spPr>
          <a:xfrm>
            <a:off x="4160520" y="3332988"/>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50" name="Text 48"/>
          <p:cNvSpPr/>
          <p:nvPr/>
        </p:nvSpPr>
        <p:spPr>
          <a:xfrm>
            <a:off x="4754880" y="3332988"/>
            <a:ext cx="685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0</a:t>
            </a:r>
            <a:endParaRPr lang="en-US" sz="950" dirty="0"/>
          </a:p>
        </p:txBody>
      </p:sp>
      <p:sp>
        <p:nvSpPr>
          <p:cNvPr id="51" name="Text 49"/>
          <p:cNvSpPr/>
          <p:nvPr/>
        </p:nvSpPr>
        <p:spPr>
          <a:xfrm>
            <a:off x="5532120" y="3332988"/>
            <a:ext cx="2971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none — war-room message only</a:t>
            </a:r>
            <a:endParaRPr lang="en-US" sz="950" dirty="0"/>
          </a:p>
        </p:txBody>
      </p:sp>
      <p:sp>
        <p:nvSpPr>
          <p:cNvPr id="52" name="Text 50"/>
          <p:cNvSpPr/>
          <p:nvPr/>
        </p:nvSpPr>
        <p:spPr>
          <a:xfrm>
            <a:off x="8641080" y="3332988"/>
            <a:ext cx="1481328" cy="219456"/>
          </a:xfrm>
          <a:prstGeom prst="rect">
            <a:avLst/>
          </a:prstGeom>
          <a:noFill/>
          <a:ln/>
        </p:spPr>
        <p:txBody>
          <a:bodyPr wrap="square" lIns="0" tIns="0" rIns="0" bIns="0" rtlCol="0" anchor="t"/>
          <a:lstStyle/>
          <a:p>
            <a:pPr indent="0" marL="0">
              <a:buNone/>
            </a:pPr>
            <a:r>
              <a:rPr lang="en-US" sz="950" b="1" dirty="0">
                <a:solidFill>
                  <a:srgbClr val="F04438"/>
                </a:solidFill>
                <a:latin typeface="Calibri" pitchFamily="34" charset="0"/>
                <a:ea typeface="Calibri" pitchFamily="34" charset="-122"/>
                <a:cs typeface="Calibri" pitchFamily="34" charset="-120"/>
              </a:rPr>
              <a:t>WRITE · execution</a:t>
            </a:r>
            <a:endParaRPr lang="en-US" sz="950" dirty="0"/>
          </a:p>
        </p:txBody>
      </p:sp>
      <p:sp>
        <p:nvSpPr>
          <p:cNvPr id="53" name="Text 51"/>
          <p:cNvSpPr/>
          <p:nvPr/>
        </p:nvSpPr>
        <p:spPr>
          <a:xfrm>
            <a:off x="10149840" y="3332988"/>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not exercised</a:t>
            </a:r>
            <a:endParaRPr lang="en-US" sz="950" dirty="0"/>
          </a:p>
        </p:txBody>
      </p:sp>
      <p:sp>
        <p:nvSpPr>
          <p:cNvPr id="54" name="Shape 52"/>
          <p:cNvSpPr/>
          <p:nvPr/>
        </p:nvSpPr>
        <p:spPr>
          <a:xfrm>
            <a:off x="548640" y="3577133"/>
            <a:ext cx="11064240" cy="274320"/>
          </a:xfrm>
          <a:prstGeom prst="roundRect">
            <a:avLst>
              <a:gd name="adj" fmla="val 16667"/>
            </a:avLst>
          </a:prstGeom>
          <a:solidFill>
            <a:srgbClr val="15171B"/>
          </a:solidFill>
          <a:ln w="12700">
            <a:solidFill>
              <a:srgbClr val="15171B"/>
            </a:solidFill>
            <a:prstDash val="solid"/>
          </a:ln>
        </p:spPr>
      </p:sp>
      <p:sp>
        <p:nvSpPr>
          <p:cNvPr id="55" name="Text 53"/>
          <p:cNvSpPr/>
          <p:nvPr/>
        </p:nvSpPr>
        <p:spPr>
          <a:xfrm>
            <a:off x="804672" y="3627425"/>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koi-blocklist-get</a:t>
            </a:r>
            <a:endParaRPr lang="en-US" sz="950" dirty="0"/>
          </a:p>
        </p:txBody>
      </p:sp>
      <p:sp>
        <p:nvSpPr>
          <p:cNvPr id="56" name="Text 54"/>
          <p:cNvSpPr/>
          <p:nvPr/>
        </p:nvSpPr>
        <p:spPr>
          <a:xfrm>
            <a:off x="4160520" y="3627425"/>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0</a:t>
            </a:r>
            <a:endParaRPr lang="en-US" sz="950" dirty="0"/>
          </a:p>
        </p:txBody>
      </p:sp>
      <p:sp>
        <p:nvSpPr>
          <p:cNvPr id="57" name="Text 55"/>
          <p:cNvSpPr/>
          <p:nvPr/>
        </p:nvSpPr>
        <p:spPr>
          <a:xfrm>
            <a:off x="4754880" y="3627425"/>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9</a:t>
            </a:r>
            <a:endParaRPr lang="en-US" sz="950" dirty="0"/>
          </a:p>
        </p:txBody>
      </p:sp>
      <p:sp>
        <p:nvSpPr>
          <p:cNvPr id="58" name="Text 56"/>
          <p:cNvSpPr/>
          <p:nvPr/>
        </p:nvSpPr>
        <p:spPr>
          <a:xfrm>
            <a:off x="5532120" y="3627425"/>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Koi.Blocklist.*</a:t>
            </a:r>
            <a:endParaRPr lang="en-US" sz="950" dirty="0"/>
          </a:p>
        </p:txBody>
      </p:sp>
      <p:sp>
        <p:nvSpPr>
          <p:cNvPr id="59" name="Text 57"/>
          <p:cNvSpPr/>
          <p:nvPr/>
        </p:nvSpPr>
        <p:spPr>
          <a:xfrm>
            <a:off x="8641080" y="3627425"/>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60" name="Text 58"/>
          <p:cNvSpPr/>
          <p:nvPr/>
        </p:nvSpPr>
        <p:spPr>
          <a:xfrm>
            <a:off x="10149840" y="3627425"/>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3</a:t>
            </a:r>
            <a:endParaRPr lang="en-US" sz="950" dirty="0"/>
          </a:p>
        </p:txBody>
      </p:sp>
      <p:sp>
        <p:nvSpPr>
          <p:cNvPr id="61" name="Shape 59"/>
          <p:cNvSpPr/>
          <p:nvPr/>
        </p:nvSpPr>
        <p:spPr>
          <a:xfrm>
            <a:off x="548640" y="3871570"/>
            <a:ext cx="11064240" cy="274320"/>
          </a:xfrm>
          <a:prstGeom prst="roundRect">
            <a:avLst>
              <a:gd name="adj" fmla="val 16667"/>
            </a:avLst>
          </a:prstGeom>
          <a:solidFill>
            <a:srgbClr val="1C2026"/>
          </a:solidFill>
          <a:ln w="12700">
            <a:solidFill>
              <a:srgbClr val="1C2026"/>
            </a:solidFill>
            <a:prstDash val="solid"/>
          </a:ln>
        </p:spPr>
      </p:sp>
      <p:sp>
        <p:nvSpPr>
          <p:cNvPr id="62" name="Text 60"/>
          <p:cNvSpPr/>
          <p:nvPr/>
        </p:nvSpPr>
        <p:spPr>
          <a:xfrm>
            <a:off x="804672" y="3921862"/>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koi-blocklist-items-add</a:t>
            </a:r>
            <a:endParaRPr lang="en-US" sz="950" dirty="0"/>
          </a:p>
        </p:txBody>
      </p:sp>
      <p:sp>
        <p:nvSpPr>
          <p:cNvPr id="63" name="Text 61"/>
          <p:cNvSpPr/>
          <p:nvPr/>
        </p:nvSpPr>
        <p:spPr>
          <a:xfrm>
            <a:off x="4160520" y="3921862"/>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64" name="Text 62"/>
          <p:cNvSpPr/>
          <p:nvPr/>
        </p:nvSpPr>
        <p:spPr>
          <a:xfrm>
            <a:off x="4754880" y="3921862"/>
            <a:ext cx="685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0</a:t>
            </a:r>
            <a:endParaRPr lang="en-US" sz="950" dirty="0"/>
          </a:p>
        </p:txBody>
      </p:sp>
      <p:sp>
        <p:nvSpPr>
          <p:cNvPr id="65" name="Text 63"/>
          <p:cNvSpPr/>
          <p:nvPr/>
        </p:nvSpPr>
        <p:spPr>
          <a:xfrm>
            <a:off x="5532120" y="3921862"/>
            <a:ext cx="2971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none — war-room message only</a:t>
            </a:r>
            <a:endParaRPr lang="en-US" sz="950" dirty="0"/>
          </a:p>
        </p:txBody>
      </p:sp>
      <p:sp>
        <p:nvSpPr>
          <p:cNvPr id="66" name="Text 64"/>
          <p:cNvSpPr/>
          <p:nvPr/>
        </p:nvSpPr>
        <p:spPr>
          <a:xfrm>
            <a:off x="8641080" y="3921862"/>
            <a:ext cx="1481328"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WRITE</a:t>
            </a:r>
            <a:endParaRPr lang="en-US" sz="950" dirty="0"/>
          </a:p>
        </p:txBody>
      </p:sp>
      <p:sp>
        <p:nvSpPr>
          <p:cNvPr id="67" name="Text 65"/>
          <p:cNvSpPr/>
          <p:nvPr/>
        </p:nvSpPr>
        <p:spPr>
          <a:xfrm>
            <a:off x="10149840" y="3921862"/>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8</a:t>
            </a:r>
            <a:endParaRPr lang="en-US" sz="950" dirty="0"/>
          </a:p>
        </p:txBody>
      </p:sp>
      <p:sp>
        <p:nvSpPr>
          <p:cNvPr id="68" name="Shape 66"/>
          <p:cNvSpPr/>
          <p:nvPr/>
        </p:nvSpPr>
        <p:spPr>
          <a:xfrm>
            <a:off x="548640" y="4166006"/>
            <a:ext cx="11064240" cy="274320"/>
          </a:xfrm>
          <a:prstGeom prst="roundRect">
            <a:avLst>
              <a:gd name="adj" fmla="val 16667"/>
            </a:avLst>
          </a:prstGeom>
          <a:solidFill>
            <a:srgbClr val="1C2026"/>
          </a:solidFill>
          <a:ln w="12700">
            <a:solidFill>
              <a:srgbClr val="1C2026"/>
            </a:solidFill>
            <a:prstDash val="solid"/>
          </a:ln>
        </p:spPr>
      </p:sp>
      <p:sp>
        <p:nvSpPr>
          <p:cNvPr id="69" name="Text 67"/>
          <p:cNvSpPr/>
          <p:nvPr/>
        </p:nvSpPr>
        <p:spPr>
          <a:xfrm>
            <a:off x="804672" y="4216298"/>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koi-blocklist-items-remove</a:t>
            </a:r>
            <a:endParaRPr lang="en-US" sz="950" dirty="0"/>
          </a:p>
        </p:txBody>
      </p:sp>
      <p:sp>
        <p:nvSpPr>
          <p:cNvPr id="70" name="Text 68"/>
          <p:cNvSpPr/>
          <p:nvPr/>
        </p:nvSpPr>
        <p:spPr>
          <a:xfrm>
            <a:off x="4160520" y="4216298"/>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71" name="Text 69"/>
          <p:cNvSpPr/>
          <p:nvPr/>
        </p:nvSpPr>
        <p:spPr>
          <a:xfrm>
            <a:off x="4754880" y="4216298"/>
            <a:ext cx="685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0</a:t>
            </a:r>
            <a:endParaRPr lang="en-US" sz="950" dirty="0"/>
          </a:p>
        </p:txBody>
      </p:sp>
      <p:sp>
        <p:nvSpPr>
          <p:cNvPr id="72" name="Text 70"/>
          <p:cNvSpPr/>
          <p:nvPr/>
        </p:nvSpPr>
        <p:spPr>
          <a:xfrm>
            <a:off x="5532120" y="4216298"/>
            <a:ext cx="2971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none — war-room message only</a:t>
            </a:r>
            <a:endParaRPr lang="en-US" sz="950" dirty="0"/>
          </a:p>
        </p:txBody>
      </p:sp>
      <p:sp>
        <p:nvSpPr>
          <p:cNvPr id="73" name="Text 71"/>
          <p:cNvSpPr/>
          <p:nvPr/>
        </p:nvSpPr>
        <p:spPr>
          <a:xfrm>
            <a:off x="8641080" y="4216298"/>
            <a:ext cx="1481328" cy="219456"/>
          </a:xfrm>
          <a:prstGeom prst="rect">
            <a:avLst/>
          </a:prstGeom>
          <a:noFill/>
          <a:ln/>
        </p:spPr>
        <p:txBody>
          <a:bodyPr wrap="square" lIns="0" tIns="0" rIns="0" bIns="0" rtlCol="0" anchor="t"/>
          <a:lstStyle/>
          <a:p>
            <a:pPr indent="0" marL="0">
              <a:buNone/>
            </a:pPr>
            <a:r>
              <a:rPr lang="en-US" sz="950" b="1" dirty="0">
                <a:solidFill>
                  <a:srgbClr val="F04438"/>
                </a:solidFill>
                <a:latin typeface="Calibri" pitchFamily="34" charset="0"/>
                <a:ea typeface="Calibri" pitchFamily="34" charset="-122"/>
                <a:cs typeface="Calibri" pitchFamily="34" charset="-120"/>
              </a:rPr>
              <a:t>WRITE · execution</a:t>
            </a:r>
            <a:endParaRPr lang="en-US" sz="950" dirty="0"/>
          </a:p>
        </p:txBody>
      </p:sp>
      <p:sp>
        <p:nvSpPr>
          <p:cNvPr id="74" name="Text 72"/>
          <p:cNvSpPr/>
          <p:nvPr/>
        </p:nvSpPr>
        <p:spPr>
          <a:xfrm>
            <a:off x="10149840" y="4216298"/>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8</a:t>
            </a:r>
            <a:endParaRPr lang="en-US" sz="950" dirty="0"/>
          </a:p>
        </p:txBody>
      </p:sp>
      <p:sp>
        <p:nvSpPr>
          <p:cNvPr id="75" name="Shape 73"/>
          <p:cNvSpPr/>
          <p:nvPr/>
        </p:nvSpPr>
        <p:spPr>
          <a:xfrm>
            <a:off x="548640" y="4460443"/>
            <a:ext cx="11064240" cy="274320"/>
          </a:xfrm>
          <a:prstGeom prst="roundRect">
            <a:avLst>
              <a:gd name="adj" fmla="val 16667"/>
            </a:avLst>
          </a:prstGeom>
          <a:solidFill>
            <a:srgbClr val="15171B"/>
          </a:solidFill>
          <a:ln w="12700">
            <a:solidFill>
              <a:srgbClr val="15171B"/>
            </a:solidFill>
            <a:prstDash val="solid"/>
          </a:ln>
        </p:spPr>
      </p:sp>
      <p:sp>
        <p:nvSpPr>
          <p:cNvPr id="76" name="Text 74"/>
          <p:cNvSpPr/>
          <p:nvPr/>
        </p:nvSpPr>
        <p:spPr>
          <a:xfrm>
            <a:off x="804672" y="4510735"/>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koi-inventory-list</a:t>
            </a:r>
            <a:endParaRPr lang="en-US" sz="950" dirty="0"/>
          </a:p>
        </p:txBody>
      </p:sp>
      <p:sp>
        <p:nvSpPr>
          <p:cNvPr id="77" name="Text 75"/>
          <p:cNvSpPr/>
          <p:nvPr/>
        </p:nvSpPr>
        <p:spPr>
          <a:xfrm>
            <a:off x="4160520" y="4510735"/>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21</a:t>
            </a:r>
            <a:endParaRPr lang="en-US" sz="950" dirty="0"/>
          </a:p>
        </p:txBody>
      </p:sp>
      <p:sp>
        <p:nvSpPr>
          <p:cNvPr id="78" name="Text 76"/>
          <p:cNvSpPr/>
          <p:nvPr/>
        </p:nvSpPr>
        <p:spPr>
          <a:xfrm>
            <a:off x="4754880" y="4510735"/>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27</a:t>
            </a:r>
            <a:endParaRPr lang="en-US" sz="950" dirty="0"/>
          </a:p>
        </p:txBody>
      </p:sp>
      <p:sp>
        <p:nvSpPr>
          <p:cNvPr id="79" name="Text 77"/>
          <p:cNvSpPr/>
          <p:nvPr/>
        </p:nvSpPr>
        <p:spPr>
          <a:xfrm>
            <a:off x="5532120" y="4510735"/>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Koi.Inventory.*</a:t>
            </a:r>
            <a:endParaRPr lang="en-US" sz="950" dirty="0"/>
          </a:p>
        </p:txBody>
      </p:sp>
      <p:sp>
        <p:nvSpPr>
          <p:cNvPr id="80" name="Text 78"/>
          <p:cNvSpPr/>
          <p:nvPr/>
        </p:nvSpPr>
        <p:spPr>
          <a:xfrm>
            <a:off x="8641080" y="4510735"/>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81" name="Text 79"/>
          <p:cNvSpPr/>
          <p:nvPr/>
        </p:nvSpPr>
        <p:spPr>
          <a:xfrm>
            <a:off x="10149840" y="4510735"/>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4, 7</a:t>
            </a:r>
            <a:endParaRPr lang="en-US" sz="950" dirty="0"/>
          </a:p>
        </p:txBody>
      </p:sp>
      <p:sp>
        <p:nvSpPr>
          <p:cNvPr id="82" name="Shape 80"/>
          <p:cNvSpPr/>
          <p:nvPr/>
        </p:nvSpPr>
        <p:spPr>
          <a:xfrm>
            <a:off x="548640" y="4754880"/>
            <a:ext cx="11064240" cy="274320"/>
          </a:xfrm>
          <a:prstGeom prst="roundRect">
            <a:avLst>
              <a:gd name="adj" fmla="val 16667"/>
            </a:avLst>
          </a:prstGeom>
          <a:solidFill>
            <a:srgbClr val="15171B"/>
          </a:solidFill>
          <a:ln w="12700">
            <a:solidFill>
              <a:srgbClr val="15171B"/>
            </a:solidFill>
            <a:prstDash val="solid"/>
          </a:ln>
        </p:spPr>
      </p:sp>
      <p:sp>
        <p:nvSpPr>
          <p:cNvPr id="83" name="Text 81"/>
          <p:cNvSpPr/>
          <p:nvPr/>
        </p:nvSpPr>
        <p:spPr>
          <a:xfrm>
            <a:off x="804672" y="4805172"/>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koi-inventory-item-get</a:t>
            </a:r>
            <a:endParaRPr lang="en-US" sz="950" dirty="0"/>
          </a:p>
        </p:txBody>
      </p:sp>
      <p:sp>
        <p:nvSpPr>
          <p:cNvPr id="84" name="Text 82"/>
          <p:cNvSpPr/>
          <p:nvPr/>
        </p:nvSpPr>
        <p:spPr>
          <a:xfrm>
            <a:off x="4160520" y="4805172"/>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3</a:t>
            </a:r>
            <a:endParaRPr lang="en-US" sz="950" dirty="0"/>
          </a:p>
        </p:txBody>
      </p:sp>
      <p:sp>
        <p:nvSpPr>
          <p:cNvPr id="85" name="Text 83"/>
          <p:cNvSpPr/>
          <p:nvPr/>
        </p:nvSpPr>
        <p:spPr>
          <a:xfrm>
            <a:off x="4754880" y="4805172"/>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27</a:t>
            </a:r>
            <a:endParaRPr lang="en-US" sz="950" dirty="0"/>
          </a:p>
        </p:txBody>
      </p:sp>
      <p:sp>
        <p:nvSpPr>
          <p:cNvPr id="86" name="Text 84"/>
          <p:cNvSpPr/>
          <p:nvPr/>
        </p:nvSpPr>
        <p:spPr>
          <a:xfrm>
            <a:off x="5532120" y="4805172"/>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Koi.Inventory.*</a:t>
            </a:r>
            <a:endParaRPr lang="en-US" sz="950" dirty="0"/>
          </a:p>
        </p:txBody>
      </p:sp>
      <p:sp>
        <p:nvSpPr>
          <p:cNvPr id="87" name="Text 85"/>
          <p:cNvSpPr/>
          <p:nvPr/>
        </p:nvSpPr>
        <p:spPr>
          <a:xfrm>
            <a:off x="8641080" y="4805172"/>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88" name="Text 86"/>
          <p:cNvSpPr/>
          <p:nvPr/>
        </p:nvSpPr>
        <p:spPr>
          <a:xfrm>
            <a:off x="10149840" y="4805172"/>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4</a:t>
            </a:r>
            <a:endParaRPr lang="en-US" sz="950" dirty="0"/>
          </a:p>
        </p:txBody>
      </p:sp>
      <p:sp>
        <p:nvSpPr>
          <p:cNvPr id="89" name="Shape 87"/>
          <p:cNvSpPr/>
          <p:nvPr/>
        </p:nvSpPr>
        <p:spPr>
          <a:xfrm>
            <a:off x="548640" y="5049317"/>
            <a:ext cx="11064240" cy="274320"/>
          </a:xfrm>
          <a:prstGeom prst="roundRect">
            <a:avLst>
              <a:gd name="adj" fmla="val 16667"/>
            </a:avLst>
          </a:prstGeom>
          <a:solidFill>
            <a:srgbClr val="15171B"/>
          </a:solidFill>
          <a:ln w="12700">
            <a:solidFill>
              <a:srgbClr val="15171B"/>
            </a:solidFill>
            <a:prstDash val="solid"/>
          </a:ln>
        </p:spPr>
      </p:sp>
      <p:sp>
        <p:nvSpPr>
          <p:cNvPr id="90" name="Text 88"/>
          <p:cNvSpPr/>
          <p:nvPr/>
        </p:nvSpPr>
        <p:spPr>
          <a:xfrm>
            <a:off x="804672" y="5099609"/>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koi-inventory-search</a:t>
            </a:r>
            <a:endParaRPr lang="en-US" sz="950" dirty="0"/>
          </a:p>
        </p:txBody>
      </p:sp>
      <p:sp>
        <p:nvSpPr>
          <p:cNvPr id="91" name="Text 89"/>
          <p:cNvSpPr/>
          <p:nvPr/>
        </p:nvSpPr>
        <p:spPr>
          <a:xfrm>
            <a:off x="4160520" y="5099609"/>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7</a:t>
            </a:r>
            <a:endParaRPr lang="en-US" sz="950" dirty="0"/>
          </a:p>
        </p:txBody>
      </p:sp>
      <p:sp>
        <p:nvSpPr>
          <p:cNvPr id="92" name="Text 90"/>
          <p:cNvSpPr/>
          <p:nvPr/>
        </p:nvSpPr>
        <p:spPr>
          <a:xfrm>
            <a:off x="4754880" y="5099609"/>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27</a:t>
            </a:r>
            <a:endParaRPr lang="en-US" sz="950" dirty="0"/>
          </a:p>
        </p:txBody>
      </p:sp>
      <p:sp>
        <p:nvSpPr>
          <p:cNvPr id="93" name="Text 91"/>
          <p:cNvSpPr/>
          <p:nvPr/>
        </p:nvSpPr>
        <p:spPr>
          <a:xfrm>
            <a:off x="5532120" y="5099609"/>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Koi.Inventory.*</a:t>
            </a:r>
            <a:endParaRPr lang="en-US" sz="950" dirty="0"/>
          </a:p>
        </p:txBody>
      </p:sp>
      <p:sp>
        <p:nvSpPr>
          <p:cNvPr id="94" name="Text 92"/>
          <p:cNvSpPr/>
          <p:nvPr/>
        </p:nvSpPr>
        <p:spPr>
          <a:xfrm>
            <a:off x="8641080" y="5099609"/>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95" name="Text 93"/>
          <p:cNvSpPr/>
          <p:nvPr/>
        </p:nvSpPr>
        <p:spPr>
          <a:xfrm>
            <a:off x="10149840" y="5099609"/>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5</a:t>
            </a:r>
            <a:endParaRPr lang="en-US" sz="950" dirty="0"/>
          </a:p>
        </p:txBody>
      </p:sp>
      <p:sp>
        <p:nvSpPr>
          <p:cNvPr id="96" name="Shape 94"/>
          <p:cNvSpPr/>
          <p:nvPr/>
        </p:nvSpPr>
        <p:spPr>
          <a:xfrm>
            <a:off x="548640" y="5343754"/>
            <a:ext cx="11064240" cy="274320"/>
          </a:xfrm>
          <a:prstGeom prst="roundRect">
            <a:avLst>
              <a:gd name="adj" fmla="val 16667"/>
            </a:avLst>
          </a:prstGeom>
          <a:solidFill>
            <a:srgbClr val="15171B"/>
          </a:solidFill>
          <a:ln w="12700">
            <a:solidFill>
              <a:srgbClr val="15171B"/>
            </a:solidFill>
            <a:prstDash val="solid"/>
          </a:ln>
        </p:spPr>
      </p:sp>
      <p:sp>
        <p:nvSpPr>
          <p:cNvPr id="97" name="Text 95"/>
          <p:cNvSpPr/>
          <p:nvPr/>
        </p:nvSpPr>
        <p:spPr>
          <a:xfrm>
            <a:off x="804672" y="5394046"/>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koi-inventory-item-endpoints-list</a:t>
            </a:r>
            <a:endParaRPr lang="en-US" sz="950" dirty="0"/>
          </a:p>
        </p:txBody>
      </p:sp>
      <p:sp>
        <p:nvSpPr>
          <p:cNvPr id="98" name="Text 96"/>
          <p:cNvSpPr/>
          <p:nvPr/>
        </p:nvSpPr>
        <p:spPr>
          <a:xfrm>
            <a:off x="4160520" y="5394046"/>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6</a:t>
            </a:r>
            <a:endParaRPr lang="en-US" sz="950" dirty="0"/>
          </a:p>
        </p:txBody>
      </p:sp>
      <p:sp>
        <p:nvSpPr>
          <p:cNvPr id="99" name="Text 97"/>
          <p:cNvSpPr/>
          <p:nvPr/>
        </p:nvSpPr>
        <p:spPr>
          <a:xfrm>
            <a:off x="4754880" y="5394046"/>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10</a:t>
            </a:r>
            <a:endParaRPr lang="en-US" sz="950" dirty="0"/>
          </a:p>
        </p:txBody>
      </p:sp>
      <p:sp>
        <p:nvSpPr>
          <p:cNvPr id="100" name="Text 98"/>
          <p:cNvSpPr/>
          <p:nvPr/>
        </p:nvSpPr>
        <p:spPr>
          <a:xfrm>
            <a:off x="5532120" y="5394046"/>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Koi.Inventory.Endpoint.*</a:t>
            </a:r>
            <a:endParaRPr lang="en-US" sz="950" dirty="0"/>
          </a:p>
        </p:txBody>
      </p:sp>
      <p:sp>
        <p:nvSpPr>
          <p:cNvPr id="101" name="Text 99"/>
          <p:cNvSpPr/>
          <p:nvPr/>
        </p:nvSpPr>
        <p:spPr>
          <a:xfrm>
            <a:off x="8641080" y="5394046"/>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102" name="Text 100"/>
          <p:cNvSpPr/>
          <p:nvPr/>
        </p:nvSpPr>
        <p:spPr>
          <a:xfrm>
            <a:off x="10149840" y="5394046"/>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4</a:t>
            </a:r>
            <a:endParaRPr lang="en-US" sz="950" dirty="0"/>
          </a:p>
        </p:txBody>
      </p:sp>
      <p:sp>
        <p:nvSpPr>
          <p:cNvPr id="103" name="Text 101"/>
          <p:cNvSpPr/>
          <p:nvPr/>
        </p:nvSpPr>
        <p:spPr>
          <a:xfrm>
            <a:off x="548640" y="5711342"/>
            <a:ext cx="11064240" cy="655442"/>
          </a:xfrm>
          <a:prstGeom prst="rect">
            <a:avLst/>
          </a:prstGeom>
          <a:noFill/>
          <a:ln/>
        </p:spPr>
        <p:txBody>
          <a:bodyPr wrap="square" lIns="0" tIns="0" rIns="0" bIns="0" rtlCol="0" anchor="t"/>
          <a:lstStyle/>
          <a:p>
            <a:pPr indent="0" marL="0">
              <a:lnSpc>
                <a:spcPts val="1200"/>
              </a:lnSpc>
              <a:buNone/>
            </a:pPr>
            <a:r>
              <a:rPr lang="en-US" sz="950" i="1" dirty="0">
                <a:solidFill>
                  <a:srgbClr val="6E747E"/>
                </a:solidFill>
                <a:latin typeface="Calibri" pitchFamily="34" charset="0"/>
                <a:ea typeface="Calibri" pitchFamily="34" charset="-122"/>
                <a:cs typeface="Calibri" pitchFamily="34" charset="-120"/>
              </a:rPr>
              <a:t>Four commands declare zero outputs (koi-allowlist-items-add, koi-allowlist-items-remove, koi-blocklist-items-add, koi-blocklist-items-remove) — a war-room message only, so nothing can branch on their result. Only koi-allowlist-items-remove and koi-blocklist-items-remove carry "execution", the potentially-harmful flag; the other three WRITE commands mutate state unflagged — "not flagged" is not "safe". "Read-only" means only that KOI is unchanged: koi-get-events is debug-only and writes into koi_koi_raw when should_push_events=true, so it alone is not freely repeatable. The allowlist add/remove pair is exercised by no test here — test 8 works the blocklist pair; the sign-off slide records the same gap.</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  ·  GATE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Instance configuration and the Test button</a:t>
            </a:r>
            <a:endParaRPr lang="en-US" sz="3100" dirty="0"/>
          </a:p>
        </p:txBody>
      </p:sp>
      <p:sp>
        <p:nvSpPr>
          <p:cNvPr id="5" name="Shape 3"/>
          <p:cNvSpPr/>
          <p:nvPr/>
        </p:nvSpPr>
        <p:spPr>
          <a:xfrm>
            <a:off x="548640" y="1444752"/>
            <a:ext cx="6400800" cy="3698748"/>
          </a:xfrm>
          <a:prstGeom prst="roundRect">
            <a:avLst>
              <a:gd name="adj" fmla="val 123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Integrations → Instances → add an instance of KOI.</a:t>
            </a:r>
            <a:endParaRPr lang="en-US" sz="1150" dirty="0"/>
          </a:p>
        </p:txBody>
      </p:sp>
      <p:sp>
        <p:nvSpPr>
          <p:cNvPr id="9" name="Text 7"/>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 Server URL to the shipped default:</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https://api.prod.koi.security/</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152144" y="303580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Leave insecure and proxy off unless your network needs them.</a:t>
            </a:r>
            <a:endParaRPr lang="en-US" sz="1150" dirty="0"/>
          </a:p>
        </p:txBody>
      </p:sp>
      <p:sp>
        <p:nvSpPr>
          <p:cNvPr id="14" name="Text 12"/>
          <p:cNvSpPr/>
          <p:nvPr/>
        </p:nvSpPr>
        <p:spPr>
          <a:xfrm>
            <a:off x="859536" y="35524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5" name="Text 13"/>
          <p:cNvSpPr/>
          <p:nvPr/>
        </p:nvSpPr>
        <p:spPr>
          <a:xfrm>
            <a:off x="1152144" y="35524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To collect events, tick Fetch events and keep the defaults:</a:t>
            </a:r>
            <a:endParaRPr lang="en-US" sz="1150" dirty="0"/>
          </a:p>
        </p:txBody>
      </p:sp>
      <p:sp>
        <p:nvSpPr>
          <p:cNvPr id="16" name="Text 14"/>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event_types_to_fetch = Alerts,Audit   max_fetch = 5000</a:t>
            </a:r>
            <a:endParaRPr lang="en-US" sz="1050" dirty="0"/>
          </a:p>
        </p:txBody>
      </p:sp>
      <p:sp>
        <p:nvSpPr>
          <p:cNvPr id="17" name="Text 15"/>
          <p:cNvSpPr/>
          <p:nvPr/>
        </p:nvSpPr>
        <p:spPr>
          <a:xfrm>
            <a:off x="859536" y="42108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8" name="Text 16"/>
          <p:cNvSpPr/>
          <p:nvPr/>
        </p:nvSpPr>
        <p:spPr>
          <a:xfrm>
            <a:off x="1152144" y="42108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Click Test, then Save. Then run a live read probe:</a:t>
            </a:r>
            <a:endParaRPr lang="en-US" sz="1150" dirty="0"/>
          </a:p>
        </p:txBody>
      </p:sp>
      <p:sp>
        <p:nvSpPr>
          <p:cNvPr id="19" name="Text 17"/>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 limit=1</a:t>
            </a:r>
            <a:endParaRPr lang="en-US" sz="1050" dirty="0"/>
          </a:p>
        </p:txBody>
      </p:sp>
      <p:sp>
        <p:nvSpPr>
          <p:cNvPr id="20" name="Shape 18"/>
          <p:cNvSpPr/>
          <p:nvPr/>
        </p:nvSpPr>
        <p:spPr>
          <a:xfrm>
            <a:off x="7315200" y="1444752"/>
            <a:ext cx="4297680" cy="3698748"/>
          </a:xfrm>
          <a:prstGeom prst="roundRect">
            <a:avLst>
              <a:gd name="adj" fmla="val 1236"/>
            </a:avLst>
          </a:prstGeom>
          <a:solidFill>
            <a:srgbClr val="1C2026"/>
          </a:solidFill>
          <a:ln w="12700">
            <a:solidFill>
              <a:srgbClr val="1C2026"/>
            </a:solidFill>
            <a:prstDash val="solid"/>
          </a:ln>
        </p:spPr>
      </p:sp>
      <p:sp>
        <p:nvSpPr>
          <p:cNvPr id="21" name="Text 19"/>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2" name="Text 20"/>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4" name="Text 22"/>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instance saves without a validation error.</a:t>
            </a:r>
            <a:endParaRPr lang="en-US" sz="1150" dirty="0"/>
          </a:p>
        </p:txBody>
      </p:sp>
      <p:sp>
        <p:nvSpPr>
          <p:cNvPr id="26" name="Text 24"/>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706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koi-policy-list returns a table and writes Koi.Policy.* to context.</a:t>
            </a:r>
            <a:endParaRPr lang="en-US" sz="1150" dirty="0"/>
          </a:p>
        </p:txBody>
      </p:sp>
      <p:sp>
        <p:nvSpPr>
          <p:cNvPr id="28" name="Text 26"/>
          <p:cNvSpPr/>
          <p:nvPr/>
        </p:nvSpPr>
        <p:spPr>
          <a:xfrm>
            <a:off x="7626096" y="3223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223260"/>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401 on the probe. A bad key is verified to answer 401 {"message":"Unauthorized","statusCode":401}.</a:t>
            </a:r>
            <a:endParaRPr lang="en-US" sz="1150" dirty="0"/>
          </a:p>
        </p:txBody>
      </p:sp>
      <p:sp>
        <p:nvSpPr>
          <p:cNvPr id="30" name="Shape 28"/>
          <p:cNvSpPr/>
          <p:nvPr/>
        </p:nvSpPr>
        <p:spPr>
          <a:xfrm>
            <a:off x="548640" y="5344668"/>
            <a:ext cx="11064240" cy="914400"/>
          </a:xfrm>
          <a:prstGeom prst="roundRect">
            <a:avLst>
              <a:gd name="adj" fmla="val 5000"/>
            </a:avLst>
          </a:prstGeom>
          <a:solidFill>
            <a:srgbClr val="1C2026"/>
          </a:solidFill>
          <a:ln w="12700">
            <a:solidFill>
              <a:srgbClr val="1C2026"/>
            </a:solidFill>
            <a:prstDash val="solid"/>
          </a:ln>
        </p:spPr>
      </p:sp>
      <p:sp>
        <p:nvSpPr>
          <p:cNvPr id="31" name="Shape 29"/>
          <p:cNvSpPr/>
          <p:nvPr/>
        </p:nvSpPr>
        <p:spPr>
          <a:xfrm>
            <a:off x="804672" y="5646420"/>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56464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5463540"/>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4" name="Text 32"/>
          <p:cNvSpPr/>
          <p:nvPr/>
        </p:nvSpPr>
        <p:spPr>
          <a:xfrm>
            <a:off x="1298448" y="5673852"/>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A green Test button alone is weak evidence — always follow it with one real read command. Conversely, koi-policy-list returning an empty policies list with HTTP 200 is a correct result for a tenant with no policies, not a failure. Distinguish by the error: 401 means the key (verified, VERIFIED_FACTS §5.4a); an empty table with no error means an empty tenant. No 403 was ever observed here, so if you get one, diagnose it — do not assume it proves blocked egress.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REFERENCE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configuration parameter, as shipped</a:t>
            </a:r>
            <a:endParaRPr lang="en-US" sz="3100" dirty="0"/>
          </a:p>
        </p:txBody>
      </p:sp>
      <p:sp>
        <p:nvSpPr>
          <p:cNvPr id="5" name="Text 3"/>
          <p:cNvSpPr/>
          <p:nvPr/>
        </p:nvSpPr>
        <p:spPr>
          <a:xfrm>
            <a:off x="548640" y="1243584"/>
            <a:ext cx="11064240" cy="274320"/>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Generated from reference/marketplace-pack.json. Use this to check an existing instance field by field.</a:t>
            </a:r>
            <a:endParaRPr lang="en-US" sz="1100" dirty="0"/>
          </a:p>
        </p:txBody>
      </p:sp>
      <p:sp>
        <p:nvSpPr>
          <p:cNvPr id="6" name="Text 4"/>
          <p:cNvSpPr/>
          <p:nvPr/>
        </p:nvSpPr>
        <p:spPr>
          <a:xfrm>
            <a:off x="804672" y="1609344"/>
            <a:ext cx="21031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Parameter</a:t>
            </a:r>
            <a:endParaRPr lang="en-US" sz="1000" dirty="0"/>
          </a:p>
        </p:txBody>
      </p:sp>
      <p:sp>
        <p:nvSpPr>
          <p:cNvPr id="7" name="Text 5"/>
          <p:cNvSpPr/>
          <p:nvPr/>
        </p:nvSpPr>
        <p:spPr>
          <a:xfrm>
            <a:off x="3035808" y="1609344"/>
            <a:ext cx="260604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Display name</a:t>
            </a:r>
            <a:endParaRPr lang="en-US" sz="1000" dirty="0"/>
          </a:p>
        </p:txBody>
      </p:sp>
      <p:sp>
        <p:nvSpPr>
          <p:cNvPr id="8" name="Text 6"/>
          <p:cNvSpPr/>
          <p:nvPr/>
        </p:nvSpPr>
        <p:spPr>
          <a:xfrm>
            <a:off x="5760720" y="1609344"/>
            <a:ext cx="9144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Section</a:t>
            </a:r>
            <a:endParaRPr lang="en-US" sz="1000" dirty="0"/>
          </a:p>
        </p:txBody>
      </p:sp>
      <p:sp>
        <p:nvSpPr>
          <p:cNvPr id="9" name="Text 7"/>
          <p:cNvSpPr/>
          <p:nvPr/>
        </p:nvSpPr>
        <p:spPr>
          <a:xfrm>
            <a:off x="6748272" y="1609344"/>
            <a:ext cx="5029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Req.</a:t>
            </a:r>
            <a:endParaRPr lang="en-US" sz="1000" dirty="0"/>
          </a:p>
        </p:txBody>
      </p:sp>
      <p:sp>
        <p:nvSpPr>
          <p:cNvPr id="10" name="Text 8"/>
          <p:cNvSpPr/>
          <p:nvPr/>
        </p:nvSpPr>
        <p:spPr>
          <a:xfrm>
            <a:off x="7315200" y="1609344"/>
            <a:ext cx="224028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Shipped default</a:t>
            </a:r>
            <a:endParaRPr lang="en-US" sz="1000" dirty="0"/>
          </a:p>
        </p:txBody>
      </p:sp>
      <p:sp>
        <p:nvSpPr>
          <p:cNvPr id="11" name="Text 9"/>
          <p:cNvSpPr/>
          <p:nvPr/>
        </p:nvSpPr>
        <p:spPr>
          <a:xfrm>
            <a:off x="9646920" y="1609344"/>
            <a:ext cx="192024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Visibility</a:t>
            </a:r>
            <a:endParaRPr lang="en-US" sz="1000" dirty="0"/>
          </a:p>
        </p:txBody>
      </p:sp>
      <p:sp>
        <p:nvSpPr>
          <p:cNvPr id="12" name="Shape 10"/>
          <p:cNvSpPr/>
          <p:nvPr/>
        </p:nvSpPr>
        <p:spPr>
          <a:xfrm>
            <a:off x="548640" y="1883664"/>
            <a:ext cx="11064240" cy="384048"/>
          </a:xfrm>
          <a:prstGeom prst="roundRect">
            <a:avLst>
              <a:gd name="adj" fmla="val 11905"/>
            </a:avLst>
          </a:prstGeom>
          <a:solidFill>
            <a:srgbClr val="15171B"/>
          </a:solidFill>
          <a:ln w="12700">
            <a:solidFill>
              <a:srgbClr val="15171B"/>
            </a:solidFill>
            <a:prstDash val="solid"/>
          </a:ln>
        </p:spPr>
      </p:sp>
      <p:sp>
        <p:nvSpPr>
          <p:cNvPr id="13" name="Text 11"/>
          <p:cNvSpPr/>
          <p:nvPr/>
        </p:nvSpPr>
        <p:spPr>
          <a:xfrm>
            <a:off x="804672" y="1993392"/>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url</a:t>
            </a:r>
            <a:endParaRPr lang="en-US" sz="950" dirty="0"/>
          </a:p>
        </p:txBody>
      </p:sp>
      <p:sp>
        <p:nvSpPr>
          <p:cNvPr id="14" name="Text 12"/>
          <p:cNvSpPr/>
          <p:nvPr/>
        </p:nvSpPr>
        <p:spPr>
          <a:xfrm>
            <a:off x="3035808" y="1993392"/>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Server URL</a:t>
            </a:r>
            <a:endParaRPr lang="en-US" sz="950" dirty="0"/>
          </a:p>
        </p:txBody>
      </p:sp>
      <p:sp>
        <p:nvSpPr>
          <p:cNvPr id="15" name="Text 13"/>
          <p:cNvSpPr/>
          <p:nvPr/>
        </p:nvSpPr>
        <p:spPr>
          <a:xfrm>
            <a:off x="5760720" y="1993392"/>
            <a:ext cx="9144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Connect</a:t>
            </a:r>
            <a:endParaRPr lang="en-US" sz="950" dirty="0"/>
          </a:p>
        </p:txBody>
      </p:sp>
      <p:sp>
        <p:nvSpPr>
          <p:cNvPr id="16" name="Text 14"/>
          <p:cNvSpPr/>
          <p:nvPr/>
        </p:nvSpPr>
        <p:spPr>
          <a:xfrm>
            <a:off x="6748272" y="1993392"/>
            <a:ext cx="502920"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yes</a:t>
            </a:r>
            <a:endParaRPr lang="en-US" sz="950" dirty="0"/>
          </a:p>
        </p:txBody>
      </p:sp>
      <p:sp>
        <p:nvSpPr>
          <p:cNvPr id="17" name="Text 15"/>
          <p:cNvSpPr/>
          <p:nvPr/>
        </p:nvSpPr>
        <p:spPr>
          <a:xfrm>
            <a:off x="7315200" y="1984248"/>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https://api.prod.koi.security/</a:t>
            </a:r>
            <a:endParaRPr lang="en-US" sz="900" dirty="0"/>
          </a:p>
        </p:txBody>
      </p:sp>
      <p:sp>
        <p:nvSpPr>
          <p:cNvPr id="18" name="Text 16"/>
          <p:cNvSpPr/>
          <p:nvPr/>
        </p:nvSpPr>
        <p:spPr>
          <a:xfrm>
            <a:off x="9646920" y="1984248"/>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visible</a:t>
            </a:r>
            <a:endParaRPr lang="en-US" sz="850" dirty="0"/>
          </a:p>
        </p:txBody>
      </p:sp>
      <p:sp>
        <p:nvSpPr>
          <p:cNvPr id="19" name="Shape 17"/>
          <p:cNvSpPr/>
          <p:nvPr/>
        </p:nvSpPr>
        <p:spPr>
          <a:xfrm>
            <a:off x="548640" y="2313432"/>
            <a:ext cx="11064240" cy="384048"/>
          </a:xfrm>
          <a:prstGeom prst="roundRect">
            <a:avLst>
              <a:gd name="adj" fmla="val 11905"/>
            </a:avLst>
          </a:prstGeom>
          <a:solidFill>
            <a:srgbClr val="15171B"/>
          </a:solidFill>
          <a:ln w="12700">
            <a:solidFill>
              <a:srgbClr val="15171B"/>
            </a:solidFill>
            <a:prstDash val="solid"/>
          </a:ln>
        </p:spPr>
      </p:sp>
      <p:sp>
        <p:nvSpPr>
          <p:cNvPr id="20" name="Text 18"/>
          <p:cNvSpPr/>
          <p:nvPr/>
        </p:nvSpPr>
        <p:spPr>
          <a:xfrm>
            <a:off x="804672" y="2423160"/>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api_key</a:t>
            </a:r>
            <a:endParaRPr lang="en-US" sz="950" dirty="0"/>
          </a:p>
        </p:txBody>
      </p:sp>
      <p:sp>
        <p:nvSpPr>
          <p:cNvPr id="21" name="Text 19"/>
          <p:cNvSpPr/>
          <p:nvPr/>
        </p:nvSpPr>
        <p:spPr>
          <a:xfrm>
            <a:off x="3035808" y="2423160"/>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API Key</a:t>
            </a:r>
            <a:endParaRPr lang="en-US" sz="950" dirty="0"/>
          </a:p>
        </p:txBody>
      </p:sp>
      <p:sp>
        <p:nvSpPr>
          <p:cNvPr id="22" name="Text 20"/>
          <p:cNvSpPr/>
          <p:nvPr/>
        </p:nvSpPr>
        <p:spPr>
          <a:xfrm>
            <a:off x="5760720" y="2423160"/>
            <a:ext cx="9144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Connect</a:t>
            </a:r>
            <a:endParaRPr lang="en-US" sz="950" dirty="0"/>
          </a:p>
        </p:txBody>
      </p:sp>
      <p:sp>
        <p:nvSpPr>
          <p:cNvPr id="23" name="Text 21"/>
          <p:cNvSpPr/>
          <p:nvPr/>
        </p:nvSpPr>
        <p:spPr>
          <a:xfrm>
            <a:off x="6748272" y="2423160"/>
            <a:ext cx="502920"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yes</a:t>
            </a:r>
            <a:endParaRPr lang="en-US" sz="950" dirty="0"/>
          </a:p>
        </p:txBody>
      </p:sp>
      <p:sp>
        <p:nvSpPr>
          <p:cNvPr id="24" name="Text 22"/>
          <p:cNvSpPr/>
          <p:nvPr/>
        </p:nvSpPr>
        <p:spPr>
          <a:xfrm>
            <a:off x="7315200" y="2414016"/>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9646920" y="2414016"/>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visible</a:t>
            </a:r>
            <a:endParaRPr lang="en-US" sz="850" dirty="0"/>
          </a:p>
        </p:txBody>
      </p:sp>
      <p:sp>
        <p:nvSpPr>
          <p:cNvPr id="26" name="Shape 24"/>
          <p:cNvSpPr/>
          <p:nvPr/>
        </p:nvSpPr>
        <p:spPr>
          <a:xfrm>
            <a:off x="548640" y="2743200"/>
            <a:ext cx="11064240" cy="384048"/>
          </a:xfrm>
          <a:prstGeom prst="roundRect">
            <a:avLst>
              <a:gd name="adj" fmla="val 11905"/>
            </a:avLst>
          </a:prstGeom>
          <a:solidFill>
            <a:srgbClr val="15171B"/>
          </a:solidFill>
          <a:ln w="12700">
            <a:solidFill>
              <a:srgbClr val="15171B"/>
            </a:solidFill>
            <a:prstDash val="solid"/>
          </a:ln>
        </p:spPr>
      </p:sp>
      <p:sp>
        <p:nvSpPr>
          <p:cNvPr id="27" name="Text 25"/>
          <p:cNvSpPr/>
          <p:nvPr/>
        </p:nvSpPr>
        <p:spPr>
          <a:xfrm>
            <a:off x="804672" y="2852928"/>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insecure</a:t>
            </a:r>
            <a:endParaRPr lang="en-US" sz="950" dirty="0"/>
          </a:p>
        </p:txBody>
      </p:sp>
      <p:sp>
        <p:nvSpPr>
          <p:cNvPr id="28" name="Text 26"/>
          <p:cNvSpPr/>
          <p:nvPr/>
        </p:nvSpPr>
        <p:spPr>
          <a:xfrm>
            <a:off x="3035808" y="2852928"/>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Trust any certificate (not secure)</a:t>
            </a:r>
            <a:endParaRPr lang="en-US" sz="950" dirty="0"/>
          </a:p>
        </p:txBody>
      </p:sp>
      <p:sp>
        <p:nvSpPr>
          <p:cNvPr id="29" name="Text 27"/>
          <p:cNvSpPr/>
          <p:nvPr/>
        </p:nvSpPr>
        <p:spPr>
          <a:xfrm>
            <a:off x="5760720" y="2852928"/>
            <a:ext cx="9144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Connect</a:t>
            </a:r>
            <a:endParaRPr lang="en-US" sz="950" dirty="0"/>
          </a:p>
        </p:txBody>
      </p:sp>
      <p:sp>
        <p:nvSpPr>
          <p:cNvPr id="30" name="Text 28"/>
          <p:cNvSpPr/>
          <p:nvPr/>
        </p:nvSpPr>
        <p:spPr>
          <a:xfrm>
            <a:off x="6748272" y="2852928"/>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31" name="Text 29"/>
          <p:cNvSpPr/>
          <p:nvPr/>
        </p:nvSpPr>
        <p:spPr>
          <a:xfrm>
            <a:off x="7315200" y="2843784"/>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32" name="Text 30"/>
          <p:cNvSpPr/>
          <p:nvPr/>
        </p:nvSpPr>
        <p:spPr>
          <a:xfrm>
            <a:off x="9646920" y="2843784"/>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visible · advanced</a:t>
            </a:r>
            <a:endParaRPr lang="en-US" sz="850" dirty="0"/>
          </a:p>
        </p:txBody>
      </p:sp>
      <p:sp>
        <p:nvSpPr>
          <p:cNvPr id="33" name="Shape 31"/>
          <p:cNvSpPr/>
          <p:nvPr/>
        </p:nvSpPr>
        <p:spPr>
          <a:xfrm>
            <a:off x="548640" y="3172968"/>
            <a:ext cx="11064240" cy="384048"/>
          </a:xfrm>
          <a:prstGeom prst="roundRect">
            <a:avLst>
              <a:gd name="adj" fmla="val 11905"/>
            </a:avLst>
          </a:prstGeom>
          <a:solidFill>
            <a:srgbClr val="15171B"/>
          </a:solidFill>
          <a:ln w="12700">
            <a:solidFill>
              <a:srgbClr val="15171B"/>
            </a:solidFill>
            <a:prstDash val="solid"/>
          </a:ln>
        </p:spPr>
      </p:sp>
      <p:sp>
        <p:nvSpPr>
          <p:cNvPr id="34" name="Text 32"/>
          <p:cNvSpPr/>
          <p:nvPr/>
        </p:nvSpPr>
        <p:spPr>
          <a:xfrm>
            <a:off x="804672" y="3282696"/>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proxy</a:t>
            </a:r>
            <a:endParaRPr lang="en-US" sz="950" dirty="0"/>
          </a:p>
        </p:txBody>
      </p:sp>
      <p:sp>
        <p:nvSpPr>
          <p:cNvPr id="35" name="Text 33"/>
          <p:cNvSpPr/>
          <p:nvPr/>
        </p:nvSpPr>
        <p:spPr>
          <a:xfrm>
            <a:off x="3035808" y="3282696"/>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Use system proxy settings</a:t>
            </a:r>
            <a:endParaRPr lang="en-US" sz="950" dirty="0"/>
          </a:p>
        </p:txBody>
      </p:sp>
      <p:sp>
        <p:nvSpPr>
          <p:cNvPr id="36" name="Text 34"/>
          <p:cNvSpPr/>
          <p:nvPr/>
        </p:nvSpPr>
        <p:spPr>
          <a:xfrm>
            <a:off x="5760720" y="3282696"/>
            <a:ext cx="9144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Connect</a:t>
            </a:r>
            <a:endParaRPr lang="en-US" sz="950" dirty="0"/>
          </a:p>
        </p:txBody>
      </p:sp>
      <p:sp>
        <p:nvSpPr>
          <p:cNvPr id="37" name="Text 35"/>
          <p:cNvSpPr/>
          <p:nvPr/>
        </p:nvSpPr>
        <p:spPr>
          <a:xfrm>
            <a:off x="6748272" y="3282696"/>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38" name="Text 36"/>
          <p:cNvSpPr/>
          <p:nvPr/>
        </p:nvSpPr>
        <p:spPr>
          <a:xfrm>
            <a:off x="7315200" y="3273552"/>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39" name="Text 37"/>
          <p:cNvSpPr/>
          <p:nvPr/>
        </p:nvSpPr>
        <p:spPr>
          <a:xfrm>
            <a:off x="9646920" y="3273552"/>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visible · advanced</a:t>
            </a:r>
            <a:endParaRPr lang="en-US" sz="850" dirty="0"/>
          </a:p>
        </p:txBody>
      </p:sp>
      <p:sp>
        <p:nvSpPr>
          <p:cNvPr id="40" name="Shape 38"/>
          <p:cNvSpPr/>
          <p:nvPr/>
        </p:nvSpPr>
        <p:spPr>
          <a:xfrm>
            <a:off x="548640" y="3602736"/>
            <a:ext cx="11064240" cy="384048"/>
          </a:xfrm>
          <a:prstGeom prst="roundRect">
            <a:avLst>
              <a:gd name="adj" fmla="val 11905"/>
            </a:avLst>
          </a:prstGeom>
          <a:solidFill>
            <a:srgbClr val="1C2026"/>
          </a:solidFill>
          <a:ln w="12700">
            <a:solidFill>
              <a:srgbClr val="1C2026"/>
            </a:solidFill>
            <a:prstDash val="solid"/>
          </a:ln>
        </p:spPr>
      </p:sp>
      <p:sp>
        <p:nvSpPr>
          <p:cNvPr id="41" name="Text 39"/>
          <p:cNvSpPr/>
          <p:nvPr/>
        </p:nvSpPr>
        <p:spPr>
          <a:xfrm>
            <a:off x="804672" y="3712464"/>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isFetchEvents</a:t>
            </a:r>
            <a:endParaRPr lang="en-US" sz="950" dirty="0"/>
          </a:p>
        </p:txBody>
      </p:sp>
      <p:sp>
        <p:nvSpPr>
          <p:cNvPr id="42" name="Text 40"/>
          <p:cNvSpPr/>
          <p:nvPr/>
        </p:nvSpPr>
        <p:spPr>
          <a:xfrm>
            <a:off x="3035808" y="3712464"/>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Fetch events</a:t>
            </a:r>
            <a:endParaRPr lang="en-US" sz="950" dirty="0"/>
          </a:p>
        </p:txBody>
      </p:sp>
      <p:sp>
        <p:nvSpPr>
          <p:cNvPr id="43" name="Text 41"/>
          <p:cNvSpPr/>
          <p:nvPr/>
        </p:nvSpPr>
        <p:spPr>
          <a:xfrm>
            <a:off x="5760720" y="3712464"/>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44" name="Text 42"/>
          <p:cNvSpPr/>
          <p:nvPr/>
        </p:nvSpPr>
        <p:spPr>
          <a:xfrm>
            <a:off x="6748272" y="3712464"/>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45" name="Text 43"/>
          <p:cNvSpPr/>
          <p:nvPr/>
        </p:nvSpPr>
        <p:spPr>
          <a:xfrm>
            <a:off x="7315200" y="3703320"/>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46" name="Text 44"/>
          <p:cNvSpPr/>
          <p:nvPr/>
        </p:nvSpPr>
        <p:spPr>
          <a:xfrm>
            <a:off x="9646920" y="3703320"/>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a:t>
            </a:r>
            <a:endParaRPr lang="en-US" sz="850" dirty="0"/>
          </a:p>
        </p:txBody>
      </p:sp>
      <p:sp>
        <p:nvSpPr>
          <p:cNvPr id="47" name="Shape 45"/>
          <p:cNvSpPr/>
          <p:nvPr/>
        </p:nvSpPr>
        <p:spPr>
          <a:xfrm>
            <a:off x="548640" y="4032504"/>
            <a:ext cx="11064240" cy="384048"/>
          </a:xfrm>
          <a:prstGeom prst="roundRect">
            <a:avLst>
              <a:gd name="adj" fmla="val 11905"/>
            </a:avLst>
          </a:prstGeom>
          <a:solidFill>
            <a:srgbClr val="1C2026"/>
          </a:solidFill>
          <a:ln w="12700">
            <a:solidFill>
              <a:srgbClr val="1C2026"/>
            </a:solidFill>
            <a:prstDash val="solid"/>
          </a:ln>
        </p:spPr>
      </p:sp>
      <p:sp>
        <p:nvSpPr>
          <p:cNvPr id="48" name="Text 46"/>
          <p:cNvSpPr/>
          <p:nvPr/>
        </p:nvSpPr>
        <p:spPr>
          <a:xfrm>
            <a:off x="804672" y="4142232"/>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event_types_to_fetch</a:t>
            </a:r>
            <a:endParaRPr lang="en-US" sz="950" dirty="0"/>
          </a:p>
        </p:txBody>
      </p:sp>
      <p:sp>
        <p:nvSpPr>
          <p:cNvPr id="49" name="Text 47"/>
          <p:cNvSpPr/>
          <p:nvPr/>
        </p:nvSpPr>
        <p:spPr>
          <a:xfrm>
            <a:off x="3035808" y="4142232"/>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Fetch event types</a:t>
            </a:r>
            <a:endParaRPr lang="en-US" sz="950" dirty="0"/>
          </a:p>
        </p:txBody>
      </p:sp>
      <p:sp>
        <p:nvSpPr>
          <p:cNvPr id="50" name="Text 48"/>
          <p:cNvSpPr/>
          <p:nvPr/>
        </p:nvSpPr>
        <p:spPr>
          <a:xfrm>
            <a:off x="5760720" y="4142232"/>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51" name="Text 49"/>
          <p:cNvSpPr/>
          <p:nvPr/>
        </p:nvSpPr>
        <p:spPr>
          <a:xfrm>
            <a:off x="6748272" y="4142232"/>
            <a:ext cx="502920"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yes</a:t>
            </a:r>
            <a:endParaRPr lang="en-US" sz="950" dirty="0"/>
          </a:p>
        </p:txBody>
      </p:sp>
      <p:sp>
        <p:nvSpPr>
          <p:cNvPr id="52" name="Text 50"/>
          <p:cNvSpPr/>
          <p:nvPr/>
        </p:nvSpPr>
        <p:spPr>
          <a:xfrm>
            <a:off x="7315200" y="4133088"/>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Alerts,Audit</a:t>
            </a:r>
            <a:endParaRPr lang="en-US" sz="900" dirty="0"/>
          </a:p>
        </p:txBody>
      </p:sp>
      <p:sp>
        <p:nvSpPr>
          <p:cNvPr id="53" name="Text 51"/>
          <p:cNvSpPr/>
          <p:nvPr/>
        </p:nvSpPr>
        <p:spPr>
          <a:xfrm>
            <a:off x="9646920" y="4133088"/>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a:t>
            </a:r>
            <a:endParaRPr lang="en-US" sz="850" dirty="0"/>
          </a:p>
        </p:txBody>
      </p:sp>
      <p:sp>
        <p:nvSpPr>
          <p:cNvPr id="54" name="Shape 52"/>
          <p:cNvSpPr/>
          <p:nvPr/>
        </p:nvSpPr>
        <p:spPr>
          <a:xfrm>
            <a:off x="548640" y="4462272"/>
            <a:ext cx="11064240" cy="384048"/>
          </a:xfrm>
          <a:prstGeom prst="roundRect">
            <a:avLst>
              <a:gd name="adj" fmla="val 11905"/>
            </a:avLst>
          </a:prstGeom>
          <a:solidFill>
            <a:srgbClr val="1C2026"/>
          </a:solidFill>
          <a:ln w="12700">
            <a:solidFill>
              <a:srgbClr val="1C2026"/>
            </a:solidFill>
            <a:prstDash val="solid"/>
          </a:ln>
        </p:spPr>
      </p:sp>
      <p:sp>
        <p:nvSpPr>
          <p:cNvPr id="55" name="Text 53"/>
          <p:cNvSpPr/>
          <p:nvPr/>
        </p:nvSpPr>
        <p:spPr>
          <a:xfrm>
            <a:off x="804672" y="4572000"/>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audit_types_filter</a:t>
            </a:r>
            <a:endParaRPr lang="en-US" sz="950" dirty="0"/>
          </a:p>
        </p:txBody>
      </p:sp>
      <p:sp>
        <p:nvSpPr>
          <p:cNvPr id="56" name="Text 54"/>
          <p:cNvSpPr/>
          <p:nvPr/>
        </p:nvSpPr>
        <p:spPr>
          <a:xfrm>
            <a:off x="3035808" y="4572000"/>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Audit log type filter</a:t>
            </a:r>
            <a:endParaRPr lang="en-US" sz="950" dirty="0"/>
          </a:p>
        </p:txBody>
      </p:sp>
      <p:sp>
        <p:nvSpPr>
          <p:cNvPr id="57" name="Text 55"/>
          <p:cNvSpPr/>
          <p:nvPr/>
        </p:nvSpPr>
        <p:spPr>
          <a:xfrm>
            <a:off x="5760720" y="4572000"/>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58" name="Text 56"/>
          <p:cNvSpPr/>
          <p:nvPr/>
        </p:nvSpPr>
        <p:spPr>
          <a:xfrm>
            <a:off x="6748272" y="4572000"/>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59" name="Text 57"/>
          <p:cNvSpPr/>
          <p:nvPr/>
        </p:nvSpPr>
        <p:spPr>
          <a:xfrm>
            <a:off x="7315200" y="4562856"/>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60" name="Text 58"/>
          <p:cNvSpPr/>
          <p:nvPr/>
        </p:nvSpPr>
        <p:spPr>
          <a:xfrm>
            <a:off x="9646920" y="4562856"/>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a:t>
            </a:r>
            <a:endParaRPr lang="en-US" sz="850" dirty="0"/>
          </a:p>
        </p:txBody>
      </p:sp>
      <p:sp>
        <p:nvSpPr>
          <p:cNvPr id="61" name="Shape 59"/>
          <p:cNvSpPr/>
          <p:nvPr/>
        </p:nvSpPr>
        <p:spPr>
          <a:xfrm>
            <a:off x="548640" y="4892040"/>
            <a:ext cx="11064240" cy="384048"/>
          </a:xfrm>
          <a:prstGeom prst="roundRect">
            <a:avLst>
              <a:gd name="adj" fmla="val 11905"/>
            </a:avLst>
          </a:prstGeom>
          <a:solidFill>
            <a:srgbClr val="1C2026"/>
          </a:solidFill>
          <a:ln w="12700">
            <a:solidFill>
              <a:srgbClr val="1C2026"/>
            </a:solidFill>
            <a:prstDash val="solid"/>
          </a:ln>
        </p:spPr>
      </p:sp>
      <p:sp>
        <p:nvSpPr>
          <p:cNvPr id="62" name="Text 60"/>
          <p:cNvSpPr/>
          <p:nvPr/>
        </p:nvSpPr>
        <p:spPr>
          <a:xfrm>
            <a:off x="804672" y="5001768"/>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max_fetch</a:t>
            </a:r>
            <a:endParaRPr lang="en-US" sz="950" dirty="0"/>
          </a:p>
        </p:txBody>
      </p:sp>
      <p:sp>
        <p:nvSpPr>
          <p:cNvPr id="63" name="Text 61"/>
          <p:cNvSpPr/>
          <p:nvPr/>
        </p:nvSpPr>
        <p:spPr>
          <a:xfrm>
            <a:off x="3035808" y="5001768"/>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Maximum number of events per fetch</a:t>
            </a:r>
            <a:endParaRPr lang="en-US" sz="950" dirty="0"/>
          </a:p>
        </p:txBody>
      </p:sp>
      <p:sp>
        <p:nvSpPr>
          <p:cNvPr id="64" name="Text 62"/>
          <p:cNvSpPr/>
          <p:nvPr/>
        </p:nvSpPr>
        <p:spPr>
          <a:xfrm>
            <a:off x="5760720" y="5001768"/>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65" name="Text 63"/>
          <p:cNvSpPr/>
          <p:nvPr/>
        </p:nvSpPr>
        <p:spPr>
          <a:xfrm>
            <a:off x="6748272" y="5001768"/>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66" name="Text 64"/>
          <p:cNvSpPr/>
          <p:nvPr/>
        </p:nvSpPr>
        <p:spPr>
          <a:xfrm>
            <a:off x="7315200" y="4992624"/>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5000</a:t>
            </a:r>
            <a:endParaRPr lang="en-US" sz="900" dirty="0"/>
          </a:p>
        </p:txBody>
      </p:sp>
      <p:sp>
        <p:nvSpPr>
          <p:cNvPr id="67" name="Text 65"/>
          <p:cNvSpPr/>
          <p:nvPr/>
        </p:nvSpPr>
        <p:spPr>
          <a:xfrm>
            <a:off x="9646920" y="4992624"/>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a:t>
            </a:r>
            <a:endParaRPr lang="en-US" sz="850" dirty="0"/>
          </a:p>
        </p:txBody>
      </p:sp>
      <p:sp>
        <p:nvSpPr>
          <p:cNvPr id="68" name="Shape 66"/>
          <p:cNvSpPr/>
          <p:nvPr/>
        </p:nvSpPr>
        <p:spPr>
          <a:xfrm>
            <a:off x="548640" y="5321808"/>
            <a:ext cx="11064240" cy="384048"/>
          </a:xfrm>
          <a:prstGeom prst="roundRect">
            <a:avLst>
              <a:gd name="adj" fmla="val 11905"/>
            </a:avLst>
          </a:prstGeom>
          <a:solidFill>
            <a:srgbClr val="1C2026"/>
          </a:solidFill>
          <a:ln w="12700">
            <a:solidFill>
              <a:srgbClr val="1C2026"/>
            </a:solidFill>
            <a:prstDash val="solid"/>
          </a:ln>
        </p:spPr>
      </p:sp>
      <p:sp>
        <p:nvSpPr>
          <p:cNvPr id="69" name="Text 67"/>
          <p:cNvSpPr/>
          <p:nvPr/>
        </p:nvSpPr>
        <p:spPr>
          <a:xfrm>
            <a:off x="804672" y="5431536"/>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eventFetchInterval</a:t>
            </a:r>
            <a:endParaRPr lang="en-US" sz="950" dirty="0"/>
          </a:p>
        </p:txBody>
      </p:sp>
      <p:sp>
        <p:nvSpPr>
          <p:cNvPr id="70" name="Text 68"/>
          <p:cNvSpPr/>
          <p:nvPr/>
        </p:nvSpPr>
        <p:spPr>
          <a:xfrm>
            <a:off x="3035808" y="5431536"/>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Events Fetch Interval</a:t>
            </a:r>
            <a:endParaRPr lang="en-US" sz="950" dirty="0"/>
          </a:p>
        </p:txBody>
      </p:sp>
      <p:sp>
        <p:nvSpPr>
          <p:cNvPr id="71" name="Text 69"/>
          <p:cNvSpPr/>
          <p:nvPr/>
        </p:nvSpPr>
        <p:spPr>
          <a:xfrm>
            <a:off x="5760720" y="5431536"/>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72" name="Text 70"/>
          <p:cNvSpPr/>
          <p:nvPr/>
        </p:nvSpPr>
        <p:spPr>
          <a:xfrm>
            <a:off x="6748272" y="5431536"/>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73" name="Text 71"/>
          <p:cNvSpPr/>
          <p:nvPr/>
        </p:nvSpPr>
        <p:spPr>
          <a:xfrm>
            <a:off x="7315200" y="5422392"/>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1</a:t>
            </a:r>
            <a:endParaRPr lang="en-US" sz="900" dirty="0"/>
          </a:p>
        </p:txBody>
      </p:sp>
      <p:sp>
        <p:nvSpPr>
          <p:cNvPr id="74" name="Text 72"/>
          <p:cNvSpPr/>
          <p:nvPr/>
        </p:nvSpPr>
        <p:spPr>
          <a:xfrm>
            <a:off x="9646920" y="5422392"/>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 · advanced</a:t>
            </a:r>
            <a:endParaRPr lang="en-US" sz="850" dirty="0"/>
          </a:p>
        </p:txBody>
      </p:sp>
      <p:sp>
        <p:nvSpPr>
          <p:cNvPr id="75" name="Text 73"/>
          <p:cNvSpPr/>
          <p:nvPr/>
        </p:nvSpPr>
        <p:spPr>
          <a:xfrm>
            <a:off x="548640" y="5861304"/>
            <a:ext cx="11064240" cy="420624"/>
          </a:xfrm>
          <a:prstGeom prst="rect">
            <a:avLst/>
          </a:prstGeom>
          <a:noFill/>
          <a:ln/>
        </p:spPr>
        <p:txBody>
          <a:bodyPr wrap="square" lIns="0" tIns="0" rIns="0" bIns="0" rtlCol="0" anchor="t"/>
          <a:lstStyle/>
          <a:p>
            <a:pPr indent="0" marL="0">
              <a:lnSpc>
                <a:spcPts val="1200"/>
              </a:lnSpc>
              <a:buNone/>
            </a:pPr>
            <a:r>
              <a:rPr lang="en-US" sz="950" i="1" dirty="0">
                <a:solidFill>
                  <a:srgbClr val="F5A524"/>
                </a:solidFill>
                <a:latin typeface="Calibri" pitchFamily="34" charset="0"/>
                <a:ea typeface="Calibri" pitchFamily="34" charset="-122"/>
                <a:cs typeface="Calibri" pitchFamily="34" charset="-120"/>
              </a:rPr>
              <a:t>Two collectors writing one dataset is legal and easy to miss: if you configure a second KOI instance with Fetch events on, both write to the same dataset and the pack ships no field identifying which instance produced a row (VERIFIED_FACTS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Read sweep — policies, allowlist, blocklist</a:t>
            </a:r>
            <a:endParaRPr lang="en-US" sz="3100" dirty="0"/>
          </a:p>
        </p:txBody>
      </p:sp>
      <p:sp>
        <p:nvSpPr>
          <p:cNvPr id="5" name="Shape 3"/>
          <p:cNvSpPr/>
          <p:nvPr/>
        </p:nvSpPr>
        <p:spPr>
          <a:xfrm>
            <a:off x="548640" y="1444752"/>
            <a:ext cx="6400800" cy="3461004"/>
          </a:xfrm>
          <a:prstGeom prst="roundRect">
            <a:avLst>
              <a:gd name="adj" fmla="val 1321"/>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the war room, run each of the three read commands:</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 limit=5</a:t>
            </a:r>
            <a:endParaRPr lang="en-US" sz="1050" dirty="0"/>
          </a:p>
        </p:txBody>
      </p:sp>
      <p:sp>
        <p:nvSpPr>
          <p:cNvPr id="10" name="Text 8"/>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!koi-allowlist-get</a:t>
            </a:r>
            <a:endParaRPr lang="en-US" sz="1050" dirty="0"/>
          </a:p>
        </p:txBody>
      </p:sp>
      <p:sp>
        <p:nvSpPr>
          <p:cNvPr id="11" name="Text 9"/>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!koi-blocklist-get</a:t>
            </a:r>
            <a:endParaRPr lang="en-US" sz="1050" dirty="0"/>
          </a:p>
        </p:txBody>
      </p:sp>
      <p:sp>
        <p:nvSpPr>
          <p:cNvPr id="12" name="Text 10"/>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For each, open the context panel and check the prefix it wrote.</a:t>
            </a:r>
            <a:endParaRPr lang="en-US" sz="1150" dirty="0"/>
          </a:p>
        </p:txBody>
      </p:sp>
      <p:sp>
        <p:nvSpPr>
          <p:cNvPr id="14" name="Text 12"/>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Record the policy id and enabled state of one policy — test 8 needs it.</a:t>
            </a:r>
            <a:endParaRPr lang="en-US" sz="1150" dirty="0"/>
          </a:p>
        </p:txBody>
      </p:sp>
      <p:sp>
        <p:nvSpPr>
          <p:cNvPr id="16" name="Text 14"/>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Note: koi-allowlist-get and koi-blocklist-get take no arguments at all.</a:t>
            </a:r>
            <a:endParaRPr lang="en-US" sz="1150" dirty="0"/>
          </a:p>
        </p:txBody>
      </p:sp>
      <p:sp>
        <p:nvSpPr>
          <p:cNvPr id="18" name="Shape 16"/>
          <p:cNvSpPr/>
          <p:nvPr/>
        </p:nvSpPr>
        <p:spPr>
          <a:xfrm>
            <a:off x="7315200" y="1444752"/>
            <a:ext cx="4297680" cy="3461004"/>
          </a:xfrm>
          <a:prstGeom prst="roundRect">
            <a:avLst>
              <a:gd name="adj" fmla="val 1321"/>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koi-policy-list writes Koi.Policy.* (9 declared fields).</a:t>
            </a:r>
            <a:endParaRPr lang="en-US" sz="1150" dirty="0"/>
          </a:p>
        </p:txBody>
      </p:sp>
      <p:sp>
        <p:nvSpPr>
          <p:cNvPr id="22" name="Text 20"/>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5648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koi-allowlist-get writes Koi.Allowlist.* (9 fields).</a:t>
            </a:r>
            <a:endParaRPr lang="en-US" sz="1150" dirty="0"/>
          </a:p>
        </p:txBody>
      </p:sp>
      <p:sp>
        <p:nvSpPr>
          <p:cNvPr id="24" name="Text 22"/>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koi-blocklist-get writes Koi.Blocklist.* (9 fields).</a:t>
            </a:r>
            <a:endParaRPr lang="en-US" sz="1150" dirty="0"/>
          </a:p>
        </p:txBody>
      </p:sp>
      <p:sp>
        <p:nvSpPr>
          <p:cNvPr id="26" name="Text 24"/>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human-readable table for each, even when the list is empty.</a:t>
            </a:r>
            <a:endParaRPr lang="en-US" sz="1150" dirty="0"/>
          </a:p>
        </p:txBody>
      </p:sp>
      <p:sp>
        <p:nvSpPr>
          <p:cNvPr id="28" name="Text 26"/>
          <p:cNvSpPr/>
          <p:nvPr/>
        </p:nvSpPr>
        <p:spPr>
          <a:xfrm>
            <a:off x="7626096" y="41148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11480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command in this test changes anything in KOI.</a:t>
            </a:r>
            <a:endParaRPr lang="en-US" sz="1150" dirty="0"/>
          </a:p>
        </p:txBody>
      </p:sp>
      <p:sp>
        <p:nvSpPr>
          <p:cNvPr id="30" name="Shape 28"/>
          <p:cNvSpPr/>
          <p:nvPr/>
        </p:nvSpPr>
        <p:spPr>
          <a:xfrm>
            <a:off x="548640" y="5106924"/>
            <a:ext cx="11064240" cy="914400"/>
          </a:xfrm>
          <a:prstGeom prst="roundRect">
            <a:avLst>
              <a:gd name="adj" fmla="val 5000"/>
            </a:avLst>
          </a:prstGeom>
          <a:solidFill>
            <a:srgbClr val="1C2026"/>
          </a:solidFill>
          <a:ln w="12700">
            <a:solidFill>
              <a:srgbClr val="1C2026"/>
            </a:solidFill>
            <a:prstDash val="solid"/>
          </a:ln>
        </p:spPr>
      </p:sp>
      <p:sp>
        <p:nvSpPr>
          <p:cNvPr id="31" name="Shape 29"/>
          <p:cNvSpPr/>
          <p:nvPr/>
        </p:nvSpPr>
        <p:spPr>
          <a:xfrm>
            <a:off x="804672" y="5408676"/>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54086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5225796"/>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4" name="Text 32"/>
          <p:cNvSpPr/>
          <p:nvPr/>
        </p:nvSpPr>
        <p:spPr>
          <a:xfrm>
            <a:off x="1298448" y="5436108"/>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Empty allowlist and blocklist are NORMAL — on KOI_PAET both were empty; on KOI_PLTS they held 5 and 17 entries (VERIFIED_FACTS §7). Do not judge these two by a total: their API responses carry only an items array and no total_count field at all, unlike policies and inventory (VERIFIED_FACTS §5.4). A guide that tells you to read total_count here is telling you to read a field that never exists.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Read sweep — inventory, item, endpoints</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 a small page of inventory:</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Copy item_id, marketplace and version from one row.</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that item — all three arguments are required:</a:t>
            </a:r>
            <a:endParaRPr lang="en-US" sz="1150" dirty="0"/>
          </a:p>
        </p:txBody>
      </p:sp>
      <p:sp>
        <p:nvSpPr>
          <p:cNvPr id="14" name="Text 12"/>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!koi-inventory-item-get item_id=&lt;id&gt; marketplace=&lt;mp&gt; version=&lt;ver&gt;</a:t>
            </a:r>
            <a:endParaRPr lang="en-US" sz="1050" dirty="0"/>
          </a:p>
        </p:txBody>
      </p:sp>
      <p:sp>
        <p:nvSpPr>
          <p:cNvPr id="15" name="Text 13"/>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6" name="Text 14"/>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 the endpoints that have it installed:</a:t>
            </a:r>
            <a:endParaRPr lang="en-US" sz="1150" dirty="0"/>
          </a:p>
        </p:txBody>
      </p:sp>
      <p:sp>
        <p:nvSpPr>
          <p:cNvPr id="17" name="Text 15"/>
          <p:cNvSpPr/>
          <p:nvPr/>
        </p:nvSpPr>
        <p:spPr>
          <a:xfrm>
            <a:off x="1152144" y="4023360"/>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!koi-inventory-item-endpoints-list item_id=&lt;id&gt; marketplace=&lt;mp&gt; version=&lt;ver&gt; limit=5</a:t>
            </a:r>
            <a:endParaRPr lang="en-US" sz="1050" dirty="0"/>
          </a:p>
        </p:txBody>
      </p:sp>
      <p:sp>
        <p:nvSpPr>
          <p:cNvPr id="18" name="Text 16"/>
          <p:cNvSpPr/>
          <p:nvPr/>
        </p:nvSpPr>
        <p:spPr>
          <a:xfrm>
            <a:off x="859536" y="45399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narrow the list with a filter argument:</a:t>
            </a:r>
            <a:endParaRPr lang="en-US" sz="1150" dirty="0"/>
          </a:p>
        </p:txBody>
      </p:sp>
      <p:sp>
        <p:nvSpPr>
          <p:cNvPr id="20" name="Text 18"/>
          <p:cNvSpPr/>
          <p:nvPr/>
        </p:nvSpPr>
        <p:spPr>
          <a:xfrm>
            <a:off x="1152144" y="48691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risk_level=high limit=5</a:t>
            </a:r>
            <a:endParaRPr lang="en-US" sz="1050" dirty="0"/>
          </a:p>
        </p:txBody>
      </p:sp>
      <p:sp>
        <p:nvSpPr>
          <p:cNvPr id="21" name="Shape 19"/>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2" name="Text 20"/>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3" name="Text 21"/>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koi-inventory-list and koi-inventory-item-get both write Koi.Inventory.* — 27 declared fields each, identical paths.</a:t>
            </a:r>
            <a:endParaRPr lang="en-US" sz="1150" dirty="0"/>
          </a:p>
        </p:txBody>
      </p:sp>
      <p:sp>
        <p:nvSpPr>
          <p:cNvPr id="25" name="Text 23"/>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2752344"/>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koi-inventory-item-endpoints-list writes Koi.Inventory.Endpoint.* — 10 nested fields, no path in common with the other two.</a:t>
            </a:r>
            <a:endParaRPr lang="en-US" sz="1150" dirty="0"/>
          </a:p>
        </p:txBody>
      </p:sp>
      <p:sp>
        <p:nvSpPr>
          <p:cNvPr id="27" name="Text 25"/>
          <p:cNvSpPr/>
          <p:nvPr/>
        </p:nvSpPr>
        <p:spPr>
          <a:xfrm>
            <a:off x="7626096" y="34564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3456432"/>
            <a:ext cx="3383280" cy="822960"/>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Endpoints are reachable ONLY from an item. There is no device-centric command and no Koi.Device.* prefix — though koi-inventory-list does take device_id.</a:t>
            </a:r>
            <a:endParaRPr lang="en-US" sz="1150" dirty="0"/>
          </a:p>
        </p:txBody>
      </p:sp>
      <p:sp>
        <p:nvSpPr>
          <p:cNvPr id="29" name="Text 27"/>
          <p:cNvSpPr/>
          <p:nvPr/>
        </p:nvSpPr>
        <p:spPr>
          <a:xfrm>
            <a:off x="7626096" y="43479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4347972"/>
            <a:ext cx="3383280" cy="822960"/>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risk_level DROPDOWN offers low, medium, high, critical, pending — that is the YAML's list, not a measured API contract (test 7 shows one that was incomplete).</a:t>
            </a:r>
            <a:endParaRPr lang="en-US" sz="1150" dirty="0"/>
          </a:p>
        </p:txBody>
      </p:sp>
      <p:sp>
        <p:nvSpPr>
          <p:cNvPr id="31" name="Shape 29"/>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2" name="Shape 30"/>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3" name="Text 31"/>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5" name="Text 33"/>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Three commands collide on Koi.Inventory.*: koi-inventory-list, koi-inventory-item-get and koi-inventory-search (test 5). Running any two back to back overwrites context — read it after each one, not at the end. koi-inventory-item-endpoints-list is NOT one of them. An item that lists zero endpoints WOULD be a valid result — KOI knows the item but nothing in scope currently has it installed. That is a case to be ready for, not one seen here: the one item probed on each instance returned an endpoint. A wrong item_id / marketplace / version triple is an error, not an empty list.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Advanced search needs a structured filter</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the search with an explicit query-builder filter:</a:t>
            </a:r>
            <a:endParaRPr lang="en-US" sz="1150" dirty="0"/>
          </a:p>
        </p:txBody>
      </p:sp>
      <p:sp>
        <p:nvSpPr>
          <p:cNvPr id="9" name="Text 7"/>
          <p:cNvSpPr/>
          <p:nvPr/>
        </p:nvSpPr>
        <p:spPr>
          <a:xfrm>
            <a:off x="1152144" y="2377440"/>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!koi-inventory-search filter_json={"combinator":"and","rules":[{"field":"risk_level","operator":"=","value":"high"}]}</a:t>
            </a:r>
            <a:endParaRPr lang="en-US" sz="1050" dirty="0"/>
          </a:p>
        </p:txBody>
      </p:sp>
      <p:sp>
        <p:nvSpPr>
          <p:cNvPr id="10" name="Text 8"/>
          <p:cNvSpPr/>
          <p:nvPr/>
        </p:nvSpPr>
        <p:spPr>
          <a:xfrm>
            <a:off x="859536" y="28940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1152144" y="28940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Record its total_count, then run the nearest plain-argument form:</a:t>
            </a:r>
            <a:endParaRPr lang="en-US" sz="1150" dirty="0"/>
          </a:p>
        </p:txBody>
      </p:sp>
      <p:sp>
        <p:nvSpPr>
          <p:cNvPr id="12" name="Text 10"/>
          <p:cNvSpPr/>
          <p:nvPr/>
        </p:nvSpPr>
        <p:spPr>
          <a:xfrm>
            <a:off x="1152144" y="32232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risk_level=high limit=5</a:t>
            </a:r>
            <a:endParaRPr lang="en-US" sz="1050" dirty="0"/>
          </a:p>
        </p:txBody>
      </p:sp>
      <p:sp>
        <p:nvSpPr>
          <p:cNvPr id="13" name="Text 11"/>
          <p:cNvSpPr/>
          <p:nvPr/>
        </p:nvSpPr>
        <p:spPr>
          <a:xfrm>
            <a:off x="859536" y="35524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1152144" y="35524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with NO filter argument, then again with a malformed one:</a:t>
            </a:r>
            <a:endParaRPr lang="en-US" sz="1150" dirty="0"/>
          </a:p>
        </p:txBody>
      </p:sp>
      <p:sp>
        <p:nvSpPr>
          <p:cNvPr id="15" name="Text 13"/>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!koi-inventory-search</a:t>
            </a:r>
            <a:endParaRPr lang="en-US" sz="1050" dirty="0"/>
          </a:p>
        </p:txBody>
      </p:sp>
      <p:sp>
        <p:nvSpPr>
          <p:cNvPr id="16" name="Text 14"/>
          <p:cNvSpPr/>
          <p:nvPr/>
        </p:nvSpPr>
        <p:spPr>
          <a:xfrm>
            <a:off x="1152144" y="42108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!koi-inventory-search filter_json={}</a:t>
            </a:r>
            <a:endParaRPr lang="en-US" sz="1050" dirty="0"/>
          </a:p>
        </p:txBody>
      </p:sp>
      <p:sp>
        <p:nvSpPr>
          <p:cNvPr id="17" name="Text 15"/>
          <p:cNvSpPr/>
          <p:nvPr/>
        </p:nvSpPr>
        <p:spPr>
          <a:xfrm>
            <a:off x="859536" y="45399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supply the filter as a war-room JSON file instead:</a:t>
            </a:r>
            <a:endParaRPr lang="en-US" sz="1150" dirty="0"/>
          </a:p>
        </p:txBody>
      </p:sp>
      <p:sp>
        <p:nvSpPr>
          <p:cNvPr id="19" name="Text 17"/>
          <p:cNvSpPr/>
          <p:nvPr/>
        </p:nvSpPr>
        <p:spPr>
          <a:xfrm>
            <a:off x="1152144" y="48691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!koi-inventory-search filter_raw_json_entry_id=&lt;entry id&gt;</a:t>
            </a:r>
            <a:endParaRPr lang="en-US" sz="1050" dirty="0"/>
          </a:p>
        </p:txBody>
      </p:sp>
      <p:sp>
        <p:nvSpPr>
          <p:cNvPr id="20" name="Shape 18"/>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1" name="Text 19"/>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2" name="Text 20"/>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filtered search writes Koi.Inventory.* (27 fields).</a:t>
            </a:r>
            <a:endParaRPr lang="en-US" sz="1150" dirty="0"/>
          </a:p>
        </p:txBody>
      </p:sp>
      <p:sp>
        <p:nvSpPr>
          <p:cNvPr id="24" name="Text 22"/>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5648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return a count. Whether they agree was never measured — record both, assert nothing.</a:t>
            </a:r>
            <a:endParaRPr lang="en-US" sz="1150" dirty="0"/>
          </a:p>
        </p:txBody>
      </p:sp>
      <p:sp>
        <p:nvSpPr>
          <p:cNvPr id="26" name="Text 24"/>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081528"/>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filter argument: the INTEGRATION refuses before any API call — "Either 'filter_json' or 'filter_raw_json_entry_id' must be provided."</a:t>
            </a:r>
            <a:endParaRPr lang="en-US" sz="1150" dirty="0"/>
          </a:p>
        </p:txBody>
      </p:sp>
      <p:sp>
        <p:nvSpPr>
          <p:cNvPr id="28" name="Text 26"/>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7856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filter_json={}: HTTP 400, and the body names the bad keys (filter.combinator, filter.rules).</a:t>
            </a:r>
            <a:endParaRPr lang="en-US" sz="1150" dirty="0"/>
          </a:p>
        </p:txBody>
      </p:sp>
      <p:sp>
        <p:nvSpPr>
          <p:cNvPr id="30" name="Text 28"/>
          <p:cNvSpPr/>
          <p:nvPr/>
        </p:nvSpPr>
        <p:spPr>
          <a:xfrm>
            <a:off x="7626096" y="43022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302252"/>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YAML documents filter_raw_json_entry_id as taking priority over filter_json — never exercised; verify it.</a:t>
            </a:r>
            <a:endParaRPr lang="en-US" sz="1150" dirty="0"/>
          </a:p>
        </p:txBody>
      </p:sp>
      <p:sp>
        <p:nvSpPr>
          <p:cNvPr id="32" name="Shape 30"/>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3" name="Shape 31"/>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6" name="Text 34"/>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Three distinct failures — do not conflate them (VERIFIED_FACTS §5.3). No filter argument: the integration stops it, no API call happens — that one is read from Koi.py, not reproduced. Malformed filter: HTTP 400 whose body names the problem ("filter.combinator must be one of the following values: and, or", "filter.rules must be an array") — observed on both instances, not bare or unexplained. HTTP 500 is reachable only by calling the API directly with the filter key omitted, never through the command. Zero results from a valid filter is a correct answer.</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koi-get-events — debugging only, push disabled</a:t>
            </a:r>
            <a:endParaRPr lang="en-US" sz="3100" dirty="0"/>
          </a:p>
        </p:txBody>
      </p:sp>
      <p:sp>
        <p:nvSpPr>
          <p:cNvPr id="5" name="Shape 3"/>
          <p:cNvSpPr/>
          <p:nvPr/>
        </p:nvSpPr>
        <p:spPr>
          <a:xfrm>
            <a:off x="548640" y="1444752"/>
            <a:ext cx="6400800" cy="3040380"/>
          </a:xfrm>
          <a:prstGeom prst="roundRect">
            <a:avLst>
              <a:gd name="adj" fmla="val 1504"/>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with a small limit and pushing explicitly off:</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!koi-get-events limit=5 should_push_events=false</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returned table and the context it writes.</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scope it to one type and a time window:</a:t>
            </a:r>
            <a:endParaRPr lang="en-US" sz="1150" dirty="0"/>
          </a:p>
        </p:txBody>
      </p:sp>
      <p:sp>
        <p:nvSpPr>
          <p:cNvPr id="14" name="Text 12"/>
          <p:cNvSpPr/>
          <p:nvPr/>
        </p:nvSpPr>
        <p:spPr>
          <a:xfrm>
            <a:off x="1152144" y="3364992"/>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!koi-get-events event_type=Alerts start_time="3 days ago" should_push_events=false</a:t>
            </a:r>
            <a:endParaRPr lang="en-US" sz="1050" dirty="0"/>
          </a:p>
        </p:txBody>
      </p:sp>
      <p:sp>
        <p:nvSpPr>
          <p:cNvPr id="15" name="Text 13"/>
          <p:cNvSpPr/>
          <p:nvPr/>
        </p:nvSpPr>
        <p:spPr>
          <a:xfrm>
            <a:off x="859536" y="38816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6" name="Text 14"/>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leave should_push_events=true in any repeated or scheduled use.</a:t>
            </a:r>
            <a:endParaRPr lang="en-US" sz="1150" dirty="0"/>
          </a:p>
        </p:txBody>
      </p:sp>
      <p:sp>
        <p:nvSpPr>
          <p:cNvPr id="17" name="Shape 15"/>
          <p:cNvSpPr/>
          <p:nvPr/>
        </p:nvSpPr>
        <p:spPr>
          <a:xfrm>
            <a:off x="7315200" y="1444752"/>
            <a:ext cx="4297680" cy="3040380"/>
          </a:xfrm>
          <a:prstGeom prst="roundRect">
            <a:avLst>
              <a:gd name="adj" fmla="val 1504"/>
            </a:avLst>
          </a:prstGeom>
          <a:solidFill>
            <a:srgbClr val="1C2026"/>
          </a:solidFill>
          <a:ln w="12700">
            <a:solidFill>
              <a:srgbClr val="1C2026"/>
            </a:solidFill>
            <a:prstDash val="solid"/>
          </a:ln>
        </p:spPr>
      </p:sp>
      <p:sp>
        <p:nvSpPr>
          <p:cNvPr id="18" name="Text 16"/>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19" name="Text 17"/>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0" name="Text 18"/>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Writes KOI.Event.* — note the upper-case prefix, it differs from every other command.</a:t>
            </a:r>
            <a:endParaRPr lang="en-US" sz="1150" dirty="0"/>
          </a:p>
        </p:txBody>
      </p:sp>
      <p:sp>
        <p:nvSpPr>
          <p:cNvPr id="21" name="Text 19"/>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7918704" y="25648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event_type accepts Alerts and Audit; the default is Alerts,Audit.</a:t>
            </a:r>
            <a:endParaRPr lang="en-US" sz="1150" dirty="0"/>
          </a:p>
        </p:txBody>
      </p:sp>
      <p:sp>
        <p:nvSpPr>
          <p:cNvPr id="23" name="Text 21"/>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should_push_events defaults to false, which is what you want here.</a:t>
            </a:r>
            <a:endParaRPr lang="en-US" sz="1150" dirty="0"/>
          </a:p>
        </p:txBody>
      </p:sp>
      <p:sp>
        <p:nvSpPr>
          <p:cNvPr id="25" name="Text 23"/>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Events appear in the war room without being written to the dataset.</a:t>
            </a:r>
            <a:endParaRPr lang="en-US" sz="1150" dirty="0"/>
          </a:p>
        </p:txBody>
      </p:sp>
      <p:sp>
        <p:nvSpPr>
          <p:cNvPr id="27" name="Shape 25"/>
          <p:cNvSpPr/>
          <p:nvPr/>
        </p:nvSpPr>
        <p:spPr>
          <a:xfrm>
            <a:off x="548640" y="4686300"/>
            <a:ext cx="11064240" cy="914400"/>
          </a:xfrm>
          <a:prstGeom prst="roundRect">
            <a:avLst>
              <a:gd name="adj" fmla="val 5000"/>
            </a:avLst>
          </a:prstGeom>
          <a:solidFill>
            <a:srgbClr val="1C2026"/>
          </a:solidFill>
          <a:ln w="12700">
            <a:solidFill>
              <a:srgbClr val="1C2026"/>
            </a:solidFill>
            <a:prstDash val="solid"/>
          </a:ln>
        </p:spPr>
      </p:sp>
      <p:sp>
        <p:nvSpPr>
          <p:cNvPr id="28" name="Shape 26"/>
          <p:cNvSpPr/>
          <p:nvPr/>
        </p:nvSpPr>
        <p:spPr>
          <a:xfrm>
            <a:off x="804672" y="4988052"/>
            <a:ext cx="310896" cy="310896"/>
          </a:xfrm>
          <a:prstGeom prst="roundRect">
            <a:avLst>
              <a:gd name="adj" fmla="val 26471"/>
            </a:avLst>
          </a:prstGeom>
          <a:solidFill>
            <a:srgbClr val="F5A524"/>
          </a:solidFill>
          <a:ln w="12700">
            <a:solidFill>
              <a:srgbClr val="F5A524"/>
            </a:solidFill>
            <a:prstDash val="solid"/>
          </a:ln>
        </p:spPr>
      </p:sp>
      <p:sp>
        <p:nvSpPr>
          <p:cNvPr id="29" name="Text 27"/>
          <p:cNvSpPr/>
          <p:nvPr/>
        </p:nvSpPr>
        <p:spPr>
          <a:xfrm>
            <a:off x="804672" y="49880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0" name="Text 28"/>
          <p:cNvSpPr/>
          <p:nvPr/>
        </p:nvSpPr>
        <p:spPr>
          <a:xfrm>
            <a:off x="1298448" y="4805172"/>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1" name="Text 29"/>
          <p:cNvSpPr/>
          <p:nvPr/>
        </p:nvSpPr>
        <p:spPr>
          <a:xfrm>
            <a:off x="1298448" y="5015484"/>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The pack's own description calls this command development-and-debugging only: it may produce duplicate events, exceed API rate limits, or disrupt the fetch mechanism. So unlike tests 3, 4, 5 and 7 it is NOT safe to repeat freely — run it once, deliberately, with should_push_events=false; setting it true writes events into koi_koi_raw. Use it to prove the API returns events — never as a substitute for the collector in test 9. Returning no events for a narrow window on a quiet tenant is correct.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  ·  KNOWN DEFECT</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mcp_servers view works but is not in the dropdown</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view argument's dropdown on koi-inventory-list.</a:t>
            </a:r>
            <a:endParaRPr lang="en-US" sz="1150" dirty="0"/>
          </a:p>
        </p:txBody>
      </p:sp>
      <p:sp>
        <p:nvSpPr>
          <p:cNvPr id="9" name="Text 7"/>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 the offered values — there are 6:</a:t>
            </a:r>
            <a:endParaRPr lang="en-US" sz="1150" dirty="0"/>
          </a:p>
        </p:txBody>
      </p:sp>
      <p:sp>
        <p:nvSpPr>
          <p:cNvPr id="11" name="Text 9"/>
          <p:cNvSpPr/>
          <p:nvPr/>
        </p:nvSpPr>
        <p:spPr>
          <a:xfrm>
            <a:off x="1152144" y="2706624"/>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agentic_ai, ai_models, code_packages, extensions, os_packages, software</a:t>
            </a:r>
            <a:endParaRPr lang="en-US" sz="1050" dirty="0"/>
          </a:p>
        </p:txBody>
      </p:sp>
      <p:sp>
        <p:nvSpPr>
          <p:cNvPr id="12" name="Text 10"/>
          <p:cNvSpPr/>
          <p:nvPr/>
        </p:nvSpPr>
        <p:spPr>
          <a:xfrm>
            <a:off x="859536" y="32232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152144" y="32232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Now type the value by hand instead of picking it:</a:t>
            </a:r>
            <a:endParaRPr lang="en-US" sz="1150" dirty="0"/>
          </a:p>
        </p:txBody>
      </p:sp>
      <p:sp>
        <p:nvSpPr>
          <p:cNvPr id="14" name="Text 12"/>
          <p:cNvSpPr/>
          <p:nvPr/>
        </p:nvSpPr>
        <p:spPr>
          <a:xfrm>
            <a:off x="1152144" y="35524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view=mcp_servers limit=5</a:t>
            </a:r>
            <a:endParaRPr lang="en-US" sz="1050" dirty="0"/>
          </a:p>
        </p:txBody>
      </p:sp>
      <p:sp>
        <p:nvSpPr>
          <p:cNvPr id="15" name="Text 13"/>
          <p:cNvSpPr/>
          <p:nvPr/>
        </p:nvSpPr>
        <p:spPr>
          <a:xfrm>
            <a:off x="859536" y="38816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6" name="Text 14"/>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for the other two values the dropdown omits:</a:t>
            </a:r>
            <a:endParaRPr lang="en-US" sz="1150" dirty="0"/>
          </a:p>
        </p:txBody>
      </p:sp>
      <p:sp>
        <p:nvSpPr>
          <p:cNvPr id="17" name="Text 15"/>
          <p:cNvSpPr/>
          <p:nvPr/>
        </p:nvSpPr>
        <p:spPr>
          <a:xfrm>
            <a:off x="1152144" y="42108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view=all_items   view=repositories</a:t>
            </a:r>
            <a:endParaRPr lang="en-US" sz="1050" dirty="0"/>
          </a:p>
        </p:txBody>
      </p:sp>
      <p:sp>
        <p:nvSpPr>
          <p:cNvPr id="18" name="Text 16"/>
          <p:cNvSpPr/>
          <p:nvPr/>
        </p:nvSpPr>
        <p:spPr>
          <a:xfrm>
            <a:off x="859536" y="45399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Finally, confirm the shipped example value is broken:</a:t>
            </a:r>
            <a:endParaRPr lang="en-US" sz="1150" dirty="0"/>
          </a:p>
        </p:txBody>
      </p:sp>
      <p:sp>
        <p:nvSpPr>
          <p:cNvPr id="20" name="Text 18"/>
          <p:cNvSpPr/>
          <p:nvPr/>
        </p:nvSpPr>
        <p:spPr>
          <a:xfrm>
            <a:off x="1152144" y="48691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view=browser_extensions</a:t>
            </a:r>
            <a:endParaRPr lang="en-US" sz="1050" dirty="0"/>
          </a:p>
        </p:txBody>
      </p:sp>
      <p:sp>
        <p:nvSpPr>
          <p:cNvPr id="21" name="Shape 19"/>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2" name="Text 20"/>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3" name="Text 21"/>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dropdown offers 6 values; the API accepts 9.</a:t>
            </a:r>
            <a:endParaRPr lang="en-US" sz="1150" dirty="0"/>
          </a:p>
        </p:txBody>
      </p:sp>
      <p:sp>
        <p:nvSpPr>
          <p:cNvPr id="25" name="Text 23"/>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25648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Missing from the dropdown but accepted: all_items, mcp_servers, repositories.</a:t>
            </a:r>
            <a:endParaRPr lang="en-US" sz="1150" dirty="0"/>
          </a:p>
        </p:txBody>
      </p:sp>
      <p:sp>
        <p:nvSpPr>
          <p:cNvPr id="27" name="Text 25"/>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3081528"/>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All 12 were probed on BOTH instances (§5.1): mcp_servers and repositories return 200 and a non-zero count.</a:t>
            </a:r>
            <a:endParaRPr lang="en-US" sz="1150" dirty="0"/>
          </a:p>
        </p:txBody>
      </p:sp>
      <p:sp>
        <p:nvSpPr>
          <p:cNvPr id="29" name="Text 27"/>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78561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all_items is ACCEPTED (200) but returned total_count 0 on BOTH tenants — a zero, not a rejection.</a:t>
            </a:r>
            <a:endParaRPr lang="en-US" sz="1150" dirty="0"/>
          </a:p>
        </p:txBody>
      </p:sp>
      <p:sp>
        <p:nvSpPr>
          <p:cNvPr id="31" name="Text 29"/>
          <p:cNvSpPr/>
          <p:nvPr/>
        </p:nvSpPr>
        <p:spPr>
          <a:xfrm>
            <a:off x="7626096" y="44897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4489704"/>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browser_extensions returns 400, as do ide_extensions and packages — all three are in neither list.</a:t>
            </a:r>
            <a:endParaRPr lang="en-US" sz="1150" dirty="0"/>
          </a:p>
        </p:txBody>
      </p:sp>
      <p:sp>
        <p:nvSpPr>
          <p:cNvPr id="33" name="Shape 31"/>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4" name="Shape 32"/>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5" name="Text 33"/>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7" name="Text 35"/>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Both halves of this test are expected results, not failures. The YAML's predefined list is incomplete, not wrong: nothing it offers is invalid. An empty result for view=mcp_servers means your estate has no MCP servers in scope; view=all_items returned zero rows on both tenants probed even though the API accepted it, so prefer omitting view entirely — that returned the whole inventory: 3,447 on KOI_PAET, 5,644 then 5,646 hours later on KOI_PLTS. Only KOI_PLTS moved between the two sweeps; name the instance whenever you quote a count, and read either as scale, never as a target (§5.1, §7). Only a 400 — a rejected value — is a failure.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  ·  STATE-CHANGING</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five commands that write to KOI — controlled protocol</a:t>
            </a:r>
            <a:endParaRPr lang="en-US" sz="3100" dirty="0"/>
          </a:p>
        </p:txBody>
      </p:sp>
      <p:sp>
        <p:nvSpPr>
          <p:cNvPr id="5" name="Text 3"/>
          <p:cNvSpPr/>
          <p:nvPr/>
        </p:nvSpPr>
        <p:spPr>
          <a:xfrm>
            <a:off x="548640" y="1243584"/>
            <a:ext cx="10607040" cy="53035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fire these blind. Each one changes governance state in KOI, not in Cortex, so an undo is your responsibility. Four of them declare no outputs at all, which means the war-room message is your only record of what happened.</a:t>
            </a:r>
            <a:endParaRPr lang="en-US" sz="1150" dirty="0"/>
          </a:p>
        </p:txBody>
      </p:sp>
      <p:sp>
        <p:nvSpPr>
          <p:cNvPr id="6" name="Shape 4"/>
          <p:cNvSpPr/>
          <p:nvPr/>
        </p:nvSpPr>
        <p:spPr>
          <a:xfrm>
            <a:off x="548640" y="1755648"/>
            <a:ext cx="4892040" cy="3246120"/>
          </a:xfrm>
          <a:prstGeom prst="roundRect">
            <a:avLst>
              <a:gd name="adj" fmla="val 1408"/>
            </a:avLst>
          </a:prstGeom>
          <a:solidFill>
            <a:srgbClr val="1C2026"/>
          </a:solidFill>
          <a:ln w="12700">
            <a:solidFill>
              <a:srgbClr val="1C2026"/>
            </a:solidFill>
            <a:prstDash val="solid"/>
          </a:ln>
        </p:spPr>
      </p:sp>
      <p:sp>
        <p:nvSpPr>
          <p:cNvPr id="7" name="Text 5"/>
          <p:cNvSpPr/>
          <p:nvPr/>
        </p:nvSpPr>
        <p:spPr>
          <a:xfrm>
            <a:off x="822960" y="1920240"/>
            <a:ext cx="4343400" cy="237744"/>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The five, from the pack JSON</a:t>
            </a:r>
            <a:endParaRPr lang="en-US" sz="1150" dirty="0"/>
          </a:p>
        </p:txBody>
      </p:sp>
      <p:sp>
        <p:nvSpPr>
          <p:cNvPr id="8" name="Text 6"/>
          <p:cNvSpPr/>
          <p:nvPr/>
        </p:nvSpPr>
        <p:spPr>
          <a:xfrm>
            <a:off x="822960" y="2249424"/>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koi-policy-status-update</a:t>
            </a:r>
            <a:endParaRPr lang="en-US" sz="1000" dirty="0"/>
          </a:p>
        </p:txBody>
      </p:sp>
      <p:sp>
        <p:nvSpPr>
          <p:cNvPr id="9" name="Text 7"/>
          <p:cNvSpPr/>
          <p:nvPr/>
        </p:nvSpPr>
        <p:spPr>
          <a:xfrm>
            <a:off x="4069080" y="2249424"/>
            <a:ext cx="1280160" cy="237744"/>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9 outputs</a:t>
            </a:r>
            <a:endParaRPr lang="en-US" sz="950" dirty="0"/>
          </a:p>
        </p:txBody>
      </p:sp>
      <p:sp>
        <p:nvSpPr>
          <p:cNvPr id="10" name="Text 8"/>
          <p:cNvSpPr/>
          <p:nvPr/>
        </p:nvSpPr>
        <p:spPr>
          <a:xfrm>
            <a:off x="822960" y="2596896"/>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koi-allowlist-items-add</a:t>
            </a:r>
            <a:endParaRPr lang="en-US" sz="1000" dirty="0"/>
          </a:p>
        </p:txBody>
      </p:sp>
      <p:sp>
        <p:nvSpPr>
          <p:cNvPr id="11" name="Text 9"/>
          <p:cNvSpPr/>
          <p:nvPr/>
        </p:nvSpPr>
        <p:spPr>
          <a:xfrm>
            <a:off x="4069080" y="2596896"/>
            <a:ext cx="1280160" cy="237744"/>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0 outputs</a:t>
            </a:r>
            <a:endParaRPr lang="en-US" sz="950" dirty="0"/>
          </a:p>
        </p:txBody>
      </p:sp>
      <p:sp>
        <p:nvSpPr>
          <p:cNvPr id="12" name="Text 10"/>
          <p:cNvSpPr/>
          <p:nvPr/>
        </p:nvSpPr>
        <p:spPr>
          <a:xfrm>
            <a:off x="822960" y="2944368"/>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koi-allowlist-items-remove</a:t>
            </a:r>
            <a:endParaRPr lang="en-US" sz="1000" dirty="0"/>
          </a:p>
        </p:txBody>
      </p:sp>
      <p:sp>
        <p:nvSpPr>
          <p:cNvPr id="13" name="Text 11"/>
          <p:cNvSpPr/>
          <p:nvPr/>
        </p:nvSpPr>
        <p:spPr>
          <a:xfrm>
            <a:off x="4069080" y="2944368"/>
            <a:ext cx="1280160" cy="237744"/>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execution · 0 outputs</a:t>
            </a:r>
            <a:endParaRPr lang="en-US" sz="950" dirty="0"/>
          </a:p>
        </p:txBody>
      </p:sp>
      <p:sp>
        <p:nvSpPr>
          <p:cNvPr id="14" name="Text 12"/>
          <p:cNvSpPr/>
          <p:nvPr/>
        </p:nvSpPr>
        <p:spPr>
          <a:xfrm>
            <a:off x="822960" y="3291840"/>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koi-blocklist-items-add</a:t>
            </a:r>
            <a:endParaRPr lang="en-US" sz="1000" dirty="0"/>
          </a:p>
        </p:txBody>
      </p:sp>
      <p:sp>
        <p:nvSpPr>
          <p:cNvPr id="15" name="Text 13"/>
          <p:cNvSpPr/>
          <p:nvPr/>
        </p:nvSpPr>
        <p:spPr>
          <a:xfrm>
            <a:off x="4069080" y="3291840"/>
            <a:ext cx="1280160" cy="237744"/>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0 outputs</a:t>
            </a:r>
            <a:endParaRPr lang="en-US" sz="950" dirty="0"/>
          </a:p>
        </p:txBody>
      </p:sp>
      <p:sp>
        <p:nvSpPr>
          <p:cNvPr id="16" name="Text 14"/>
          <p:cNvSpPr/>
          <p:nvPr/>
        </p:nvSpPr>
        <p:spPr>
          <a:xfrm>
            <a:off x="822960" y="3639312"/>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koi-blocklist-items-remove</a:t>
            </a:r>
            <a:endParaRPr lang="en-US" sz="1000" dirty="0"/>
          </a:p>
        </p:txBody>
      </p:sp>
      <p:sp>
        <p:nvSpPr>
          <p:cNvPr id="17" name="Text 15"/>
          <p:cNvSpPr/>
          <p:nvPr/>
        </p:nvSpPr>
        <p:spPr>
          <a:xfrm>
            <a:off x="4069080" y="3639312"/>
            <a:ext cx="1280160" cy="237744"/>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execution · 0 outputs</a:t>
            </a:r>
            <a:endParaRPr lang="en-US" sz="950" dirty="0"/>
          </a:p>
        </p:txBody>
      </p:sp>
      <p:sp>
        <p:nvSpPr>
          <p:cNvPr id="18" name="Text 16"/>
          <p:cNvSpPr/>
          <p:nvPr/>
        </p:nvSpPr>
        <p:spPr>
          <a:xfrm>
            <a:off x="822960" y="3986784"/>
            <a:ext cx="434340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19" name="Text 17"/>
          <p:cNvSpPr/>
          <p:nvPr/>
        </p:nvSpPr>
        <p:spPr>
          <a:xfrm>
            <a:off x="822960" y="4224528"/>
            <a:ext cx="4343400" cy="731520"/>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The four add/remove commands declare zero outputs, so success is a war-room message and nothing else — an empty context is CORRECT. The only proof either way is a follow-up -get. Note too that only the two removes carry execution: true — the two adds and the policy toggle mutate governance state with no flag at all, so "not flagged" is not "safe".</a:t>
            </a:r>
            <a:endParaRPr lang="en-US" sz="950" dirty="0"/>
          </a:p>
        </p:txBody>
      </p:sp>
      <p:sp>
        <p:nvSpPr>
          <p:cNvPr id="20" name="Shape 18"/>
          <p:cNvSpPr/>
          <p:nvPr/>
        </p:nvSpPr>
        <p:spPr>
          <a:xfrm>
            <a:off x="5806440" y="1755648"/>
            <a:ext cx="5806440" cy="3246120"/>
          </a:xfrm>
          <a:prstGeom prst="roundRect">
            <a:avLst>
              <a:gd name="adj" fmla="val 1408"/>
            </a:avLst>
          </a:prstGeom>
          <a:solidFill>
            <a:srgbClr val="15171B"/>
          </a:solidFill>
          <a:ln w="12700">
            <a:solidFill>
              <a:srgbClr val="15171B"/>
            </a:solidFill>
            <a:prstDash val="solid"/>
          </a:ln>
        </p:spPr>
      </p:sp>
      <p:sp>
        <p:nvSpPr>
          <p:cNvPr id="21" name="Text 19"/>
          <p:cNvSpPr/>
          <p:nvPr/>
        </p:nvSpPr>
        <p:spPr>
          <a:xfrm>
            <a:off x="6080760" y="1920240"/>
            <a:ext cx="5257800" cy="237744"/>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Protocol — record, change, verify, reverse  ·  BLOCKLIST pair only</a:t>
            </a:r>
            <a:endParaRPr lang="en-US" sz="1150" dirty="0"/>
          </a:p>
        </p:txBody>
      </p:sp>
      <p:sp>
        <p:nvSpPr>
          <p:cNvPr id="22" name="Text 20"/>
          <p:cNvSpPr/>
          <p:nvPr/>
        </p:nvSpPr>
        <p:spPr>
          <a:xfrm>
            <a:off x="6080760" y="22494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3" name="Text 21"/>
          <p:cNvSpPr/>
          <p:nvPr/>
        </p:nvSpPr>
        <p:spPr>
          <a:xfrm>
            <a:off x="6373368" y="2249424"/>
            <a:ext cx="4965192"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Pick a DISPOSABLE test item you are willing to have on a governance list.</a:t>
            </a:r>
            <a:endParaRPr lang="en-US" sz="1150" dirty="0"/>
          </a:p>
        </p:txBody>
      </p:sp>
      <p:sp>
        <p:nvSpPr>
          <p:cNvPr id="24" name="Text 22"/>
          <p:cNvSpPr/>
          <p:nvPr/>
        </p:nvSpPr>
        <p:spPr>
          <a:xfrm>
            <a:off x="6080760" y="27660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5" name="Text 23"/>
          <p:cNvSpPr/>
          <p:nvPr/>
        </p:nvSpPr>
        <p:spPr>
          <a:xfrm>
            <a:off x="6373368" y="2766060"/>
            <a:ext cx="4965192"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Record the before state — run koi-blocklist-get and export the result.</a:t>
            </a:r>
            <a:endParaRPr lang="en-US" sz="1150" dirty="0"/>
          </a:p>
        </p:txBody>
      </p:sp>
      <p:sp>
        <p:nvSpPr>
          <p:cNvPr id="26" name="Text 24"/>
          <p:cNvSpPr/>
          <p:nvPr/>
        </p:nvSpPr>
        <p:spPr>
          <a:xfrm>
            <a:off x="6373368" y="3095244"/>
            <a:ext cx="4965192"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!koi-blocklist-items-add item_id=&lt;id&gt; marketplace=&lt;mp&gt; notes="test"</a:t>
            </a:r>
            <a:endParaRPr lang="en-US" sz="1050" dirty="0"/>
          </a:p>
        </p:txBody>
      </p:sp>
      <p:sp>
        <p:nvSpPr>
          <p:cNvPr id="27" name="Text 25"/>
          <p:cNvSpPr/>
          <p:nvPr/>
        </p:nvSpPr>
        <p:spPr>
          <a:xfrm>
            <a:off x="6080760" y="36118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8" name="Text 26"/>
          <p:cNvSpPr/>
          <p:nvPr/>
        </p:nvSpPr>
        <p:spPr>
          <a:xfrm>
            <a:off x="6373368" y="3611880"/>
            <a:ext cx="4965192"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koi-blocklist-get: the item now appears.</a:t>
            </a:r>
            <a:endParaRPr lang="en-US" sz="1150" dirty="0"/>
          </a:p>
        </p:txBody>
      </p:sp>
      <p:sp>
        <p:nvSpPr>
          <p:cNvPr id="29" name="Text 27"/>
          <p:cNvSpPr/>
          <p:nvPr/>
        </p:nvSpPr>
        <p:spPr>
          <a:xfrm>
            <a:off x="6373368" y="3941064"/>
            <a:ext cx="4965192"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!koi-blocklist-items-remove item_id=&lt;id&gt; marketplace=&lt;mp&gt;</a:t>
            </a:r>
            <a:endParaRPr lang="en-US" sz="1050" dirty="0"/>
          </a:p>
        </p:txBody>
      </p:sp>
      <p:sp>
        <p:nvSpPr>
          <p:cNvPr id="30" name="Text 28"/>
          <p:cNvSpPr/>
          <p:nvPr/>
        </p:nvSpPr>
        <p:spPr>
          <a:xfrm>
            <a:off x="6080760" y="427024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31" name="Text 29"/>
          <p:cNvSpPr/>
          <p:nvPr/>
        </p:nvSpPr>
        <p:spPr>
          <a:xfrm>
            <a:off x="6373368" y="4270248"/>
            <a:ext cx="4965192"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koi-blocklist-get a third time — it matches the before state.</a:t>
            </a:r>
            <a:endParaRPr lang="en-US" sz="1150" dirty="0"/>
          </a:p>
        </p:txBody>
      </p:sp>
      <p:sp>
        <p:nvSpPr>
          <p:cNvPr id="32" name="Shape 30"/>
          <p:cNvSpPr/>
          <p:nvPr/>
        </p:nvSpPr>
        <p:spPr>
          <a:xfrm>
            <a:off x="548640" y="5093208"/>
            <a:ext cx="11064240" cy="1207008"/>
          </a:xfrm>
          <a:prstGeom prst="roundRect">
            <a:avLst>
              <a:gd name="adj" fmla="val 3788"/>
            </a:avLst>
          </a:prstGeom>
          <a:solidFill>
            <a:srgbClr val="1C2026"/>
          </a:solidFill>
          <a:ln w="12700">
            <a:solidFill>
              <a:srgbClr val="1C2026"/>
            </a:solidFill>
            <a:prstDash val="solid"/>
          </a:ln>
        </p:spPr>
      </p:sp>
      <p:sp>
        <p:nvSpPr>
          <p:cNvPr id="33" name="Text 31"/>
          <p:cNvSpPr/>
          <p:nvPr/>
        </p:nvSpPr>
        <p:spPr>
          <a:xfrm>
            <a:off x="822960" y="5221224"/>
            <a:ext cx="10515600" cy="237744"/>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koi-policy-status-update — the same discipline, plus one difference</a:t>
            </a:r>
            <a:endParaRPr lang="en-US" sz="1100" dirty="0"/>
          </a:p>
        </p:txBody>
      </p:sp>
      <p:sp>
        <p:nvSpPr>
          <p:cNvPr id="34" name="Text 32"/>
          <p:cNvSpPr/>
          <p:nvPr/>
        </p:nvSpPr>
        <p:spPr>
          <a:xfrm>
            <a:off x="822960" y="5477256"/>
            <a:ext cx="10515600" cy="749808"/>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Both arguments are required (policy_id, enabled; enabled accepts true / false). Unlike the four list writes it DOES return context — 9 fields under Koi.Policy.*, the same paths koi-policy-list writes, so the toggle overwrites the list you captured in test 3. Take a policy's enabled value from test 3, flip it, verify with koi-policy-list, then flip it back and verify again. Never toggle a policy that is actively enforcing on a production estate. None of these five commands was run while preparing this guide (VERIFIED_FACTS §1.1) — treat this slide as a protocol to follow, not as observed behaviour, and do not assume a repeated add or a redundant remove is a harmless no-op until you have seen it.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 lands in koi_koi_raw</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Fetch events is enabled and save — XSIAM / platform only.</a:t>
            </a:r>
            <a:endParaRPr lang="en-US" sz="1150" dirty="0"/>
          </a:p>
        </p:txBody>
      </p:sp>
      <p:sp>
        <p:nvSpPr>
          <p:cNvPr id="9" name="Text 7"/>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at least two fetch cycles (default interval: 1 minute).</a:t>
            </a:r>
            <a:endParaRPr lang="en-US" sz="1150" dirty="0"/>
          </a:p>
        </p:txBody>
      </p:sp>
      <p:sp>
        <p:nvSpPr>
          <p:cNvPr id="11" name="Text 9"/>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2" name="Text 10"/>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the count query in XQL:</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4" name="Text 12"/>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events by source_log_type</a:t>
            </a:r>
            <a:endParaRPr lang="en-US" sz="1050" dirty="0"/>
          </a:p>
        </p:txBody>
      </p:sp>
      <p:sp>
        <p:nvSpPr>
          <p:cNvPr id="15" name="Text 13"/>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6" name="Text 14"/>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Note the numbers, wait one more cycle, and run it again.</a:t>
            </a:r>
            <a:endParaRPr lang="en-US" sz="1150" dirty="0"/>
          </a:p>
        </p:txBody>
      </p:sp>
      <p:sp>
        <p:nvSpPr>
          <p:cNvPr id="17" name="Text 15"/>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8" name="Text 16"/>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the vendor and product tags:</a:t>
            </a:r>
            <a:endParaRPr lang="en-US" sz="1150" dirty="0"/>
          </a:p>
        </p:txBody>
      </p:sp>
      <p:sp>
        <p:nvSpPr>
          <p:cNvPr id="19" name="Text 17"/>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0" name="Text 18"/>
          <p:cNvSpPr/>
          <p:nvPr/>
        </p:nvSpPr>
        <p:spPr>
          <a:xfrm>
            <a:off x="1152144" y="46817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n by _vendor, _product</a:t>
            </a:r>
            <a:endParaRPr lang="en-US" sz="1050" dirty="0"/>
          </a:p>
        </p:txBody>
      </p:sp>
      <p:sp>
        <p:nvSpPr>
          <p:cNvPr id="21" name="Shape 19"/>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2" name="Text 20"/>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3" name="Text 21"/>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dataset koi_koi_raw exists and returns rows.</a:t>
            </a:r>
            <a:endParaRPr lang="en-US" sz="1150" dirty="0"/>
          </a:p>
        </p:txBody>
      </p:sp>
      <p:sp>
        <p:nvSpPr>
          <p:cNvPr id="25" name="Text 23"/>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256489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One row per source_log_type — Alerts and Audit.</a:t>
            </a:r>
            <a:endParaRPr lang="en-US" sz="1150" dirty="0"/>
          </a:p>
        </p:txBody>
      </p:sp>
      <p:sp>
        <p:nvSpPr>
          <p:cNvPr id="27" name="Text 25"/>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89407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increase between the two runs when KOI has new activity.</a:t>
            </a:r>
            <a:endParaRPr lang="en-US" sz="1150" dirty="0"/>
          </a:p>
        </p:txBody>
      </p:sp>
      <p:sp>
        <p:nvSpPr>
          <p:cNvPr id="29" name="Text 27"/>
          <p:cNvSpPr/>
          <p:nvPr/>
        </p:nvSpPr>
        <p:spPr>
          <a:xfrm>
            <a:off x="7626096" y="34107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41071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_vendor = koi and _product = koi.</a:t>
            </a:r>
            <a:endParaRPr lang="en-US" sz="1150" dirty="0"/>
          </a:p>
        </p:txBody>
      </p:sp>
      <p:sp>
        <p:nvSpPr>
          <p:cNvPr id="31" name="Shape 29"/>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2" name="Shape 30"/>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3" name="Text 31"/>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5" name="Text 33"/>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The dataset name is not declared anywhere in the pack — it follows the {vendor}_{product}_raw convention and was confirmed on a live tenant (VERIFIED_FACTS §3). This test applies on XSIAM / platform only: the YAML sets isfetchevents true then overrides it with isfetchevents:xsoar false, so on XSOAR there is no collector to test. "Dataset not found" means no event has EVER arrived: check Fetch events, the marketplace the pack was installed for, and the instance's egress. Flat counts on an idle tenant are correct, not a fault.</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Alerts vs Audit — and why XDM is empty</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Separate the two schemas — source_log_type is the discriminator:</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filter source_log_type = "Audit"</a:t>
            </a:r>
            <a:endParaRPr lang="en-US" sz="1050" dirty="0"/>
          </a:p>
        </p:txBody>
      </p:sp>
      <p:sp>
        <p:nvSpPr>
          <p:cNvPr id="10" name="Text 8"/>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n by type, category</a:t>
            </a:r>
            <a:endParaRPr lang="en-US" sz="1050" dirty="0"/>
          </a:p>
        </p:txBody>
      </p:sp>
      <p:sp>
        <p:nvSpPr>
          <p:cNvPr id="11" name="Text 9"/>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filter source_log_type = "Alerts"</a:t>
            </a:r>
            <a:endParaRPr lang="en-US" sz="1050" dirty="0"/>
          </a:p>
        </p:txBody>
      </p:sp>
      <p:sp>
        <p:nvSpPr>
          <p:cNvPr id="12" name="Text 10"/>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fields _time, class_uid, type_uid, severity_id, status_id</a:t>
            </a:r>
            <a:endParaRPr lang="en-US" sz="1050" dirty="0"/>
          </a:p>
        </p:txBody>
      </p:sp>
      <p:sp>
        <p:nvSpPr>
          <p:cNvPr id="13" name="Text 11"/>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4" name="Text 12"/>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Now check the data model — expect nothing:</a:t>
            </a:r>
            <a:endParaRPr lang="en-US" sz="1150" dirty="0"/>
          </a:p>
        </p:txBody>
      </p:sp>
      <p:sp>
        <p:nvSpPr>
          <p:cNvPr id="15" name="Text 13"/>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fields xdm.*</a:t>
            </a:r>
            <a:endParaRPr lang="en-US" sz="1050" dirty="0"/>
          </a:p>
        </p:txBody>
      </p:sp>
      <p:sp>
        <p:nvSpPr>
          <p:cNvPr id="16" name="Text 14"/>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And confirm the alert_type trap:</a:t>
            </a:r>
            <a:endParaRPr lang="en-US" sz="1150" dirty="0"/>
          </a:p>
        </p:txBody>
      </p:sp>
      <p:sp>
        <p:nvSpPr>
          <p:cNvPr id="18" name="Text 16"/>
          <p:cNvSpPr/>
          <p:nvPr/>
        </p:nvSpPr>
        <p:spPr>
          <a:xfrm>
            <a:off x="1152144" y="46817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filter alert_type != null | comp count()</a:t>
            </a:r>
            <a:endParaRPr lang="en-US" sz="1050" dirty="0"/>
          </a:p>
        </p:txBody>
      </p:sp>
      <p:sp>
        <p:nvSpPr>
          <p:cNvPr id="19" name="Shape 17"/>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0" name="Text 18"/>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1" name="Text 19"/>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Audit rows are flat and KOI-native: type, action, category, object_name, object_type, hostname, item_version.</a:t>
            </a:r>
            <a:endParaRPr lang="en-US" sz="1150" dirty="0"/>
          </a:p>
        </p:txBody>
      </p:sp>
      <p:sp>
        <p:nvSpPr>
          <p:cNvPr id="23" name="Text 21"/>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752344"/>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rows are OCSF: class_uid 2007, type_uid 200701, is_alert true, plus severity_id / confidence_id / risk_level_id / status_id.</a:t>
            </a:r>
            <a:endParaRPr lang="en-US" sz="1150" dirty="0"/>
          </a:p>
        </p:txBody>
      </p:sp>
      <p:sp>
        <p:nvSpPr>
          <p:cNvPr id="25" name="Text 23"/>
          <p:cNvSpPr/>
          <p:nvPr/>
        </p:nvSpPr>
        <p:spPr>
          <a:xfrm>
            <a:off x="7626096" y="34564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3456432"/>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Every xdm.* field is EMPTY. This is correct — the pack ships no parsing rule and no modeling rule.</a:t>
            </a:r>
            <a:endParaRPr lang="en-US" sz="1150" dirty="0"/>
          </a:p>
        </p:txBody>
      </p:sp>
      <p:sp>
        <p:nvSpPr>
          <p:cNvPr id="27" name="Text 25"/>
          <p:cNvSpPr/>
          <p:nvPr/>
        </p:nvSpPr>
        <p:spPr>
          <a:xfrm>
            <a:off x="7626096" y="41605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41605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alert_type returns zero rows. It is never populated.</a:t>
            </a:r>
            <a:endParaRPr lang="en-US" sz="1150" dirty="0"/>
          </a:p>
        </p:txBody>
      </p:sp>
      <p:sp>
        <p:nvSpPr>
          <p:cNvPr id="29" name="Shape 27"/>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0" name="Shape 28"/>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1" name="Text 29"/>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2" name="Text 30"/>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3" name="Text 31"/>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Empty XDM is the expected result here, not a failure — there is nothing in this pack to populate it, so do not raise a bug and do not build queries on xdm.*. Two more traps: on alert rows, resources, observables and metadata are JSON STRINGS and must be json_extract-ed before you can filter on them — a query that treats them as structured fields silently returns nothing rather than erroring; and Audit fields are null on Alert rows and vice versa, so always filter by source_log_type first.</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JUDGING RESULTS</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Empty-but-correct, or a real failure?</a:t>
            </a:r>
            <a:endParaRPr lang="en-US" sz="3100" dirty="0"/>
          </a:p>
        </p:txBody>
      </p:sp>
      <p:sp>
        <p:nvSpPr>
          <p:cNvPr id="5" name="Text 3"/>
          <p:cNvSpPr/>
          <p:nvPr/>
        </p:nvSpPr>
        <p:spPr>
          <a:xfrm>
            <a:off x="548640" y="1243584"/>
            <a:ext cx="11064240" cy="274320"/>
          </a:xfrm>
          <a:prstGeom prst="rect">
            <a:avLst/>
          </a:prstGeom>
          <a:noFill/>
          <a:ln/>
        </p:spPr>
        <p:txBody>
          <a:bodyPr wrap="square" lIns="0" tIns="0" rIns="0" bIns="0" rtlCol="0" anchor="t"/>
          <a:lstStyle/>
          <a:p>
            <a:pPr indent="0" marL="0">
              <a:buNone/>
            </a:pPr>
            <a:r>
              <a:rPr lang="en-US" sz="1150" dirty="0">
                <a:solidFill>
                  <a:srgbClr val="B4B7BD"/>
                </a:solidFill>
                <a:latin typeface="Calibri" pitchFamily="34" charset="0"/>
                <a:ea typeface="Calibri" pitchFamily="34" charset="-122"/>
                <a:cs typeface="Calibri" pitchFamily="34" charset="-120"/>
              </a:rPr>
              <a:t>Most false alarms on this pack come from reading an empty-but-valid result as a fault. One row per test.</a:t>
            </a:r>
            <a:endParaRPr lang="en-US" sz="1150" dirty="0"/>
          </a:p>
        </p:txBody>
      </p:sp>
      <p:sp>
        <p:nvSpPr>
          <p:cNvPr id="6" name="Text 4"/>
          <p:cNvSpPr/>
          <p:nvPr/>
        </p:nvSpPr>
        <p:spPr>
          <a:xfrm>
            <a:off x="804672" y="1627632"/>
            <a:ext cx="4572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Test</a:t>
            </a:r>
            <a:endParaRPr lang="en-US" sz="1000" dirty="0"/>
          </a:p>
        </p:txBody>
      </p:sp>
      <p:sp>
        <p:nvSpPr>
          <p:cNvPr id="7" name="Text 5"/>
          <p:cNvSpPr/>
          <p:nvPr/>
        </p:nvSpPr>
        <p:spPr>
          <a:xfrm>
            <a:off x="1371600" y="1627632"/>
            <a:ext cx="22860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What you might see</a:t>
            </a:r>
            <a:endParaRPr lang="en-US" sz="1000" dirty="0"/>
          </a:p>
        </p:txBody>
      </p:sp>
      <p:sp>
        <p:nvSpPr>
          <p:cNvPr id="8" name="Text 6"/>
          <p:cNvSpPr/>
          <p:nvPr/>
        </p:nvSpPr>
        <p:spPr>
          <a:xfrm>
            <a:off x="3749040" y="1627632"/>
            <a:ext cx="3291840" cy="237744"/>
          </a:xfrm>
          <a:prstGeom prst="rect">
            <a:avLst/>
          </a:prstGeom>
          <a:noFill/>
          <a:ln/>
        </p:spPr>
        <p:txBody>
          <a:bodyPr wrap="square" lIns="0" tIns="0" rIns="0" bIns="0" rtlCol="0" anchor="t"/>
          <a:lstStyle/>
          <a:p>
            <a:pPr indent="0" marL="0">
              <a:buNone/>
            </a:pPr>
            <a:r>
              <a:rPr lang="en-US" sz="1000" b="1" spc="100" kern="0" dirty="0">
                <a:solidFill>
                  <a:srgbClr val="3FB950"/>
                </a:solidFill>
                <a:latin typeface="Calibri" pitchFamily="34" charset="0"/>
                <a:ea typeface="Calibri" pitchFamily="34" charset="-122"/>
                <a:cs typeface="Calibri" pitchFamily="34" charset="-120"/>
              </a:rPr>
              <a:t>Empty but correct when…</a:t>
            </a:r>
            <a:endParaRPr lang="en-US" sz="1000" dirty="0"/>
          </a:p>
        </p:txBody>
      </p:sp>
      <p:sp>
        <p:nvSpPr>
          <p:cNvPr id="9" name="Text 7"/>
          <p:cNvSpPr/>
          <p:nvPr/>
        </p:nvSpPr>
        <p:spPr>
          <a:xfrm>
            <a:off x="7178040" y="1627632"/>
            <a:ext cx="4434840" cy="237744"/>
          </a:xfrm>
          <a:prstGeom prst="rect">
            <a:avLst/>
          </a:prstGeom>
          <a:noFill/>
          <a:ln/>
        </p:spPr>
        <p:txBody>
          <a:bodyPr wrap="square" lIns="0" tIns="0" rIns="0" bIns="0" rtlCol="0" anchor="t"/>
          <a:lstStyle/>
          <a:p>
            <a:pPr indent="0" marL="0">
              <a:buNone/>
            </a:pPr>
            <a:r>
              <a:rPr lang="en-US" sz="1000" b="1" spc="100" kern="0" dirty="0">
                <a:solidFill>
                  <a:srgbClr val="F04438"/>
                </a:solidFill>
                <a:latin typeface="Calibri" pitchFamily="34" charset="0"/>
                <a:ea typeface="Calibri" pitchFamily="34" charset="-122"/>
                <a:cs typeface="Calibri" pitchFamily="34" charset="-120"/>
              </a:rPr>
              <a:t>A real failure when…</a:t>
            </a:r>
            <a:endParaRPr lang="en-US" sz="1000" dirty="0"/>
          </a:p>
        </p:txBody>
      </p:sp>
      <p:sp>
        <p:nvSpPr>
          <p:cNvPr id="10" name="Shape 8"/>
          <p:cNvSpPr/>
          <p:nvPr/>
        </p:nvSpPr>
        <p:spPr>
          <a:xfrm>
            <a:off x="548640" y="1883664"/>
            <a:ext cx="11064240" cy="384048"/>
          </a:xfrm>
          <a:prstGeom prst="roundRect">
            <a:avLst>
              <a:gd name="adj" fmla="val 11905"/>
            </a:avLst>
          </a:prstGeom>
          <a:solidFill>
            <a:srgbClr val="15171B"/>
          </a:solidFill>
          <a:ln w="12700">
            <a:solidFill>
              <a:srgbClr val="15171B"/>
            </a:solidFill>
            <a:prstDash val="solid"/>
          </a:ln>
        </p:spPr>
      </p:sp>
      <p:sp>
        <p:nvSpPr>
          <p:cNvPr id="11" name="Text 9"/>
          <p:cNvSpPr/>
          <p:nvPr/>
        </p:nvSpPr>
        <p:spPr>
          <a:xfrm>
            <a:off x="804672" y="1984248"/>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1</a:t>
            </a:r>
            <a:endParaRPr lang="en-US" sz="1000" dirty="0"/>
          </a:p>
        </p:txBody>
      </p:sp>
      <p:sp>
        <p:nvSpPr>
          <p:cNvPr id="12" name="Text 10"/>
          <p:cNvSpPr/>
          <p:nvPr/>
        </p:nvSpPr>
        <p:spPr>
          <a:xfrm>
            <a:off x="1371600" y="1984248"/>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Fewer than 13 commands</a:t>
            </a:r>
            <a:endParaRPr lang="en-US" sz="900" dirty="0"/>
          </a:p>
        </p:txBody>
      </p:sp>
      <p:sp>
        <p:nvSpPr>
          <p:cNvPr id="13" name="Text 11"/>
          <p:cNvSpPr/>
          <p:nvPr/>
        </p:nvSpPr>
        <p:spPr>
          <a:xfrm>
            <a:off x="3749040" y="1984248"/>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never — this test is pass/fail</a:t>
            </a:r>
            <a:endParaRPr lang="en-US" sz="900" dirty="0"/>
          </a:p>
        </p:txBody>
      </p:sp>
      <p:sp>
        <p:nvSpPr>
          <p:cNvPr id="14" name="Text 12"/>
          <p:cNvSpPr/>
          <p:nvPr/>
        </p:nvSpPr>
        <p:spPr>
          <a:xfrm>
            <a:off x="7178040" y="1984248"/>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any count other than 13, or version ≠ 1.2.3</a:t>
            </a:r>
            <a:endParaRPr lang="en-US" sz="900" dirty="0"/>
          </a:p>
        </p:txBody>
      </p:sp>
      <p:sp>
        <p:nvSpPr>
          <p:cNvPr id="15" name="Shape 13"/>
          <p:cNvSpPr/>
          <p:nvPr/>
        </p:nvSpPr>
        <p:spPr>
          <a:xfrm>
            <a:off x="548640" y="2308860"/>
            <a:ext cx="11064240" cy="384048"/>
          </a:xfrm>
          <a:prstGeom prst="roundRect">
            <a:avLst>
              <a:gd name="adj" fmla="val 11905"/>
            </a:avLst>
          </a:prstGeom>
          <a:solidFill>
            <a:srgbClr val="1C2026"/>
          </a:solidFill>
          <a:ln w="12700">
            <a:solidFill>
              <a:srgbClr val="1C2026"/>
            </a:solidFill>
            <a:prstDash val="solid"/>
          </a:ln>
        </p:spPr>
      </p:sp>
      <p:sp>
        <p:nvSpPr>
          <p:cNvPr id="16" name="Text 14"/>
          <p:cNvSpPr/>
          <p:nvPr/>
        </p:nvSpPr>
        <p:spPr>
          <a:xfrm>
            <a:off x="804672" y="2409444"/>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2</a:t>
            </a:r>
            <a:endParaRPr lang="en-US" sz="1000" dirty="0"/>
          </a:p>
        </p:txBody>
      </p:sp>
      <p:sp>
        <p:nvSpPr>
          <p:cNvPr id="17" name="Text 15"/>
          <p:cNvSpPr/>
          <p:nvPr/>
        </p:nvSpPr>
        <p:spPr>
          <a:xfrm>
            <a:off x="1371600" y="2409444"/>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Test button green, command errors</a:t>
            </a:r>
            <a:endParaRPr lang="en-US" sz="900" dirty="0"/>
          </a:p>
        </p:txBody>
      </p:sp>
      <p:sp>
        <p:nvSpPr>
          <p:cNvPr id="18" name="Text 16"/>
          <p:cNvSpPr/>
          <p:nvPr/>
        </p:nvSpPr>
        <p:spPr>
          <a:xfrm>
            <a:off x="3749040" y="2409444"/>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n/a — always follow Test with a read</a:t>
            </a:r>
            <a:endParaRPr lang="en-US" sz="900" dirty="0"/>
          </a:p>
        </p:txBody>
      </p:sp>
      <p:sp>
        <p:nvSpPr>
          <p:cNvPr id="19" name="Text 17"/>
          <p:cNvSpPr/>
          <p:nvPr/>
        </p:nvSpPr>
        <p:spPr>
          <a:xfrm>
            <a:off x="7178040" y="2409444"/>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401 {"message":"Unauthorized"} = the key (verified). Any other status: diagnose it, do not assume egress</a:t>
            </a:r>
            <a:endParaRPr lang="en-US" sz="900" dirty="0"/>
          </a:p>
        </p:txBody>
      </p:sp>
      <p:sp>
        <p:nvSpPr>
          <p:cNvPr id="20" name="Shape 18"/>
          <p:cNvSpPr/>
          <p:nvPr/>
        </p:nvSpPr>
        <p:spPr>
          <a:xfrm>
            <a:off x="548640" y="2734056"/>
            <a:ext cx="11064240" cy="384048"/>
          </a:xfrm>
          <a:prstGeom prst="roundRect">
            <a:avLst>
              <a:gd name="adj" fmla="val 11905"/>
            </a:avLst>
          </a:prstGeom>
          <a:solidFill>
            <a:srgbClr val="15171B"/>
          </a:solidFill>
          <a:ln w="12700">
            <a:solidFill>
              <a:srgbClr val="15171B"/>
            </a:solidFill>
            <a:prstDash val="solid"/>
          </a:ln>
        </p:spPr>
      </p:sp>
      <p:sp>
        <p:nvSpPr>
          <p:cNvPr id="21" name="Text 19"/>
          <p:cNvSpPr/>
          <p:nvPr/>
        </p:nvSpPr>
        <p:spPr>
          <a:xfrm>
            <a:off x="804672" y="2834640"/>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3</a:t>
            </a:r>
            <a:endParaRPr lang="en-US" sz="1000" dirty="0"/>
          </a:p>
        </p:txBody>
      </p:sp>
      <p:sp>
        <p:nvSpPr>
          <p:cNvPr id="22" name="Text 20"/>
          <p:cNvSpPr/>
          <p:nvPr/>
        </p:nvSpPr>
        <p:spPr>
          <a:xfrm>
            <a:off x="1371600" y="2834640"/>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Allowlist or blocklist has no rows</a:t>
            </a:r>
            <a:endParaRPr lang="en-US" sz="900" dirty="0"/>
          </a:p>
        </p:txBody>
      </p:sp>
      <p:sp>
        <p:nvSpPr>
          <p:cNvPr id="23" name="Text 21"/>
          <p:cNvSpPr/>
          <p:nvPr/>
        </p:nvSpPr>
        <p:spPr>
          <a:xfrm>
            <a:off x="3749040" y="2834640"/>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the tenant has no entries; both were empty on KOI_PAET</a:t>
            </a:r>
            <a:endParaRPr lang="en-US" sz="900" dirty="0"/>
          </a:p>
        </p:txBody>
      </p:sp>
      <p:sp>
        <p:nvSpPr>
          <p:cNvPr id="24" name="Text 22"/>
          <p:cNvSpPr/>
          <p:nvPr/>
        </p:nvSpPr>
        <p:spPr>
          <a:xfrm>
            <a:off x="7178040" y="2834640"/>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an HTTP error, or you were told to read total_count (it does not exist here)</a:t>
            </a:r>
            <a:endParaRPr lang="en-US" sz="900" dirty="0"/>
          </a:p>
        </p:txBody>
      </p:sp>
      <p:sp>
        <p:nvSpPr>
          <p:cNvPr id="25" name="Shape 23"/>
          <p:cNvSpPr/>
          <p:nvPr/>
        </p:nvSpPr>
        <p:spPr>
          <a:xfrm>
            <a:off x="548640" y="3159252"/>
            <a:ext cx="11064240" cy="384048"/>
          </a:xfrm>
          <a:prstGeom prst="roundRect">
            <a:avLst>
              <a:gd name="adj" fmla="val 11905"/>
            </a:avLst>
          </a:prstGeom>
          <a:solidFill>
            <a:srgbClr val="1C2026"/>
          </a:solidFill>
          <a:ln w="12700">
            <a:solidFill>
              <a:srgbClr val="1C2026"/>
            </a:solidFill>
            <a:prstDash val="solid"/>
          </a:ln>
        </p:spPr>
      </p:sp>
      <p:sp>
        <p:nvSpPr>
          <p:cNvPr id="26" name="Text 24"/>
          <p:cNvSpPr/>
          <p:nvPr/>
        </p:nvSpPr>
        <p:spPr>
          <a:xfrm>
            <a:off x="804672" y="3259836"/>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4</a:t>
            </a:r>
            <a:endParaRPr lang="en-US" sz="1000" dirty="0"/>
          </a:p>
        </p:txBody>
      </p:sp>
      <p:sp>
        <p:nvSpPr>
          <p:cNvPr id="27" name="Text 25"/>
          <p:cNvSpPr/>
          <p:nvPr/>
        </p:nvSpPr>
        <p:spPr>
          <a:xfrm>
            <a:off x="1371600" y="3259836"/>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An item lists zero endpoints</a:t>
            </a:r>
            <a:endParaRPr lang="en-US" sz="900" dirty="0"/>
          </a:p>
        </p:txBody>
      </p:sp>
      <p:sp>
        <p:nvSpPr>
          <p:cNvPr id="28" name="Text 26"/>
          <p:cNvSpPr/>
          <p:nvPr/>
        </p:nvSpPr>
        <p:spPr>
          <a:xfrm>
            <a:off x="3749040" y="3259836"/>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the item is not currently installed in scope</a:t>
            </a:r>
            <a:endParaRPr lang="en-US" sz="900" dirty="0"/>
          </a:p>
        </p:txBody>
      </p:sp>
      <p:sp>
        <p:nvSpPr>
          <p:cNvPr id="29" name="Text 27"/>
          <p:cNvSpPr/>
          <p:nvPr/>
        </p:nvSpPr>
        <p:spPr>
          <a:xfrm>
            <a:off x="7178040" y="3259836"/>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wrong item_id / marketplace / version triple</a:t>
            </a:r>
            <a:endParaRPr lang="en-US" sz="900" dirty="0"/>
          </a:p>
        </p:txBody>
      </p:sp>
      <p:sp>
        <p:nvSpPr>
          <p:cNvPr id="30" name="Shape 28"/>
          <p:cNvSpPr/>
          <p:nvPr/>
        </p:nvSpPr>
        <p:spPr>
          <a:xfrm>
            <a:off x="548640" y="3584448"/>
            <a:ext cx="11064240" cy="384048"/>
          </a:xfrm>
          <a:prstGeom prst="roundRect">
            <a:avLst>
              <a:gd name="adj" fmla="val 11905"/>
            </a:avLst>
          </a:prstGeom>
          <a:solidFill>
            <a:srgbClr val="15171B"/>
          </a:solidFill>
          <a:ln w="12700">
            <a:solidFill>
              <a:srgbClr val="15171B"/>
            </a:solidFill>
            <a:prstDash val="solid"/>
          </a:ln>
        </p:spPr>
      </p:sp>
      <p:sp>
        <p:nvSpPr>
          <p:cNvPr id="31" name="Text 29"/>
          <p:cNvSpPr/>
          <p:nvPr/>
        </p:nvSpPr>
        <p:spPr>
          <a:xfrm>
            <a:off x="804672" y="3685032"/>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5</a:t>
            </a:r>
            <a:endParaRPr lang="en-US" sz="1000" dirty="0"/>
          </a:p>
        </p:txBody>
      </p:sp>
      <p:sp>
        <p:nvSpPr>
          <p:cNvPr id="32" name="Text 30"/>
          <p:cNvSpPr/>
          <p:nvPr/>
        </p:nvSpPr>
        <p:spPr>
          <a:xfrm>
            <a:off x="1371600" y="3685032"/>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koi-inventory-search returns nothing</a:t>
            </a:r>
            <a:endParaRPr lang="en-US" sz="900" dirty="0"/>
          </a:p>
        </p:txBody>
      </p:sp>
      <p:sp>
        <p:nvSpPr>
          <p:cNvPr id="33" name="Text 31"/>
          <p:cNvSpPr/>
          <p:nvPr/>
        </p:nvSpPr>
        <p:spPr>
          <a:xfrm>
            <a:off x="3749040" y="3685032"/>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the filter is valid and matches nothing</a:t>
            </a:r>
            <a:endParaRPr lang="en-US" sz="900" dirty="0"/>
          </a:p>
        </p:txBody>
      </p:sp>
      <p:sp>
        <p:nvSpPr>
          <p:cNvPr id="34" name="Text 32"/>
          <p:cNvSpPr/>
          <p:nvPr/>
        </p:nvSpPr>
        <p:spPr>
          <a:xfrm>
            <a:off x="7178040" y="3685032"/>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HTTP 400 naming filter.combinator / filter.rules — the shape, not the data</a:t>
            </a:r>
            <a:endParaRPr lang="en-US" sz="900" dirty="0"/>
          </a:p>
        </p:txBody>
      </p:sp>
      <p:sp>
        <p:nvSpPr>
          <p:cNvPr id="35" name="Shape 33"/>
          <p:cNvSpPr/>
          <p:nvPr/>
        </p:nvSpPr>
        <p:spPr>
          <a:xfrm>
            <a:off x="548640" y="4009644"/>
            <a:ext cx="11064240" cy="384048"/>
          </a:xfrm>
          <a:prstGeom prst="roundRect">
            <a:avLst>
              <a:gd name="adj" fmla="val 11905"/>
            </a:avLst>
          </a:prstGeom>
          <a:solidFill>
            <a:srgbClr val="1C2026"/>
          </a:solidFill>
          <a:ln w="12700">
            <a:solidFill>
              <a:srgbClr val="1C2026"/>
            </a:solidFill>
            <a:prstDash val="solid"/>
          </a:ln>
        </p:spPr>
      </p:sp>
      <p:sp>
        <p:nvSpPr>
          <p:cNvPr id="36" name="Text 34"/>
          <p:cNvSpPr/>
          <p:nvPr/>
        </p:nvSpPr>
        <p:spPr>
          <a:xfrm>
            <a:off x="804672" y="4110228"/>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6</a:t>
            </a:r>
            <a:endParaRPr lang="en-US" sz="1000" dirty="0"/>
          </a:p>
        </p:txBody>
      </p:sp>
      <p:sp>
        <p:nvSpPr>
          <p:cNvPr id="37" name="Text 35"/>
          <p:cNvSpPr/>
          <p:nvPr/>
        </p:nvSpPr>
        <p:spPr>
          <a:xfrm>
            <a:off x="1371600" y="4110228"/>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koi-get-events returns no events</a:t>
            </a:r>
            <a:endParaRPr lang="en-US" sz="900" dirty="0"/>
          </a:p>
        </p:txBody>
      </p:sp>
      <p:sp>
        <p:nvSpPr>
          <p:cNvPr id="38" name="Text 36"/>
          <p:cNvSpPr/>
          <p:nvPr/>
        </p:nvSpPr>
        <p:spPr>
          <a:xfrm>
            <a:off x="3749040" y="4110228"/>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quiet tenant or narrow window</a:t>
            </a:r>
            <a:endParaRPr lang="en-US" sz="900" dirty="0"/>
          </a:p>
        </p:txBody>
      </p:sp>
      <p:sp>
        <p:nvSpPr>
          <p:cNvPr id="39" name="Text 37"/>
          <p:cNvSpPr/>
          <p:nvPr/>
        </p:nvSpPr>
        <p:spPr>
          <a:xfrm>
            <a:off x="7178040" y="4110228"/>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auth or rate-limit error</a:t>
            </a:r>
            <a:endParaRPr lang="en-US" sz="900" dirty="0"/>
          </a:p>
        </p:txBody>
      </p:sp>
      <p:sp>
        <p:nvSpPr>
          <p:cNvPr id="40" name="Shape 38"/>
          <p:cNvSpPr/>
          <p:nvPr/>
        </p:nvSpPr>
        <p:spPr>
          <a:xfrm>
            <a:off x="548640" y="4434840"/>
            <a:ext cx="11064240" cy="384048"/>
          </a:xfrm>
          <a:prstGeom prst="roundRect">
            <a:avLst>
              <a:gd name="adj" fmla="val 11905"/>
            </a:avLst>
          </a:prstGeom>
          <a:solidFill>
            <a:srgbClr val="15171B"/>
          </a:solidFill>
          <a:ln w="12700">
            <a:solidFill>
              <a:srgbClr val="15171B"/>
            </a:solidFill>
            <a:prstDash val="solid"/>
          </a:ln>
        </p:spPr>
      </p:sp>
      <p:sp>
        <p:nvSpPr>
          <p:cNvPr id="41" name="Text 39"/>
          <p:cNvSpPr/>
          <p:nvPr/>
        </p:nvSpPr>
        <p:spPr>
          <a:xfrm>
            <a:off x="804672" y="4535424"/>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7</a:t>
            </a:r>
            <a:endParaRPr lang="en-US" sz="1000" dirty="0"/>
          </a:p>
        </p:txBody>
      </p:sp>
      <p:sp>
        <p:nvSpPr>
          <p:cNvPr id="42" name="Text 40"/>
          <p:cNvSpPr/>
          <p:nvPr/>
        </p:nvSpPr>
        <p:spPr>
          <a:xfrm>
            <a:off x="1371600" y="4535424"/>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view=mcp_servers returns no items</a:t>
            </a:r>
            <a:endParaRPr lang="en-US" sz="900" dirty="0"/>
          </a:p>
        </p:txBody>
      </p:sp>
      <p:sp>
        <p:nvSpPr>
          <p:cNvPr id="43" name="Text 41"/>
          <p:cNvSpPr/>
          <p:nvPr/>
        </p:nvSpPr>
        <p:spPr>
          <a:xfrm>
            <a:off x="3749040" y="4535424"/>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no MCP servers in your estate</a:t>
            </a:r>
            <a:endParaRPr lang="en-US" sz="900" dirty="0"/>
          </a:p>
        </p:txBody>
      </p:sp>
      <p:sp>
        <p:nvSpPr>
          <p:cNvPr id="44" name="Text 42"/>
          <p:cNvSpPr/>
          <p:nvPr/>
        </p:nvSpPr>
        <p:spPr>
          <a:xfrm>
            <a:off x="7178040" y="4535424"/>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HTTP 400 — the value was rejected</a:t>
            </a:r>
            <a:endParaRPr lang="en-US" sz="900" dirty="0"/>
          </a:p>
        </p:txBody>
      </p:sp>
      <p:sp>
        <p:nvSpPr>
          <p:cNvPr id="45" name="Shape 43"/>
          <p:cNvSpPr/>
          <p:nvPr/>
        </p:nvSpPr>
        <p:spPr>
          <a:xfrm>
            <a:off x="548640" y="4860036"/>
            <a:ext cx="11064240" cy="384048"/>
          </a:xfrm>
          <a:prstGeom prst="roundRect">
            <a:avLst>
              <a:gd name="adj" fmla="val 11905"/>
            </a:avLst>
          </a:prstGeom>
          <a:solidFill>
            <a:srgbClr val="1C2026"/>
          </a:solidFill>
          <a:ln w="12700">
            <a:solidFill>
              <a:srgbClr val="1C2026"/>
            </a:solidFill>
            <a:prstDash val="solid"/>
          </a:ln>
        </p:spPr>
      </p:sp>
      <p:sp>
        <p:nvSpPr>
          <p:cNvPr id="46" name="Text 44"/>
          <p:cNvSpPr/>
          <p:nvPr/>
        </p:nvSpPr>
        <p:spPr>
          <a:xfrm>
            <a:off x="804672" y="4960620"/>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8</a:t>
            </a:r>
            <a:endParaRPr lang="en-US" sz="1000" dirty="0"/>
          </a:p>
        </p:txBody>
      </p:sp>
      <p:sp>
        <p:nvSpPr>
          <p:cNvPr id="47" name="Text 45"/>
          <p:cNvSpPr/>
          <p:nvPr/>
        </p:nvSpPr>
        <p:spPr>
          <a:xfrm>
            <a:off x="1371600" y="4960620"/>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add / remove writes no context</a:t>
            </a:r>
            <a:endParaRPr lang="en-US" sz="900" dirty="0"/>
          </a:p>
        </p:txBody>
      </p:sp>
      <p:sp>
        <p:nvSpPr>
          <p:cNvPr id="48" name="Text 46"/>
          <p:cNvSpPr/>
          <p:nvPr/>
        </p:nvSpPr>
        <p:spPr>
          <a:xfrm>
            <a:off x="3749040" y="4960620"/>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always — all four declare zero outputs (test 8 runs the blocklist pair)</a:t>
            </a:r>
            <a:endParaRPr lang="en-US" sz="900" dirty="0"/>
          </a:p>
        </p:txBody>
      </p:sp>
      <p:sp>
        <p:nvSpPr>
          <p:cNvPr id="49" name="Text 47"/>
          <p:cNvSpPr/>
          <p:nvPr/>
        </p:nvSpPr>
        <p:spPr>
          <a:xfrm>
            <a:off x="7178040" y="4960620"/>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the follow-up -get does not reflect the change</a:t>
            </a:r>
            <a:endParaRPr lang="en-US" sz="900" dirty="0"/>
          </a:p>
        </p:txBody>
      </p:sp>
      <p:sp>
        <p:nvSpPr>
          <p:cNvPr id="50" name="Shape 48"/>
          <p:cNvSpPr/>
          <p:nvPr/>
        </p:nvSpPr>
        <p:spPr>
          <a:xfrm>
            <a:off x="548640" y="5285232"/>
            <a:ext cx="11064240" cy="384048"/>
          </a:xfrm>
          <a:prstGeom prst="roundRect">
            <a:avLst>
              <a:gd name="adj" fmla="val 11905"/>
            </a:avLst>
          </a:prstGeom>
          <a:solidFill>
            <a:srgbClr val="15171B"/>
          </a:solidFill>
          <a:ln w="12700">
            <a:solidFill>
              <a:srgbClr val="15171B"/>
            </a:solidFill>
            <a:prstDash val="solid"/>
          </a:ln>
        </p:spPr>
      </p:sp>
      <p:sp>
        <p:nvSpPr>
          <p:cNvPr id="51" name="Text 49"/>
          <p:cNvSpPr/>
          <p:nvPr/>
        </p:nvSpPr>
        <p:spPr>
          <a:xfrm>
            <a:off x="804672" y="5385816"/>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9</a:t>
            </a:r>
            <a:endParaRPr lang="en-US" sz="1000" dirty="0"/>
          </a:p>
        </p:txBody>
      </p:sp>
      <p:sp>
        <p:nvSpPr>
          <p:cNvPr id="52" name="Text 50"/>
          <p:cNvSpPr/>
          <p:nvPr/>
        </p:nvSpPr>
        <p:spPr>
          <a:xfrm>
            <a:off x="1371600" y="5385816"/>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Counts do not grow between cycles</a:t>
            </a:r>
            <a:endParaRPr lang="en-US" sz="900" dirty="0"/>
          </a:p>
        </p:txBody>
      </p:sp>
      <p:sp>
        <p:nvSpPr>
          <p:cNvPr id="53" name="Text 51"/>
          <p:cNvSpPr/>
          <p:nvPr/>
        </p:nvSpPr>
        <p:spPr>
          <a:xfrm>
            <a:off x="3749040" y="5385816"/>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no new KOI activity in the window</a:t>
            </a:r>
            <a:endParaRPr lang="en-US" sz="900" dirty="0"/>
          </a:p>
        </p:txBody>
      </p:sp>
      <p:sp>
        <p:nvSpPr>
          <p:cNvPr id="54" name="Text 52"/>
          <p:cNvSpPr/>
          <p:nvPr/>
        </p:nvSpPr>
        <p:spPr>
          <a:xfrm>
            <a:off x="7178040" y="5385816"/>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"dataset not found" — nothing has ever arrived</a:t>
            </a:r>
            <a:endParaRPr lang="en-US" sz="900" dirty="0"/>
          </a:p>
        </p:txBody>
      </p:sp>
      <p:sp>
        <p:nvSpPr>
          <p:cNvPr id="55" name="Shape 53"/>
          <p:cNvSpPr/>
          <p:nvPr/>
        </p:nvSpPr>
        <p:spPr>
          <a:xfrm>
            <a:off x="548640" y="5710428"/>
            <a:ext cx="11064240" cy="384048"/>
          </a:xfrm>
          <a:prstGeom prst="roundRect">
            <a:avLst>
              <a:gd name="adj" fmla="val 11905"/>
            </a:avLst>
          </a:prstGeom>
          <a:solidFill>
            <a:srgbClr val="1C2026"/>
          </a:solidFill>
          <a:ln w="12700">
            <a:solidFill>
              <a:srgbClr val="1C2026"/>
            </a:solidFill>
            <a:prstDash val="solid"/>
          </a:ln>
        </p:spPr>
      </p:sp>
      <p:sp>
        <p:nvSpPr>
          <p:cNvPr id="56" name="Text 54"/>
          <p:cNvSpPr/>
          <p:nvPr/>
        </p:nvSpPr>
        <p:spPr>
          <a:xfrm>
            <a:off x="804672" y="5811012"/>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10</a:t>
            </a:r>
            <a:endParaRPr lang="en-US" sz="1000" dirty="0"/>
          </a:p>
        </p:txBody>
      </p:sp>
      <p:sp>
        <p:nvSpPr>
          <p:cNvPr id="57" name="Text 55"/>
          <p:cNvSpPr/>
          <p:nvPr/>
        </p:nvSpPr>
        <p:spPr>
          <a:xfrm>
            <a:off x="1371600" y="5811012"/>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xdm.* is entirely empty</a:t>
            </a:r>
            <a:endParaRPr lang="en-US" sz="900" dirty="0"/>
          </a:p>
        </p:txBody>
      </p:sp>
      <p:sp>
        <p:nvSpPr>
          <p:cNvPr id="58" name="Text 56"/>
          <p:cNvSpPr/>
          <p:nvPr/>
        </p:nvSpPr>
        <p:spPr>
          <a:xfrm>
            <a:off x="3749040" y="5811012"/>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always — no modeling rules ship with this pack</a:t>
            </a:r>
            <a:endParaRPr lang="en-US" sz="900" dirty="0"/>
          </a:p>
        </p:txBody>
      </p:sp>
      <p:sp>
        <p:nvSpPr>
          <p:cNvPr id="59" name="Text 57"/>
          <p:cNvSpPr/>
          <p:nvPr/>
        </p:nvSpPr>
        <p:spPr>
          <a:xfrm>
            <a:off x="7178040" y="5811012"/>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raw fields empty too, on rows that exist</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REFERENCE VALUES</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Measured on real tenants — for shape, not as targets</a:t>
            </a:r>
            <a:endParaRPr lang="en-US" sz="3100" dirty="0"/>
          </a:p>
        </p:txBody>
      </p:sp>
      <p:sp>
        <p:nvSpPr>
          <p:cNvPr id="5" name="Text 3"/>
          <p:cNvSpPr/>
          <p:nvPr/>
        </p:nvSpPr>
        <p:spPr>
          <a:xfrm>
            <a:off x="548640" y="1243584"/>
            <a:ext cx="10607040" cy="58521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Recorded 20 July 2026 on tenant api-ayman.xdr.eu.paloaltonetworks.com, instances KOI_PAET and KOI_PLTS (VERIFIED_FACTS §7). These are not pass/fail thresholds, and no test here passes by matching a number. Counts drift per tenant and between runs: where two sweeps hours apart differed — only KOI_PLTS did — both are shown, earlier then later. Quote the instance whenever you quote a count.</a:t>
            </a:r>
            <a:endParaRPr lang="en-US" sz="1150" dirty="0"/>
          </a:p>
        </p:txBody>
      </p:sp>
      <p:sp>
        <p:nvSpPr>
          <p:cNvPr id="6" name="Text 4"/>
          <p:cNvSpPr/>
          <p:nvPr/>
        </p:nvSpPr>
        <p:spPr>
          <a:xfrm>
            <a:off x="822960" y="1883664"/>
            <a:ext cx="475488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Measure</a:t>
            </a:r>
            <a:endParaRPr lang="en-US" sz="1000" dirty="0"/>
          </a:p>
        </p:txBody>
      </p:sp>
      <p:sp>
        <p:nvSpPr>
          <p:cNvPr id="7" name="Text 5"/>
          <p:cNvSpPr/>
          <p:nvPr/>
        </p:nvSpPr>
        <p:spPr>
          <a:xfrm>
            <a:off x="5760720" y="1883664"/>
            <a:ext cx="1828800" cy="237744"/>
          </a:xfrm>
          <a:prstGeom prst="rect">
            <a:avLst/>
          </a:prstGeom>
          <a:noFill/>
          <a:ln/>
        </p:spPr>
        <p:txBody>
          <a:bodyPr wrap="square" lIns="0" tIns="0" rIns="0" bIns="0" rtlCol="0" anchor="t"/>
          <a:lstStyle/>
          <a:p>
            <a:pPr indent="0" marL="0">
              <a:buNone/>
            </a:pPr>
            <a:r>
              <a:rPr lang="en-US" sz="1000" b="1" spc="100" kern="0" dirty="0">
                <a:solidFill>
                  <a:srgbClr val="22D3EE"/>
                </a:solidFill>
                <a:latin typeface="Calibri" pitchFamily="34" charset="0"/>
                <a:ea typeface="Calibri" pitchFamily="34" charset="-122"/>
                <a:cs typeface="Calibri" pitchFamily="34" charset="-120"/>
              </a:rPr>
              <a:t>KOI_PAET</a:t>
            </a:r>
            <a:endParaRPr lang="en-US" sz="1000" dirty="0"/>
          </a:p>
        </p:txBody>
      </p:sp>
      <p:sp>
        <p:nvSpPr>
          <p:cNvPr id="8" name="Text 6"/>
          <p:cNvSpPr/>
          <p:nvPr/>
        </p:nvSpPr>
        <p:spPr>
          <a:xfrm>
            <a:off x="7772400" y="1883664"/>
            <a:ext cx="1828800" cy="237744"/>
          </a:xfrm>
          <a:prstGeom prst="rect">
            <a:avLst/>
          </a:prstGeom>
          <a:noFill/>
          <a:ln/>
        </p:spPr>
        <p:txBody>
          <a:bodyPr wrap="square" lIns="0" tIns="0" rIns="0" bIns="0" rtlCol="0" anchor="t"/>
          <a:lstStyle/>
          <a:p>
            <a:pPr indent="0" marL="0">
              <a:buNone/>
            </a:pPr>
            <a:r>
              <a:rPr lang="en-US" sz="1000" b="1" spc="100" kern="0" dirty="0">
                <a:solidFill>
                  <a:srgbClr val="22D3EE"/>
                </a:solidFill>
                <a:latin typeface="Calibri" pitchFamily="34" charset="0"/>
                <a:ea typeface="Calibri" pitchFamily="34" charset="-122"/>
                <a:cs typeface="Calibri" pitchFamily="34" charset="-120"/>
              </a:rPr>
              <a:t>KOI_PLTS</a:t>
            </a:r>
            <a:endParaRPr lang="en-US" sz="1000" dirty="0"/>
          </a:p>
        </p:txBody>
      </p:sp>
      <p:sp>
        <p:nvSpPr>
          <p:cNvPr id="9" name="Text 7"/>
          <p:cNvSpPr/>
          <p:nvPr/>
        </p:nvSpPr>
        <p:spPr>
          <a:xfrm>
            <a:off x="9692640" y="1883664"/>
            <a:ext cx="18288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Which test</a:t>
            </a:r>
            <a:endParaRPr lang="en-US" sz="1000" dirty="0"/>
          </a:p>
        </p:txBody>
      </p:sp>
      <p:sp>
        <p:nvSpPr>
          <p:cNvPr id="10" name="Shape 8"/>
          <p:cNvSpPr/>
          <p:nvPr/>
        </p:nvSpPr>
        <p:spPr>
          <a:xfrm>
            <a:off x="548640" y="2121408"/>
            <a:ext cx="11064240" cy="329184"/>
          </a:xfrm>
          <a:prstGeom prst="roundRect">
            <a:avLst>
              <a:gd name="adj" fmla="val 13889"/>
            </a:avLst>
          </a:prstGeom>
          <a:solidFill>
            <a:srgbClr val="15171B"/>
          </a:solidFill>
          <a:ln w="12700">
            <a:solidFill>
              <a:srgbClr val="15171B"/>
            </a:solidFill>
            <a:prstDash val="solid"/>
          </a:ln>
        </p:spPr>
      </p:sp>
      <p:sp>
        <p:nvSpPr>
          <p:cNvPr id="11" name="Text 9"/>
          <p:cNvSpPr/>
          <p:nvPr/>
        </p:nvSpPr>
        <p:spPr>
          <a:xfrm>
            <a:off x="822960" y="2221992"/>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Inventory items</a:t>
            </a:r>
            <a:endParaRPr lang="en-US" sz="1000" dirty="0"/>
          </a:p>
        </p:txBody>
      </p:sp>
      <p:sp>
        <p:nvSpPr>
          <p:cNvPr id="12" name="Text 10"/>
          <p:cNvSpPr/>
          <p:nvPr/>
        </p:nvSpPr>
        <p:spPr>
          <a:xfrm>
            <a:off x="5760720" y="2221992"/>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3,447</a:t>
            </a:r>
            <a:endParaRPr lang="en-US" sz="1000" dirty="0"/>
          </a:p>
        </p:txBody>
      </p:sp>
      <p:sp>
        <p:nvSpPr>
          <p:cNvPr id="13" name="Text 11"/>
          <p:cNvSpPr/>
          <p:nvPr/>
        </p:nvSpPr>
        <p:spPr>
          <a:xfrm>
            <a:off x="7772400" y="2221992"/>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5,644 then 5,646</a:t>
            </a:r>
            <a:endParaRPr lang="en-US" sz="1000" dirty="0"/>
          </a:p>
        </p:txBody>
      </p:sp>
      <p:sp>
        <p:nvSpPr>
          <p:cNvPr id="14" name="Text 12"/>
          <p:cNvSpPr/>
          <p:nvPr/>
        </p:nvSpPr>
        <p:spPr>
          <a:xfrm>
            <a:off x="9692640" y="2221992"/>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4</a:t>
            </a:r>
            <a:endParaRPr lang="en-US" sz="1000" dirty="0"/>
          </a:p>
        </p:txBody>
      </p:sp>
      <p:sp>
        <p:nvSpPr>
          <p:cNvPr id="15" name="Shape 13"/>
          <p:cNvSpPr/>
          <p:nvPr/>
        </p:nvSpPr>
        <p:spPr>
          <a:xfrm>
            <a:off x="548640" y="2491740"/>
            <a:ext cx="11064240" cy="329184"/>
          </a:xfrm>
          <a:prstGeom prst="roundRect">
            <a:avLst>
              <a:gd name="adj" fmla="val 13889"/>
            </a:avLst>
          </a:prstGeom>
          <a:solidFill>
            <a:srgbClr val="1C2026"/>
          </a:solidFill>
          <a:ln w="12700">
            <a:solidFill>
              <a:srgbClr val="1C2026"/>
            </a:solidFill>
            <a:prstDash val="solid"/>
          </a:ln>
        </p:spPr>
      </p:sp>
      <p:sp>
        <p:nvSpPr>
          <p:cNvPr id="16" name="Text 14"/>
          <p:cNvSpPr/>
          <p:nvPr/>
        </p:nvSpPr>
        <p:spPr>
          <a:xfrm>
            <a:off x="822960" y="2592324"/>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Policies</a:t>
            </a:r>
            <a:endParaRPr lang="en-US" sz="1000" dirty="0"/>
          </a:p>
        </p:txBody>
      </p:sp>
      <p:sp>
        <p:nvSpPr>
          <p:cNvPr id="17" name="Text 15"/>
          <p:cNvSpPr/>
          <p:nvPr/>
        </p:nvSpPr>
        <p:spPr>
          <a:xfrm>
            <a:off x="5760720" y="2592324"/>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32</a:t>
            </a:r>
            <a:endParaRPr lang="en-US" sz="1000" dirty="0"/>
          </a:p>
        </p:txBody>
      </p:sp>
      <p:sp>
        <p:nvSpPr>
          <p:cNvPr id="18" name="Text 16"/>
          <p:cNvSpPr/>
          <p:nvPr/>
        </p:nvSpPr>
        <p:spPr>
          <a:xfrm>
            <a:off x="7772400" y="2592324"/>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28</a:t>
            </a:r>
            <a:endParaRPr lang="en-US" sz="1000" dirty="0"/>
          </a:p>
        </p:txBody>
      </p:sp>
      <p:sp>
        <p:nvSpPr>
          <p:cNvPr id="19" name="Text 17"/>
          <p:cNvSpPr/>
          <p:nvPr/>
        </p:nvSpPr>
        <p:spPr>
          <a:xfrm>
            <a:off x="9692640" y="2592324"/>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3</a:t>
            </a:r>
            <a:endParaRPr lang="en-US" sz="1000" dirty="0"/>
          </a:p>
        </p:txBody>
      </p:sp>
      <p:sp>
        <p:nvSpPr>
          <p:cNvPr id="20" name="Shape 18"/>
          <p:cNvSpPr/>
          <p:nvPr/>
        </p:nvSpPr>
        <p:spPr>
          <a:xfrm>
            <a:off x="548640" y="2862072"/>
            <a:ext cx="11064240" cy="329184"/>
          </a:xfrm>
          <a:prstGeom prst="roundRect">
            <a:avLst>
              <a:gd name="adj" fmla="val 13889"/>
            </a:avLst>
          </a:prstGeom>
          <a:solidFill>
            <a:srgbClr val="15171B"/>
          </a:solidFill>
          <a:ln w="12700">
            <a:solidFill>
              <a:srgbClr val="15171B"/>
            </a:solidFill>
            <a:prstDash val="solid"/>
          </a:ln>
        </p:spPr>
      </p:sp>
      <p:sp>
        <p:nvSpPr>
          <p:cNvPr id="21" name="Text 19"/>
          <p:cNvSpPr/>
          <p:nvPr/>
        </p:nvSpPr>
        <p:spPr>
          <a:xfrm>
            <a:off x="822960" y="2962656"/>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Allowlist entries</a:t>
            </a:r>
            <a:endParaRPr lang="en-US" sz="1000" dirty="0"/>
          </a:p>
        </p:txBody>
      </p:sp>
      <p:sp>
        <p:nvSpPr>
          <p:cNvPr id="22" name="Text 20"/>
          <p:cNvSpPr/>
          <p:nvPr/>
        </p:nvSpPr>
        <p:spPr>
          <a:xfrm>
            <a:off x="5760720" y="2962656"/>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0 — empty</a:t>
            </a:r>
            <a:endParaRPr lang="en-US" sz="1000" dirty="0"/>
          </a:p>
        </p:txBody>
      </p:sp>
      <p:sp>
        <p:nvSpPr>
          <p:cNvPr id="23" name="Text 21"/>
          <p:cNvSpPr/>
          <p:nvPr/>
        </p:nvSpPr>
        <p:spPr>
          <a:xfrm>
            <a:off x="7772400" y="2962656"/>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5</a:t>
            </a:r>
            <a:endParaRPr lang="en-US" sz="1000" dirty="0"/>
          </a:p>
        </p:txBody>
      </p:sp>
      <p:sp>
        <p:nvSpPr>
          <p:cNvPr id="24" name="Text 22"/>
          <p:cNvSpPr/>
          <p:nvPr/>
        </p:nvSpPr>
        <p:spPr>
          <a:xfrm>
            <a:off x="9692640" y="2962656"/>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3</a:t>
            </a:r>
            <a:endParaRPr lang="en-US" sz="1000" dirty="0"/>
          </a:p>
        </p:txBody>
      </p:sp>
      <p:sp>
        <p:nvSpPr>
          <p:cNvPr id="25" name="Shape 23"/>
          <p:cNvSpPr/>
          <p:nvPr/>
        </p:nvSpPr>
        <p:spPr>
          <a:xfrm>
            <a:off x="548640" y="3232404"/>
            <a:ext cx="11064240" cy="329184"/>
          </a:xfrm>
          <a:prstGeom prst="roundRect">
            <a:avLst>
              <a:gd name="adj" fmla="val 13889"/>
            </a:avLst>
          </a:prstGeom>
          <a:solidFill>
            <a:srgbClr val="1C2026"/>
          </a:solidFill>
          <a:ln w="12700">
            <a:solidFill>
              <a:srgbClr val="1C2026"/>
            </a:solidFill>
            <a:prstDash val="solid"/>
          </a:ln>
        </p:spPr>
      </p:sp>
      <p:sp>
        <p:nvSpPr>
          <p:cNvPr id="26" name="Text 24"/>
          <p:cNvSpPr/>
          <p:nvPr/>
        </p:nvSpPr>
        <p:spPr>
          <a:xfrm>
            <a:off x="822960" y="3332988"/>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Blocklist entries</a:t>
            </a:r>
            <a:endParaRPr lang="en-US" sz="1000" dirty="0"/>
          </a:p>
        </p:txBody>
      </p:sp>
      <p:sp>
        <p:nvSpPr>
          <p:cNvPr id="27" name="Text 25"/>
          <p:cNvSpPr/>
          <p:nvPr/>
        </p:nvSpPr>
        <p:spPr>
          <a:xfrm>
            <a:off x="5760720" y="3332988"/>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0 — empty</a:t>
            </a:r>
            <a:endParaRPr lang="en-US" sz="1000" dirty="0"/>
          </a:p>
        </p:txBody>
      </p:sp>
      <p:sp>
        <p:nvSpPr>
          <p:cNvPr id="28" name="Text 26"/>
          <p:cNvSpPr/>
          <p:nvPr/>
        </p:nvSpPr>
        <p:spPr>
          <a:xfrm>
            <a:off x="7772400" y="3332988"/>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17</a:t>
            </a:r>
            <a:endParaRPr lang="en-US" sz="1000" dirty="0"/>
          </a:p>
        </p:txBody>
      </p:sp>
      <p:sp>
        <p:nvSpPr>
          <p:cNvPr id="29" name="Text 27"/>
          <p:cNvSpPr/>
          <p:nvPr/>
        </p:nvSpPr>
        <p:spPr>
          <a:xfrm>
            <a:off x="9692640" y="3332988"/>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3, 8</a:t>
            </a:r>
            <a:endParaRPr lang="en-US" sz="1000" dirty="0"/>
          </a:p>
        </p:txBody>
      </p:sp>
      <p:sp>
        <p:nvSpPr>
          <p:cNvPr id="30" name="Shape 28"/>
          <p:cNvSpPr/>
          <p:nvPr/>
        </p:nvSpPr>
        <p:spPr>
          <a:xfrm>
            <a:off x="548640" y="3602736"/>
            <a:ext cx="11064240" cy="329184"/>
          </a:xfrm>
          <a:prstGeom prst="roundRect">
            <a:avLst>
              <a:gd name="adj" fmla="val 13889"/>
            </a:avLst>
          </a:prstGeom>
          <a:solidFill>
            <a:srgbClr val="15171B"/>
          </a:solidFill>
          <a:ln w="12700">
            <a:solidFill>
              <a:srgbClr val="15171B"/>
            </a:solidFill>
            <a:prstDash val="solid"/>
          </a:ln>
        </p:spPr>
      </p:sp>
      <p:sp>
        <p:nvSpPr>
          <p:cNvPr id="31" name="Text 29"/>
          <p:cNvSpPr/>
          <p:nvPr/>
        </p:nvSpPr>
        <p:spPr>
          <a:xfrm>
            <a:off x="822960" y="3703320"/>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view=mcp_servers</a:t>
            </a:r>
            <a:endParaRPr lang="en-US" sz="1000" dirty="0"/>
          </a:p>
        </p:txBody>
      </p:sp>
      <p:sp>
        <p:nvSpPr>
          <p:cNvPr id="32" name="Text 30"/>
          <p:cNvSpPr/>
          <p:nvPr/>
        </p:nvSpPr>
        <p:spPr>
          <a:xfrm>
            <a:off x="5760720" y="3703320"/>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21</a:t>
            </a:r>
            <a:endParaRPr lang="en-US" sz="1000" dirty="0"/>
          </a:p>
        </p:txBody>
      </p:sp>
      <p:sp>
        <p:nvSpPr>
          <p:cNvPr id="33" name="Text 31"/>
          <p:cNvSpPr/>
          <p:nvPr/>
        </p:nvSpPr>
        <p:spPr>
          <a:xfrm>
            <a:off x="7772400" y="3703320"/>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42</a:t>
            </a:r>
            <a:endParaRPr lang="en-US" sz="1000" dirty="0"/>
          </a:p>
        </p:txBody>
      </p:sp>
      <p:sp>
        <p:nvSpPr>
          <p:cNvPr id="34" name="Text 32"/>
          <p:cNvSpPr/>
          <p:nvPr/>
        </p:nvSpPr>
        <p:spPr>
          <a:xfrm>
            <a:off x="9692640" y="3703320"/>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7</a:t>
            </a:r>
            <a:endParaRPr lang="en-US" sz="1000" dirty="0"/>
          </a:p>
        </p:txBody>
      </p:sp>
      <p:sp>
        <p:nvSpPr>
          <p:cNvPr id="35" name="Shape 33"/>
          <p:cNvSpPr/>
          <p:nvPr/>
        </p:nvSpPr>
        <p:spPr>
          <a:xfrm>
            <a:off x="548640" y="3973068"/>
            <a:ext cx="11064240" cy="329184"/>
          </a:xfrm>
          <a:prstGeom prst="roundRect">
            <a:avLst>
              <a:gd name="adj" fmla="val 13889"/>
            </a:avLst>
          </a:prstGeom>
          <a:solidFill>
            <a:srgbClr val="1C2026"/>
          </a:solidFill>
          <a:ln w="12700">
            <a:solidFill>
              <a:srgbClr val="1C2026"/>
            </a:solidFill>
            <a:prstDash val="solid"/>
          </a:ln>
        </p:spPr>
      </p:sp>
      <p:sp>
        <p:nvSpPr>
          <p:cNvPr id="36" name="Text 34"/>
          <p:cNvSpPr/>
          <p:nvPr/>
        </p:nvSpPr>
        <p:spPr>
          <a:xfrm>
            <a:off x="822960" y="4073652"/>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view=software</a:t>
            </a:r>
            <a:endParaRPr lang="en-US" sz="1000" dirty="0"/>
          </a:p>
        </p:txBody>
      </p:sp>
      <p:sp>
        <p:nvSpPr>
          <p:cNvPr id="37" name="Text 35"/>
          <p:cNvSpPr/>
          <p:nvPr/>
        </p:nvSpPr>
        <p:spPr>
          <a:xfrm>
            <a:off x="5760720" y="4073652"/>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406</a:t>
            </a:r>
            <a:endParaRPr lang="en-US" sz="1000" dirty="0"/>
          </a:p>
        </p:txBody>
      </p:sp>
      <p:sp>
        <p:nvSpPr>
          <p:cNvPr id="38" name="Text 36"/>
          <p:cNvSpPr/>
          <p:nvPr/>
        </p:nvSpPr>
        <p:spPr>
          <a:xfrm>
            <a:off x="7772400" y="4073652"/>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1,044 then 1,046</a:t>
            </a:r>
            <a:endParaRPr lang="en-US" sz="1000" dirty="0"/>
          </a:p>
        </p:txBody>
      </p:sp>
      <p:sp>
        <p:nvSpPr>
          <p:cNvPr id="39" name="Text 37"/>
          <p:cNvSpPr/>
          <p:nvPr/>
        </p:nvSpPr>
        <p:spPr>
          <a:xfrm>
            <a:off x="9692640" y="4073652"/>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7</a:t>
            </a:r>
            <a:endParaRPr lang="en-US" sz="1000" dirty="0"/>
          </a:p>
        </p:txBody>
      </p:sp>
      <p:sp>
        <p:nvSpPr>
          <p:cNvPr id="40" name="Shape 38"/>
          <p:cNvSpPr/>
          <p:nvPr/>
        </p:nvSpPr>
        <p:spPr>
          <a:xfrm>
            <a:off x="548640" y="4343400"/>
            <a:ext cx="11064240" cy="329184"/>
          </a:xfrm>
          <a:prstGeom prst="roundRect">
            <a:avLst>
              <a:gd name="adj" fmla="val 13889"/>
            </a:avLst>
          </a:prstGeom>
          <a:solidFill>
            <a:srgbClr val="15171B"/>
          </a:solidFill>
          <a:ln w="12700">
            <a:solidFill>
              <a:srgbClr val="15171B"/>
            </a:solidFill>
            <a:prstDash val="solid"/>
          </a:ln>
        </p:spPr>
      </p:sp>
      <p:sp>
        <p:nvSpPr>
          <p:cNvPr id="41" name="Text 39"/>
          <p:cNvSpPr/>
          <p:nvPr/>
        </p:nvSpPr>
        <p:spPr>
          <a:xfrm>
            <a:off x="822960" y="4443984"/>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Alerts available via API</a:t>
            </a:r>
            <a:endParaRPr lang="en-US" sz="1000" dirty="0"/>
          </a:p>
        </p:txBody>
      </p:sp>
      <p:sp>
        <p:nvSpPr>
          <p:cNvPr id="42" name="Text 40"/>
          <p:cNvSpPr/>
          <p:nvPr/>
        </p:nvSpPr>
        <p:spPr>
          <a:xfrm>
            <a:off x="5760720" y="4443984"/>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296</a:t>
            </a:r>
            <a:endParaRPr lang="en-US" sz="1000" dirty="0"/>
          </a:p>
        </p:txBody>
      </p:sp>
      <p:sp>
        <p:nvSpPr>
          <p:cNvPr id="43" name="Text 41"/>
          <p:cNvSpPr/>
          <p:nvPr/>
        </p:nvSpPr>
        <p:spPr>
          <a:xfrm>
            <a:off x="7772400" y="4443984"/>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48,526</a:t>
            </a:r>
            <a:endParaRPr lang="en-US" sz="1000" dirty="0"/>
          </a:p>
        </p:txBody>
      </p:sp>
      <p:sp>
        <p:nvSpPr>
          <p:cNvPr id="44" name="Text 42"/>
          <p:cNvSpPr/>
          <p:nvPr/>
        </p:nvSpPr>
        <p:spPr>
          <a:xfrm>
            <a:off x="9692640" y="4443984"/>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6</a:t>
            </a:r>
            <a:endParaRPr lang="en-US" sz="1000" dirty="0"/>
          </a:p>
        </p:txBody>
      </p:sp>
      <p:sp>
        <p:nvSpPr>
          <p:cNvPr id="45" name="Shape 43"/>
          <p:cNvSpPr/>
          <p:nvPr/>
        </p:nvSpPr>
        <p:spPr>
          <a:xfrm>
            <a:off x="548640" y="4713732"/>
            <a:ext cx="11064240" cy="329184"/>
          </a:xfrm>
          <a:prstGeom prst="roundRect">
            <a:avLst>
              <a:gd name="adj" fmla="val 13889"/>
            </a:avLst>
          </a:prstGeom>
          <a:solidFill>
            <a:srgbClr val="1C2026"/>
          </a:solidFill>
          <a:ln w="12700">
            <a:solidFill>
              <a:srgbClr val="1C2026"/>
            </a:solidFill>
            <a:prstDash val="solid"/>
          </a:ln>
        </p:spPr>
      </p:sp>
      <p:sp>
        <p:nvSpPr>
          <p:cNvPr id="46" name="Text 44"/>
          <p:cNvSpPr/>
          <p:nvPr/>
        </p:nvSpPr>
        <p:spPr>
          <a:xfrm>
            <a:off x="822960" y="4814316"/>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Audit records available via API</a:t>
            </a:r>
            <a:endParaRPr lang="en-US" sz="1000" dirty="0"/>
          </a:p>
        </p:txBody>
      </p:sp>
      <p:sp>
        <p:nvSpPr>
          <p:cNvPr id="47" name="Text 45"/>
          <p:cNvSpPr/>
          <p:nvPr/>
        </p:nvSpPr>
        <p:spPr>
          <a:xfrm>
            <a:off x="5760720" y="4814316"/>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8,789</a:t>
            </a:r>
            <a:endParaRPr lang="en-US" sz="1000" dirty="0"/>
          </a:p>
        </p:txBody>
      </p:sp>
      <p:sp>
        <p:nvSpPr>
          <p:cNvPr id="48" name="Text 46"/>
          <p:cNvSpPr/>
          <p:nvPr/>
        </p:nvSpPr>
        <p:spPr>
          <a:xfrm>
            <a:off x="7772400" y="4814316"/>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96,196</a:t>
            </a:r>
            <a:endParaRPr lang="en-US" sz="1000" dirty="0"/>
          </a:p>
        </p:txBody>
      </p:sp>
      <p:sp>
        <p:nvSpPr>
          <p:cNvPr id="49" name="Text 47"/>
          <p:cNvSpPr/>
          <p:nvPr/>
        </p:nvSpPr>
        <p:spPr>
          <a:xfrm>
            <a:off x="9692640" y="4814316"/>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6</a:t>
            </a:r>
            <a:endParaRPr lang="en-US" sz="1000" dirty="0"/>
          </a:p>
        </p:txBody>
      </p:sp>
      <p:sp>
        <p:nvSpPr>
          <p:cNvPr id="50" name="Shape 48"/>
          <p:cNvSpPr/>
          <p:nvPr/>
        </p:nvSpPr>
        <p:spPr>
          <a:xfrm>
            <a:off x="548640" y="5084064"/>
            <a:ext cx="11064240" cy="329184"/>
          </a:xfrm>
          <a:prstGeom prst="roundRect">
            <a:avLst>
              <a:gd name="adj" fmla="val 13889"/>
            </a:avLst>
          </a:prstGeom>
          <a:solidFill>
            <a:srgbClr val="15171B"/>
          </a:solidFill>
          <a:ln w="12700">
            <a:solidFill>
              <a:srgbClr val="15171B"/>
            </a:solidFill>
            <a:prstDash val="solid"/>
          </a:ln>
        </p:spPr>
      </p:sp>
      <p:sp>
        <p:nvSpPr>
          <p:cNvPr id="51" name="Text 49"/>
          <p:cNvSpPr/>
          <p:nvPr/>
        </p:nvSpPr>
        <p:spPr>
          <a:xfrm>
            <a:off x="822960" y="5184648"/>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filter risk_level = high (search)</a:t>
            </a:r>
            <a:endParaRPr lang="en-US" sz="1000" dirty="0"/>
          </a:p>
        </p:txBody>
      </p:sp>
      <p:sp>
        <p:nvSpPr>
          <p:cNvPr id="52" name="Text 50"/>
          <p:cNvSpPr/>
          <p:nvPr/>
        </p:nvSpPr>
        <p:spPr>
          <a:xfrm>
            <a:off x="5760720" y="5184648"/>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145</a:t>
            </a:r>
            <a:endParaRPr lang="en-US" sz="1000" dirty="0"/>
          </a:p>
        </p:txBody>
      </p:sp>
      <p:sp>
        <p:nvSpPr>
          <p:cNvPr id="53" name="Text 51"/>
          <p:cNvSpPr/>
          <p:nvPr/>
        </p:nvSpPr>
        <p:spPr>
          <a:xfrm>
            <a:off x="7772400" y="5184648"/>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75</a:t>
            </a:r>
            <a:endParaRPr lang="en-US" sz="1000" dirty="0"/>
          </a:p>
        </p:txBody>
      </p:sp>
      <p:sp>
        <p:nvSpPr>
          <p:cNvPr id="54" name="Text 52"/>
          <p:cNvSpPr/>
          <p:nvPr/>
        </p:nvSpPr>
        <p:spPr>
          <a:xfrm>
            <a:off x="9692640" y="5184648"/>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5</a:t>
            </a:r>
            <a:endParaRPr lang="en-US" sz="1000" dirty="0"/>
          </a:p>
        </p:txBody>
      </p:sp>
      <p:sp>
        <p:nvSpPr>
          <p:cNvPr id="55" name="Shape 53"/>
          <p:cNvSpPr/>
          <p:nvPr/>
        </p:nvSpPr>
        <p:spPr>
          <a:xfrm>
            <a:off x="548640" y="5486400"/>
            <a:ext cx="11064240" cy="841248"/>
          </a:xfrm>
          <a:prstGeom prst="roundRect">
            <a:avLst>
              <a:gd name="adj" fmla="val 5435"/>
            </a:avLst>
          </a:prstGeom>
          <a:solidFill>
            <a:srgbClr val="1C2026"/>
          </a:solidFill>
          <a:ln w="12700">
            <a:solidFill>
              <a:srgbClr val="1C2026"/>
            </a:solidFill>
            <a:prstDash val="solid"/>
          </a:ln>
        </p:spPr>
      </p:sp>
      <p:sp>
        <p:nvSpPr>
          <p:cNvPr id="56" name="Shape 54"/>
          <p:cNvSpPr/>
          <p:nvPr/>
        </p:nvSpPr>
        <p:spPr>
          <a:xfrm>
            <a:off x="804672" y="5705856"/>
            <a:ext cx="310896" cy="310896"/>
          </a:xfrm>
          <a:prstGeom prst="roundRect">
            <a:avLst>
              <a:gd name="adj" fmla="val 26471"/>
            </a:avLst>
          </a:prstGeom>
          <a:solidFill>
            <a:srgbClr val="F5A524"/>
          </a:solidFill>
          <a:ln w="12700">
            <a:solidFill>
              <a:srgbClr val="F5A524"/>
            </a:solidFill>
            <a:prstDash val="solid"/>
          </a:ln>
        </p:spPr>
      </p:sp>
      <p:sp>
        <p:nvSpPr>
          <p:cNvPr id="57" name="Text 55"/>
          <p:cNvSpPr/>
          <p:nvPr/>
        </p:nvSpPr>
        <p:spPr>
          <a:xfrm>
            <a:off x="804672" y="57058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8" name="Text 56"/>
          <p:cNvSpPr/>
          <p:nvPr/>
        </p:nvSpPr>
        <p:spPr>
          <a:xfrm>
            <a:off x="1298448" y="5577840"/>
            <a:ext cx="9966960" cy="6766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Scope of the evidence: measured against the KOI API directly, with the same bearer auth and API keys the two instances use. Only 8 of the 13 commands had their API exercised — the 5 state-changing ones were deliberately not run (VERIFIED_FACTS §1.1) — and none of the 13 was executed through XSIAM on that tenant (§6), so context mapping and human-readable output on these slides are asserted from the pack YAML, not observed. Running this guide from a war room is exactly what closes that gap.</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OUT OF SCOPE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Tests that do NOT apply to this pack, and why</a:t>
            </a:r>
            <a:endParaRPr lang="en-US" sz="3100" dirty="0"/>
          </a:p>
        </p:txBody>
      </p:sp>
      <p:sp>
        <p:nvSpPr>
          <p:cNvPr id="5" name="Text 3"/>
          <p:cNvSpPr/>
          <p:nvPr/>
        </p:nvSpPr>
        <p:spPr>
          <a:xfrm>
            <a:off x="548640" y="1243584"/>
            <a:ext cx="10607040" cy="512064"/>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These exist in the custom pack's test guide. Every one of them depends on something this pack does not contain. Do not run them, and do not report them as failures.</a:t>
            </a:r>
            <a:endParaRPr lang="en-US" sz="1150" dirty="0"/>
          </a:p>
        </p:txBody>
      </p:sp>
      <p:sp>
        <p:nvSpPr>
          <p:cNvPr id="6" name="Text 4"/>
          <p:cNvSpPr/>
          <p:nvPr/>
        </p:nvSpPr>
        <p:spPr>
          <a:xfrm>
            <a:off x="822960" y="1847088"/>
            <a:ext cx="329184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Dropped test</a:t>
            </a:r>
            <a:endParaRPr lang="en-US" sz="1000" dirty="0"/>
          </a:p>
        </p:txBody>
      </p:sp>
      <p:sp>
        <p:nvSpPr>
          <p:cNvPr id="7" name="Text 5"/>
          <p:cNvSpPr/>
          <p:nvPr/>
        </p:nvSpPr>
        <p:spPr>
          <a:xfrm>
            <a:off x="4297680" y="1847088"/>
            <a:ext cx="73152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Why it cannot run here</a:t>
            </a:r>
            <a:endParaRPr lang="en-US" sz="1000" dirty="0"/>
          </a:p>
        </p:txBody>
      </p:sp>
      <p:sp>
        <p:nvSpPr>
          <p:cNvPr id="8" name="Shape 6"/>
          <p:cNvSpPr/>
          <p:nvPr/>
        </p:nvSpPr>
        <p:spPr>
          <a:xfrm>
            <a:off x="548640" y="21579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276856"/>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Alert triage, end to end</a:t>
            </a:r>
            <a:endParaRPr lang="en-US" sz="1050" dirty="0"/>
          </a:p>
        </p:txBody>
      </p:sp>
      <p:sp>
        <p:nvSpPr>
          <p:cNvPr id="10" name="Text 8"/>
          <p:cNvSpPr/>
          <p:nvPr/>
        </p:nvSpPr>
        <p:spPr>
          <a:xfrm>
            <a:off x="4297680" y="2276856"/>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The pack ships no playbooks at all — and triage needs koi-koidex-risk-report, which does not exist here.</a:t>
            </a:r>
            <a:endParaRPr lang="en-US" sz="1000" dirty="0"/>
          </a:p>
        </p:txBody>
      </p:sp>
      <p:sp>
        <p:nvSpPr>
          <p:cNvPr id="11" name="Shape 9"/>
          <p:cNvSpPr/>
          <p:nvPr/>
        </p:nvSpPr>
        <p:spPr>
          <a:xfrm>
            <a:off x="548640" y="2697480"/>
            <a:ext cx="11064240" cy="457200"/>
          </a:xfrm>
          <a:prstGeom prst="roundRect">
            <a:avLst>
              <a:gd name="adj" fmla="val 10000"/>
            </a:avLst>
          </a:prstGeom>
          <a:solidFill>
            <a:srgbClr val="15171B"/>
          </a:solidFill>
          <a:ln w="12700">
            <a:solidFill>
              <a:srgbClr val="15171B"/>
            </a:solidFill>
            <a:prstDash val="solid"/>
          </a:ln>
        </p:spPr>
      </p:sp>
      <p:sp>
        <p:nvSpPr>
          <p:cNvPr id="12" name="Text 10"/>
          <p:cNvSpPr/>
          <p:nvPr/>
        </p:nvSpPr>
        <p:spPr>
          <a:xfrm>
            <a:off x="822960" y="2816352"/>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Item investigation</a:t>
            </a:r>
            <a:endParaRPr lang="en-US" sz="1050" dirty="0"/>
          </a:p>
        </p:txBody>
      </p:sp>
      <p:sp>
        <p:nvSpPr>
          <p:cNvPr id="13" name="Text 11"/>
          <p:cNvSpPr/>
          <p:nvPr/>
        </p:nvSpPr>
        <p:spPr>
          <a:xfrm>
            <a:off x="4297680" y="2816352"/>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koi-approval-requests-list, koi-koidex-risk-report and koi-remediations-list — none exist.</a:t>
            </a:r>
            <a:endParaRPr lang="en-US" sz="1000" dirty="0"/>
          </a:p>
        </p:txBody>
      </p:sp>
      <p:sp>
        <p:nvSpPr>
          <p:cNvPr id="14" name="Shape 12"/>
          <p:cNvSpPr/>
          <p:nvPr/>
        </p:nvSpPr>
        <p:spPr>
          <a:xfrm>
            <a:off x="548640" y="3236976"/>
            <a:ext cx="11064240" cy="457200"/>
          </a:xfrm>
          <a:prstGeom prst="roundRect">
            <a:avLst>
              <a:gd name="adj" fmla="val 10000"/>
            </a:avLst>
          </a:prstGeom>
          <a:solidFill>
            <a:srgbClr val="15171B"/>
          </a:solidFill>
          <a:ln w="12700">
            <a:solidFill>
              <a:srgbClr val="15171B"/>
            </a:solidFill>
            <a:prstDash val="solid"/>
          </a:ln>
        </p:spPr>
      </p:sp>
      <p:sp>
        <p:nvSpPr>
          <p:cNvPr id="15" name="Text 13"/>
          <p:cNvSpPr/>
          <p:nvPr/>
        </p:nvSpPr>
        <p:spPr>
          <a:xfrm>
            <a:off x="822960" y="3355848"/>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Device investigation</a:t>
            </a:r>
            <a:endParaRPr lang="en-US" sz="1050" dirty="0"/>
          </a:p>
        </p:txBody>
      </p:sp>
      <p:sp>
        <p:nvSpPr>
          <p:cNvPr id="16" name="Text 14"/>
          <p:cNvSpPr/>
          <p:nvPr/>
        </p:nvSpPr>
        <p:spPr>
          <a:xfrm>
            <a:off x="4297680" y="3355848"/>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koi-device-inventory-get and koi-remediations-list. No device-centric command and no Koi.Device.* — but koi-inventory-list takes device_id.</a:t>
            </a:r>
            <a:endParaRPr lang="en-US" sz="1000" dirty="0"/>
          </a:p>
        </p:txBody>
      </p:sp>
      <p:sp>
        <p:nvSpPr>
          <p:cNvPr id="17" name="Shape 15"/>
          <p:cNvSpPr/>
          <p:nvPr/>
        </p:nvSpPr>
        <p:spPr>
          <a:xfrm>
            <a:off x="548640" y="3776472"/>
            <a:ext cx="11064240" cy="457200"/>
          </a:xfrm>
          <a:prstGeom prst="roundRect">
            <a:avLst>
              <a:gd name="adj" fmla="val 10000"/>
            </a:avLst>
          </a:prstGeom>
          <a:solidFill>
            <a:srgbClr val="15171B"/>
          </a:solidFill>
          <a:ln w="12700">
            <a:solidFill>
              <a:srgbClr val="15171B"/>
            </a:solidFill>
            <a:prstDash val="solid"/>
          </a:ln>
        </p:spPr>
      </p:sp>
      <p:sp>
        <p:nvSpPr>
          <p:cNvPr id="18" name="Text 16"/>
          <p:cNvSpPr/>
          <p:nvPr/>
        </p:nvSpPr>
        <p:spPr>
          <a:xfrm>
            <a:off x="822960" y="3895344"/>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Gated response / approval</a:t>
            </a:r>
            <a:endParaRPr lang="en-US" sz="1050" dirty="0"/>
          </a:p>
        </p:txBody>
      </p:sp>
      <p:sp>
        <p:nvSpPr>
          <p:cNvPr id="19" name="Text 17"/>
          <p:cNvSpPr/>
          <p:nvPr/>
        </p:nvSpPr>
        <p:spPr>
          <a:xfrm>
            <a:off x="4297680" y="3895344"/>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the response playbook. The blocklist write here is a bare command with no approval step around it.</a:t>
            </a:r>
            <a:endParaRPr lang="en-US" sz="1000" dirty="0"/>
          </a:p>
        </p:txBody>
      </p:sp>
      <p:sp>
        <p:nvSpPr>
          <p:cNvPr id="20" name="Shape 18"/>
          <p:cNvSpPr/>
          <p:nvPr/>
        </p:nvSpPr>
        <p:spPr>
          <a:xfrm>
            <a:off x="548640" y="4315968"/>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4434840"/>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Dashboard and data model</a:t>
            </a:r>
            <a:endParaRPr lang="en-US" sz="1050" dirty="0"/>
          </a:p>
        </p:txBody>
      </p:sp>
      <p:sp>
        <p:nvSpPr>
          <p:cNvPr id="22" name="Text 20"/>
          <p:cNvSpPr/>
          <p:nvPr/>
        </p:nvSpPr>
        <p:spPr>
          <a:xfrm>
            <a:off x="4297680" y="4434840"/>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No dashboard ships, and no modeling rules — every xdm.* field stays empty (test 10).</a:t>
            </a:r>
            <a:endParaRPr lang="en-US" sz="1000" dirty="0"/>
          </a:p>
        </p:txBody>
      </p:sp>
      <p:sp>
        <p:nvSpPr>
          <p:cNvPr id="23" name="Shape 21"/>
          <p:cNvSpPr/>
          <p:nvPr/>
        </p:nvSpPr>
        <p:spPr>
          <a:xfrm>
            <a:off x="548640" y="4855464"/>
            <a:ext cx="11064240" cy="457200"/>
          </a:xfrm>
          <a:prstGeom prst="roundRect">
            <a:avLst>
              <a:gd name="adj" fmla="val 10000"/>
            </a:avLst>
          </a:prstGeom>
          <a:solidFill>
            <a:srgbClr val="15171B"/>
          </a:solidFill>
          <a:ln w="12700">
            <a:solidFill>
              <a:srgbClr val="15171B"/>
            </a:solidFill>
            <a:prstDash val="solid"/>
          </a:ln>
        </p:spPr>
      </p:sp>
      <p:sp>
        <p:nvSpPr>
          <p:cNvPr id="24" name="Text 22"/>
          <p:cNvSpPr/>
          <p:nvPr/>
        </p:nvSpPr>
        <p:spPr>
          <a:xfrm>
            <a:off x="822960" y="4974336"/>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Collector cursor inspection</a:t>
            </a:r>
            <a:endParaRPr lang="en-US" sz="1050" dirty="0"/>
          </a:p>
        </p:txBody>
      </p:sp>
      <p:sp>
        <p:nvSpPr>
          <p:cNvPr id="25" name="Text 23"/>
          <p:cNvSpPr/>
          <p:nvPr/>
        </p:nvSpPr>
        <p:spPr>
          <a:xfrm>
            <a:off x="4297680" y="4974336"/>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koi-fetch-context-get / -set. Fetch state cannot be inspected from a command.</a:t>
            </a:r>
            <a:endParaRPr lang="en-US" sz="1000" dirty="0"/>
          </a:p>
        </p:txBody>
      </p:sp>
      <p:sp>
        <p:nvSpPr>
          <p:cNvPr id="26" name="Shape 24"/>
          <p:cNvSpPr/>
          <p:nvPr/>
        </p:nvSpPr>
        <p:spPr>
          <a:xfrm>
            <a:off x="548640" y="5394960"/>
            <a:ext cx="11064240" cy="457200"/>
          </a:xfrm>
          <a:prstGeom prst="roundRect">
            <a:avLst>
              <a:gd name="adj" fmla="val 10000"/>
            </a:avLst>
          </a:prstGeom>
          <a:solidFill>
            <a:srgbClr val="15171B"/>
          </a:solidFill>
          <a:ln w="12700">
            <a:solidFill>
              <a:srgbClr val="15171B"/>
            </a:solidFill>
            <a:prstDash val="solid"/>
          </a:ln>
        </p:spPr>
      </p:sp>
      <p:sp>
        <p:nvSpPr>
          <p:cNvPr id="27" name="Text 25"/>
          <p:cNvSpPr/>
          <p:nvPr/>
        </p:nvSpPr>
        <p:spPr>
          <a:xfrm>
            <a:off x="822960" y="5513832"/>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Egress probe via user listing</a:t>
            </a:r>
            <a:endParaRPr lang="en-US" sz="1050" dirty="0"/>
          </a:p>
        </p:txBody>
      </p:sp>
      <p:sp>
        <p:nvSpPr>
          <p:cNvPr id="28" name="Text 26"/>
          <p:cNvSpPr/>
          <p:nvPr/>
        </p:nvSpPr>
        <p:spPr>
          <a:xfrm>
            <a:off x="4297680" y="5513832"/>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koi-users-list. Use koi-policy-list limit=1 as the probe instead (test 2).</a:t>
            </a:r>
            <a:endParaRPr lang="en-US" sz="1000" dirty="0"/>
          </a:p>
        </p:txBody>
      </p:sp>
      <p:sp>
        <p:nvSpPr>
          <p:cNvPr id="29" name="Shape 27"/>
          <p:cNvSpPr/>
          <p:nvPr/>
        </p:nvSpPr>
        <p:spPr>
          <a:xfrm>
            <a:off x="548640" y="5961888"/>
            <a:ext cx="11064240" cy="420624"/>
          </a:xfrm>
          <a:prstGeom prst="roundRect">
            <a:avLst>
              <a:gd name="adj" fmla="val 10870"/>
            </a:avLst>
          </a:prstGeom>
          <a:solidFill>
            <a:srgbClr val="1C2026"/>
          </a:solidFill>
          <a:ln w="12700">
            <a:solidFill>
              <a:srgbClr val="1C2026"/>
            </a:solidFill>
            <a:prstDash val="solid"/>
          </a:ln>
        </p:spPr>
      </p:sp>
      <p:sp>
        <p:nvSpPr>
          <p:cNvPr id="30" name="Text 28"/>
          <p:cNvSpPr/>
          <p:nvPr/>
        </p:nvSpPr>
        <p:spPr>
          <a:xfrm>
            <a:off x="804672" y="6035040"/>
            <a:ext cx="10552176" cy="310896"/>
          </a:xfrm>
          <a:prstGeom prst="rect">
            <a:avLst/>
          </a:prstGeom>
          <a:noFill/>
          <a:ln/>
        </p:spPr>
        <p:txBody>
          <a:bodyPr wrap="square" lIns="0" tIns="0" rIns="0" bIns="0" rtlCol="0" anchor="t"/>
          <a:lstStyle/>
          <a:p>
            <a:pPr indent="0" marL="0">
              <a:lnSpc>
                <a:spcPts val="1100"/>
              </a:lnSpc>
              <a:buNone/>
            </a:pPr>
            <a:r>
              <a:rPr lang="en-US" sz="900" dirty="0">
                <a:solidFill>
                  <a:srgbClr val="F04438"/>
                </a:solidFill>
                <a:latin typeface="Calibri" pitchFamily="34" charset="0"/>
                <a:ea typeface="Calibri" pitchFamily="34" charset="-122"/>
                <a:cs typeface="Calibri" pitchFamily="34" charset="-120"/>
              </a:rPr>
              <a:t>The 13 commands that do NOT exist in this pack:  koi-devices-list · koi-device-inventory-get · koi-koidex-risk-report · koi-koidex-search · koi-remediations-list · koi-approval-requests-list · koi-findings-list · koi-users-list · koi-groups-list · koi-runtime-policies-list · koi-runtime-policy-get · koi-fetch-context-get · koi-fetch-context-set</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ADDITIONAL CONTENT</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playbooks — portable, but not in this pack</a:t>
            </a:r>
            <a:endParaRPr lang="en-US" sz="3100" dirty="0"/>
          </a:p>
        </p:txBody>
      </p:sp>
      <p:sp>
        <p:nvSpPr>
          <p:cNvPr id="5" name="Shape 3"/>
          <p:cNvSpPr/>
          <p:nvPr/>
        </p:nvSpPr>
        <p:spPr>
          <a:xfrm>
            <a:off x="548640" y="1371600"/>
            <a:ext cx="11064240" cy="786384"/>
          </a:xfrm>
          <a:prstGeom prst="roundRect">
            <a:avLst>
              <a:gd name="adj" fmla="val 5814"/>
            </a:avLst>
          </a:prstGeom>
          <a:solidFill>
            <a:srgbClr val="1C2026"/>
          </a:solidFill>
          <a:ln w="12700">
            <a:solidFill>
              <a:srgbClr val="1C2026"/>
            </a:solidFill>
            <a:prstDash val="solid"/>
          </a:ln>
        </p:spPr>
      </p:sp>
      <p:sp>
        <p:nvSpPr>
          <p:cNvPr id="6" name="Shape 4"/>
          <p:cNvSpPr/>
          <p:nvPr/>
        </p:nvSpPr>
        <p:spPr>
          <a:xfrm>
            <a:off x="804672" y="1572768"/>
            <a:ext cx="310896" cy="310896"/>
          </a:xfrm>
          <a:prstGeom prst="roundRect">
            <a:avLst>
              <a:gd name="adj" fmla="val 26471"/>
            </a:avLst>
          </a:prstGeom>
          <a:solidFill>
            <a:srgbClr val="F5A524"/>
          </a:solidFill>
          <a:ln w="12700">
            <a:solidFill>
              <a:srgbClr val="F5A524"/>
            </a:solidFill>
            <a:prstDash val="solid"/>
          </a:ln>
        </p:spPr>
      </p:sp>
      <p:sp>
        <p:nvSpPr>
          <p:cNvPr id="7" name="Text 5"/>
          <p:cNvSpPr/>
          <p:nvPr/>
        </p:nvSpPr>
        <p:spPr>
          <a:xfrm>
            <a:off x="804672" y="15727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8" name="Text 6"/>
          <p:cNvSpPr/>
          <p:nvPr/>
        </p:nvSpPr>
        <p:spPr>
          <a:xfrm>
            <a:off x="1298448" y="1463040"/>
            <a:ext cx="9966960" cy="621792"/>
          </a:xfrm>
          <a:prstGeom prst="rect">
            <a:avLst/>
          </a:prstGeom>
          <a:noFill/>
          <a:ln/>
        </p:spPr>
        <p:txBody>
          <a:bodyPr wrap="square" lIns="0" tIns="0" rIns="0" bIns="0" rtlCol="0" anchor="t"/>
          <a:lstStyle/>
          <a:p>
            <a:pPr indent="0" marL="0">
              <a:lnSpc>
                <a:spcPts val="1300"/>
              </a:lnSpc>
              <a:buNone/>
            </a:pPr>
            <a:r>
              <a:rPr lang="en-US" sz="1050" dirty="0">
                <a:solidFill>
                  <a:srgbClr val="F5A524"/>
                </a:solidFill>
                <a:latin typeface="Calibri" pitchFamily="34" charset="0"/>
                <a:ea typeface="Calibri" pitchFamily="34" charset="-122"/>
                <a:cs typeface="Calibri" pitchFamily="34" charset="-120"/>
              </a:rPr>
              <a:t>NOT PART OF THE MARKETPLACE KOI PACK v1.2.3. This pack ships an integration and nothing else — no playbooks. The three playbooks below come from the separate custom pack. If you deploy them you are adding content, and you must say so on any test report.</a:t>
            </a:r>
            <a:endParaRPr lang="en-US" sz="1050" dirty="0"/>
          </a:p>
        </p:txBody>
      </p:sp>
      <p:sp>
        <p:nvSpPr>
          <p:cNvPr id="9" name="Text 7"/>
          <p:cNvSpPr/>
          <p:nvPr/>
        </p:nvSpPr>
        <p:spPr>
          <a:xfrm>
            <a:off x="548640" y="2304288"/>
            <a:ext cx="10607040" cy="512064"/>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They are worth knowing about because they are the one workflow that transfers unchanged: they call no koi-* command at all, only Cortex-native ones. Nothing in them depends on which KOI pack is installed — or on any KOI pack being installed.</a:t>
            </a:r>
            <a:endParaRPr lang="en-US" sz="1150" dirty="0"/>
          </a:p>
        </p:txBody>
      </p:sp>
      <p:sp>
        <p:nvSpPr>
          <p:cNvPr id="10" name="Shape 8"/>
          <p:cNvSpPr/>
          <p:nvPr/>
        </p:nvSpPr>
        <p:spPr>
          <a:xfrm>
            <a:off x="548640" y="2926080"/>
            <a:ext cx="3505200" cy="960120"/>
          </a:xfrm>
          <a:prstGeom prst="roundRect">
            <a:avLst>
              <a:gd name="adj" fmla="val 4762"/>
            </a:avLst>
          </a:prstGeom>
          <a:solidFill>
            <a:srgbClr val="15171B"/>
          </a:solidFill>
          <a:ln w="12700">
            <a:solidFill>
              <a:srgbClr val="15171B"/>
            </a:solidFill>
            <a:prstDash val="solid"/>
          </a:ln>
        </p:spPr>
      </p:sp>
      <p:sp>
        <p:nvSpPr>
          <p:cNvPr id="11" name="Text 9"/>
          <p:cNvSpPr/>
          <p:nvPr/>
        </p:nvSpPr>
        <p:spPr>
          <a:xfrm>
            <a:off x="786384" y="3108960"/>
            <a:ext cx="3029712" cy="274320"/>
          </a:xfrm>
          <a:prstGeom prst="rect">
            <a:avLst/>
          </a:prstGeom>
          <a:noFill/>
          <a:ln/>
        </p:spPr>
        <p:txBody>
          <a:bodyPr wrap="square" lIns="0" tIns="0" rIns="0" bIns="0" rtlCol="0" anchor="t"/>
          <a:lstStyle/>
          <a:p>
            <a:pPr indent="0" marL="0">
              <a:buNone/>
            </a:pPr>
            <a:r>
              <a:rPr lang="en-US" sz="1150" b="1" dirty="0">
                <a:solidFill>
                  <a:srgbClr val="22D3EE"/>
                </a:solidFill>
                <a:latin typeface="Calibri" pitchFamily="34" charset="0"/>
                <a:ea typeface="Calibri" pitchFamily="34" charset="-122"/>
                <a:cs typeface="Calibri" pitchFamily="34" charset="-120"/>
              </a:rPr>
              <a:t>Koi Unified - Script Runner</a:t>
            </a:r>
            <a:endParaRPr lang="en-US" sz="1150" dirty="0"/>
          </a:p>
        </p:txBody>
      </p:sp>
      <p:sp>
        <p:nvSpPr>
          <p:cNvPr id="12" name="Text 10"/>
          <p:cNvSpPr/>
          <p:nvPr/>
        </p:nvSpPr>
        <p:spPr>
          <a:xfrm>
            <a:off x="786384" y="3401568"/>
            <a:ext cx="3029712" cy="274320"/>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The Job entry point</a:t>
            </a:r>
            <a:endParaRPr lang="en-US" sz="1000" dirty="0"/>
          </a:p>
        </p:txBody>
      </p:sp>
      <p:sp>
        <p:nvSpPr>
          <p:cNvPr id="13" name="Shape 11"/>
          <p:cNvSpPr/>
          <p:nvPr/>
        </p:nvSpPr>
        <p:spPr>
          <a:xfrm>
            <a:off x="4328160" y="2926080"/>
            <a:ext cx="3505200" cy="960120"/>
          </a:xfrm>
          <a:prstGeom prst="roundRect">
            <a:avLst>
              <a:gd name="adj" fmla="val 4762"/>
            </a:avLst>
          </a:prstGeom>
          <a:solidFill>
            <a:srgbClr val="15171B"/>
          </a:solidFill>
          <a:ln w="12700">
            <a:solidFill>
              <a:srgbClr val="15171B"/>
            </a:solidFill>
            <a:prstDash val="solid"/>
          </a:ln>
        </p:spPr>
      </p:sp>
      <p:sp>
        <p:nvSpPr>
          <p:cNvPr id="14" name="Text 12"/>
          <p:cNvSpPr/>
          <p:nvPr/>
        </p:nvSpPr>
        <p:spPr>
          <a:xfrm>
            <a:off x="4565904" y="3108960"/>
            <a:ext cx="3029712" cy="274320"/>
          </a:xfrm>
          <a:prstGeom prst="rect">
            <a:avLst/>
          </a:prstGeom>
          <a:noFill/>
          <a:ln/>
        </p:spPr>
        <p:txBody>
          <a:bodyPr wrap="square" lIns="0" tIns="0" rIns="0" bIns="0" rtlCol="0" anchor="t"/>
          <a:lstStyle/>
          <a:p>
            <a:pPr indent="0" marL="0">
              <a:buNone/>
            </a:pPr>
            <a:r>
              <a:rPr lang="en-US" sz="1150" b="1" dirty="0">
                <a:solidFill>
                  <a:srgbClr val="22D3EE"/>
                </a:solidFill>
                <a:latin typeface="Calibri" pitchFamily="34" charset="0"/>
                <a:ea typeface="Calibri" pitchFamily="34" charset="-122"/>
                <a:cs typeface="Calibri" pitchFamily="34" charset="-120"/>
              </a:rPr>
              <a:t>Koi Unified - Process Config Entry</a:t>
            </a:r>
            <a:endParaRPr lang="en-US" sz="1150" dirty="0"/>
          </a:p>
        </p:txBody>
      </p:sp>
      <p:sp>
        <p:nvSpPr>
          <p:cNvPr id="15" name="Text 13"/>
          <p:cNvSpPr/>
          <p:nvPr/>
        </p:nvSpPr>
        <p:spPr>
          <a:xfrm>
            <a:off x="4565904" y="3401568"/>
            <a:ext cx="3029712" cy="274320"/>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Handles one configuration entry</a:t>
            </a:r>
            <a:endParaRPr lang="en-US" sz="1000" dirty="0"/>
          </a:p>
        </p:txBody>
      </p:sp>
      <p:sp>
        <p:nvSpPr>
          <p:cNvPr id="16" name="Shape 14"/>
          <p:cNvSpPr/>
          <p:nvPr/>
        </p:nvSpPr>
        <p:spPr>
          <a:xfrm>
            <a:off x="8107680" y="2926080"/>
            <a:ext cx="3505200" cy="960120"/>
          </a:xfrm>
          <a:prstGeom prst="roundRect">
            <a:avLst>
              <a:gd name="adj" fmla="val 4762"/>
            </a:avLst>
          </a:prstGeom>
          <a:solidFill>
            <a:srgbClr val="15171B"/>
          </a:solidFill>
          <a:ln w="12700">
            <a:solidFill>
              <a:srgbClr val="15171B"/>
            </a:solidFill>
            <a:prstDash val="solid"/>
          </a:ln>
        </p:spPr>
      </p:sp>
      <p:sp>
        <p:nvSpPr>
          <p:cNvPr id="17" name="Text 15"/>
          <p:cNvSpPr/>
          <p:nvPr/>
        </p:nvSpPr>
        <p:spPr>
          <a:xfrm>
            <a:off x="8345424" y="3108960"/>
            <a:ext cx="3029712" cy="274320"/>
          </a:xfrm>
          <a:prstGeom prst="rect">
            <a:avLst/>
          </a:prstGeom>
          <a:noFill/>
          <a:ln/>
        </p:spPr>
        <p:txBody>
          <a:bodyPr wrap="square" lIns="0" tIns="0" rIns="0" bIns="0" rtlCol="0" anchor="t"/>
          <a:lstStyle/>
          <a:p>
            <a:pPr indent="0" marL="0">
              <a:buNone/>
            </a:pPr>
            <a:r>
              <a:rPr lang="en-US" sz="1150" b="1" dirty="0">
                <a:solidFill>
                  <a:srgbClr val="22D3EE"/>
                </a:solidFill>
                <a:latin typeface="Calibri" pitchFamily="34" charset="0"/>
                <a:ea typeface="Calibri" pitchFamily="34" charset="-122"/>
                <a:cs typeface="Calibri" pitchFamily="34" charset="-120"/>
              </a:rPr>
              <a:t>Koi Unified - Execute Endpoint Script</a:t>
            </a:r>
            <a:endParaRPr lang="en-US" sz="1150" dirty="0"/>
          </a:p>
        </p:txBody>
      </p:sp>
      <p:sp>
        <p:nvSpPr>
          <p:cNvPr id="18" name="Text 16"/>
          <p:cNvSpPr/>
          <p:nvPr/>
        </p:nvSpPr>
        <p:spPr>
          <a:xfrm>
            <a:off x="8345424" y="3401568"/>
            <a:ext cx="3029712" cy="274320"/>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Dispatches the script to endpoints</a:t>
            </a:r>
            <a:endParaRPr lang="en-US" sz="1000" dirty="0"/>
          </a:p>
        </p:txBody>
      </p:sp>
      <p:sp>
        <p:nvSpPr>
          <p:cNvPr id="19" name="Shape 17"/>
          <p:cNvSpPr/>
          <p:nvPr/>
        </p:nvSpPr>
        <p:spPr>
          <a:xfrm>
            <a:off x="548640" y="4059936"/>
            <a:ext cx="11064240" cy="1225296"/>
          </a:xfrm>
          <a:prstGeom prst="roundRect">
            <a:avLst>
              <a:gd name="adj" fmla="val 3731"/>
            </a:avLst>
          </a:prstGeom>
          <a:solidFill>
            <a:srgbClr val="15171B"/>
          </a:solidFill>
          <a:ln w="12700">
            <a:solidFill>
              <a:srgbClr val="15171B"/>
            </a:solidFill>
            <a:prstDash val="solid"/>
          </a:ln>
        </p:spPr>
      </p:sp>
      <p:sp>
        <p:nvSpPr>
          <p:cNvPr id="20" name="Text 18"/>
          <p:cNvSpPr/>
          <p:nvPr/>
        </p:nvSpPr>
        <p:spPr>
          <a:xfrm>
            <a:off x="822960" y="4206240"/>
            <a:ext cx="4572000" cy="237744"/>
          </a:xfrm>
          <a:prstGeom prst="rect">
            <a:avLst/>
          </a:prstGeom>
          <a:noFill/>
          <a:ln/>
        </p:spPr>
        <p:txBody>
          <a:bodyPr wrap="square" lIns="0" tIns="0" rIns="0" bIns="0" rtlCol="0" anchor="t"/>
          <a:lstStyle/>
          <a:p>
            <a:pPr indent="0" marL="0">
              <a:buNone/>
            </a:pPr>
            <a:r>
              <a:rPr lang="en-US" sz="1100" b="1" dirty="0">
                <a:solidFill>
                  <a:srgbClr val="3FB950"/>
                </a:solidFill>
                <a:latin typeface="Calibri" pitchFamily="34" charset="0"/>
                <a:ea typeface="Calibri" pitchFamily="34" charset="-122"/>
                <a:cs typeface="Calibri" pitchFamily="34" charset="-120"/>
              </a:rPr>
              <a:t>The only KOI commands they invoke:  none</a:t>
            </a:r>
            <a:endParaRPr lang="en-US" sz="1100" dirty="0"/>
          </a:p>
        </p:txBody>
      </p:sp>
      <p:sp>
        <p:nvSpPr>
          <p:cNvPr id="21" name="Text 19"/>
          <p:cNvSpPr/>
          <p:nvPr/>
        </p:nvSpPr>
        <p:spPr>
          <a:xfrm>
            <a:off x="822960" y="4498848"/>
            <a:ext cx="10515600" cy="310896"/>
          </a:xfrm>
          <a:prstGeom prst="rect">
            <a:avLst/>
          </a:prstGeom>
          <a:noFill/>
          <a:ln/>
        </p:spPr>
        <p:txBody>
          <a:bodyPr wrap="square" lIns="0" tIns="0" rIns="0" bIns="0" rtlCol="0" anchor="t"/>
          <a:lstStyle/>
          <a:p>
            <a:pPr indent="0" marL="0">
              <a:buNone/>
            </a:pPr>
            <a:r>
              <a:rPr lang="en-US" sz="1200" dirty="0">
                <a:solidFill>
                  <a:srgbClr val="22D3EE"/>
                </a:solidFill>
                <a:latin typeface="Courier New" pitchFamily="34" charset="0"/>
                <a:ea typeface="Courier New" pitchFamily="34" charset="-122"/>
                <a:cs typeface="Courier New" pitchFamily="34" charset="-120"/>
              </a:rPr>
              <a:t>core-get-scripts        core-get-endpoints        core-script-run</a:t>
            </a:r>
            <a:endParaRPr lang="en-US" sz="1200" dirty="0"/>
          </a:p>
        </p:txBody>
      </p:sp>
      <p:sp>
        <p:nvSpPr>
          <p:cNvPr id="22" name="Text 20"/>
          <p:cNvSpPr/>
          <p:nvPr/>
        </p:nvSpPr>
        <p:spPr>
          <a:xfrm>
            <a:off x="822960" y="4864608"/>
            <a:ext cx="10515600" cy="365760"/>
          </a:xfrm>
          <a:prstGeom prst="rect">
            <a:avLst/>
          </a:prstGeom>
          <a:noFill/>
          <a:ln/>
        </p:spPr>
        <p:txBody>
          <a:bodyPr wrap="square" lIns="0" tIns="0" rIns="0" bIns="0" rtlCol="0" anchor="t"/>
          <a:lstStyle/>
          <a:p>
            <a:pPr indent="0" marL="0">
              <a:lnSpc>
                <a:spcPts val="1200"/>
              </a:lnSpc>
              <a:buNone/>
            </a:pPr>
            <a:r>
              <a:rPr lang="en-US" sz="1000" i="1" dirty="0">
                <a:solidFill>
                  <a:srgbClr val="6E747E"/>
                </a:solidFill>
                <a:latin typeface="Calibri" pitchFamily="34" charset="0"/>
                <a:ea typeface="Calibri" pitchFamily="34" charset="-122"/>
                <a:cs typeface="Calibri" pitchFamily="34" charset="-120"/>
              </a:rPr>
              <a:t>Those three are Cortex-native — but the playbooks are not command-free: they also use Print, PrintErrorEntry, SetAndHandleEmpty, DeleteContext, GetErrorsFromEntry and the builtin closeInvestigation. None of it touches KOI: no KOI API key, no KOI integration instance, no koi-* command.</a:t>
            </a:r>
            <a:endParaRPr lang="en-US" sz="1000" dirty="0"/>
          </a:p>
        </p:txBody>
      </p:sp>
      <p:sp>
        <p:nvSpPr>
          <p:cNvPr id="23" name="Shape 21"/>
          <p:cNvSpPr/>
          <p:nvPr/>
        </p:nvSpPr>
        <p:spPr>
          <a:xfrm>
            <a:off x="548640" y="5358384"/>
            <a:ext cx="11064240" cy="1005840"/>
          </a:xfrm>
          <a:prstGeom prst="roundRect">
            <a:avLst>
              <a:gd name="adj" fmla="val 4545"/>
            </a:avLst>
          </a:prstGeom>
          <a:solidFill>
            <a:srgbClr val="1C2026"/>
          </a:solidFill>
          <a:ln w="12700">
            <a:solidFill>
              <a:srgbClr val="1C2026"/>
            </a:solidFill>
            <a:prstDash val="solid"/>
          </a:ln>
        </p:spPr>
      </p:sp>
      <p:sp>
        <p:nvSpPr>
          <p:cNvPr id="24" name="Text 22"/>
          <p:cNvSpPr/>
          <p:nvPr/>
        </p:nvSpPr>
        <p:spPr>
          <a:xfrm>
            <a:off x="822960" y="5449824"/>
            <a:ext cx="4572000" cy="237744"/>
          </a:xfrm>
          <a:prstGeom prst="rect">
            <a:avLst/>
          </a:prstGeom>
          <a:noFill/>
          <a:ln/>
        </p:spPr>
        <p:txBody>
          <a:bodyPr wrap="square" lIns="0" tIns="0" rIns="0" bIns="0" rtlCol="0" anchor="t"/>
          <a:lstStyle/>
          <a:p>
            <a:pPr indent="0" marL="0">
              <a:buNone/>
            </a:pPr>
            <a:r>
              <a:rPr lang="en-US" sz="1100" b="1" dirty="0">
                <a:solidFill>
                  <a:srgbClr val="3FB950"/>
                </a:solidFill>
                <a:latin typeface="Calibri" pitchFamily="34" charset="0"/>
                <a:ea typeface="Calibri" pitchFamily="34" charset="-122"/>
                <a:cs typeface="Calibri" pitchFamily="34" charset="-120"/>
              </a:rPr>
              <a:t>If you test them, test them separately</a:t>
            </a:r>
            <a:endParaRPr lang="en-US" sz="1100" dirty="0"/>
          </a:p>
        </p:txBody>
      </p:sp>
      <p:sp>
        <p:nvSpPr>
          <p:cNvPr id="25" name="Text 23"/>
          <p:cNvSpPr/>
          <p:nvPr/>
        </p:nvSpPr>
        <p:spPr>
          <a:xfrm>
            <a:off x="822960" y="5705856"/>
            <a:ext cx="10515600" cy="603504"/>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Import the three playbooks and their JSON configuration List by hand, attach the entry-point playbook to a time-triggered Job, and record the result under a heading that names them as additional content. Their prerequisites are Cortex agents and a script package in the Scripts Library — not anything from KOI. Keep the result out of the pack's own pass/fail matrix: a Script Runner failure says nothing about the Marketplace KOI pack v1.2.3, and a Script Runner pass proves nothing about it either.</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Shape 1"/>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4" name="Text 2"/>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5" name="Text 3"/>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6" name="Shape 4"/>
          <p:cNvSpPr/>
          <p:nvPr/>
        </p:nvSpPr>
        <p:spPr>
          <a:xfrm>
            <a:off x="548640" y="1481328"/>
            <a:ext cx="5349240" cy="621792"/>
          </a:xfrm>
          <a:prstGeom prst="roundRect">
            <a:avLst>
              <a:gd name="adj" fmla="val 7353"/>
            </a:avLst>
          </a:prstGeom>
          <a:solidFill>
            <a:srgbClr val="15171B"/>
          </a:solidFill>
          <a:ln w="12700">
            <a:solidFill>
              <a:srgbClr val="15171B"/>
            </a:solidFill>
            <a:prstDash val="solid"/>
          </a:ln>
        </p:spPr>
      </p:sp>
      <p:sp>
        <p:nvSpPr>
          <p:cNvPr id="7" name="Shape 5"/>
          <p:cNvSpPr/>
          <p:nvPr/>
        </p:nvSpPr>
        <p:spPr>
          <a:xfrm>
            <a:off x="749808" y="1627632"/>
            <a:ext cx="329184" cy="329184"/>
          </a:xfrm>
          <a:prstGeom prst="roundRect">
            <a:avLst>
              <a:gd name="adj" fmla="val 25000"/>
            </a:avLst>
          </a:prstGeom>
          <a:solidFill>
            <a:srgbClr val="3FB950"/>
          </a:solidFill>
          <a:ln w="12700">
            <a:solidFill>
              <a:srgbClr val="3FB950"/>
            </a:solidFill>
            <a:prstDash val="solid"/>
          </a:ln>
        </p:spPr>
      </p:sp>
      <p:sp>
        <p:nvSpPr>
          <p:cNvPr id="8" name="Text 6"/>
          <p:cNvSpPr/>
          <p:nvPr/>
        </p:nvSpPr>
        <p:spPr>
          <a:xfrm>
            <a:off x="749808" y="1627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243584" y="157276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Pack version reads 1.2.3 and exactly 13 koi-* commands are registered</a:t>
            </a:r>
            <a:endParaRPr lang="en-US" sz="1000" dirty="0"/>
          </a:p>
        </p:txBody>
      </p:sp>
      <p:sp>
        <p:nvSpPr>
          <p:cNvPr id="10" name="Shape 8"/>
          <p:cNvSpPr/>
          <p:nvPr/>
        </p:nvSpPr>
        <p:spPr>
          <a:xfrm>
            <a:off x="548640" y="2212848"/>
            <a:ext cx="5349240" cy="621792"/>
          </a:xfrm>
          <a:prstGeom prst="roundRect">
            <a:avLst>
              <a:gd name="adj" fmla="val 7353"/>
            </a:avLst>
          </a:prstGeom>
          <a:solidFill>
            <a:srgbClr val="15171B"/>
          </a:solidFill>
          <a:ln w="12700">
            <a:solidFill>
              <a:srgbClr val="15171B"/>
            </a:solidFill>
            <a:prstDash val="solid"/>
          </a:ln>
        </p:spPr>
      </p:sp>
      <p:sp>
        <p:nvSpPr>
          <p:cNvPr id="11" name="Shape 9"/>
          <p:cNvSpPr/>
          <p:nvPr/>
        </p:nvSpPr>
        <p:spPr>
          <a:xfrm>
            <a:off x="749808" y="2359152"/>
            <a:ext cx="329184" cy="329184"/>
          </a:xfrm>
          <a:prstGeom prst="roundRect">
            <a:avLst>
              <a:gd name="adj" fmla="val 25000"/>
            </a:avLst>
          </a:prstGeom>
          <a:solidFill>
            <a:srgbClr val="3FB950"/>
          </a:solidFill>
          <a:ln w="12700">
            <a:solidFill>
              <a:srgbClr val="3FB950"/>
            </a:solidFill>
            <a:prstDash val="solid"/>
          </a:ln>
        </p:spPr>
      </p:sp>
      <p:sp>
        <p:nvSpPr>
          <p:cNvPr id="12" name="Text 10"/>
          <p:cNvSpPr/>
          <p:nvPr/>
        </p:nvSpPr>
        <p:spPr>
          <a:xfrm>
            <a:off x="749808" y="2359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243584" y="230428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returns Success and koi-policy-list limit=1 returns without a 401</a:t>
            </a:r>
            <a:endParaRPr lang="en-US" sz="1000" dirty="0"/>
          </a:p>
        </p:txBody>
      </p:sp>
      <p:sp>
        <p:nvSpPr>
          <p:cNvPr id="14" name="Shape 12"/>
          <p:cNvSpPr/>
          <p:nvPr/>
        </p:nvSpPr>
        <p:spPr>
          <a:xfrm>
            <a:off x="548640" y="2944368"/>
            <a:ext cx="5349240" cy="621792"/>
          </a:xfrm>
          <a:prstGeom prst="roundRect">
            <a:avLst>
              <a:gd name="adj" fmla="val 7353"/>
            </a:avLst>
          </a:prstGeom>
          <a:solidFill>
            <a:srgbClr val="15171B"/>
          </a:solidFill>
          <a:ln w="12700">
            <a:solidFill>
              <a:srgbClr val="15171B"/>
            </a:solidFill>
            <a:prstDash val="solid"/>
          </a:ln>
        </p:spPr>
      </p:sp>
      <p:sp>
        <p:nvSpPr>
          <p:cNvPr id="15" name="Shape 13"/>
          <p:cNvSpPr/>
          <p:nvPr/>
        </p:nvSpPr>
        <p:spPr>
          <a:xfrm>
            <a:off x="749808" y="3090672"/>
            <a:ext cx="329184" cy="329184"/>
          </a:xfrm>
          <a:prstGeom prst="roundRect">
            <a:avLst>
              <a:gd name="adj" fmla="val 25000"/>
            </a:avLst>
          </a:prstGeom>
          <a:solidFill>
            <a:srgbClr val="3FB950"/>
          </a:solidFill>
          <a:ln w="12700">
            <a:solidFill>
              <a:srgbClr val="3FB950"/>
            </a:solidFill>
            <a:prstDash val="solid"/>
          </a:ln>
        </p:spPr>
      </p:sp>
      <p:sp>
        <p:nvSpPr>
          <p:cNvPr id="16" name="Text 14"/>
          <p:cNvSpPr/>
          <p:nvPr/>
        </p:nvSpPr>
        <p:spPr>
          <a:xfrm>
            <a:off x="749808" y="3090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43584" y="303580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koi-policy-list / -allowlist-get / -blocklist-get write Koi.Policy.*, Koi.Allowlist.*, Koi.Blocklist.*</a:t>
            </a:r>
            <a:endParaRPr lang="en-US" sz="1000" dirty="0"/>
          </a:p>
        </p:txBody>
      </p:sp>
      <p:sp>
        <p:nvSpPr>
          <p:cNvPr id="18" name="Shape 16"/>
          <p:cNvSpPr/>
          <p:nvPr/>
        </p:nvSpPr>
        <p:spPr>
          <a:xfrm>
            <a:off x="548640" y="3675888"/>
            <a:ext cx="5349240" cy="621792"/>
          </a:xfrm>
          <a:prstGeom prst="roundRect">
            <a:avLst>
              <a:gd name="adj" fmla="val 7353"/>
            </a:avLst>
          </a:prstGeom>
          <a:solidFill>
            <a:srgbClr val="15171B"/>
          </a:solidFill>
          <a:ln w="12700">
            <a:solidFill>
              <a:srgbClr val="15171B"/>
            </a:solidFill>
            <a:prstDash val="solid"/>
          </a:ln>
        </p:spPr>
      </p:sp>
      <p:sp>
        <p:nvSpPr>
          <p:cNvPr id="19" name="Shape 17"/>
          <p:cNvSpPr/>
          <p:nvPr/>
        </p:nvSpPr>
        <p:spPr>
          <a:xfrm>
            <a:off x="749808" y="3822192"/>
            <a:ext cx="329184" cy="329184"/>
          </a:xfrm>
          <a:prstGeom prst="roundRect">
            <a:avLst>
              <a:gd name="adj" fmla="val 25000"/>
            </a:avLst>
          </a:prstGeom>
          <a:solidFill>
            <a:srgbClr val="3FB950"/>
          </a:solidFill>
          <a:ln w="12700">
            <a:solidFill>
              <a:srgbClr val="3FB950"/>
            </a:solidFill>
            <a:prstDash val="solid"/>
          </a:ln>
        </p:spPr>
      </p:sp>
      <p:sp>
        <p:nvSpPr>
          <p:cNvPr id="20" name="Text 18"/>
          <p:cNvSpPr/>
          <p:nvPr/>
        </p:nvSpPr>
        <p:spPr>
          <a:xfrm>
            <a:off x="749808"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1243584" y="376732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Inventory commands write Koi.Inventory.* and Koi.Inventory.Endpoint.*</a:t>
            </a:r>
            <a:endParaRPr lang="en-US" sz="1000" dirty="0"/>
          </a:p>
        </p:txBody>
      </p:sp>
      <p:sp>
        <p:nvSpPr>
          <p:cNvPr id="22" name="Shape 20"/>
          <p:cNvSpPr/>
          <p:nvPr/>
        </p:nvSpPr>
        <p:spPr>
          <a:xfrm>
            <a:off x="548640" y="4407408"/>
            <a:ext cx="5349240" cy="621792"/>
          </a:xfrm>
          <a:prstGeom prst="roundRect">
            <a:avLst>
              <a:gd name="adj" fmla="val 7353"/>
            </a:avLst>
          </a:prstGeom>
          <a:solidFill>
            <a:srgbClr val="15171B"/>
          </a:solidFill>
          <a:ln w="12700">
            <a:solidFill>
              <a:srgbClr val="15171B"/>
            </a:solidFill>
            <a:prstDash val="solid"/>
          </a:ln>
        </p:spPr>
      </p:sp>
      <p:sp>
        <p:nvSpPr>
          <p:cNvPr id="23" name="Shape 21"/>
          <p:cNvSpPr/>
          <p:nvPr/>
        </p:nvSpPr>
        <p:spPr>
          <a:xfrm>
            <a:off x="749808" y="4553712"/>
            <a:ext cx="329184" cy="329184"/>
          </a:xfrm>
          <a:prstGeom prst="roundRect">
            <a:avLst>
              <a:gd name="adj" fmla="val 25000"/>
            </a:avLst>
          </a:prstGeom>
          <a:solidFill>
            <a:srgbClr val="3FB950"/>
          </a:solidFill>
          <a:ln w="12700">
            <a:solidFill>
              <a:srgbClr val="3FB950"/>
            </a:solidFill>
            <a:prstDash val="solid"/>
          </a:ln>
        </p:spPr>
      </p:sp>
      <p:sp>
        <p:nvSpPr>
          <p:cNvPr id="24" name="Text 22"/>
          <p:cNvSpPr/>
          <p:nvPr/>
        </p:nvSpPr>
        <p:spPr>
          <a:xfrm>
            <a:off x="749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1243584" y="449884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koi-inventory-search parses a query-builder filter; a malformed one 400s naming the bad key; no filter is refused by the integration</a:t>
            </a:r>
            <a:endParaRPr lang="en-US" sz="1000" dirty="0"/>
          </a:p>
        </p:txBody>
      </p:sp>
      <p:sp>
        <p:nvSpPr>
          <p:cNvPr id="26" name="Shape 24"/>
          <p:cNvSpPr/>
          <p:nvPr/>
        </p:nvSpPr>
        <p:spPr>
          <a:xfrm>
            <a:off x="6263640" y="1481328"/>
            <a:ext cx="5349240" cy="621792"/>
          </a:xfrm>
          <a:prstGeom prst="roundRect">
            <a:avLst>
              <a:gd name="adj" fmla="val 7353"/>
            </a:avLst>
          </a:prstGeom>
          <a:solidFill>
            <a:srgbClr val="15171B"/>
          </a:solidFill>
          <a:ln w="12700">
            <a:solidFill>
              <a:srgbClr val="15171B"/>
            </a:solidFill>
            <a:prstDash val="solid"/>
          </a:ln>
        </p:spPr>
      </p:sp>
      <p:sp>
        <p:nvSpPr>
          <p:cNvPr id="27" name="Shape 25"/>
          <p:cNvSpPr/>
          <p:nvPr/>
        </p:nvSpPr>
        <p:spPr>
          <a:xfrm>
            <a:off x="6464808" y="1627632"/>
            <a:ext cx="329184" cy="329184"/>
          </a:xfrm>
          <a:prstGeom prst="roundRect">
            <a:avLst>
              <a:gd name="adj" fmla="val 25000"/>
            </a:avLst>
          </a:prstGeom>
          <a:solidFill>
            <a:srgbClr val="3FB950"/>
          </a:solidFill>
          <a:ln w="12700">
            <a:solidFill>
              <a:srgbClr val="3FB950"/>
            </a:solidFill>
            <a:prstDash val="solid"/>
          </a:ln>
        </p:spPr>
      </p:sp>
      <p:sp>
        <p:nvSpPr>
          <p:cNvPr id="28" name="Text 26"/>
          <p:cNvSpPr/>
          <p:nvPr/>
        </p:nvSpPr>
        <p:spPr>
          <a:xfrm>
            <a:off x="6464808" y="1627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958584" y="157276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koi-get-events writes KOI.Event.* with should_push_events=false</a:t>
            </a:r>
            <a:endParaRPr lang="en-US" sz="1000" dirty="0"/>
          </a:p>
        </p:txBody>
      </p:sp>
      <p:sp>
        <p:nvSpPr>
          <p:cNvPr id="30" name="Shape 28"/>
          <p:cNvSpPr/>
          <p:nvPr/>
        </p:nvSpPr>
        <p:spPr>
          <a:xfrm>
            <a:off x="6263640" y="2212848"/>
            <a:ext cx="5349240" cy="621792"/>
          </a:xfrm>
          <a:prstGeom prst="roundRect">
            <a:avLst>
              <a:gd name="adj" fmla="val 7353"/>
            </a:avLst>
          </a:prstGeom>
          <a:solidFill>
            <a:srgbClr val="15171B"/>
          </a:solidFill>
          <a:ln w="12700">
            <a:solidFill>
              <a:srgbClr val="15171B"/>
            </a:solidFill>
            <a:prstDash val="solid"/>
          </a:ln>
        </p:spPr>
      </p:sp>
      <p:sp>
        <p:nvSpPr>
          <p:cNvPr id="31" name="Shape 29"/>
          <p:cNvSpPr/>
          <p:nvPr/>
        </p:nvSpPr>
        <p:spPr>
          <a:xfrm>
            <a:off x="6464808" y="2359152"/>
            <a:ext cx="329184" cy="329184"/>
          </a:xfrm>
          <a:prstGeom prst="roundRect">
            <a:avLst>
              <a:gd name="adj" fmla="val 25000"/>
            </a:avLst>
          </a:prstGeom>
          <a:solidFill>
            <a:srgbClr val="3FB950"/>
          </a:solidFill>
          <a:ln w="12700">
            <a:solidFill>
              <a:srgbClr val="3FB950"/>
            </a:solidFill>
            <a:prstDash val="solid"/>
          </a:ln>
        </p:spPr>
      </p:sp>
      <p:sp>
        <p:nvSpPr>
          <p:cNvPr id="32" name="Text 30"/>
          <p:cNvSpPr/>
          <p:nvPr/>
        </p:nvSpPr>
        <p:spPr>
          <a:xfrm>
            <a:off x="6464808" y="2359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958584" y="230428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view=mcp_servers returns 200 when typed by hand; view=browser_extensions 400s</a:t>
            </a:r>
            <a:endParaRPr lang="en-US" sz="1000" dirty="0"/>
          </a:p>
        </p:txBody>
      </p:sp>
      <p:sp>
        <p:nvSpPr>
          <p:cNvPr id="34" name="Shape 32"/>
          <p:cNvSpPr/>
          <p:nvPr/>
        </p:nvSpPr>
        <p:spPr>
          <a:xfrm>
            <a:off x="6263640" y="2944368"/>
            <a:ext cx="5349240" cy="621792"/>
          </a:xfrm>
          <a:prstGeom prst="roundRect">
            <a:avLst>
              <a:gd name="adj" fmla="val 7353"/>
            </a:avLst>
          </a:prstGeom>
          <a:solidFill>
            <a:srgbClr val="15171B"/>
          </a:solidFill>
          <a:ln w="12700">
            <a:solidFill>
              <a:srgbClr val="15171B"/>
            </a:solidFill>
            <a:prstDash val="solid"/>
          </a:ln>
        </p:spPr>
      </p:sp>
      <p:sp>
        <p:nvSpPr>
          <p:cNvPr id="35" name="Shape 33"/>
          <p:cNvSpPr/>
          <p:nvPr/>
        </p:nvSpPr>
        <p:spPr>
          <a:xfrm>
            <a:off x="6464808" y="3090672"/>
            <a:ext cx="329184" cy="329184"/>
          </a:xfrm>
          <a:prstGeom prst="roundRect">
            <a:avLst>
              <a:gd name="adj" fmla="val 25000"/>
            </a:avLst>
          </a:prstGeom>
          <a:solidFill>
            <a:srgbClr val="3FB950"/>
          </a:solidFill>
          <a:ln w="12700">
            <a:solidFill>
              <a:srgbClr val="3FB950"/>
            </a:solidFill>
            <a:prstDash val="solid"/>
          </a:ln>
        </p:spPr>
      </p:sp>
      <p:sp>
        <p:nvSpPr>
          <p:cNvPr id="36" name="Text 34"/>
          <p:cNvSpPr/>
          <p:nvPr/>
        </p:nvSpPr>
        <p:spPr>
          <a:xfrm>
            <a:off x="6464808" y="3090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7" name="Text 35"/>
          <p:cNvSpPr/>
          <p:nvPr/>
        </p:nvSpPr>
        <p:spPr>
          <a:xfrm>
            <a:off x="6958584" y="303580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Blocklist add appears and remove reverses it to the before state; a policy's enabled value flips and is put back</a:t>
            </a:r>
            <a:endParaRPr lang="en-US" sz="1000" dirty="0"/>
          </a:p>
        </p:txBody>
      </p:sp>
      <p:sp>
        <p:nvSpPr>
          <p:cNvPr id="38" name="Shape 36"/>
          <p:cNvSpPr/>
          <p:nvPr/>
        </p:nvSpPr>
        <p:spPr>
          <a:xfrm>
            <a:off x="6263640" y="3675888"/>
            <a:ext cx="5349240" cy="621792"/>
          </a:xfrm>
          <a:prstGeom prst="roundRect">
            <a:avLst>
              <a:gd name="adj" fmla="val 7353"/>
            </a:avLst>
          </a:prstGeom>
          <a:solidFill>
            <a:srgbClr val="15171B"/>
          </a:solidFill>
          <a:ln w="12700">
            <a:solidFill>
              <a:srgbClr val="15171B"/>
            </a:solidFill>
            <a:prstDash val="solid"/>
          </a:ln>
        </p:spPr>
      </p:sp>
      <p:sp>
        <p:nvSpPr>
          <p:cNvPr id="39" name="Shape 37"/>
          <p:cNvSpPr/>
          <p:nvPr/>
        </p:nvSpPr>
        <p:spPr>
          <a:xfrm>
            <a:off x="6464808" y="3822192"/>
            <a:ext cx="329184" cy="329184"/>
          </a:xfrm>
          <a:prstGeom prst="roundRect">
            <a:avLst>
              <a:gd name="adj" fmla="val 25000"/>
            </a:avLst>
          </a:prstGeom>
          <a:solidFill>
            <a:srgbClr val="3FB950"/>
          </a:solidFill>
          <a:ln w="12700">
            <a:solidFill>
              <a:srgbClr val="3FB950"/>
            </a:solidFill>
            <a:prstDash val="solid"/>
          </a:ln>
        </p:spPr>
      </p:sp>
      <p:sp>
        <p:nvSpPr>
          <p:cNvPr id="40" name="Text 38"/>
          <p:cNvSpPr/>
          <p:nvPr/>
        </p:nvSpPr>
        <p:spPr>
          <a:xfrm>
            <a:off x="6464808"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1" name="Text 39"/>
          <p:cNvSpPr/>
          <p:nvPr/>
        </p:nvSpPr>
        <p:spPr>
          <a:xfrm>
            <a:off x="6958584" y="376732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koi_koi_raw returns rows split by source_log_type, _vendor=koi, _product=koi</a:t>
            </a:r>
            <a:endParaRPr lang="en-US" sz="1000" dirty="0"/>
          </a:p>
        </p:txBody>
      </p:sp>
      <p:sp>
        <p:nvSpPr>
          <p:cNvPr id="42" name="Shape 40"/>
          <p:cNvSpPr/>
          <p:nvPr/>
        </p:nvSpPr>
        <p:spPr>
          <a:xfrm>
            <a:off x="6263640" y="4407408"/>
            <a:ext cx="5349240" cy="621792"/>
          </a:xfrm>
          <a:prstGeom prst="roundRect">
            <a:avLst>
              <a:gd name="adj" fmla="val 7353"/>
            </a:avLst>
          </a:prstGeom>
          <a:solidFill>
            <a:srgbClr val="15171B"/>
          </a:solidFill>
          <a:ln w="12700">
            <a:solidFill>
              <a:srgbClr val="15171B"/>
            </a:solidFill>
            <a:prstDash val="solid"/>
          </a:ln>
        </p:spPr>
      </p:sp>
      <p:sp>
        <p:nvSpPr>
          <p:cNvPr id="43" name="Shape 41"/>
          <p:cNvSpPr/>
          <p:nvPr/>
        </p:nvSpPr>
        <p:spPr>
          <a:xfrm>
            <a:off x="6464808" y="4553712"/>
            <a:ext cx="329184" cy="329184"/>
          </a:xfrm>
          <a:prstGeom prst="roundRect">
            <a:avLst>
              <a:gd name="adj" fmla="val 25000"/>
            </a:avLst>
          </a:prstGeom>
          <a:solidFill>
            <a:srgbClr val="3FB950"/>
          </a:solidFill>
          <a:ln w="12700">
            <a:solidFill>
              <a:srgbClr val="3FB950"/>
            </a:solidFill>
            <a:prstDash val="solid"/>
          </a:ln>
        </p:spPr>
      </p:sp>
      <p:sp>
        <p:nvSpPr>
          <p:cNvPr id="44" name="Text 42"/>
          <p:cNvSpPr/>
          <p:nvPr/>
        </p:nvSpPr>
        <p:spPr>
          <a:xfrm>
            <a:off x="6464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5" name="Text 43"/>
          <p:cNvSpPr/>
          <p:nvPr/>
        </p:nvSpPr>
        <p:spPr>
          <a:xfrm>
            <a:off x="6958584" y="449884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Audit and Alert schemas confirmed distinct; every xdm.* field empty, as expected</a:t>
            </a:r>
            <a:endParaRPr lang="en-US" sz="1000" dirty="0"/>
          </a:p>
        </p:txBody>
      </p:sp>
      <p:sp>
        <p:nvSpPr>
          <p:cNvPr id="46" name="Shape 44"/>
          <p:cNvSpPr/>
          <p:nvPr/>
        </p:nvSpPr>
        <p:spPr>
          <a:xfrm>
            <a:off x="548640" y="5138928"/>
            <a:ext cx="11064240" cy="676656"/>
          </a:xfrm>
          <a:prstGeom prst="roundRect">
            <a:avLst>
              <a:gd name="adj" fmla="val 6757"/>
            </a:avLst>
          </a:prstGeom>
          <a:solidFill>
            <a:srgbClr val="1C2026"/>
          </a:solidFill>
          <a:ln w="12700">
            <a:solidFill>
              <a:srgbClr val="1C2026"/>
            </a:solidFill>
            <a:prstDash val="solid"/>
          </a:ln>
        </p:spPr>
      </p:sp>
      <p:sp>
        <p:nvSpPr>
          <p:cNvPr id="47" name="Text 45"/>
          <p:cNvSpPr/>
          <p:nvPr/>
        </p:nvSpPr>
        <p:spPr>
          <a:xfrm>
            <a:off x="822960" y="5230368"/>
            <a:ext cx="10515600" cy="512064"/>
          </a:xfrm>
          <a:prstGeom prst="rect">
            <a:avLst/>
          </a:prstGeom>
          <a:noFill/>
          <a:ln/>
        </p:spPr>
        <p:txBody>
          <a:bodyPr wrap="square" lIns="0" tIns="0" rIns="0" bIns="0" rtlCol="0" anchor="t"/>
          <a:lstStyle/>
          <a:p>
            <a:pPr indent="0" marL="0">
              <a:lnSpc>
                <a:spcPts val="1400"/>
              </a:lnSpc>
              <a:buNone/>
            </a:pPr>
            <a:r>
              <a:rPr lang="en-US" sz="1150" b="1" i="1" dirty="0">
                <a:solidFill>
                  <a:srgbClr val="3FB950"/>
                </a:solidFill>
                <a:latin typeface="Calibri" pitchFamily="34" charset="0"/>
                <a:ea typeface="Calibri" pitchFamily="34" charset="-122"/>
                <a:cs typeface="Calibri" pitchFamily="34" charset="-120"/>
              </a:rPr>
              <a:t>All ten green → the Marketplace KOI pack v1.2.3 is installed, configured, collecting, its 8 non-mutating commands exercised, and 3 of its 5 governance writes run in test 8 — the blocklist add-and-reverse pair, plus koi-policy-status-update flipped and put back. The other 2, the allowlist pair, stay untested by these ten checks.</a:t>
            </a:r>
            <a:endParaRPr lang="en-US" sz="1150" dirty="0"/>
          </a:p>
        </p:txBody>
      </p:sp>
      <p:sp>
        <p:nvSpPr>
          <p:cNvPr id="48" name="Text 46"/>
          <p:cNvSpPr/>
          <p:nvPr/>
        </p:nvSpPr>
        <p:spPr>
          <a:xfrm>
            <a:off x="548640" y="5907024"/>
            <a:ext cx="11064240" cy="512064"/>
          </a:xfrm>
          <a:prstGeom prst="rect">
            <a:avLst/>
          </a:prstGeom>
          <a:noFill/>
          <a:ln/>
        </p:spPr>
        <p:txBody>
          <a:bodyPr wrap="square" lIns="0" tIns="0" rIns="0" bIns="0" rtlCol="0" anchor="t"/>
          <a:lstStyle/>
          <a:p>
            <a:pPr indent="0" marL="0">
              <a:lnSpc>
                <a:spcPts val="1300"/>
              </a:lnSpc>
              <a:buNone/>
            </a:pPr>
            <a:r>
              <a:rPr lang="en-US" sz="1050" dirty="0">
                <a:solidFill>
                  <a:srgbClr val="6E747E"/>
                </a:solidFill>
                <a:latin typeface="Calibri" pitchFamily="34" charset="0"/>
                <a:ea typeface="Calibri" pitchFamily="34" charset="-122"/>
                <a:cs typeface="Calibri" pitchFamily="34" charset="-120"/>
              </a:rPr>
              <a:t>Record on the report: which pack and version, which tenant and instance, the date, and — for any count you quote — the instance it was measured on. Two tenants running the same pack differ by more than an order of magnitude in event volume, so a bare number means nothing without its tenant.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Marketplace Pack v1.2.3 — Test Guide</dc:title>
  <dc:subject>Acceptance tests for the official Marketplace KOI pack v1.2.3</dc:subject>
  <dc:creator>Cortex XSIAM</dc:creator>
  <cp:lastModifiedBy>Cortex XSIAM</cp:lastModifiedBy>
  <cp:revision>1</cp:revision>
  <dcterms:created xsi:type="dcterms:W3CDTF">2026-07-20T20:13:31Z</dcterms:created>
  <dcterms:modified xsi:type="dcterms:W3CDTF">2026-07-20T20:13:31Z</dcterms:modified>
</cp:coreProperties>
</file>