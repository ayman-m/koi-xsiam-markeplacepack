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pack ships content only. The integration comes from the Marketplace KOI pack and must be installed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8778240" y="-2377440"/>
            <a:ext cx="5852160" cy="5852160"/>
          </a:xfrm>
          <a:prstGeom prst="ellipse">
            <a:avLst/>
          </a:prstGeom>
          <a:solidFill>
            <a:srgbClr val="E8551F">
              <a:alpha val="10000"/>
            </a:srgbClr>
          </a:solidFill>
          <a:ln w="12700">
            <a:solidFill>
              <a:srgbClr val="E8551F"/>
            </a:solidFill>
            <a:prstDash val="solid"/>
          </a:ln>
        </p:spPr>
      </p:sp>
      <p:sp>
        <p:nvSpPr>
          <p:cNvPr id="3" name="Text 1"/>
          <p:cNvSpPr/>
          <p:nvPr/>
        </p:nvSpPr>
        <p:spPr>
          <a:xfrm>
            <a:off x="548640" y="2286000"/>
            <a:ext cx="11064240" cy="274320"/>
          </a:xfrm>
          <a:prstGeom prst="rect">
            <a:avLst/>
          </a:prstGeom>
          <a:noFill/>
          <a:ln/>
        </p:spPr>
        <p:txBody>
          <a:bodyPr wrap="square" lIns="0" tIns="0" rIns="0" bIns="0" rtlCol="0" anchor="t"/>
          <a:lstStyle/>
          <a:p>
            <a:pPr indent="0" marL="0">
              <a:buNone/>
            </a:pPr>
            <a:r>
              <a:rPr lang="en-US" sz="1200" b="1" spc="300" kern="0" dirty="0">
                <a:solidFill>
                  <a:srgbClr val="E8551F"/>
                </a:solidFill>
                <a:latin typeface="Calibri" pitchFamily="34" charset="0"/>
                <a:ea typeface="Calibri" pitchFamily="34" charset="-122"/>
                <a:cs typeface="Calibri" pitchFamily="34" charset="-120"/>
              </a:rPr>
              <a:t>KOI CONTENT EXTENSION</a:t>
            </a:r>
            <a:endParaRPr lang="en-US" sz="1200" dirty="0"/>
          </a:p>
        </p:txBody>
      </p:sp>
      <p:sp>
        <p:nvSpPr>
          <p:cNvPr id="4" name="Text 2"/>
          <p:cNvSpPr/>
          <p:nvPr/>
        </p:nvSpPr>
        <p:spPr>
          <a:xfrm>
            <a:off x="548640" y="2651760"/>
            <a:ext cx="11064240" cy="91440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Test Guide</a:t>
            </a:r>
            <a:endParaRPr lang="en-US" sz="4800" dirty="0"/>
          </a:p>
        </p:txBody>
      </p:sp>
      <p:sp>
        <p:nvSpPr>
          <p:cNvPr id="5" name="Text 3"/>
          <p:cNvSpPr/>
          <p:nvPr/>
        </p:nvSpPr>
        <p:spPr>
          <a:xfrm>
            <a:off x="548640" y="3611880"/>
            <a:ext cx="8961120" cy="365760"/>
          </a:xfrm>
          <a:prstGeom prst="rect">
            <a:avLst/>
          </a:prstGeom>
          <a:noFill/>
          <a:ln/>
        </p:spPr>
        <p:txBody>
          <a:bodyPr wrap="square" lIns="0" tIns="0" rIns="0" bIns="0" rtlCol="0" anchor="t"/>
          <a:lstStyle/>
          <a:p>
            <a:pPr indent="0" marL="0">
              <a:buNone/>
            </a:pPr>
            <a:r>
              <a:rPr lang="en-US" sz="1500" dirty="0">
                <a:solidFill>
                  <a:srgbClr val="B4B7BD"/>
                </a:solidFill>
                <a:latin typeface="Calibri" pitchFamily="34" charset="0"/>
                <a:ea typeface="Calibri" pitchFamily="34" charset="-122"/>
                <a:cs typeface="Calibri" pitchFamily="34" charset="-120"/>
              </a:rPr>
              <a:t>Ten tests for the content built on the Marketplace KOI integration — with the setup each one needs</a:t>
            </a:r>
            <a:endParaRPr lang="en-US" sz="1500" dirty="0"/>
          </a:p>
        </p:txBody>
      </p:sp>
      <p:sp>
        <p:nvSpPr>
          <p:cNvPr id="6" name="Text 4"/>
          <p:cNvSpPr/>
          <p:nvPr/>
        </p:nvSpPr>
        <p:spPr>
          <a:xfrm>
            <a:off x="548640" y="4069080"/>
            <a:ext cx="8778240" cy="365760"/>
          </a:xfrm>
          <a:prstGeom prst="rect">
            <a:avLst/>
          </a:prstGeom>
          <a:noFill/>
          <a:ln/>
        </p:spPr>
        <p:txBody>
          <a:bodyPr wrap="square" lIns="0" tIns="0" rIns="0" bIns="0" rtlCol="0" anchor="t"/>
          <a:lstStyle/>
          <a:p>
            <a:pPr indent="0" marL="0">
              <a:buNone/>
            </a:pPr>
            <a:r>
              <a:rPr lang="en-US" sz="1200" i="1" dirty="0">
                <a:solidFill>
                  <a:srgbClr val="6E747E"/>
                </a:solidFill>
                <a:latin typeface="Calibri" pitchFamily="34" charset="0"/>
                <a:ea typeface="Calibri" pitchFamily="34" charset="-122"/>
                <a:cs typeface="Calibri" pitchFamily="34" charset="-120"/>
              </a:rPr>
              <a:t>For anyone comfortable in the Cortex XSIAM console. No content development required.</a:t>
            </a:r>
            <a:endParaRPr lang="en-US" sz="1200" dirty="0"/>
          </a:p>
        </p:txBody>
      </p:sp>
      <p:sp>
        <p:nvSpPr>
          <p:cNvPr id="7" name="Text 5"/>
          <p:cNvSpPr/>
          <p:nvPr/>
        </p:nvSpPr>
        <p:spPr>
          <a:xfrm>
            <a:off x="548640" y="6035040"/>
            <a:ext cx="11064240" cy="274320"/>
          </a:xfrm>
          <a:prstGeom prst="rect">
            <a:avLst/>
          </a:prstGeom>
          <a:noFill/>
          <a:ln/>
        </p:spPr>
        <p:txBody>
          <a:bodyPr wrap="square" lIns="0" tIns="0" rIns="0" bIns="0" rtlCol="0" anchor="t"/>
          <a:lstStyle/>
          <a:p>
            <a:pPr indent="0" marL="0">
              <a:buNone/>
            </a:pPr>
            <a:r>
              <a:rPr lang="en-US" sz="1100" dirty="0">
                <a:solidFill>
                  <a:srgbClr val="6E747E"/>
                </a:solidFill>
                <a:latin typeface="Calibri" pitchFamily="34" charset="0"/>
                <a:ea typeface="Calibri" pitchFamily="34" charset="-122"/>
                <a:cs typeface="Calibri" pitchFamily="34" charset="-120"/>
              </a:rPr>
              <a:t>Extension 1.3.0  ·  requires the Marketplace KOI pack  ·  July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CONTENTS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What ships in this extension</a:t>
            </a:r>
            <a:endParaRPr lang="en-US" sz="3100" dirty="0"/>
          </a:p>
        </p:txBody>
      </p:sp>
      <p:sp>
        <p:nvSpPr>
          <p:cNvPr id="4" name="Shape 2"/>
          <p:cNvSpPr/>
          <p:nvPr/>
        </p:nvSpPr>
        <p:spPr>
          <a:xfrm>
            <a:off x="548640" y="1417320"/>
            <a:ext cx="11064240" cy="658368"/>
          </a:xfrm>
          <a:prstGeom prst="roundRect">
            <a:avLst>
              <a:gd name="adj" fmla="val 6944"/>
            </a:avLst>
          </a:prstGeom>
          <a:solidFill>
            <a:srgbClr val="15171B"/>
          </a:solidFill>
          <a:ln w="12700">
            <a:solidFill>
              <a:srgbClr val="15171B"/>
            </a:solidFill>
            <a:prstDash val="solid"/>
          </a:ln>
        </p:spPr>
      </p:sp>
      <p:sp>
        <p:nvSpPr>
          <p:cNvPr id="5" name="Shape 3"/>
          <p:cNvSpPr/>
          <p:nvPr/>
        </p:nvSpPr>
        <p:spPr>
          <a:xfrm>
            <a:off x="786384" y="1600200"/>
            <a:ext cx="292608" cy="292608"/>
          </a:xfrm>
          <a:prstGeom prst="roundRect">
            <a:avLst>
              <a:gd name="adj" fmla="val 28125"/>
            </a:avLst>
          </a:prstGeom>
          <a:solidFill>
            <a:srgbClr val="E8551F"/>
          </a:solidFill>
          <a:ln w="12700">
            <a:solidFill>
              <a:srgbClr val="E8551F"/>
            </a:solidFill>
            <a:prstDash val="solid"/>
          </a:ln>
        </p:spPr>
      </p:sp>
      <p:sp>
        <p:nvSpPr>
          <p:cNvPr id="6" name="Text 4"/>
          <p:cNvSpPr/>
          <p:nvPr/>
        </p:nvSpPr>
        <p:spPr>
          <a:xfrm>
            <a:off x="786384" y="160020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7" name="Text 5"/>
          <p:cNvSpPr/>
          <p:nvPr/>
        </p:nvSpPr>
        <p:spPr>
          <a:xfrm>
            <a:off x="1243584" y="1536192"/>
            <a:ext cx="356616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Parsing &amp; modeling rules</a:t>
            </a:r>
            <a:endParaRPr lang="en-US" sz="1200" dirty="0"/>
          </a:p>
        </p:txBody>
      </p:sp>
      <p:sp>
        <p:nvSpPr>
          <p:cNvPr id="8" name="Text 6"/>
          <p:cNvSpPr/>
          <p:nvPr/>
        </p:nvSpPr>
        <p:spPr>
          <a:xfrm>
            <a:off x="4937760" y="1554480"/>
            <a:ext cx="6400800" cy="402336"/>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Normalise KOI events and map them to the Cortex Data Model. The Marketplace pack ships none.</a:t>
            </a:r>
            <a:endParaRPr lang="en-US" sz="1050" dirty="0"/>
          </a:p>
        </p:txBody>
      </p:sp>
      <p:sp>
        <p:nvSpPr>
          <p:cNvPr id="9" name="Shape 7"/>
          <p:cNvSpPr/>
          <p:nvPr/>
        </p:nvSpPr>
        <p:spPr>
          <a:xfrm>
            <a:off x="548640" y="2194560"/>
            <a:ext cx="11064240" cy="658368"/>
          </a:xfrm>
          <a:prstGeom prst="roundRect">
            <a:avLst>
              <a:gd name="adj" fmla="val 6944"/>
            </a:avLst>
          </a:prstGeom>
          <a:solidFill>
            <a:srgbClr val="15171B"/>
          </a:solidFill>
          <a:ln w="12700">
            <a:solidFill>
              <a:srgbClr val="15171B"/>
            </a:solidFill>
            <a:prstDash val="solid"/>
          </a:ln>
        </p:spPr>
      </p:sp>
      <p:sp>
        <p:nvSpPr>
          <p:cNvPr id="10" name="Shape 8"/>
          <p:cNvSpPr/>
          <p:nvPr/>
        </p:nvSpPr>
        <p:spPr>
          <a:xfrm>
            <a:off x="786384" y="2377440"/>
            <a:ext cx="292608" cy="292608"/>
          </a:xfrm>
          <a:prstGeom prst="roundRect">
            <a:avLst>
              <a:gd name="adj" fmla="val 28125"/>
            </a:avLst>
          </a:prstGeom>
          <a:solidFill>
            <a:srgbClr val="E8551F"/>
          </a:solidFill>
          <a:ln w="12700">
            <a:solidFill>
              <a:srgbClr val="E8551F"/>
            </a:solidFill>
            <a:prstDash val="solid"/>
          </a:ln>
        </p:spPr>
      </p:sp>
      <p:sp>
        <p:nvSpPr>
          <p:cNvPr id="11" name="Text 9"/>
          <p:cNvSpPr/>
          <p:nvPr/>
        </p:nvSpPr>
        <p:spPr>
          <a:xfrm>
            <a:off x="786384" y="237744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2" name="Text 10"/>
          <p:cNvSpPr/>
          <p:nvPr/>
        </p:nvSpPr>
        <p:spPr>
          <a:xfrm>
            <a:off x="1243584" y="2313432"/>
            <a:ext cx="356616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Alerts dashboard</a:t>
            </a:r>
            <a:endParaRPr lang="en-US" sz="1200" dirty="0"/>
          </a:p>
        </p:txBody>
      </p:sp>
      <p:sp>
        <p:nvSpPr>
          <p:cNvPr id="13" name="Text 11"/>
          <p:cNvSpPr/>
          <p:nvPr/>
        </p:nvSpPr>
        <p:spPr>
          <a:xfrm>
            <a:off x="4937760" y="2331720"/>
            <a:ext cx="6400800" cy="402336"/>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Ready-made view of KOI alert activity.</a:t>
            </a:r>
            <a:endParaRPr lang="en-US" sz="1050" dirty="0"/>
          </a:p>
        </p:txBody>
      </p:sp>
      <p:sp>
        <p:nvSpPr>
          <p:cNvPr id="14" name="Shape 12"/>
          <p:cNvSpPr/>
          <p:nvPr/>
        </p:nvSpPr>
        <p:spPr>
          <a:xfrm>
            <a:off x="548640" y="2971800"/>
            <a:ext cx="11064240" cy="658368"/>
          </a:xfrm>
          <a:prstGeom prst="roundRect">
            <a:avLst>
              <a:gd name="adj" fmla="val 6944"/>
            </a:avLst>
          </a:prstGeom>
          <a:solidFill>
            <a:srgbClr val="15171B"/>
          </a:solidFill>
          <a:ln w="12700">
            <a:solidFill>
              <a:srgbClr val="15171B"/>
            </a:solidFill>
            <a:prstDash val="solid"/>
          </a:ln>
        </p:spPr>
      </p:sp>
      <p:sp>
        <p:nvSpPr>
          <p:cNvPr id="15" name="Shape 13"/>
          <p:cNvSpPr/>
          <p:nvPr/>
        </p:nvSpPr>
        <p:spPr>
          <a:xfrm>
            <a:off x="786384" y="3154680"/>
            <a:ext cx="292608" cy="292608"/>
          </a:xfrm>
          <a:prstGeom prst="roundRect">
            <a:avLst>
              <a:gd name="adj" fmla="val 28125"/>
            </a:avLst>
          </a:prstGeom>
          <a:solidFill>
            <a:srgbClr val="E8551F"/>
          </a:solidFill>
          <a:ln w="12700">
            <a:solidFill>
              <a:srgbClr val="E8551F"/>
            </a:solidFill>
            <a:prstDash val="solid"/>
          </a:ln>
        </p:spPr>
      </p:sp>
      <p:sp>
        <p:nvSpPr>
          <p:cNvPr id="16" name="Text 14"/>
          <p:cNvSpPr/>
          <p:nvPr/>
        </p:nvSpPr>
        <p:spPr>
          <a:xfrm>
            <a:off x="786384" y="315468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17" name="Text 15"/>
          <p:cNvSpPr/>
          <p:nvPr/>
        </p:nvSpPr>
        <p:spPr>
          <a:xfrm>
            <a:off x="1243584" y="3090672"/>
            <a:ext cx="356616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Alert fields, type &amp; layout</a:t>
            </a:r>
            <a:endParaRPr lang="en-US" sz="1200" dirty="0"/>
          </a:p>
        </p:txBody>
      </p:sp>
      <p:sp>
        <p:nvSpPr>
          <p:cNvPr id="18" name="Text 16"/>
          <p:cNvSpPr/>
          <p:nvPr/>
        </p:nvSpPr>
        <p:spPr>
          <a:xfrm>
            <a:off x="4937760" y="3108960"/>
            <a:ext cx="6400800" cy="402336"/>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19 KOI fields written onto each alert and shown in a purpose-built layout.</a:t>
            </a:r>
            <a:endParaRPr lang="en-US" sz="1050" dirty="0"/>
          </a:p>
        </p:txBody>
      </p:sp>
      <p:sp>
        <p:nvSpPr>
          <p:cNvPr id="19" name="Shape 17"/>
          <p:cNvSpPr/>
          <p:nvPr/>
        </p:nvSpPr>
        <p:spPr>
          <a:xfrm>
            <a:off x="548640" y="3749040"/>
            <a:ext cx="11064240" cy="658368"/>
          </a:xfrm>
          <a:prstGeom prst="roundRect">
            <a:avLst>
              <a:gd name="adj" fmla="val 6944"/>
            </a:avLst>
          </a:prstGeom>
          <a:solidFill>
            <a:srgbClr val="15171B"/>
          </a:solidFill>
          <a:ln w="12700">
            <a:solidFill>
              <a:srgbClr val="15171B"/>
            </a:solidFill>
            <a:prstDash val="solid"/>
          </a:ln>
        </p:spPr>
      </p:sp>
      <p:sp>
        <p:nvSpPr>
          <p:cNvPr id="20" name="Shape 18"/>
          <p:cNvSpPr/>
          <p:nvPr/>
        </p:nvSpPr>
        <p:spPr>
          <a:xfrm>
            <a:off x="786384" y="3931920"/>
            <a:ext cx="292608" cy="292608"/>
          </a:xfrm>
          <a:prstGeom prst="roundRect">
            <a:avLst>
              <a:gd name="adj" fmla="val 28125"/>
            </a:avLst>
          </a:prstGeom>
          <a:solidFill>
            <a:srgbClr val="22D3EE"/>
          </a:solidFill>
          <a:ln w="12700">
            <a:solidFill>
              <a:srgbClr val="22D3EE"/>
            </a:solidFill>
            <a:prstDash val="solid"/>
          </a:ln>
        </p:spPr>
      </p:sp>
      <p:sp>
        <p:nvSpPr>
          <p:cNvPr id="21" name="Text 19"/>
          <p:cNvSpPr/>
          <p:nvPr/>
        </p:nvSpPr>
        <p:spPr>
          <a:xfrm>
            <a:off x="786384" y="39319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
            </a:r>
            <a:endParaRPr lang="en-US" sz="1300" dirty="0"/>
          </a:p>
        </p:txBody>
      </p:sp>
      <p:sp>
        <p:nvSpPr>
          <p:cNvPr id="22" name="Text 20"/>
          <p:cNvSpPr/>
          <p:nvPr/>
        </p:nvSpPr>
        <p:spPr>
          <a:xfrm>
            <a:off x="1243584" y="3867912"/>
            <a:ext cx="356616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Triage &amp; investigation playbooks</a:t>
            </a:r>
            <a:endParaRPr lang="en-US" sz="1200" dirty="0"/>
          </a:p>
        </p:txBody>
      </p:sp>
      <p:sp>
        <p:nvSpPr>
          <p:cNvPr id="23" name="Text 21"/>
          <p:cNvSpPr/>
          <p:nvPr/>
        </p:nvSpPr>
        <p:spPr>
          <a:xfrm>
            <a:off x="4937760" y="3886200"/>
            <a:ext cx="6400800" cy="402336"/>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6 playbooks: triage, item and device investigation, enrichment, gated response.</a:t>
            </a:r>
            <a:endParaRPr lang="en-US" sz="1050" dirty="0"/>
          </a:p>
        </p:txBody>
      </p:sp>
      <p:sp>
        <p:nvSpPr>
          <p:cNvPr id="24" name="Shape 22"/>
          <p:cNvSpPr/>
          <p:nvPr/>
        </p:nvSpPr>
        <p:spPr>
          <a:xfrm>
            <a:off x="548640" y="4526280"/>
            <a:ext cx="11064240" cy="658368"/>
          </a:xfrm>
          <a:prstGeom prst="roundRect">
            <a:avLst>
              <a:gd name="adj" fmla="val 6944"/>
            </a:avLst>
          </a:prstGeom>
          <a:solidFill>
            <a:srgbClr val="15171B"/>
          </a:solidFill>
          <a:ln w="12700">
            <a:solidFill>
              <a:srgbClr val="15171B"/>
            </a:solidFill>
            <a:prstDash val="solid"/>
          </a:ln>
        </p:spPr>
      </p:sp>
      <p:sp>
        <p:nvSpPr>
          <p:cNvPr id="25" name="Shape 23"/>
          <p:cNvSpPr/>
          <p:nvPr/>
        </p:nvSpPr>
        <p:spPr>
          <a:xfrm>
            <a:off x="786384" y="4709160"/>
            <a:ext cx="292608" cy="292608"/>
          </a:xfrm>
          <a:prstGeom prst="roundRect">
            <a:avLst>
              <a:gd name="adj" fmla="val 28125"/>
            </a:avLst>
          </a:prstGeom>
          <a:solidFill>
            <a:srgbClr val="22D3EE"/>
          </a:solidFill>
          <a:ln w="12700">
            <a:solidFill>
              <a:srgbClr val="22D3EE"/>
            </a:solidFill>
            <a:prstDash val="solid"/>
          </a:ln>
        </p:spPr>
      </p:sp>
      <p:sp>
        <p:nvSpPr>
          <p:cNvPr id="26" name="Text 24"/>
          <p:cNvSpPr/>
          <p:nvPr/>
        </p:nvSpPr>
        <p:spPr>
          <a:xfrm>
            <a:off x="786384" y="470916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a:t>
            </a:r>
            <a:endParaRPr lang="en-US" sz="1300" dirty="0"/>
          </a:p>
        </p:txBody>
      </p:sp>
      <p:sp>
        <p:nvSpPr>
          <p:cNvPr id="27" name="Text 25"/>
          <p:cNvSpPr/>
          <p:nvPr/>
        </p:nvSpPr>
        <p:spPr>
          <a:xfrm>
            <a:off x="1243584" y="4645152"/>
            <a:ext cx="356616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Hunting playbooks</a:t>
            </a:r>
            <a:endParaRPr lang="en-US" sz="1200" dirty="0"/>
          </a:p>
        </p:txBody>
      </p:sp>
      <p:sp>
        <p:nvSpPr>
          <p:cNvPr id="28" name="Text 26"/>
          <p:cNvSpPr/>
          <p:nvPr/>
        </p:nvSpPr>
        <p:spPr>
          <a:xfrm>
            <a:off x="4937760" y="4663440"/>
            <a:ext cx="6400800" cy="402336"/>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3 playbooks: MCP server audit, hunt sweep, and its investigation sub-playbook.</a:t>
            </a:r>
            <a:endParaRPr lang="en-US" sz="1050" dirty="0"/>
          </a:p>
        </p:txBody>
      </p:sp>
      <p:sp>
        <p:nvSpPr>
          <p:cNvPr id="29" name="Shape 27"/>
          <p:cNvSpPr/>
          <p:nvPr/>
        </p:nvSpPr>
        <p:spPr>
          <a:xfrm>
            <a:off x="548640" y="5303520"/>
            <a:ext cx="11064240" cy="658368"/>
          </a:xfrm>
          <a:prstGeom prst="roundRect">
            <a:avLst>
              <a:gd name="adj" fmla="val 6944"/>
            </a:avLst>
          </a:prstGeom>
          <a:solidFill>
            <a:srgbClr val="15171B"/>
          </a:solidFill>
          <a:ln w="12700">
            <a:solidFill>
              <a:srgbClr val="15171B"/>
            </a:solidFill>
            <a:prstDash val="solid"/>
          </a:ln>
        </p:spPr>
      </p:sp>
      <p:sp>
        <p:nvSpPr>
          <p:cNvPr id="30" name="Shape 28"/>
          <p:cNvSpPr/>
          <p:nvPr/>
        </p:nvSpPr>
        <p:spPr>
          <a:xfrm>
            <a:off x="786384" y="5486400"/>
            <a:ext cx="292608" cy="292608"/>
          </a:xfrm>
          <a:prstGeom prst="roundRect">
            <a:avLst>
              <a:gd name="adj" fmla="val 28125"/>
            </a:avLst>
          </a:prstGeom>
          <a:solidFill>
            <a:srgbClr val="22D3EE"/>
          </a:solidFill>
          <a:ln w="12700">
            <a:solidFill>
              <a:srgbClr val="22D3EE"/>
            </a:solidFill>
            <a:prstDash val="solid"/>
          </a:ln>
        </p:spPr>
      </p:sp>
      <p:sp>
        <p:nvSpPr>
          <p:cNvPr id="31" name="Text 29"/>
          <p:cNvSpPr/>
          <p:nvPr/>
        </p:nvSpPr>
        <p:spPr>
          <a:xfrm>
            <a:off x="786384" y="548640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a:t>
            </a:r>
            <a:endParaRPr lang="en-US" sz="1300" dirty="0"/>
          </a:p>
        </p:txBody>
      </p:sp>
      <p:sp>
        <p:nvSpPr>
          <p:cNvPr id="32" name="Text 30"/>
          <p:cNvSpPr/>
          <p:nvPr/>
        </p:nvSpPr>
        <p:spPr>
          <a:xfrm>
            <a:off x="1243584" y="5422392"/>
            <a:ext cx="3566160" cy="237744"/>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Script Runner playbooks</a:t>
            </a:r>
            <a:endParaRPr lang="en-US" sz="1200" dirty="0"/>
          </a:p>
        </p:txBody>
      </p:sp>
      <p:sp>
        <p:nvSpPr>
          <p:cNvPr id="33" name="Text 31"/>
          <p:cNvSpPr/>
          <p:nvPr/>
        </p:nvSpPr>
        <p:spPr>
          <a:xfrm>
            <a:off x="4937760" y="5440680"/>
            <a:ext cx="6400800" cy="402336"/>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5 playbooks plus the KoiScanTracker automation — run KOI scripts fleet-wide.</a:t>
            </a:r>
            <a:endParaRPr lang="en-US" sz="1050" dirty="0"/>
          </a:p>
        </p:txBody>
      </p:sp>
      <p:sp>
        <p:nvSpPr>
          <p:cNvPr id="34" name="Text 32"/>
          <p:cNvSpPr/>
          <p:nvPr/>
        </p:nvSpPr>
        <p:spPr>
          <a:xfrm>
            <a:off x="548640" y="6172200"/>
            <a:ext cx="11064240" cy="274320"/>
          </a:xfrm>
          <a:prstGeom prst="rect">
            <a:avLst/>
          </a:prstGeom>
          <a:noFill/>
          <a:ln/>
        </p:spPr>
        <p:txBody>
          <a:bodyPr wrap="square" lIns="0" tIns="0" rIns="0" bIns="0" rtlCol="0" anchor="t"/>
          <a:lstStyle/>
          <a:p>
            <a:pPr indent="0" marL="0">
              <a:buNone/>
            </a:pPr>
            <a:r>
              <a:rPr lang="en-US" sz="1050" i="1" dirty="0">
                <a:solidFill>
                  <a:srgbClr val="F5A524"/>
                </a:solidFill>
                <a:latin typeface="Calibri" pitchFamily="34" charset="0"/>
                <a:ea typeface="Calibri" pitchFamily="34" charset="-122"/>
                <a:cs typeface="Calibri" pitchFamily="34" charset="-120"/>
              </a:rPr>
              <a:t>The integration itself is NOT in this pack — it comes from the Marketplace KOI pack, which must be installed first.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HOW TO USE THIS GUIDE</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Every test is laid out the same way</a:t>
            </a:r>
            <a:endParaRPr lang="en-US" sz="3100" dirty="0"/>
          </a:p>
        </p:txBody>
      </p:sp>
      <p:sp>
        <p:nvSpPr>
          <p:cNvPr id="4" name="Shape 2"/>
          <p:cNvSpPr/>
          <p:nvPr/>
        </p:nvSpPr>
        <p:spPr>
          <a:xfrm>
            <a:off x="548640" y="1463040"/>
            <a:ext cx="3505200" cy="2286000"/>
          </a:xfrm>
          <a:prstGeom prst="roundRect">
            <a:avLst>
              <a:gd name="adj" fmla="val 2000"/>
            </a:avLst>
          </a:prstGeom>
          <a:solidFill>
            <a:srgbClr val="1C2026"/>
          </a:solidFill>
          <a:ln w="12700">
            <a:solidFill>
              <a:srgbClr val="1C2026"/>
            </a:solidFill>
            <a:prstDash val="solid"/>
          </a:ln>
        </p:spPr>
      </p:sp>
      <p:sp>
        <p:nvSpPr>
          <p:cNvPr id="5" name="Text 3"/>
          <p:cNvSpPr/>
          <p:nvPr/>
        </p:nvSpPr>
        <p:spPr>
          <a:xfrm>
            <a:off x="822960" y="1691640"/>
            <a:ext cx="2956560" cy="274320"/>
          </a:xfrm>
          <a:prstGeom prst="rect">
            <a:avLst/>
          </a:prstGeom>
          <a:noFill/>
          <a:ln/>
        </p:spPr>
        <p:txBody>
          <a:bodyPr wrap="square" lIns="0" tIns="0" rIns="0" bIns="0" rtlCol="0" anchor="t"/>
          <a:lstStyle/>
          <a:p>
            <a:pPr indent="0" marL="0">
              <a:buNone/>
            </a:pPr>
            <a:r>
              <a:rPr lang="en-US" sz="1100" b="1" spc="150" kern="0" dirty="0">
                <a:solidFill>
                  <a:srgbClr val="F5A524"/>
                </a:solidFill>
                <a:latin typeface="Calibri" pitchFamily="34" charset="0"/>
                <a:ea typeface="Calibri" pitchFamily="34" charset="-122"/>
                <a:cs typeface="Calibri" pitchFamily="34" charset="-120"/>
              </a:rPr>
              <a:t>WHAT YOU NEED FIRST</a:t>
            </a:r>
            <a:endParaRPr lang="en-US" sz="1100" dirty="0"/>
          </a:p>
        </p:txBody>
      </p:sp>
      <p:sp>
        <p:nvSpPr>
          <p:cNvPr id="6" name="Text 4"/>
          <p:cNvSpPr/>
          <p:nvPr/>
        </p:nvSpPr>
        <p:spPr>
          <a:xfrm>
            <a:off x="82296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The tenant setup this test depends on. If something here is missing the test cannot pass, and it will look like a product fault when it is not.</a:t>
            </a:r>
            <a:endParaRPr lang="en-US" sz="1100" dirty="0"/>
          </a:p>
        </p:txBody>
      </p:sp>
      <p:sp>
        <p:nvSpPr>
          <p:cNvPr id="7" name="Shape 5"/>
          <p:cNvSpPr/>
          <p:nvPr/>
        </p:nvSpPr>
        <p:spPr>
          <a:xfrm>
            <a:off x="4328160" y="1463040"/>
            <a:ext cx="3505200" cy="2286000"/>
          </a:xfrm>
          <a:prstGeom prst="roundRect">
            <a:avLst>
              <a:gd name="adj" fmla="val 2000"/>
            </a:avLst>
          </a:prstGeom>
          <a:solidFill>
            <a:srgbClr val="15171B"/>
          </a:solidFill>
          <a:ln w="12700">
            <a:solidFill>
              <a:srgbClr val="15171B"/>
            </a:solidFill>
            <a:prstDash val="solid"/>
          </a:ln>
        </p:spPr>
      </p:sp>
      <p:sp>
        <p:nvSpPr>
          <p:cNvPr id="8" name="Text 6"/>
          <p:cNvSpPr/>
          <p:nvPr/>
        </p:nvSpPr>
        <p:spPr>
          <a:xfrm>
            <a:off x="4602480" y="1691640"/>
            <a:ext cx="2956560" cy="274320"/>
          </a:xfrm>
          <a:prstGeom prst="rect">
            <a:avLst/>
          </a:prstGeom>
          <a:noFill/>
          <a:ln/>
        </p:spPr>
        <p:txBody>
          <a:bodyPr wrap="square" lIns="0" tIns="0" rIns="0" bIns="0" rtlCol="0" anchor="t"/>
          <a:lstStyle/>
          <a:p>
            <a:pPr indent="0" marL="0">
              <a:buNone/>
            </a:pPr>
            <a:r>
              <a:rPr lang="en-US" sz="1100" b="1" spc="150" kern="0" dirty="0">
                <a:solidFill>
                  <a:srgbClr val="E8551F"/>
                </a:solidFill>
                <a:latin typeface="Calibri" pitchFamily="34" charset="0"/>
                <a:ea typeface="Calibri" pitchFamily="34" charset="-122"/>
                <a:cs typeface="Calibri" pitchFamily="34" charset="-120"/>
              </a:rPr>
              <a:t>STEPS</a:t>
            </a:r>
            <a:endParaRPr lang="en-US" sz="1100" dirty="0"/>
          </a:p>
        </p:txBody>
      </p:sp>
      <p:sp>
        <p:nvSpPr>
          <p:cNvPr id="9" name="Text 7"/>
          <p:cNvSpPr/>
          <p:nvPr/>
        </p:nvSpPr>
        <p:spPr>
          <a:xfrm>
            <a:off x="460248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What to click, in order, in the Cortex XSIAM console. Anything to paste is shown in monospace.</a:t>
            </a:r>
            <a:endParaRPr lang="en-US" sz="1100" dirty="0"/>
          </a:p>
        </p:txBody>
      </p:sp>
      <p:sp>
        <p:nvSpPr>
          <p:cNvPr id="10" name="Shape 8"/>
          <p:cNvSpPr/>
          <p:nvPr/>
        </p:nvSpPr>
        <p:spPr>
          <a:xfrm>
            <a:off x="8107680" y="1463040"/>
            <a:ext cx="3505200" cy="2286000"/>
          </a:xfrm>
          <a:prstGeom prst="roundRect">
            <a:avLst>
              <a:gd name="adj" fmla="val 2000"/>
            </a:avLst>
          </a:prstGeom>
          <a:solidFill>
            <a:srgbClr val="1C2026"/>
          </a:solidFill>
          <a:ln w="12700">
            <a:solidFill>
              <a:srgbClr val="1C2026"/>
            </a:solidFill>
            <a:prstDash val="solid"/>
          </a:ln>
        </p:spPr>
      </p:sp>
      <p:sp>
        <p:nvSpPr>
          <p:cNvPr id="11" name="Text 9"/>
          <p:cNvSpPr/>
          <p:nvPr/>
        </p:nvSpPr>
        <p:spPr>
          <a:xfrm>
            <a:off x="8382000" y="1691640"/>
            <a:ext cx="2956560" cy="274320"/>
          </a:xfrm>
          <a:prstGeom prst="rect">
            <a:avLst/>
          </a:prstGeom>
          <a:noFill/>
          <a:ln/>
        </p:spPr>
        <p:txBody>
          <a:bodyPr wrap="square" lIns="0" tIns="0" rIns="0" bIns="0" rtlCol="0" anchor="t"/>
          <a:lstStyle/>
          <a:p>
            <a:pPr indent="0" marL="0">
              <a:buNone/>
            </a:pPr>
            <a:r>
              <a:rPr lang="en-US" sz="1100" b="1" spc="150" kern="0" dirty="0">
                <a:solidFill>
                  <a:srgbClr val="3FB950"/>
                </a:solidFill>
                <a:latin typeface="Calibri" pitchFamily="34" charset="0"/>
                <a:ea typeface="Calibri" pitchFamily="34" charset="-122"/>
                <a:cs typeface="Calibri" pitchFamily="34" charset="-120"/>
              </a:rPr>
              <a:t>WHAT TO EXPECT</a:t>
            </a:r>
            <a:endParaRPr lang="en-US" sz="1100" dirty="0"/>
          </a:p>
        </p:txBody>
      </p:sp>
      <p:sp>
        <p:nvSpPr>
          <p:cNvPr id="12" name="Text 10"/>
          <p:cNvSpPr/>
          <p:nvPr/>
        </p:nvSpPr>
        <p:spPr>
          <a:xfrm>
            <a:off x="8382000" y="2057400"/>
            <a:ext cx="2956560" cy="155448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What a passing test looks like. Where a result commonly looks wrong but is correct, it says so.</a:t>
            </a:r>
            <a:endParaRPr lang="en-US" sz="1100" dirty="0"/>
          </a:p>
        </p:txBody>
      </p:sp>
      <p:sp>
        <p:nvSpPr>
          <p:cNvPr id="13" name="Shape 11"/>
          <p:cNvSpPr/>
          <p:nvPr/>
        </p:nvSpPr>
        <p:spPr>
          <a:xfrm>
            <a:off x="548640" y="3977640"/>
            <a:ext cx="11064240" cy="1371600"/>
          </a:xfrm>
          <a:prstGeom prst="roundRect">
            <a:avLst>
              <a:gd name="adj" fmla="val 3333"/>
            </a:avLst>
          </a:prstGeom>
          <a:solidFill>
            <a:srgbClr val="1C2026"/>
          </a:solidFill>
          <a:ln w="12700">
            <a:solidFill>
              <a:srgbClr val="1C2026"/>
            </a:solidFill>
            <a:prstDash val="solid"/>
          </a:ln>
        </p:spPr>
      </p:sp>
      <p:sp>
        <p:nvSpPr>
          <p:cNvPr id="14" name="Text 12"/>
          <p:cNvSpPr/>
          <p:nvPr/>
        </p:nvSpPr>
        <p:spPr>
          <a:xfrm>
            <a:off x="859536" y="4160520"/>
            <a:ext cx="457200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Run them in order the first time</a:t>
            </a:r>
            <a:endParaRPr lang="en-US" sz="1300" dirty="0"/>
          </a:p>
        </p:txBody>
      </p:sp>
      <p:sp>
        <p:nvSpPr>
          <p:cNvPr id="15" name="Text 13"/>
          <p:cNvSpPr/>
          <p:nvPr/>
        </p:nvSpPr>
        <p:spPr>
          <a:xfrm>
            <a:off x="859536" y="4498848"/>
            <a:ext cx="10442448" cy="731520"/>
          </a:xfrm>
          <a:prstGeom prst="rect">
            <a:avLst/>
          </a:prstGeom>
          <a:noFill/>
          <a:ln/>
        </p:spPr>
        <p:txBody>
          <a:bodyPr wrap="square" lIns="0" tIns="0" rIns="0" bIns="0" rtlCol="0" anchor="t"/>
          <a:lstStyle/>
          <a:p>
            <a:pPr indent="0" marL="0">
              <a:lnSpc>
                <a:spcPts val="1400"/>
              </a:lnSpc>
              <a:buNone/>
            </a:pPr>
            <a:r>
              <a:rPr lang="en-US" sz="1100" dirty="0">
                <a:solidFill>
                  <a:srgbClr val="B4B7BD"/>
                </a:solidFill>
                <a:latin typeface="Calibri" pitchFamily="34" charset="0"/>
                <a:ea typeface="Calibri" pitchFamily="34" charset="-122"/>
                <a:cs typeface="Calibri" pitchFamily="34" charset="-120"/>
              </a:rPr>
              <a:t>Tests 1 to 3 prove data is arriving and correct. Tests 4 to 7 prove the automation. Tests 8 and 9 prove fleet script execution — the only ones needing the Core REST API integration. Test 10 is the alert layout. Nothing here needs a Cortex XDR integration: XSIAM is the XDR, and its XQL engine is built in.</a:t>
            </a:r>
            <a:endParaRPr lang="en-US" sz="1100" dirty="0"/>
          </a:p>
        </p:txBody>
      </p:sp>
      <p:sp>
        <p:nvSpPr>
          <p:cNvPr id="16" name="Text 14"/>
          <p:cNvSpPr/>
          <p:nvPr/>
        </p:nvSpPr>
        <p:spPr>
          <a:xfrm>
            <a:off x="548640" y="5623560"/>
            <a:ext cx="11064240" cy="274320"/>
          </a:xfrm>
          <a:prstGeom prst="rect">
            <a:avLst/>
          </a:prstGeom>
          <a:noFill/>
          <a:ln/>
        </p:spPr>
        <p:txBody>
          <a:bodyPr wrap="square" lIns="0" tIns="0" rIns="0" bIns="0" rtlCol="0" anchor="t"/>
          <a:lstStyle/>
          <a:p>
            <a:pPr indent="0" marL="0">
              <a:buNone/>
            </a:pPr>
            <a:r>
              <a:rPr lang="en-US" sz="1100" i="1" dirty="0">
                <a:solidFill>
                  <a:srgbClr val="F5A524"/>
                </a:solidFill>
                <a:latin typeface="Calibri" pitchFamily="34" charset="0"/>
                <a:ea typeface="Calibri" pitchFamily="34" charset="-122"/>
                <a:cs typeface="Calibri" pitchFamily="34" charset="-120"/>
              </a:rPr>
              <a:t>A test that fails on a missing prerequisite is not a product defect — check the amber panel first.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BEFORE YOU BEGIN</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Everything this pack depends on, and where to set it up</a:t>
            </a:r>
            <a:endParaRPr lang="en-US" sz="3100" dirty="0"/>
          </a:p>
        </p:txBody>
      </p:sp>
      <p:sp>
        <p:nvSpPr>
          <p:cNvPr id="4" name="Text 2"/>
          <p:cNvSpPr/>
          <p:nvPr/>
        </p:nvSpPr>
        <p:spPr>
          <a:xfrm>
            <a:off x="822960" y="1325880"/>
            <a:ext cx="292608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What</a:t>
            </a:r>
            <a:endParaRPr lang="en-US" sz="1050" dirty="0"/>
          </a:p>
        </p:txBody>
      </p:sp>
      <p:sp>
        <p:nvSpPr>
          <p:cNvPr id="5" name="Text 3"/>
          <p:cNvSpPr/>
          <p:nvPr/>
        </p:nvSpPr>
        <p:spPr>
          <a:xfrm>
            <a:off x="3840480" y="1325880"/>
            <a:ext cx="374904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Where in XSIAM</a:t>
            </a:r>
            <a:endParaRPr lang="en-US" sz="1050" dirty="0"/>
          </a:p>
        </p:txBody>
      </p:sp>
      <p:sp>
        <p:nvSpPr>
          <p:cNvPr id="6" name="Text 4"/>
          <p:cNvSpPr/>
          <p:nvPr/>
        </p:nvSpPr>
        <p:spPr>
          <a:xfrm>
            <a:off x="7772400" y="1325880"/>
            <a:ext cx="3566160" cy="237744"/>
          </a:xfrm>
          <a:prstGeom prst="rect">
            <a:avLst/>
          </a:prstGeom>
          <a:noFill/>
          <a:ln/>
        </p:spPr>
        <p:txBody>
          <a:bodyPr wrap="square" lIns="0" tIns="0" rIns="0" bIns="0" rtlCol="0" anchor="t"/>
          <a:lstStyle/>
          <a:p>
            <a:pPr indent="0" marL="0">
              <a:buNone/>
            </a:pPr>
            <a:r>
              <a:rPr lang="en-US" sz="1050" b="1" spc="100" kern="0" dirty="0">
                <a:solidFill>
                  <a:srgbClr val="E8551F"/>
                </a:solidFill>
                <a:latin typeface="Calibri" pitchFamily="34" charset="0"/>
                <a:ea typeface="Calibri" pitchFamily="34" charset="-122"/>
                <a:cs typeface="Calibri" pitchFamily="34" charset="-120"/>
              </a:rPr>
              <a:t>Needed for</a:t>
            </a:r>
            <a:endParaRPr lang="en-US" sz="1050" dirty="0"/>
          </a:p>
        </p:txBody>
      </p:sp>
      <p:sp>
        <p:nvSpPr>
          <p:cNvPr id="7" name="Shape 5"/>
          <p:cNvSpPr/>
          <p:nvPr/>
        </p:nvSpPr>
        <p:spPr>
          <a:xfrm>
            <a:off x="548640" y="1609344"/>
            <a:ext cx="11064240" cy="365760"/>
          </a:xfrm>
          <a:prstGeom prst="roundRect">
            <a:avLst>
              <a:gd name="adj" fmla="val 12500"/>
            </a:avLst>
          </a:prstGeom>
          <a:solidFill>
            <a:srgbClr val="15171B"/>
          </a:solidFill>
          <a:ln w="12700">
            <a:solidFill>
              <a:srgbClr val="15171B"/>
            </a:solidFill>
            <a:prstDash val="solid"/>
          </a:ln>
        </p:spPr>
      </p:sp>
      <p:sp>
        <p:nvSpPr>
          <p:cNvPr id="8" name="Text 6"/>
          <p:cNvSpPr/>
          <p:nvPr/>
        </p:nvSpPr>
        <p:spPr>
          <a:xfrm>
            <a:off x="822960" y="1700784"/>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Marketplace KOI pack</a:t>
            </a:r>
            <a:endParaRPr lang="en-US" sz="1050" dirty="0"/>
          </a:p>
        </p:txBody>
      </p:sp>
      <p:sp>
        <p:nvSpPr>
          <p:cNvPr id="9" name="Text 7"/>
          <p:cNvSpPr/>
          <p:nvPr/>
        </p:nvSpPr>
        <p:spPr>
          <a:xfrm>
            <a:off x="3840480" y="1700784"/>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Marketplace → search KOI → Install</a:t>
            </a:r>
            <a:endParaRPr lang="en-US" sz="1000" dirty="0"/>
          </a:p>
        </p:txBody>
      </p:sp>
      <p:sp>
        <p:nvSpPr>
          <p:cNvPr id="10" name="Text 8"/>
          <p:cNvSpPr/>
          <p:nvPr/>
        </p:nvSpPr>
        <p:spPr>
          <a:xfrm>
            <a:off x="7772400" y="1700784"/>
            <a:ext cx="3566160" cy="237744"/>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Everything — it holds the integration</a:t>
            </a:r>
            <a:endParaRPr lang="en-US" sz="1000" dirty="0"/>
          </a:p>
        </p:txBody>
      </p:sp>
      <p:sp>
        <p:nvSpPr>
          <p:cNvPr id="11" name="Shape 9"/>
          <p:cNvSpPr/>
          <p:nvPr/>
        </p:nvSpPr>
        <p:spPr>
          <a:xfrm>
            <a:off x="548640" y="2029968"/>
            <a:ext cx="11064240" cy="365760"/>
          </a:xfrm>
          <a:prstGeom prst="roundRect">
            <a:avLst>
              <a:gd name="adj" fmla="val 12500"/>
            </a:avLst>
          </a:prstGeom>
          <a:solidFill>
            <a:srgbClr val="15171B"/>
          </a:solidFill>
          <a:ln w="12700">
            <a:solidFill>
              <a:srgbClr val="15171B"/>
            </a:solidFill>
            <a:prstDash val="solid"/>
          </a:ln>
        </p:spPr>
      </p:sp>
      <p:sp>
        <p:nvSpPr>
          <p:cNvPr id="12" name="Text 10"/>
          <p:cNvSpPr/>
          <p:nvPr/>
        </p:nvSpPr>
        <p:spPr>
          <a:xfrm>
            <a:off x="822960" y="2121408"/>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API key</a:t>
            </a:r>
            <a:endParaRPr lang="en-US" sz="1050" dirty="0"/>
          </a:p>
        </p:txBody>
      </p:sp>
      <p:sp>
        <p:nvSpPr>
          <p:cNvPr id="13" name="Text 11"/>
          <p:cNvSpPr/>
          <p:nvPr/>
        </p:nvSpPr>
        <p:spPr>
          <a:xfrm>
            <a:off x="3840480" y="2121408"/>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KOI console → Settings → API Access</a:t>
            </a:r>
            <a:endParaRPr lang="en-US" sz="1000" dirty="0"/>
          </a:p>
        </p:txBody>
      </p:sp>
      <p:sp>
        <p:nvSpPr>
          <p:cNvPr id="14" name="Text 12"/>
          <p:cNvSpPr/>
          <p:nvPr/>
        </p:nvSpPr>
        <p:spPr>
          <a:xfrm>
            <a:off x="7772400" y="2121408"/>
            <a:ext cx="356616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1-7, 10</a:t>
            </a:r>
            <a:endParaRPr lang="en-US" sz="1000" dirty="0"/>
          </a:p>
        </p:txBody>
      </p:sp>
      <p:sp>
        <p:nvSpPr>
          <p:cNvPr id="15" name="Shape 13"/>
          <p:cNvSpPr/>
          <p:nvPr/>
        </p:nvSpPr>
        <p:spPr>
          <a:xfrm>
            <a:off x="548640" y="2450592"/>
            <a:ext cx="11064240" cy="365760"/>
          </a:xfrm>
          <a:prstGeom prst="roundRect">
            <a:avLst>
              <a:gd name="adj" fmla="val 12500"/>
            </a:avLst>
          </a:prstGeom>
          <a:solidFill>
            <a:srgbClr val="15171B"/>
          </a:solidFill>
          <a:ln w="12700">
            <a:solidFill>
              <a:srgbClr val="15171B"/>
            </a:solidFill>
            <a:prstDash val="solid"/>
          </a:ln>
        </p:spPr>
      </p:sp>
      <p:sp>
        <p:nvSpPr>
          <p:cNvPr id="16" name="Text 14"/>
          <p:cNvSpPr/>
          <p:nvPr/>
        </p:nvSpPr>
        <p:spPr>
          <a:xfrm>
            <a:off x="822960" y="2542032"/>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integration instance</a:t>
            </a:r>
            <a:endParaRPr lang="en-US" sz="1050" dirty="0"/>
          </a:p>
        </p:txBody>
      </p:sp>
      <p:sp>
        <p:nvSpPr>
          <p:cNvPr id="17" name="Text 15"/>
          <p:cNvSpPr/>
          <p:nvPr/>
        </p:nvSpPr>
        <p:spPr>
          <a:xfrm>
            <a:off x="3840480" y="2542032"/>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Data Sources → Add → KOI</a:t>
            </a:r>
            <a:endParaRPr lang="en-US" sz="1000" dirty="0"/>
          </a:p>
        </p:txBody>
      </p:sp>
      <p:sp>
        <p:nvSpPr>
          <p:cNvPr id="18" name="Text 16"/>
          <p:cNvSpPr/>
          <p:nvPr/>
        </p:nvSpPr>
        <p:spPr>
          <a:xfrm>
            <a:off x="7772400" y="2542032"/>
            <a:ext cx="356616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1-7, 10</a:t>
            </a:r>
            <a:endParaRPr lang="en-US" sz="1000" dirty="0"/>
          </a:p>
        </p:txBody>
      </p:sp>
      <p:sp>
        <p:nvSpPr>
          <p:cNvPr id="19" name="Shape 17"/>
          <p:cNvSpPr/>
          <p:nvPr/>
        </p:nvSpPr>
        <p:spPr>
          <a:xfrm>
            <a:off x="548640" y="2871216"/>
            <a:ext cx="11064240" cy="365760"/>
          </a:xfrm>
          <a:prstGeom prst="roundRect">
            <a:avLst>
              <a:gd name="adj" fmla="val 12500"/>
            </a:avLst>
          </a:prstGeom>
          <a:solidFill>
            <a:srgbClr val="15171B"/>
          </a:solidFill>
          <a:ln w="12700">
            <a:solidFill>
              <a:srgbClr val="15171B"/>
            </a:solidFill>
            <a:prstDash val="solid"/>
          </a:ln>
        </p:spPr>
      </p:sp>
      <p:sp>
        <p:nvSpPr>
          <p:cNvPr id="20" name="Text 18"/>
          <p:cNvSpPr/>
          <p:nvPr/>
        </p:nvSpPr>
        <p:spPr>
          <a:xfrm>
            <a:off x="822960" y="2962656"/>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An egress IP KOI accepts</a:t>
            </a:r>
            <a:endParaRPr lang="en-US" sz="1050" dirty="0"/>
          </a:p>
        </p:txBody>
      </p:sp>
      <p:sp>
        <p:nvSpPr>
          <p:cNvPr id="21" name="Text 19"/>
          <p:cNvSpPr/>
          <p:nvPr/>
        </p:nvSpPr>
        <p:spPr>
          <a:xfrm>
            <a:off x="3840480" y="2962656"/>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Run the instance on a Cortex engine if needed</a:t>
            </a:r>
            <a:endParaRPr lang="en-US" sz="1000" dirty="0"/>
          </a:p>
        </p:txBody>
      </p:sp>
      <p:sp>
        <p:nvSpPr>
          <p:cNvPr id="22" name="Text 20"/>
          <p:cNvSpPr/>
          <p:nvPr/>
        </p:nvSpPr>
        <p:spPr>
          <a:xfrm>
            <a:off x="7772400" y="2962656"/>
            <a:ext cx="3566160" cy="237744"/>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Tests 1-7, 10</a:t>
            </a:r>
            <a:endParaRPr lang="en-US" sz="1000" dirty="0"/>
          </a:p>
        </p:txBody>
      </p:sp>
      <p:sp>
        <p:nvSpPr>
          <p:cNvPr id="23" name="Shape 21"/>
          <p:cNvSpPr/>
          <p:nvPr/>
        </p:nvSpPr>
        <p:spPr>
          <a:xfrm>
            <a:off x="548640" y="3291840"/>
            <a:ext cx="11064240" cy="365760"/>
          </a:xfrm>
          <a:prstGeom prst="roundRect">
            <a:avLst>
              <a:gd name="adj" fmla="val 12500"/>
            </a:avLst>
          </a:prstGeom>
          <a:solidFill>
            <a:srgbClr val="15171B"/>
          </a:solidFill>
          <a:ln w="12700">
            <a:solidFill>
              <a:srgbClr val="15171B"/>
            </a:solidFill>
            <a:prstDash val="solid"/>
          </a:ln>
        </p:spPr>
      </p:sp>
      <p:sp>
        <p:nvSpPr>
          <p:cNvPr id="24" name="Text 22"/>
          <p:cNvSpPr/>
          <p:nvPr/>
        </p:nvSpPr>
        <p:spPr>
          <a:xfrm>
            <a:off x="822960" y="3383280"/>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Core REST API instance</a:t>
            </a:r>
            <a:endParaRPr lang="en-US" sz="1050" dirty="0"/>
          </a:p>
        </p:txBody>
      </p:sp>
      <p:sp>
        <p:nvSpPr>
          <p:cNvPr id="25" name="Text 23"/>
          <p:cNvSpPr/>
          <p:nvPr/>
        </p:nvSpPr>
        <p:spPr>
          <a:xfrm>
            <a:off x="3840480" y="3383280"/>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Data Sources → Add → Core REST API</a:t>
            </a:r>
            <a:endParaRPr lang="en-US" sz="1000" dirty="0"/>
          </a:p>
        </p:txBody>
      </p:sp>
      <p:sp>
        <p:nvSpPr>
          <p:cNvPr id="26" name="Text 24"/>
          <p:cNvSpPr/>
          <p:nvPr/>
        </p:nvSpPr>
        <p:spPr>
          <a:xfrm>
            <a:off x="7772400" y="3383280"/>
            <a:ext cx="3566160" cy="237744"/>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Tests 8-9 only</a:t>
            </a:r>
            <a:endParaRPr lang="en-US" sz="1000" dirty="0"/>
          </a:p>
        </p:txBody>
      </p:sp>
      <p:sp>
        <p:nvSpPr>
          <p:cNvPr id="27" name="Shape 25"/>
          <p:cNvSpPr/>
          <p:nvPr/>
        </p:nvSpPr>
        <p:spPr>
          <a:xfrm>
            <a:off x="548640" y="3712464"/>
            <a:ext cx="11064240" cy="365760"/>
          </a:xfrm>
          <a:prstGeom prst="roundRect">
            <a:avLst>
              <a:gd name="adj" fmla="val 12500"/>
            </a:avLst>
          </a:prstGeom>
          <a:solidFill>
            <a:srgbClr val="15171B"/>
          </a:solidFill>
          <a:ln w="12700">
            <a:solidFill>
              <a:srgbClr val="15171B"/>
            </a:solidFill>
            <a:prstDash val="solid"/>
          </a:ln>
        </p:spPr>
      </p:sp>
      <p:sp>
        <p:nvSpPr>
          <p:cNvPr id="28" name="Text 26"/>
          <p:cNvSpPr/>
          <p:nvPr/>
        </p:nvSpPr>
        <p:spPr>
          <a:xfrm>
            <a:off x="822960" y="3803904"/>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script in Action Center</a:t>
            </a:r>
            <a:endParaRPr lang="en-US" sz="1050" dirty="0"/>
          </a:p>
        </p:txBody>
      </p:sp>
      <p:sp>
        <p:nvSpPr>
          <p:cNvPr id="29" name="Text 27"/>
          <p:cNvSpPr/>
          <p:nvPr/>
        </p:nvSpPr>
        <p:spPr>
          <a:xfrm>
            <a:off x="3840480" y="3803904"/>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Action Center → Scripts Library → upload</a:t>
            </a:r>
            <a:endParaRPr lang="en-US" sz="1000" dirty="0"/>
          </a:p>
        </p:txBody>
      </p:sp>
      <p:sp>
        <p:nvSpPr>
          <p:cNvPr id="30" name="Text 28"/>
          <p:cNvSpPr/>
          <p:nvPr/>
        </p:nvSpPr>
        <p:spPr>
          <a:xfrm>
            <a:off x="7772400" y="3803904"/>
            <a:ext cx="356616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8-9</a:t>
            </a:r>
            <a:endParaRPr lang="en-US" sz="1000" dirty="0"/>
          </a:p>
        </p:txBody>
      </p:sp>
      <p:sp>
        <p:nvSpPr>
          <p:cNvPr id="31" name="Shape 29"/>
          <p:cNvSpPr/>
          <p:nvPr/>
        </p:nvSpPr>
        <p:spPr>
          <a:xfrm>
            <a:off x="548640" y="4133088"/>
            <a:ext cx="11064240" cy="365760"/>
          </a:xfrm>
          <a:prstGeom prst="roundRect">
            <a:avLst>
              <a:gd name="adj" fmla="val 12500"/>
            </a:avLst>
          </a:prstGeom>
          <a:solidFill>
            <a:srgbClr val="15171B"/>
          </a:solidFill>
          <a:ln w="12700">
            <a:solidFill>
              <a:srgbClr val="15171B"/>
            </a:solidFill>
            <a:prstDash val="solid"/>
          </a:ln>
        </p:spPr>
      </p:sp>
      <p:sp>
        <p:nvSpPr>
          <p:cNvPr id="32" name="Text 30"/>
          <p:cNvSpPr/>
          <p:nvPr/>
        </p:nvSpPr>
        <p:spPr>
          <a:xfrm>
            <a:off x="822960" y="4224528"/>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An endpoint group</a:t>
            </a:r>
            <a:endParaRPr lang="en-US" sz="1050" dirty="0"/>
          </a:p>
        </p:txBody>
      </p:sp>
      <p:sp>
        <p:nvSpPr>
          <p:cNvPr id="33" name="Text 31"/>
          <p:cNvSpPr/>
          <p:nvPr/>
        </p:nvSpPr>
        <p:spPr>
          <a:xfrm>
            <a:off x="3840480" y="4224528"/>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Endpoints → tag agents, then Endpoint Groups → dynamic</a:t>
            </a:r>
            <a:endParaRPr lang="en-US" sz="1000" dirty="0"/>
          </a:p>
        </p:txBody>
      </p:sp>
      <p:sp>
        <p:nvSpPr>
          <p:cNvPr id="34" name="Text 32"/>
          <p:cNvSpPr/>
          <p:nvPr/>
        </p:nvSpPr>
        <p:spPr>
          <a:xfrm>
            <a:off x="7772400" y="4224528"/>
            <a:ext cx="356616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8-9</a:t>
            </a:r>
            <a:endParaRPr lang="en-US" sz="1000" dirty="0"/>
          </a:p>
        </p:txBody>
      </p:sp>
      <p:sp>
        <p:nvSpPr>
          <p:cNvPr id="35" name="Shape 33"/>
          <p:cNvSpPr/>
          <p:nvPr/>
        </p:nvSpPr>
        <p:spPr>
          <a:xfrm>
            <a:off x="548640" y="4553712"/>
            <a:ext cx="11064240" cy="365760"/>
          </a:xfrm>
          <a:prstGeom prst="roundRect">
            <a:avLst>
              <a:gd name="adj" fmla="val 12500"/>
            </a:avLst>
          </a:prstGeom>
          <a:solidFill>
            <a:srgbClr val="15171B"/>
          </a:solidFill>
          <a:ln w="12700">
            <a:solidFill>
              <a:srgbClr val="15171B"/>
            </a:solidFill>
            <a:prstDash val="solid"/>
          </a:ln>
        </p:spPr>
      </p:sp>
      <p:sp>
        <p:nvSpPr>
          <p:cNvPr id="36" name="Text 34"/>
          <p:cNvSpPr/>
          <p:nvPr/>
        </p:nvSpPr>
        <p:spPr>
          <a:xfrm>
            <a:off x="822960" y="4645152"/>
            <a:ext cx="2926080" cy="237744"/>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"Koi Script Runner" JSON List</a:t>
            </a:r>
            <a:endParaRPr lang="en-US" sz="1050" dirty="0"/>
          </a:p>
        </p:txBody>
      </p:sp>
      <p:sp>
        <p:nvSpPr>
          <p:cNvPr id="37" name="Text 35"/>
          <p:cNvSpPr/>
          <p:nvPr/>
        </p:nvSpPr>
        <p:spPr>
          <a:xfrm>
            <a:off x="3840480" y="4645152"/>
            <a:ext cx="384048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Settings → Object Setup → Lists</a:t>
            </a:r>
            <a:endParaRPr lang="en-US" sz="1000" dirty="0"/>
          </a:p>
        </p:txBody>
      </p:sp>
      <p:sp>
        <p:nvSpPr>
          <p:cNvPr id="38" name="Text 36"/>
          <p:cNvSpPr/>
          <p:nvPr/>
        </p:nvSpPr>
        <p:spPr>
          <a:xfrm>
            <a:off x="7772400" y="4645152"/>
            <a:ext cx="3566160" cy="237744"/>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Tests 8-9</a:t>
            </a:r>
            <a:endParaRPr lang="en-US" sz="1000" dirty="0"/>
          </a:p>
        </p:txBody>
      </p:sp>
      <p:sp>
        <p:nvSpPr>
          <p:cNvPr id="39" name="Shape 37"/>
          <p:cNvSpPr/>
          <p:nvPr/>
        </p:nvSpPr>
        <p:spPr>
          <a:xfrm>
            <a:off x="548640" y="5532120"/>
            <a:ext cx="11064240" cy="777240"/>
          </a:xfrm>
          <a:prstGeom prst="roundRect">
            <a:avLst>
              <a:gd name="adj" fmla="val 5882"/>
            </a:avLst>
          </a:prstGeom>
          <a:solidFill>
            <a:srgbClr val="1C2026"/>
          </a:solidFill>
          <a:ln w="12700">
            <a:solidFill>
              <a:srgbClr val="1C2026"/>
            </a:solidFill>
            <a:prstDash val="solid"/>
          </a:ln>
        </p:spPr>
      </p:sp>
      <p:sp>
        <p:nvSpPr>
          <p:cNvPr id="40" name="Shape 38"/>
          <p:cNvSpPr/>
          <p:nvPr/>
        </p:nvSpPr>
        <p:spPr>
          <a:xfrm>
            <a:off x="786384" y="5760720"/>
            <a:ext cx="292608" cy="292608"/>
          </a:xfrm>
          <a:prstGeom prst="roundRect">
            <a:avLst>
              <a:gd name="adj" fmla="val 28125"/>
            </a:avLst>
          </a:prstGeom>
          <a:solidFill>
            <a:srgbClr val="F5A524"/>
          </a:solidFill>
          <a:ln w="12700">
            <a:solidFill>
              <a:srgbClr val="F5A524"/>
            </a:solidFill>
            <a:prstDash val="solid"/>
          </a:ln>
        </p:spPr>
      </p:sp>
      <p:sp>
        <p:nvSpPr>
          <p:cNvPr id="41" name="Text 39"/>
          <p:cNvSpPr/>
          <p:nvPr/>
        </p:nvSpPr>
        <p:spPr>
          <a:xfrm>
            <a:off x="786384" y="576072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2" name="Text 40"/>
          <p:cNvSpPr/>
          <p:nvPr/>
        </p:nvSpPr>
        <p:spPr>
          <a:xfrm>
            <a:off x="1243584" y="5650992"/>
            <a:ext cx="10058400" cy="54864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Two are easy to miss. The Marketplace KOI pack must be installed first — this extension ships no integration. And the Core REST API instance: without it the Script Runner's tracker stays empty and every scan run does nothing, which looks exactly like a broken playbook.</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Connectivity and authorisation</a:t>
            </a:r>
            <a:endParaRPr lang="en-US" sz="3100" dirty="0"/>
          </a:p>
        </p:txBody>
      </p:sp>
      <p:sp>
        <p:nvSpPr>
          <p:cNvPr id="4" name="Shape 2"/>
          <p:cNvSpPr/>
          <p:nvPr/>
        </p:nvSpPr>
        <p:spPr>
          <a:xfrm>
            <a:off x="548640" y="1280160"/>
            <a:ext cx="11064240" cy="758952"/>
          </a:xfrm>
          <a:prstGeom prst="roundRect">
            <a:avLst>
              <a:gd name="adj" fmla="val 6024"/>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integration (from the Marketplace KOI pack)</a:t>
            </a:r>
            <a:endParaRPr lang="en-US" sz="1000" dirty="0"/>
          </a:p>
        </p:txBody>
      </p:sp>
      <p:sp>
        <p:nvSpPr>
          <p:cNvPr id="8" name="Text 6"/>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9" name="Text 7"/>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0" name="Text 8"/>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Marketplace KOI pack installed (it holds the integration)</a:t>
            </a:r>
            <a:endParaRPr lang="en-US" sz="1000" dirty="0"/>
          </a:p>
        </p:txBody>
      </p:sp>
      <p:sp>
        <p:nvSpPr>
          <p:cNvPr id="11" name="Text 9"/>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2" name="Text 10"/>
          <p:cNvSpPr/>
          <p:nvPr/>
        </p:nvSpPr>
        <p:spPr>
          <a:xfrm>
            <a:off x="70866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 KOI API key from the KOI console</a:t>
            </a:r>
            <a:endParaRPr lang="en-US" sz="1000" dirty="0"/>
          </a:p>
        </p:txBody>
      </p:sp>
      <p:sp>
        <p:nvSpPr>
          <p:cNvPr id="13" name="Shape 11"/>
          <p:cNvSpPr/>
          <p:nvPr/>
        </p:nvSpPr>
        <p:spPr>
          <a:xfrm>
            <a:off x="548640" y="2221992"/>
            <a:ext cx="6400800" cy="2432304"/>
          </a:xfrm>
          <a:prstGeom prst="roundRect">
            <a:avLst>
              <a:gd name="adj" fmla="val 1880"/>
            </a:avLst>
          </a:prstGeom>
          <a:solidFill>
            <a:srgbClr val="15171B"/>
          </a:solidFill>
          <a:ln w="12700">
            <a:solidFill>
              <a:srgbClr val="15171B"/>
            </a:solidFill>
            <a:prstDash val="solid"/>
          </a:ln>
        </p:spPr>
      </p:sp>
      <p:sp>
        <p:nvSpPr>
          <p:cNvPr id="14" name="Text 12"/>
          <p:cNvSpPr/>
          <p:nvPr/>
        </p:nvSpPr>
        <p:spPr>
          <a:xfrm>
            <a:off x="859536" y="2404872"/>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5" name="Text 13"/>
          <p:cNvSpPr/>
          <p:nvPr/>
        </p:nvSpPr>
        <p:spPr>
          <a:xfrm>
            <a:off x="859536" y="27523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6" name="Text 14"/>
          <p:cNvSpPr/>
          <p:nvPr/>
        </p:nvSpPr>
        <p:spPr>
          <a:xfrm>
            <a:off x="1152144" y="275234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Data Sources → Add an instance → search KOI.</a:t>
            </a:r>
            <a:endParaRPr lang="en-US" sz="1150" dirty="0"/>
          </a:p>
        </p:txBody>
      </p:sp>
      <p:sp>
        <p:nvSpPr>
          <p:cNvPr id="17" name="Text 15"/>
          <p:cNvSpPr/>
          <p:nvPr/>
        </p:nvSpPr>
        <p:spPr>
          <a:xfrm>
            <a:off x="859536" y="308152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8" name="Text 16"/>
          <p:cNvSpPr/>
          <p:nvPr/>
        </p:nvSpPr>
        <p:spPr>
          <a:xfrm>
            <a:off x="1152144" y="308152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Server URL:  https://api.prod.koi.security/</a:t>
            </a:r>
            <a:endParaRPr lang="en-US" sz="1050" dirty="0"/>
          </a:p>
        </p:txBody>
      </p:sp>
      <p:sp>
        <p:nvSpPr>
          <p:cNvPr id="19" name="Text 17"/>
          <p:cNvSpPr/>
          <p:nvPr/>
        </p:nvSpPr>
        <p:spPr>
          <a:xfrm>
            <a:off x="859536" y="341071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0" name="Text 18"/>
          <p:cNvSpPr/>
          <p:nvPr/>
        </p:nvSpPr>
        <p:spPr>
          <a:xfrm>
            <a:off x="1152144" y="341071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Paste the API key, click Test, then Save.</a:t>
            </a:r>
            <a:endParaRPr lang="en-US" sz="1150" dirty="0"/>
          </a:p>
        </p:txBody>
      </p:sp>
      <p:sp>
        <p:nvSpPr>
          <p:cNvPr id="21" name="Text 19"/>
          <p:cNvSpPr/>
          <p:nvPr/>
        </p:nvSpPr>
        <p:spPr>
          <a:xfrm>
            <a:off x="859536" y="37398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2" name="Text 20"/>
          <p:cNvSpPr/>
          <p:nvPr/>
        </p:nvSpPr>
        <p:spPr>
          <a:xfrm>
            <a:off x="1152144" y="373989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CLI on any incident and run:</a:t>
            </a:r>
            <a:endParaRPr lang="en-US" sz="1150" dirty="0"/>
          </a:p>
        </p:txBody>
      </p:sp>
      <p:sp>
        <p:nvSpPr>
          <p:cNvPr id="23" name="Text 21"/>
          <p:cNvSpPr/>
          <p:nvPr/>
        </p:nvSpPr>
        <p:spPr>
          <a:xfrm>
            <a:off x="859536" y="406908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4" name="Text 22"/>
          <p:cNvSpPr/>
          <p:nvPr/>
        </p:nvSpPr>
        <p:spPr>
          <a:xfrm>
            <a:off x="1152144" y="406908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!koi-inventory-list limit=5</a:t>
            </a:r>
            <a:endParaRPr lang="en-US" sz="1050" dirty="0"/>
          </a:p>
        </p:txBody>
      </p:sp>
      <p:sp>
        <p:nvSpPr>
          <p:cNvPr id="25" name="Shape 23"/>
          <p:cNvSpPr/>
          <p:nvPr/>
        </p:nvSpPr>
        <p:spPr>
          <a:xfrm>
            <a:off x="7315200" y="2221992"/>
            <a:ext cx="4297680" cy="2432304"/>
          </a:xfrm>
          <a:prstGeom prst="roundRect">
            <a:avLst>
              <a:gd name="adj" fmla="val 1880"/>
            </a:avLst>
          </a:prstGeom>
          <a:solidFill>
            <a:srgbClr val="1C2026"/>
          </a:solidFill>
          <a:ln w="12700">
            <a:solidFill>
              <a:srgbClr val="1C2026"/>
            </a:solidFill>
            <a:prstDash val="solid"/>
          </a:ln>
        </p:spPr>
      </p:sp>
      <p:sp>
        <p:nvSpPr>
          <p:cNvPr id="26" name="Text 24"/>
          <p:cNvSpPr/>
          <p:nvPr/>
        </p:nvSpPr>
        <p:spPr>
          <a:xfrm>
            <a:off x="7626096" y="2404872"/>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7" name="Text 25"/>
          <p:cNvSpPr/>
          <p:nvPr/>
        </p:nvSpPr>
        <p:spPr>
          <a:xfrm>
            <a:off x="7626096" y="27523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7918704" y="275234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Test returns Success.</a:t>
            </a:r>
            <a:endParaRPr lang="en-US" sz="1150" dirty="0"/>
          </a:p>
        </p:txBody>
      </p:sp>
      <p:sp>
        <p:nvSpPr>
          <p:cNvPr id="29" name="Text 27"/>
          <p:cNvSpPr/>
          <p:nvPr/>
        </p:nvSpPr>
        <p:spPr>
          <a:xfrm>
            <a:off x="7626096" y="30815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308152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command returns a table of inventory items.</a:t>
            </a:r>
            <a:endParaRPr lang="en-US" sz="1150" dirty="0"/>
          </a:p>
        </p:txBody>
      </p:sp>
      <p:sp>
        <p:nvSpPr>
          <p:cNvPr id="31" name="Shape 29"/>
          <p:cNvSpPr/>
          <p:nvPr/>
        </p:nvSpPr>
        <p:spPr>
          <a:xfrm>
            <a:off x="548640" y="4782312"/>
            <a:ext cx="11064240" cy="658368"/>
          </a:xfrm>
          <a:prstGeom prst="roundRect">
            <a:avLst>
              <a:gd name="adj" fmla="val 6944"/>
            </a:avLst>
          </a:prstGeom>
          <a:solidFill>
            <a:srgbClr val="1C2026"/>
          </a:solidFill>
          <a:ln w="12700">
            <a:solidFill>
              <a:srgbClr val="1C2026"/>
            </a:solidFill>
            <a:prstDash val="solid"/>
          </a:ln>
        </p:spPr>
      </p:sp>
      <p:sp>
        <p:nvSpPr>
          <p:cNvPr id="32" name="Shape 30"/>
          <p:cNvSpPr/>
          <p:nvPr/>
        </p:nvSpPr>
        <p:spPr>
          <a:xfrm>
            <a:off x="786384" y="4965192"/>
            <a:ext cx="292608" cy="292608"/>
          </a:xfrm>
          <a:prstGeom prst="roundRect">
            <a:avLst>
              <a:gd name="adj" fmla="val 28125"/>
            </a:avLst>
          </a:prstGeom>
          <a:solidFill>
            <a:srgbClr val="F5A524"/>
          </a:solidFill>
          <a:ln w="12700">
            <a:solidFill>
              <a:srgbClr val="F5A524"/>
            </a:solidFill>
            <a:prstDash val="solid"/>
          </a:ln>
        </p:spPr>
      </p:sp>
      <p:sp>
        <p:nvSpPr>
          <p:cNvPr id="33" name="Text 31"/>
          <p:cNvSpPr/>
          <p:nvPr/>
        </p:nvSpPr>
        <p:spPr>
          <a:xfrm>
            <a:off x="786384" y="496519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4" name="Text 32"/>
          <p:cNvSpPr/>
          <p:nvPr/>
        </p:nvSpPr>
        <p:spPr>
          <a:xfrm>
            <a:off x="1243584" y="489204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 403 here almost always means egress rather than a bad key — KOI restricts its sensitive endpoints by source IP. Run the instance on a Cortex engine whose address KOI accepts. A 401 means the key itself.</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2</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Event collection</a:t>
            </a:r>
            <a:endParaRPr lang="en-US" sz="3100" dirty="0"/>
          </a:p>
        </p:txBody>
      </p:sp>
      <p:sp>
        <p:nvSpPr>
          <p:cNvPr id="4" name="Shape 2"/>
          <p:cNvSpPr/>
          <p:nvPr/>
        </p:nvSpPr>
        <p:spPr>
          <a:xfrm>
            <a:off x="548640" y="1280160"/>
            <a:ext cx="11064240" cy="758952"/>
          </a:xfrm>
          <a:prstGeom prst="roundRect">
            <a:avLst>
              <a:gd name="adj" fmla="val 6024"/>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integration</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KoiContentExtension Parsing Rule</a:t>
            </a:r>
            <a:endParaRPr lang="en-US" sz="1000" dirty="0"/>
          </a:p>
        </p:txBody>
      </p:sp>
      <p:sp>
        <p:nvSpPr>
          <p:cNvPr id="10" name="Text 8"/>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1" name="Text 9"/>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2" name="Text 10"/>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1 passing</a:t>
            </a:r>
            <a:endParaRPr lang="en-US" sz="1000" dirty="0"/>
          </a:p>
        </p:txBody>
      </p:sp>
      <p:sp>
        <p:nvSpPr>
          <p:cNvPr id="13" name="Text 11"/>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4" name="Text 12"/>
          <p:cNvSpPr/>
          <p:nvPr/>
        </p:nvSpPr>
        <p:spPr>
          <a:xfrm>
            <a:off x="70866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Fetch events enabled on the KOI instance</a:t>
            </a:r>
            <a:endParaRPr lang="en-US" sz="1000" dirty="0"/>
          </a:p>
        </p:txBody>
      </p:sp>
      <p:sp>
        <p:nvSpPr>
          <p:cNvPr id="15" name="Shape 13"/>
          <p:cNvSpPr/>
          <p:nvPr/>
        </p:nvSpPr>
        <p:spPr>
          <a:xfrm>
            <a:off x="548640" y="2221992"/>
            <a:ext cx="6400800" cy="2432304"/>
          </a:xfrm>
          <a:prstGeom prst="roundRect">
            <a:avLst>
              <a:gd name="adj" fmla="val 1880"/>
            </a:avLst>
          </a:prstGeom>
          <a:solidFill>
            <a:srgbClr val="15171B"/>
          </a:solidFill>
          <a:ln w="12700">
            <a:solidFill>
              <a:srgbClr val="15171B"/>
            </a:solidFill>
            <a:prstDash val="solid"/>
          </a:ln>
        </p:spPr>
      </p:sp>
      <p:sp>
        <p:nvSpPr>
          <p:cNvPr id="16" name="Text 14"/>
          <p:cNvSpPr/>
          <p:nvPr/>
        </p:nvSpPr>
        <p:spPr>
          <a:xfrm>
            <a:off x="859536" y="2404872"/>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7" name="Text 15"/>
          <p:cNvSpPr/>
          <p:nvPr/>
        </p:nvSpPr>
        <p:spPr>
          <a:xfrm>
            <a:off x="859536" y="27523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8" name="Text 16"/>
          <p:cNvSpPr/>
          <p:nvPr/>
        </p:nvSpPr>
        <p:spPr>
          <a:xfrm>
            <a:off x="1152144" y="275234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Edit the KOI instance and tick Fetch events, then Save.</a:t>
            </a:r>
            <a:endParaRPr lang="en-US" sz="1150" dirty="0"/>
          </a:p>
        </p:txBody>
      </p:sp>
      <p:sp>
        <p:nvSpPr>
          <p:cNvPr id="19" name="Text 17"/>
          <p:cNvSpPr/>
          <p:nvPr/>
        </p:nvSpPr>
        <p:spPr>
          <a:xfrm>
            <a:off x="859536" y="308152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0" name="Text 18"/>
          <p:cNvSpPr/>
          <p:nvPr/>
        </p:nvSpPr>
        <p:spPr>
          <a:xfrm>
            <a:off x="1152144" y="308152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Wait for two collection cycles.</a:t>
            </a:r>
            <a:endParaRPr lang="en-US" sz="1150" dirty="0"/>
          </a:p>
        </p:txBody>
      </p:sp>
      <p:sp>
        <p:nvSpPr>
          <p:cNvPr id="21" name="Text 19"/>
          <p:cNvSpPr/>
          <p:nvPr/>
        </p:nvSpPr>
        <p:spPr>
          <a:xfrm>
            <a:off x="859536" y="341071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2" name="Text 20"/>
          <p:cNvSpPr/>
          <p:nvPr/>
        </p:nvSpPr>
        <p:spPr>
          <a:xfrm>
            <a:off x="1152144" y="341071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Query Builder and run:</a:t>
            </a:r>
            <a:endParaRPr lang="en-US" sz="1150" dirty="0"/>
          </a:p>
        </p:txBody>
      </p:sp>
      <p:sp>
        <p:nvSpPr>
          <p:cNvPr id="23" name="Text 21"/>
          <p:cNvSpPr/>
          <p:nvPr/>
        </p:nvSpPr>
        <p:spPr>
          <a:xfrm>
            <a:off x="859536" y="37398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4" name="Text 22"/>
          <p:cNvSpPr/>
          <p:nvPr/>
        </p:nvSpPr>
        <p:spPr>
          <a:xfrm>
            <a:off x="1152144" y="3739896"/>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a:t>
            </a:r>
            <a:endParaRPr lang="en-US" sz="1050" dirty="0"/>
          </a:p>
        </p:txBody>
      </p:sp>
      <p:sp>
        <p:nvSpPr>
          <p:cNvPr id="25" name="Text 23"/>
          <p:cNvSpPr/>
          <p:nvPr/>
        </p:nvSpPr>
        <p:spPr>
          <a:xfrm>
            <a:off x="859536" y="406908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6" name="Text 24"/>
          <p:cNvSpPr/>
          <p:nvPr/>
        </p:nvSpPr>
        <p:spPr>
          <a:xfrm>
            <a:off x="1152144" y="406908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rows by source_log_type</a:t>
            </a:r>
            <a:endParaRPr lang="en-US" sz="1050" dirty="0"/>
          </a:p>
        </p:txBody>
      </p:sp>
      <p:sp>
        <p:nvSpPr>
          <p:cNvPr id="27" name="Shape 25"/>
          <p:cNvSpPr/>
          <p:nvPr/>
        </p:nvSpPr>
        <p:spPr>
          <a:xfrm>
            <a:off x="7315200" y="2221992"/>
            <a:ext cx="4297680" cy="2432304"/>
          </a:xfrm>
          <a:prstGeom prst="roundRect">
            <a:avLst>
              <a:gd name="adj" fmla="val 1880"/>
            </a:avLst>
          </a:prstGeom>
          <a:solidFill>
            <a:srgbClr val="1C2026"/>
          </a:solidFill>
          <a:ln w="12700">
            <a:solidFill>
              <a:srgbClr val="1C2026"/>
            </a:solidFill>
            <a:prstDash val="solid"/>
          </a:ln>
        </p:spPr>
      </p:sp>
      <p:sp>
        <p:nvSpPr>
          <p:cNvPr id="28" name="Text 26"/>
          <p:cNvSpPr/>
          <p:nvPr/>
        </p:nvSpPr>
        <p:spPr>
          <a:xfrm>
            <a:off x="7626096" y="2404872"/>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9" name="Text 27"/>
          <p:cNvSpPr/>
          <p:nvPr/>
        </p:nvSpPr>
        <p:spPr>
          <a:xfrm>
            <a:off x="7626096" y="27523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275234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Rows appear under Alerts, Audit, or both.</a:t>
            </a:r>
            <a:endParaRPr lang="en-US" sz="1150" dirty="0"/>
          </a:p>
        </p:txBody>
      </p:sp>
      <p:sp>
        <p:nvSpPr>
          <p:cNvPr id="31" name="Text 29"/>
          <p:cNvSpPr/>
          <p:nvPr/>
        </p:nvSpPr>
        <p:spPr>
          <a:xfrm>
            <a:off x="7626096" y="30815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308152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Counts grow between cycles.</a:t>
            </a:r>
            <a:endParaRPr lang="en-US" sz="1150" dirty="0"/>
          </a:p>
        </p:txBody>
      </p:sp>
      <p:sp>
        <p:nvSpPr>
          <p:cNvPr id="33" name="Text 31"/>
          <p:cNvSpPr/>
          <p:nvPr/>
        </p:nvSpPr>
        <p:spPr>
          <a:xfrm>
            <a:off x="7626096" y="341071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4" name="Text 32"/>
          <p:cNvSpPr/>
          <p:nvPr/>
        </p:nvSpPr>
        <p:spPr>
          <a:xfrm>
            <a:off x="7918704" y="341071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Fields such as item_id and marketplace are populated — this pack's parsing rule does that.</a:t>
            </a:r>
            <a:endParaRPr lang="en-US" sz="1150" dirty="0"/>
          </a:p>
        </p:txBody>
      </p:sp>
      <p:sp>
        <p:nvSpPr>
          <p:cNvPr id="35" name="Shape 33"/>
          <p:cNvSpPr/>
          <p:nvPr/>
        </p:nvSpPr>
        <p:spPr>
          <a:xfrm>
            <a:off x="548640" y="4782312"/>
            <a:ext cx="11064240" cy="658368"/>
          </a:xfrm>
          <a:prstGeom prst="roundRect">
            <a:avLst>
              <a:gd name="adj" fmla="val 6944"/>
            </a:avLst>
          </a:prstGeom>
          <a:solidFill>
            <a:srgbClr val="1C2026"/>
          </a:solidFill>
          <a:ln w="12700">
            <a:solidFill>
              <a:srgbClr val="1C2026"/>
            </a:solidFill>
            <a:prstDash val="solid"/>
          </a:ln>
        </p:spPr>
      </p:sp>
      <p:sp>
        <p:nvSpPr>
          <p:cNvPr id="36" name="Shape 34"/>
          <p:cNvSpPr/>
          <p:nvPr/>
        </p:nvSpPr>
        <p:spPr>
          <a:xfrm>
            <a:off x="786384" y="4965192"/>
            <a:ext cx="292608" cy="292608"/>
          </a:xfrm>
          <a:prstGeom prst="roundRect">
            <a:avLst>
              <a:gd name="adj" fmla="val 28125"/>
            </a:avLst>
          </a:prstGeom>
          <a:solidFill>
            <a:srgbClr val="F5A524"/>
          </a:solidFill>
          <a:ln w="12700">
            <a:solidFill>
              <a:srgbClr val="F5A524"/>
            </a:solidFill>
            <a:prstDash val="solid"/>
          </a:ln>
        </p:spPr>
      </p:sp>
      <p:sp>
        <p:nvSpPr>
          <p:cNvPr id="37" name="Text 35"/>
          <p:cNvSpPr/>
          <p:nvPr/>
        </p:nvSpPr>
        <p:spPr>
          <a:xfrm>
            <a:off x="786384" y="496519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8" name="Text 36"/>
          <p:cNvSpPr/>
          <p:nvPr/>
        </p:nvSpPr>
        <p:spPr>
          <a:xfrm>
            <a:off x="1243584" y="489204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Marketplace KOI pack ships no parsing or modeling rules. If those promoted fields are missing, this extension is not installed or has not activated yet.</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3</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Counting alerts correctly</a:t>
            </a:r>
            <a:endParaRPr lang="en-US" sz="3100" dirty="0"/>
          </a:p>
        </p:txBody>
      </p:sp>
      <p:sp>
        <p:nvSpPr>
          <p:cNvPr id="4" name="Shape 2"/>
          <p:cNvSpPr/>
          <p:nvPr/>
        </p:nvSpPr>
        <p:spPr>
          <a:xfrm>
            <a:off x="548640" y="1280160"/>
            <a:ext cx="11064240" cy="758952"/>
          </a:xfrm>
          <a:prstGeom prst="roundRect">
            <a:avLst>
              <a:gd name="adj" fmla="val 6024"/>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KoiContentExtension Parsing Rule</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alerts dashboard</a:t>
            </a:r>
            <a:endParaRPr lang="en-US" sz="1000" dirty="0"/>
          </a:p>
        </p:txBody>
      </p:sp>
      <p:sp>
        <p:nvSpPr>
          <p:cNvPr id="10" name="Text 8"/>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1" name="Text 9"/>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2" name="Text 10"/>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2 passing — events present in koi_koi_raw</a:t>
            </a:r>
            <a:endParaRPr lang="en-US" sz="1000" dirty="0"/>
          </a:p>
        </p:txBody>
      </p:sp>
      <p:sp>
        <p:nvSpPr>
          <p:cNvPr id="13" name="Shape 11"/>
          <p:cNvSpPr/>
          <p:nvPr/>
        </p:nvSpPr>
        <p:spPr>
          <a:xfrm>
            <a:off x="548640" y="2221992"/>
            <a:ext cx="6400800" cy="2619756"/>
          </a:xfrm>
          <a:prstGeom prst="roundRect">
            <a:avLst>
              <a:gd name="adj" fmla="val 1745"/>
            </a:avLst>
          </a:prstGeom>
          <a:solidFill>
            <a:srgbClr val="15171B"/>
          </a:solidFill>
          <a:ln w="12700">
            <a:solidFill>
              <a:srgbClr val="15171B"/>
            </a:solidFill>
            <a:prstDash val="solid"/>
          </a:ln>
        </p:spPr>
      </p:sp>
      <p:sp>
        <p:nvSpPr>
          <p:cNvPr id="14" name="Text 12"/>
          <p:cNvSpPr/>
          <p:nvPr/>
        </p:nvSpPr>
        <p:spPr>
          <a:xfrm>
            <a:off x="859536" y="2404872"/>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5" name="Text 13"/>
          <p:cNvSpPr/>
          <p:nvPr/>
        </p:nvSpPr>
        <p:spPr>
          <a:xfrm>
            <a:off x="859536" y="275234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16" name="Text 14"/>
          <p:cNvSpPr/>
          <p:nvPr/>
        </p:nvSpPr>
        <p:spPr>
          <a:xfrm>
            <a:off x="1152144" y="275234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In Query Builder run:</a:t>
            </a:r>
            <a:endParaRPr lang="en-US" sz="1150" dirty="0"/>
          </a:p>
        </p:txBody>
      </p:sp>
      <p:sp>
        <p:nvSpPr>
          <p:cNvPr id="17" name="Text 15"/>
          <p:cNvSpPr/>
          <p:nvPr/>
        </p:nvSpPr>
        <p:spPr>
          <a:xfrm>
            <a:off x="859536" y="308152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18" name="Text 16"/>
          <p:cNvSpPr/>
          <p:nvPr/>
        </p:nvSpPr>
        <p:spPr>
          <a:xfrm>
            <a:off x="1152144" y="3081528"/>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dataset = koi_koi_raw</a:t>
            </a:r>
            <a:endParaRPr lang="en-US" sz="1050" dirty="0"/>
          </a:p>
        </p:txBody>
      </p:sp>
      <p:sp>
        <p:nvSpPr>
          <p:cNvPr id="19" name="Text 17"/>
          <p:cNvSpPr/>
          <p:nvPr/>
        </p:nvSpPr>
        <p:spPr>
          <a:xfrm>
            <a:off x="859536" y="341071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0" name="Text 18"/>
          <p:cNvSpPr/>
          <p:nvPr/>
        </p:nvSpPr>
        <p:spPr>
          <a:xfrm>
            <a:off x="1152144" y="3410712"/>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filter source_log_type = "Alerts"</a:t>
            </a:r>
            <a:endParaRPr lang="en-US" sz="1050" dirty="0"/>
          </a:p>
        </p:txBody>
      </p:sp>
      <p:sp>
        <p:nvSpPr>
          <p:cNvPr id="21" name="Text 19"/>
          <p:cNvSpPr/>
          <p:nvPr/>
        </p:nvSpPr>
        <p:spPr>
          <a:xfrm>
            <a:off x="859536" y="373989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2" name="Text 20"/>
          <p:cNvSpPr/>
          <p:nvPr/>
        </p:nvSpPr>
        <p:spPr>
          <a:xfrm>
            <a:off x="1152144" y="3739896"/>
            <a:ext cx="5486400" cy="438912"/>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 comp count() as rows, count_distinct(koi_notification_id) as real_alerts</a:t>
            </a:r>
            <a:endParaRPr lang="en-US" sz="1050" dirty="0"/>
          </a:p>
        </p:txBody>
      </p:sp>
      <p:sp>
        <p:nvSpPr>
          <p:cNvPr id="23" name="Text 21"/>
          <p:cNvSpPr/>
          <p:nvPr/>
        </p:nvSpPr>
        <p:spPr>
          <a:xfrm>
            <a:off x="859536" y="425653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24" name="Text 22"/>
          <p:cNvSpPr/>
          <p:nvPr/>
        </p:nvSpPr>
        <p:spPr>
          <a:xfrm>
            <a:off x="1152144" y="425653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open the KOI Alerts Dashboard and compare.</a:t>
            </a:r>
            <a:endParaRPr lang="en-US" sz="1150" dirty="0"/>
          </a:p>
        </p:txBody>
      </p:sp>
      <p:sp>
        <p:nvSpPr>
          <p:cNvPr id="25" name="Shape 23"/>
          <p:cNvSpPr/>
          <p:nvPr/>
        </p:nvSpPr>
        <p:spPr>
          <a:xfrm>
            <a:off x="7315200" y="2221992"/>
            <a:ext cx="4297680" cy="2619756"/>
          </a:xfrm>
          <a:prstGeom prst="roundRect">
            <a:avLst>
              <a:gd name="adj" fmla="val 1745"/>
            </a:avLst>
          </a:prstGeom>
          <a:solidFill>
            <a:srgbClr val="1C2026"/>
          </a:solidFill>
          <a:ln w="12700">
            <a:solidFill>
              <a:srgbClr val="1C2026"/>
            </a:solidFill>
            <a:prstDash val="solid"/>
          </a:ln>
        </p:spPr>
      </p:sp>
      <p:sp>
        <p:nvSpPr>
          <p:cNvPr id="26" name="Text 24"/>
          <p:cNvSpPr/>
          <p:nvPr/>
        </p:nvSpPr>
        <p:spPr>
          <a:xfrm>
            <a:off x="7626096" y="2404872"/>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7" name="Text 25"/>
          <p:cNvSpPr/>
          <p:nvPr/>
        </p:nvSpPr>
        <p:spPr>
          <a:xfrm>
            <a:off x="7626096" y="27523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7918704" y="275234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rows is far larger than real_alerts.</a:t>
            </a:r>
            <a:endParaRPr lang="en-US" sz="1150" dirty="0"/>
          </a:p>
        </p:txBody>
      </p:sp>
      <p:sp>
        <p:nvSpPr>
          <p:cNvPr id="29" name="Text 27"/>
          <p:cNvSpPr/>
          <p:nvPr/>
        </p:nvSpPr>
        <p:spPr>
          <a:xfrm>
            <a:off x="7626096" y="30815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308152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Dashboard alert counts match real_alerts, not rows.</a:t>
            </a:r>
            <a:endParaRPr lang="en-US" sz="1150" dirty="0"/>
          </a:p>
        </p:txBody>
      </p:sp>
      <p:sp>
        <p:nvSpPr>
          <p:cNvPr id="31" name="Text 29"/>
          <p:cNvSpPr/>
          <p:nvPr/>
        </p:nvSpPr>
        <p:spPr>
          <a:xfrm>
            <a:off x="7626096" y="359816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3598164"/>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Counts stay stable as fetches repeat.</a:t>
            </a:r>
            <a:endParaRPr lang="en-US" sz="1150" dirty="0"/>
          </a:p>
        </p:txBody>
      </p:sp>
      <p:sp>
        <p:nvSpPr>
          <p:cNvPr id="33" name="Shape 31"/>
          <p:cNvSpPr/>
          <p:nvPr/>
        </p:nvSpPr>
        <p:spPr>
          <a:xfrm>
            <a:off x="548640" y="4969764"/>
            <a:ext cx="11064240" cy="658368"/>
          </a:xfrm>
          <a:prstGeom prst="roundRect">
            <a:avLst>
              <a:gd name="adj" fmla="val 6944"/>
            </a:avLst>
          </a:prstGeom>
          <a:solidFill>
            <a:srgbClr val="1C2026"/>
          </a:solidFill>
          <a:ln w="12700">
            <a:solidFill>
              <a:srgbClr val="1C2026"/>
            </a:solidFill>
            <a:prstDash val="solid"/>
          </a:ln>
        </p:spPr>
      </p:sp>
      <p:sp>
        <p:nvSpPr>
          <p:cNvPr id="34" name="Shape 32"/>
          <p:cNvSpPr/>
          <p:nvPr/>
        </p:nvSpPr>
        <p:spPr>
          <a:xfrm>
            <a:off x="786384" y="5152644"/>
            <a:ext cx="292608" cy="292608"/>
          </a:xfrm>
          <a:prstGeom prst="roundRect">
            <a:avLst>
              <a:gd name="adj" fmla="val 28125"/>
            </a:avLst>
          </a:prstGeom>
          <a:solidFill>
            <a:srgbClr val="F5A524"/>
          </a:solidFill>
          <a:ln w="12700">
            <a:solidFill>
              <a:srgbClr val="F5A524"/>
            </a:solidFill>
            <a:prstDash val="solid"/>
          </a:ln>
        </p:spPr>
      </p:sp>
      <p:sp>
        <p:nvSpPr>
          <p:cNvPr id="35" name="Text 33"/>
          <p:cNvSpPr/>
          <p:nvPr/>
        </p:nvSpPr>
        <p:spPr>
          <a:xfrm>
            <a:off x="786384" y="5152644"/>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6" name="Text 34"/>
          <p:cNvSpPr/>
          <p:nvPr/>
        </p:nvSpPr>
        <p:spPr>
          <a:xfrm>
            <a:off x="1243584" y="5079492"/>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rows greatly exceeding real_alerts is CORRECT — the Marketplace integration re-sends every still-open alert on each fetch. Only koi_notification_id identifies an alert. Every widget here de-duplicates on it first.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4</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Alert triage</a:t>
            </a:r>
            <a:endParaRPr lang="en-US" sz="3100" dirty="0"/>
          </a:p>
        </p:txBody>
      </p:sp>
      <p:sp>
        <p:nvSpPr>
          <p:cNvPr id="4" name="Shape 2"/>
          <p:cNvSpPr/>
          <p:nvPr/>
        </p:nvSpPr>
        <p:spPr>
          <a:xfrm>
            <a:off x="548640" y="1280160"/>
            <a:ext cx="11064240" cy="982980"/>
          </a:xfrm>
          <a:prstGeom prst="roundRect">
            <a:avLst>
              <a:gd name="adj" fmla="val 4651"/>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IR - Alert Triage</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IR - Extract Alert Context</a:t>
            </a:r>
            <a:endParaRPr lang="en-US" sz="1000" dirty="0"/>
          </a:p>
        </p:txBody>
      </p:sp>
      <p:sp>
        <p:nvSpPr>
          <p:cNvPr id="10" name="Text 8"/>
          <p:cNvSpPr/>
          <p:nvPr/>
        </p:nvSpPr>
        <p:spPr>
          <a:xfrm>
            <a:off x="2139696" y="1856232"/>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1" name="Text 9"/>
          <p:cNvSpPr/>
          <p:nvPr/>
        </p:nvSpPr>
        <p:spPr>
          <a:xfrm>
            <a:off x="2286000" y="1856232"/>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19 KOI incident fields + incident type</a:t>
            </a:r>
            <a:endParaRPr lang="en-US" sz="1000" dirty="0"/>
          </a:p>
        </p:txBody>
      </p:sp>
      <p:sp>
        <p:nvSpPr>
          <p:cNvPr id="12" name="Text 10"/>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3" name="Text 11"/>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4" name="Text 12"/>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1 passing</a:t>
            </a:r>
            <a:endParaRPr lang="en-US" sz="1000" dirty="0"/>
          </a:p>
        </p:txBody>
      </p:sp>
      <p:sp>
        <p:nvSpPr>
          <p:cNvPr id="15" name="Text 13"/>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6" name="Text 14"/>
          <p:cNvSpPr/>
          <p:nvPr/>
        </p:nvSpPr>
        <p:spPr>
          <a:xfrm>
            <a:off x="70866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 KOI alert in XSIAM</a:t>
            </a:r>
            <a:endParaRPr lang="en-US" sz="1000" dirty="0"/>
          </a:p>
        </p:txBody>
      </p:sp>
      <p:sp>
        <p:nvSpPr>
          <p:cNvPr id="17" name="Shape 15"/>
          <p:cNvSpPr/>
          <p:nvPr/>
        </p:nvSpPr>
        <p:spPr>
          <a:xfrm>
            <a:off x="548640" y="2446020"/>
            <a:ext cx="6400800" cy="2665476"/>
          </a:xfrm>
          <a:prstGeom prst="roundRect">
            <a:avLst>
              <a:gd name="adj" fmla="val 1715"/>
            </a:avLst>
          </a:prstGeom>
          <a:solidFill>
            <a:srgbClr val="15171B"/>
          </a:solidFill>
          <a:ln w="12700">
            <a:solidFill>
              <a:srgbClr val="15171B"/>
            </a:solidFill>
            <a:prstDash val="solid"/>
          </a:ln>
        </p:spPr>
      </p:sp>
      <p:sp>
        <p:nvSpPr>
          <p:cNvPr id="18" name="Text 16"/>
          <p:cNvSpPr/>
          <p:nvPr/>
        </p:nvSpPr>
        <p:spPr>
          <a:xfrm>
            <a:off x="859536" y="262890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9" name="Text 17"/>
          <p:cNvSpPr/>
          <p:nvPr/>
        </p:nvSpPr>
        <p:spPr>
          <a:xfrm>
            <a:off x="859536" y="29763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20" name="Text 18"/>
          <p:cNvSpPr/>
          <p:nvPr/>
        </p:nvSpPr>
        <p:spPr>
          <a:xfrm>
            <a:off x="1152144" y="29763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a KOI alert.</a:t>
            </a:r>
            <a:endParaRPr lang="en-US" sz="1150" dirty="0"/>
          </a:p>
        </p:txBody>
      </p:sp>
      <p:sp>
        <p:nvSpPr>
          <p:cNvPr id="21" name="Text 19"/>
          <p:cNvSpPr/>
          <p:nvPr/>
        </p:nvSpPr>
        <p:spPr>
          <a:xfrm>
            <a:off x="859536" y="33055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2" name="Text 20"/>
          <p:cNvSpPr/>
          <p:nvPr/>
        </p:nvSpPr>
        <p:spPr>
          <a:xfrm>
            <a:off x="1152144" y="33055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Attach the triage playbook, or run:</a:t>
            </a:r>
            <a:endParaRPr lang="en-US" sz="1150" dirty="0"/>
          </a:p>
        </p:txBody>
      </p:sp>
      <p:sp>
        <p:nvSpPr>
          <p:cNvPr id="23" name="Text 21"/>
          <p:cNvSpPr/>
          <p:nvPr/>
        </p:nvSpPr>
        <p:spPr>
          <a:xfrm>
            <a:off x="859536" y="36347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4" name="Text 22"/>
          <p:cNvSpPr/>
          <p:nvPr/>
        </p:nvSpPr>
        <p:spPr>
          <a:xfrm>
            <a:off x="1152144" y="3634740"/>
            <a:ext cx="5486400" cy="246888"/>
          </a:xfrm>
          <a:prstGeom prst="rect">
            <a:avLst/>
          </a:prstGeom>
          <a:noFill/>
          <a:ln/>
        </p:spPr>
        <p:txBody>
          <a:bodyPr wrap="square" lIns="0" tIns="0" rIns="0" bIns="0" rtlCol="0" anchor="t"/>
          <a:lstStyle/>
          <a:p>
            <a:pPr indent="0" marL="0">
              <a:lnSpc>
                <a:spcPts val="1500"/>
              </a:lnSpc>
              <a:buNone/>
            </a:pPr>
            <a:r>
              <a:rPr lang="en-US" sz="1050" dirty="0">
                <a:solidFill>
                  <a:srgbClr val="22D3EE"/>
                </a:solidFill>
                <a:latin typeface="Courier New" pitchFamily="34" charset="0"/>
                <a:ea typeface="Courier New" pitchFamily="34" charset="-122"/>
                <a:cs typeface="Courier New" pitchFamily="34" charset="-120"/>
              </a:rPr>
              <a:t>!setPlaybook playbookId="KOI Ext IR - Alert Triage"</a:t>
            </a:r>
            <a:endParaRPr lang="en-US" sz="1050" dirty="0"/>
          </a:p>
        </p:txBody>
      </p:sp>
      <p:sp>
        <p:nvSpPr>
          <p:cNvPr id="25" name="Text 23"/>
          <p:cNvSpPr/>
          <p:nvPr/>
        </p:nvSpPr>
        <p:spPr>
          <a:xfrm>
            <a:off x="859536" y="39639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6" name="Text 24"/>
          <p:cNvSpPr/>
          <p:nvPr/>
        </p:nvSpPr>
        <p:spPr>
          <a:xfrm>
            <a:off x="1152144" y="39639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Watch the Work Plan, then read the War Room.</a:t>
            </a:r>
            <a:endParaRPr lang="en-US" sz="1150" dirty="0"/>
          </a:p>
        </p:txBody>
      </p:sp>
      <p:sp>
        <p:nvSpPr>
          <p:cNvPr id="27" name="Shape 25"/>
          <p:cNvSpPr/>
          <p:nvPr/>
        </p:nvSpPr>
        <p:spPr>
          <a:xfrm>
            <a:off x="7315200" y="2446020"/>
            <a:ext cx="4297680" cy="2665476"/>
          </a:xfrm>
          <a:prstGeom prst="roundRect">
            <a:avLst>
              <a:gd name="adj" fmla="val 1715"/>
            </a:avLst>
          </a:prstGeom>
          <a:solidFill>
            <a:srgbClr val="1C2026"/>
          </a:solidFill>
          <a:ln w="12700">
            <a:solidFill>
              <a:srgbClr val="1C2026"/>
            </a:solidFill>
            <a:prstDash val="solid"/>
          </a:ln>
        </p:spPr>
      </p:sp>
      <p:sp>
        <p:nvSpPr>
          <p:cNvPr id="28" name="Text 26"/>
          <p:cNvSpPr/>
          <p:nvPr/>
        </p:nvSpPr>
        <p:spPr>
          <a:xfrm>
            <a:off x="7626096" y="262890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9" name="Text 27"/>
          <p:cNvSpPr/>
          <p:nvPr/>
        </p:nvSpPr>
        <p:spPr>
          <a:xfrm>
            <a:off x="7626096" y="297637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2976372"/>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Context is extracted from the alert payload.</a:t>
            </a:r>
            <a:endParaRPr lang="en-US" sz="1150" dirty="0"/>
          </a:p>
        </p:txBody>
      </p:sp>
      <p:sp>
        <p:nvSpPr>
          <p:cNvPr id="31" name="Text 29"/>
          <p:cNvSpPr/>
          <p:nvPr/>
        </p:nvSpPr>
        <p:spPr>
          <a:xfrm>
            <a:off x="7626096" y="33055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33055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verdict is posted: Malicious, Suspicious or Benign.</a:t>
            </a:r>
            <a:endParaRPr lang="en-US" sz="1150" dirty="0"/>
          </a:p>
        </p:txBody>
      </p:sp>
      <p:sp>
        <p:nvSpPr>
          <p:cNvPr id="33" name="Text 31"/>
          <p:cNvSpPr/>
          <p:nvPr/>
        </p:nvSpPr>
        <p:spPr>
          <a:xfrm>
            <a:off x="7626096" y="38221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4" name="Text 32"/>
          <p:cNvSpPr/>
          <p:nvPr/>
        </p:nvSpPr>
        <p:spPr>
          <a:xfrm>
            <a:off x="7918704" y="38221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Low risk auto-closes; critical and high escalate.</a:t>
            </a:r>
            <a:endParaRPr lang="en-US" sz="1150" dirty="0"/>
          </a:p>
        </p:txBody>
      </p:sp>
      <p:sp>
        <p:nvSpPr>
          <p:cNvPr id="35" name="Text 33"/>
          <p:cNvSpPr/>
          <p:nvPr/>
        </p:nvSpPr>
        <p:spPr>
          <a:xfrm>
            <a:off x="7626096" y="43388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6" name="Text 34"/>
          <p:cNvSpPr/>
          <p:nvPr/>
        </p:nvSpPr>
        <p:spPr>
          <a:xfrm>
            <a:off x="7918704" y="433882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19 KOI alert fields are written onto the alert.</a:t>
            </a:r>
            <a:endParaRPr lang="en-US" sz="1150" dirty="0"/>
          </a:p>
        </p:txBody>
      </p:sp>
      <p:sp>
        <p:nvSpPr>
          <p:cNvPr id="37" name="Shape 35"/>
          <p:cNvSpPr/>
          <p:nvPr/>
        </p:nvSpPr>
        <p:spPr>
          <a:xfrm>
            <a:off x="548640" y="5239512"/>
            <a:ext cx="11064240" cy="658368"/>
          </a:xfrm>
          <a:prstGeom prst="roundRect">
            <a:avLst>
              <a:gd name="adj" fmla="val 6944"/>
            </a:avLst>
          </a:prstGeom>
          <a:solidFill>
            <a:srgbClr val="1C2026"/>
          </a:solidFill>
          <a:ln w="12700">
            <a:solidFill>
              <a:srgbClr val="1C2026"/>
            </a:solidFill>
            <a:prstDash val="solid"/>
          </a:ln>
        </p:spPr>
      </p:sp>
      <p:sp>
        <p:nvSpPr>
          <p:cNvPr id="38" name="Shape 36"/>
          <p:cNvSpPr/>
          <p:nvPr/>
        </p:nvSpPr>
        <p:spPr>
          <a:xfrm>
            <a:off x="786384" y="5422392"/>
            <a:ext cx="292608" cy="292608"/>
          </a:xfrm>
          <a:prstGeom prst="roundRect">
            <a:avLst>
              <a:gd name="adj" fmla="val 28125"/>
            </a:avLst>
          </a:prstGeom>
          <a:solidFill>
            <a:srgbClr val="F5A524"/>
          </a:solidFill>
          <a:ln w="12700">
            <a:solidFill>
              <a:srgbClr val="F5A524"/>
            </a:solidFill>
            <a:prstDash val="solid"/>
          </a:ln>
        </p:spPr>
      </p:sp>
      <p:sp>
        <p:nvSpPr>
          <p:cNvPr id="39" name="Text 37"/>
          <p:cNvSpPr/>
          <p:nvPr/>
        </p:nvSpPr>
        <p:spPr>
          <a:xfrm>
            <a:off x="786384" y="542239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0" name="Text 38"/>
          <p:cNvSpPr/>
          <p:nvPr/>
        </p:nvSpPr>
        <p:spPr>
          <a:xfrm>
            <a:off x="1243584" y="534924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If everything comes out Suspicious, the alert carried no KOI detail for the playbook to read. Check that your correlation rule passes the KOI fields through.</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5</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Item and device investigation</a:t>
            </a:r>
            <a:endParaRPr lang="en-US" sz="3100" dirty="0"/>
          </a:p>
        </p:txBody>
      </p:sp>
      <p:sp>
        <p:nvSpPr>
          <p:cNvPr id="4" name="Shape 2"/>
          <p:cNvSpPr/>
          <p:nvPr/>
        </p:nvSpPr>
        <p:spPr>
          <a:xfrm>
            <a:off x="548640" y="1280160"/>
            <a:ext cx="11064240" cy="1170432"/>
          </a:xfrm>
          <a:prstGeom prst="roundRect">
            <a:avLst>
              <a:gd name="adj" fmla="val 3906"/>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IR - Investigate Item</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IR - Investigate Device</a:t>
            </a:r>
            <a:endParaRPr lang="en-US" sz="1000" dirty="0"/>
          </a:p>
        </p:txBody>
      </p:sp>
      <p:sp>
        <p:nvSpPr>
          <p:cNvPr id="10" name="Text 8"/>
          <p:cNvSpPr/>
          <p:nvPr/>
        </p:nvSpPr>
        <p:spPr>
          <a:xfrm>
            <a:off x="2139696" y="1856232"/>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1" name="Text 9"/>
          <p:cNvSpPr/>
          <p:nvPr/>
        </p:nvSpPr>
        <p:spPr>
          <a:xfrm>
            <a:off x="2286000" y="1856232"/>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IR - Enrich Item</a:t>
            </a:r>
            <a:endParaRPr lang="en-US" sz="1000" dirty="0"/>
          </a:p>
        </p:txBody>
      </p:sp>
      <p:sp>
        <p:nvSpPr>
          <p:cNvPr id="12" name="Text 10"/>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3" name="Text 11"/>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4" name="Text 12"/>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1 passing</a:t>
            </a:r>
            <a:endParaRPr lang="en-US" sz="1000" dirty="0"/>
          </a:p>
        </p:txBody>
      </p:sp>
      <p:sp>
        <p:nvSpPr>
          <p:cNvPr id="15" name="Text 13"/>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6" name="Text 14"/>
          <p:cNvSpPr/>
          <p:nvPr/>
        </p:nvSpPr>
        <p:spPr>
          <a:xfrm>
            <a:off x="70866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An item id and its marketplace, and a hostname</a:t>
            </a:r>
            <a:endParaRPr lang="en-US" sz="1000" dirty="0"/>
          </a:p>
        </p:txBody>
      </p:sp>
      <p:sp>
        <p:nvSpPr>
          <p:cNvPr id="17" name="Text 15"/>
          <p:cNvSpPr/>
          <p:nvPr/>
        </p:nvSpPr>
        <p:spPr>
          <a:xfrm>
            <a:off x="6940296" y="1856232"/>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8" name="Text 16"/>
          <p:cNvSpPr/>
          <p:nvPr/>
        </p:nvSpPr>
        <p:spPr>
          <a:xfrm>
            <a:off x="7086600" y="1856232"/>
            <a:ext cx="4343400" cy="38404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Nothing else — the XQL engine XSIAM uses for execution evidence is built in</a:t>
            </a:r>
            <a:endParaRPr lang="en-US" sz="1000" dirty="0"/>
          </a:p>
        </p:txBody>
      </p:sp>
      <p:sp>
        <p:nvSpPr>
          <p:cNvPr id="19" name="Shape 17"/>
          <p:cNvSpPr/>
          <p:nvPr/>
        </p:nvSpPr>
        <p:spPr>
          <a:xfrm>
            <a:off x="548640" y="2633472"/>
            <a:ext cx="6400800" cy="2852928"/>
          </a:xfrm>
          <a:prstGeom prst="roundRect">
            <a:avLst>
              <a:gd name="adj" fmla="val 1603"/>
            </a:avLst>
          </a:prstGeom>
          <a:solidFill>
            <a:srgbClr val="15171B"/>
          </a:solidFill>
          <a:ln w="12700">
            <a:solidFill>
              <a:srgbClr val="15171B"/>
            </a:solidFill>
            <a:prstDash val="solid"/>
          </a:ln>
        </p:spPr>
      </p:sp>
      <p:sp>
        <p:nvSpPr>
          <p:cNvPr id="20" name="Text 18"/>
          <p:cNvSpPr/>
          <p:nvPr/>
        </p:nvSpPr>
        <p:spPr>
          <a:xfrm>
            <a:off x="859536" y="2816352"/>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21" name="Text 19"/>
          <p:cNvSpPr/>
          <p:nvPr/>
        </p:nvSpPr>
        <p:spPr>
          <a:xfrm>
            <a:off x="859536" y="31638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22" name="Text 20"/>
          <p:cNvSpPr/>
          <p:nvPr/>
        </p:nvSpPr>
        <p:spPr>
          <a:xfrm>
            <a:off x="1152144" y="31638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Ext IR - Investigate Item → Run.</a:t>
            </a:r>
            <a:endParaRPr lang="en-US" sz="1150" dirty="0"/>
          </a:p>
        </p:txBody>
      </p:sp>
      <p:sp>
        <p:nvSpPr>
          <p:cNvPr id="23" name="Text 21"/>
          <p:cNvSpPr/>
          <p:nvPr/>
        </p:nvSpPr>
        <p:spPr>
          <a:xfrm>
            <a:off x="859536" y="3493008"/>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4" name="Text 22"/>
          <p:cNvSpPr/>
          <p:nvPr/>
        </p:nvSpPr>
        <p:spPr>
          <a:xfrm>
            <a:off x="1152144" y="3493008"/>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Supply item_id and marketplace.</a:t>
            </a:r>
            <a:endParaRPr lang="en-US" sz="1150" dirty="0"/>
          </a:p>
        </p:txBody>
      </p:sp>
      <p:sp>
        <p:nvSpPr>
          <p:cNvPr id="25" name="Text 23"/>
          <p:cNvSpPr/>
          <p:nvPr/>
        </p:nvSpPr>
        <p:spPr>
          <a:xfrm>
            <a:off x="859536" y="38221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6" name="Text 24"/>
          <p:cNvSpPr/>
          <p:nvPr/>
        </p:nvSpPr>
        <p:spPr>
          <a:xfrm>
            <a:off x="1152144" y="382219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Repeat with KOI Ext IR - Investigate Device and a hostname.</a:t>
            </a:r>
            <a:endParaRPr lang="en-US" sz="1150" dirty="0"/>
          </a:p>
        </p:txBody>
      </p:sp>
      <p:sp>
        <p:nvSpPr>
          <p:cNvPr id="27" name="Shape 25"/>
          <p:cNvSpPr/>
          <p:nvPr/>
        </p:nvSpPr>
        <p:spPr>
          <a:xfrm>
            <a:off x="7315200" y="2633472"/>
            <a:ext cx="4297680" cy="2852928"/>
          </a:xfrm>
          <a:prstGeom prst="roundRect">
            <a:avLst>
              <a:gd name="adj" fmla="val 1603"/>
            </a:avLst>
          </a:prstGeom>
          <a:solidFill>
            <a:srgbClr val="1C2026"/>
          </a:solidFill>
          <a:ln w="12700">
            <a:solidFill>
              <a:srgbClr val="1C2026"/>
            </a:solidFill>
            <a:prstDash val="solid"/>
          </a:ln>
        </p:spPr>
      </p:sp>
      <p:sp>
        <p:nvSpPr>
          <p:cNvPr id="28" name="Text 26"/>
          <p:cNvSpPr/>
          <p:nvPr/>
        </p:nvSpPr>
        <p:spPr>
          <a:xfrm>
            <a:off x="7626096" y="2816352"/>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9" name="Text 27"/>
          <p:cNvSpPr/>
          <p:nvPr/>
        </p:nvSpPr>
        <p:spPr>
          <a:xfrm>
            <a:off x="7626096" y="316382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316382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investigation summary with organisation exposure.</a:t>
            </a:r>
            <a:endParaRPr lang="en-US" sz="1150" dirty="0"/>
          </a:p>
        </p:txBody>
      </p:sp>
      <p:sp>
        <p:nvSpPr>
          <p:cNvPr id="31" name="Text 29"/>
          <p:cNvSpPr/>
          <p:nvPr/>
        </p:nvSpPr>
        <p:spPr>
          <a:xfrm>
            <a:off x="7626096" y="368046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368046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Both governance counts — on blocklist AND on allowlist.</a:t>
            </a:r>
            <a:endParaRPr lang="en-US" sz="1150" dirty="0"/>
          </a:p>
        </p:txBody>
      </p:sp>
      <p:sp>
        <p:nvSpPr>
          <p:cNvPr id="33" name="Text 31"/>
          <p:cNvSpPr/>
          <p:nvPr/>
        </p:nvSpPr>
        <p:spPr>
          <a:xfrm>
            <a:off x="7626096" y="419709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4" name="Text 32"/>
          <p:cNvSpPr/>
          <p:nvPr/>
        </p:nvSpPr>
        <p:spPr>
          <a:xfrm>
            <a:off x="7918704" y="419709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device view lists what KOI inventoried on that host.</a:t>
            </a:r>
            <a:endParaRPr lang="en-US" sz="1150" dirty="0"/>
          </a:p>
        </p:txBody>
      </p:sp>
      <p:sp>
        <p:nvSpPr>
          <p:cNvPr id="35" name="Text 33"/>
          <p:cNvSpPr/>
          <p:nvPr/>
        </p:nvSpPr>
        <p:spPr>
          <a:xfrm>
            <a:off x="7626096" y="471373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6" name="Text 34"/>
          <p:cNvSpPr/>
          <p:nvPr/>
        </p:nvSpPr>
        <p:spPr>
          <a:xfrm>
            <a:off x="7918704" y="471373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With Cortex XDR present, execution evidence is added.</a:t>
            </a:r>
            <a:endParaRPr lang="en-US" sz="1150" dirty="0"/>
          </a:p>
        </p:txBody>
      </p:sp>
      <p:sp>
        <p:nvSpPr>
          <p:cNvPr id="37" name="Shape 35"/>
          <p:cNvSpPr/>
          <p:nvPr/>
        </p:nvSpPr>
        <p:spPr>
          <a:xfrm>
            <a:off x="548640" y="5614416"/>
            <a:ext cx="11064240" cy="658368"/>
          </a:xfrm>
          <a:prstGeom prst="roundRect">
            <a:avLst>
              <a:gd name="adj" fmla="val 6944"/>
            </a:avLst>
          </a:prstGeom>
          <a:solidFill>
            <a:srgbClr val="1C2026"/>
          </a:solidFill>
          <a:ln w="12700">
            <a:solidFill>
              <a:srgbClr val="1C2026"/>
            </a:solidFill>
            <a:prstDash val="solid"/>
          </a:ln>
        </p:spPr>
      </p:sp>
      <p:sp>
        <p:nvSpPr>
          <p:cNvPr id="38" name="Shape 36"/>
          <p:cNvSpPr/>
          <p:nvPr/>
        </p:nvSpPr>
        <p:spPr>
          <a:xfrm>
            <a:off x="786384" y="5797296"/>
            <a:ext cx="292608" cy="292608"/>
          </a:xfrm>
          <a:prstGeom prst="roundRect">
            <a:avLst>
              <a:gd name="adj" fmla="val 28125"/>
            </a:avLst>
          </a:prstGeom>
          <a:solidFill>
            <a:srgbClr val="F5A524"/>
          </a:solidFill>
          <a:ln w="12700">
            <a:solidFill>
              <a:srgbClr val="F5A524"/>
            </a:solidFill>
            <a:prstDash val="solid"/>
          </a:ln>
        </p:spPr>
      </p:sp>
      <p:sp>
        <p:nvSpPr>
          <p:cNvPr id="39" name="Text 37"/>
          <p:cNvSpPr/>
          <p:nvPr/>
        </p:nvSpPr>
        <p:spPr>
          <a:xfrm>
            <a:off x="786384" y="5797296"/>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0" name="Text 38"/>
          <p:cNvSpPr/>
          <p:nvPr/>
        </p:nvSpPr>
        <p:spPr>
          <a:xfrm>
            <a:off x="1243584" y="5724144"/>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This pack builds its device view from inventory filtered by host plus Cortex XDR data. KOI's own device record — last seen, registration, logged-on user — needs the custom integration's device commands and is not available here.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6</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Gated response</a:t>
            </a:r>
            <a:endParaRPr lang="en-US" sz="3100" dirty="0"/>
          </a:p>
        </p:txBody>
      </p:sp>
      <p:sp>
        <p:nvSpPr>
          <p:cNvPr id="4" name="Shape 2"/>
          <p:cNvSpPr/>
          <p:nvPr/>
        </p:nvSpPr>
        <p:spPr>
          <a:xfrm>
            <a:off x="548640" y="1280160"/>
            <a:ext cx="11064240" cy="982980"/>
          </a:xfrm>
          <a:prstGeom prst="roundRect">
            <a:avLst>
              <a:gd name="adj" fmla="val 4651"/>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IR - Block and Remediate</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IR - Investigate Item</a:t>
            </a:r>
            <a:endParaRPr lang="en-US" sz="1000" dirty="0"/>
          </a:p>
        </p:txBody>
      </p:sp>
      <p:sp>
        <p:nvSpPr>
          <p:cNvPr id="10" name="Text 8"/>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1" name="Text 9"/>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2" name="Text 10"/>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1 passing</a:t>
            </a:r>
            <a:endParaRPr lang="en-US" sz="1000" dirty="0"/>
          </a:p>
        </p:txBody>
      </p:sp>
      <p:sp>
        <p:nvSpPr>
          <p:cNvPr id="13" name="Text 11"/>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4" name="Text 12"/>
          <p:cNvSpPr/>
          <p:nvPr/>
        </p:nvSpPr>
        <p:spPr>
          <a:xfrm>
            <a:off x="70866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An item id and marketplace</a:t>
            </a:r>
            <a:endParaRPr lang="en-US" sz="1000" dirty="0"/>
          </a:p>
        </p:txBody>
      </p:sp>
      <p:sp>
        <p:nvSpPr>
          <p:cNvPr id="15" name="Text 13"/>
          <p:cNvSpPr/>
          <p:nvPr/>
        </p:nvSpPr>
        <p:spPr>
          <a:xfrm>
            <a:off x="6940296" y="1856232"/>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6" name="Text 14"/>
          <p:cNvSpPr/>
          <p:nvPr/>
        </p:nvSpPr>
        <p:spPr>
          <a:xfrm>
            <a:off x="7086600" y="1856232"/>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Permission to approve a task</a:t>
            </a:r>
            <a:endParaRPr lang="en-US" sz="1000" dirty="0"/>
          </a:p>
        </p:txBody>
      </p:sp>
      <p:sp>
        <p:nvSpPr>
          <p:cNvPr id="17" name="Shape 15"/>
          <p:cNvSpPr/>
          <p:nvPr/>
        </p:nvSpPr>
        <p:spPr>
          <a:xfrm>
            <a:off x="548640" y="2446020"/>
            <a:ext cx="6400800" cy="2478024"/>
          </a:xfrm>
          <a:prstGeom prst="roundRect">
            <a:avLst>
              <a:gd name="adj" fmla="val 1845"/>
            </a:avLst>
          </a:prstGeom>
          <a:solidFill>
            <a:srgbClr val="15171B"/>
          </a:solidFill>
          <a:ln w="12700">
            <a:solidFill>
              <a:srgbClr val="15171B"/>
            </a:solidFill>
            <a:prstDash val="solid"/>
          </a:ln>
        </p:spPr>
      </p:sp>
      <p:sp>
        <p:nvSpPr>
          <p:cNvPr id="18" name="Text 16"/>
          <p:cNvSpPr/>
          <p:nvPr/>
        </p:nvSpPr>
        <p:spPr>
          <a:xfrm>
            <a:off x="859536" y="262890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9" name="Text 17"/>
          <p:cNvSpPr/>
          <p:nvPr/>
        </p:nvSpPr>
        <p:spPr>
          <a:xfrm>
            <a:off x="859536" y="29763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20" name="Text 18"/>
          <p:cNvSpPr/>
          <p:nvPr/>
        </p:nvSpPr>
        <p:spPr>
          <a:xfrm>
            <a:off x="1152144" y="29763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Ext IR - Block and Remediate → Run.</a:t>
            </a:r>
            <a:endParaRPr lang="en-US" sz="1150" dirty="0"/>
          </a:p>
        </p:txBody>
      </p:sp>
      <p:sp>
        <p:nvSpPr>
          <p:cNvPr id="21" name="Text 19"/>
          <p:cNvSpPr/>
          <p:nvPr/>
        </p:nvSpPr>
        <p:spPr>
          <a:xfrm>
            <a:off x="859536" y="33055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2" name="Text 20"/>
          <p:cNvSpPr/>
          <p:nvPr/>
        </p:nvSpPr>
        <p:spPr>
          <a:xfrm>
            <a:off x="1152144" y="33055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Supply item_id and marketplace.</a:t>
            </a:r>
            <a:endParaRPr lang="en-US" sz="1150" dirty="0"/>
          </a:p>
        </p:txBody>
      </p:sp>
      <p:sp>
        <p:nvSpPr>
          <p:cNvPr id="23" name="Text 21"/>
          <p:cNvSpPr/>
          <p:nvPr/>
        </p:nvSpPr>
        <p:spPr>
          <a:xfrm>
            <a:off x="859536" y="36347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4" name="Text 22"/>
          <p:cNvSpPr/>
          <p:nvPr/>
        </p:nvSpPr>
        <p:spPr>
          <a:xfrm>
            <a:off x="1152144" y="36347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pending approval task and read it.</a:t>
            </a:r>
            <a:endParaRPr lang="en-US" sz="1150" dirty="0"/>
          </a:p>
        </p:txBody>
      </p:sp>
      <p:sp>
        <p:nvSpPr>
          <p:cNvPr id="25" name="Text 23"/>
          <p:cNvSpPr/>
          <p:nvPr/>
        </p:nvSpPr>
        <p:spPr>
          <a:xfrm>
            <a:off x="859536" y="39639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6" name="Text 24"/>
          <p:cNvSpPr/>
          <p:nvPr/>
        </p:nvSpPr>
        <p:spPr>
          <a:xfrm>
            <a:off x="1152144" y="39639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Approve, or leave it pending.</a:t>
            </a:r>
            <a:endParaRPr lang="en-US" sz="1150" dirty="0"/>
          </a:p>
        </p:txBody>
      </p:sp>
      <p:sp>
        <p:nvSpPr>
          <p:cNvPr id="27" name="Shape 25"/>
          <p:cNvSpPr/>
          <p:nvPr/>
        </p:nvSpPr>
        <p:spPr>
          <a:xfrm>
            <a:off x="7315200" y="2446020"/>
            <a:ext cx="4297680" cy="2478024"/>
          </a:xfrm>
          <a:prstGeom prst="roundRect">
            <a:avLst>
              <a:gd name="adj" fmla="val 1845"/>
            </a:avLst>
          </a:prstGeom>
          <a:solidFill>
            <a:srgbClr val="1C2026"/>
          </a:solidFill>
          <a:ln w="12700">
            <a:solidFill>
              <a:srgbClr val="1C2026"/>
            </a:solidFill>
            <a:prstDash val="solid"/>
          </a:ln>
        </p:spPr>
      </p:sp>
      <p:sp>
        <p:nvSpPr>
          <p:cNvPr id="28" name="Text 26"/>
          <p:cNvSpPr/>
          <p:nvPr/>
        </p:nvSpPr>
        <p:spPr>
          <a:xfrm>
            <a:off x="7626096" y="262890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9" name="Text 27"/>
          <p:cNvSpPr/>
          <p:nvPr/>
        </p:nvSpPr>
        <p:spPr>
          <a:xfrm>
            <a:off x="7626096" y="297637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2976372"/>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run PARKS on an approval task and waits.</a:t>
            </a:r>
            <a:endParaRPr lang="en-US" sz="1150" dirty="0"/>
          </a:p>
        </p:txBody>
      </p:sp>
      <p:sp>
        <p:nvSpPr>
          <p:cNvPr id="31" name="Text 29"/>
          <p:cNvSpPr/>
          <p:nvPr/>
        </p:nvSpPr>
        <p:spPr>
          <a:xfrm>
            <a:off x="7626096" y="33055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33055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approval shows the investigation and governance state.</a:t>
            </a:r>
            <a:endParaRPr lang="en-US" sz="1150" dirty="0"/>
          </a:p>
        </p:txBody>
      </p:sp>
      <p:sp>
        <p:nvSpPr>
          <p:cNvPr id="33" name="Text 31"/>
          <p:cNvSpPr/>
          <p:nvPr/>
        </p:nvSpPr>
        <p:spPr>
          <a:xfrm>
            <a:off x="7626096" y="38221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4" name="Text 32"/>
          <p:cNvSpPr/>
          <p:nvPr/>
        </p:nvSpPr>
        <p:spPr>
          <a:xfrm>
            <a:off x="7918704" y="38221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Nothing reaches the blocklist until a human approves.</a:t>
            </a:r>
            <a:endParaRPr lang="en-US" sz="1150" dirty="0"/>
          </a:p>
        </p:txBody>
      </p:sp>
      <p:sp>
        <p:nvSpPr>
          <p:cNvPr id="35" name="Text 33"/>
          <p:cNvSpPr/>
          <p:nvPr/>
        </p:nvSpPr>
        <p:spPr>
          <a:xfrm>
            <a:off x="7626096" y="43388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6" name="Text 34"/>
          <p:cNvSpPr/>
          <p:nvPr/>
        </p:nvSpPr>
        <p:spPr>
          <a:xfrm>
            <a:off x="7918704" y="4338828"/>
            <a:ext cx="338328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item already blocked short-circuits.</a:t>
            </a:r>
            <a:endParaRPr lang="en-US" sz="1150" dirty="0"/>
          </a:p>
        </p:txBody>
      </p:sp>
      <p:sp>
        <p:nvSpPr>
          <p:cNvPr id="37" name="Shape 35"/>
          <p:cNvSpPr/>
          <p:nvPr/>
        </p:nvSpPr>
        <p:spPr>
          <a:xfrm>
            <a:off x="548640" y="5052060"/>
            <a:ext cx="11064240" cy="658368"/>
          </a:xfrm>
          <a:prstGeom prst="roundRect">
            <a:avLst>
              <a:gd name="adj" fmla="val 6944"/>
            </a:avLst>
          </a:prstGeom>
          <a:solidFill>
            <a:srgbClr val="1C2026"/>
          </a:solidFill>
          <a:ln w="12700">
            <a:solidFill>
              <a:srgbClr val="1C2026"/>
            </a:solidFill>
            <a:prstDash val="solid"/>
          </a:ln>
        </p:spPr>
      </p:sp>
      <p:sp>
        <p:nvSpPr>
          <p:cNvPr id="38" name="Shape 36"/>
          <p:cNvSpPr/>
          <p:nvPr/>
        </p:nvSpPr>
        <p:spPr>
          <a:xfrm>
            <a:off x="786384" y="5234940"/>
            <a:ext cx="292608" cy="292608"/>
          </a:xfrm>
          <a:prstGeom prst="roundRect">
            <a:avLst>
              <a:gd name="adj" fmla="val 28125"/>
            </a:avLst>
          </a:prstGeom>
          <a:solidFill>
            <a:srgbClr val="F5A524"/>
          </a:solidFill>
          <a:ln w="12700">
            <a:solidFill>
              <a:srgbClr val="F5A524"/>
            </a:solidFill>
            <a:prstDash val="solid"/>
          </a:ln>
        </p:spPr>
      </p:sp>
      <p:sp>
        <p:nvSpPr>
          <p:cNvPr id="39" name="Text 37"/>
          <p:cNvSpPr/>
          <p:nvPr/>
        </p:nvSpPr>
        <p:spPr>
          <a:xfrm>
            <a:off x="786384" y="5234940"/>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0" name="Text 38"/>
          <p:cNvSpPr/>
          <p:nvPr/>
        </p:nvSpPr>
        <p:spPr>
          <a:xfrm>
            <a:off x="1243584" y="5161788"/>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Re-run this after any change to the response playbook. If a run ever completes without stopping for approval, stop and investigate before using the pack in production.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7</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Proactive hunting</a:t>
            </a:r>
            <a:endParaRPr lang="en-US" sz="3100" dirty="0"/>
          </a:p>
        </p:txBody>
      </p:sp>
      <p:sp>
        <p:nvSpPr>
          <p:cNvPr id="4" name="Shape 2"/>
          <p:cNvSpPr/>
          <p:nvPr/>
        </p:nvSpPr>
        <p:spPr>
          <a:xfrm>
            <a:off x="548640" y="1280160"/>
            <a:ext cx="11064240" cy="982980"/>
          </a:xfrm>
          <a:prstGeom prst="roundRect">
            <a:avLst>
              <a:gd name="adj" fmla="val 4651"/>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Hunting - MCP Server Audit</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Hunting - Hunt Sweep</a:t>
            </a:r>
            <a:endParaRPr lang="en-US" sz="1000" dirty="0"/>
          </a:p>
        </p:txBody>
      </p:sp>
      <p:sp>
        <p:nvSpPr>
          <p:cNvPr id="10" name="Text 8"/>
          <p:cNvSpPr/>
          <p:nvPr/>
        </p:nvSpPr>
        <p:spPr>
          <a:xfrm>
            <a:off x="2139696" y="1856232"/>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1" name="Text 9"/>
          <p:cNvSpPr/>
          <p:nvPr/>
        </p:nvSpPr>
        <p:spPr>
          <a:xfrm>
            <a:off x="2286000" y="1856232"/>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Hunting - Hunt Match Investigation</a:t>
            </a:r>
            <a:endParaRPr lang="en-US" sz="1000" dirty="0"/>
          </a:p>
        </p:txBody>
      </p:sp>
      <p:sp>
        <p:nvSpPr>
          <p:cNvPr id="12" name="Text 10"/>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3" name="Text 11"/>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4" name="Text 12"/>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1 passing</a:t>
            </a:r>
            <a:endParaRPr lang="en-US" sz="1000" dirty="0"/>
          </a:p>
        </p:txBody>
      </p:sp>
      <p:sp>
        <p:nvSpPr>
          <p:cNvPr id="15" name="Text 13"/>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6" name="Text 14"/>
          <p:cNvSpPr/>
          <p:nvPr/>
        </p:nvSpPr>
        <p:spPr>
          <a:xfrm>
            <a:off x="7086600" y="1632204"/>
            <a:ext cx="4343400" cy="38404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Nothing else — the hunt sweep queries xdr_data, which XSIAM holds natively</a:t>
            </a:r>
            <a:endParaRPr lang="en-US" sz="1000" dirty="0"/>
          </a:p>
        </p:txBody>
      </p:sp>
      <p:sp>
        <p:nvSpPr>
          <p:cNvPr id="17" name="Shape 15"/>
          <p:cNvSpPr/>
          <p:nvPr/>
        </p:nvSpPr>
        <p:spPr>
          <a:xfrm>
            <a:off x="548640" y="2446020"/>
            <a:ext cx="6400800" cy="2336292"/>
          </a:xfrm>
          <a:prstGeom prst="roundRect">
            <a:avLst>
              <a:gd name="adj" fmla="val 1957"/>
            </a:avLst>
          </a:prstGeom>
          <a:solidFill>
            <a:srgbClr val="15171B"/>
          </a:solidFill>
          <a:ln w="12700">
            <a:solidFill>
              <a:srgbClr val="15171B"/>
            </a:solidFill>
            <a:prstDash val="solid"/>
          </a:ln>
        </p:spPr>
      </p:sp>
      <p:sp>
        <p:nvSpPr>
          <p:cNvPr id="18" name="Text 16"/>
          <p:cNvSpPr/>
          <p:nvPr/>
        </p:nvSpPr>
        <p:spPr>
          <a:xfrm>
            <a:off x="859536" y="262890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9" name="Text 17"/>
          <p:cNvSpPr/>
          <p:nvPr/>
        </p:nvSpPr>
        <p:spPr>
          <a:xfrm>
            <a:off x="859536" y="29763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20" name="Text 18"/>
          <p:cNvSpPr/>
          <p:nvPr/>
        </p:nvSpPr>
        <p:spPr>
          <a:xfrm>
            <a:off x="1152144" y="29763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Playbooks → KOI Ext Hunting - MCP Server Audit → Run.</a:t>
            </a:r>
            <a:endParaRPr lang="en-US" sz="1150" dirty="0"/>
          </a:p>
        </p:txBody>
      </p:sp>
      <p:sp>
        <p:nvSpPr>
          <p:cNvPr id="21" name="Text 19"/>
          <p:cNvSpPr/>
          <p:nvPr/>
        </p:nvSpPr>
        <p:spPr>
          <a:xfrm>
            <a:off x="859536" y="33055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2" name="Text 20"/>
          <p:cNvSpPr/>
          <p:nvPr/>
        </p:nvSpPr>
        <p:spPr>
          <a:xfrm>
            <a:off x="1152144" y="33055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Then run KOI Ext Hunting - Hunt Sweep.</a:t>
            </a:r>
            <a:endParaRPr lang="en-US" sz="1150" dirty="0"/>
          </a:p>
        </p:txBody>
      </p:sp>
      <p:sp>
        <p:nvSpPr>
          <p:cNvPr id="23" name="Text 21"/>
          <p:cNvSpPr/>
          <p:nvPr/>
        </p:nvSpPr>
        <p:spPr>
          <a:xfrm>
            <a:off x="859536" y="36347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4" name="Text 22"/>
          <p:cNvSpPr/>
          <p:nvPr/>
        </p:nvSpPr>
        <p:spPr>
          <a:xfrm>
            <a:off x="1152144" y="36347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Optionally set hunt_set and min_risk.</a:t>
            </a:r>
            <a:endParaRPr lang="en-US" sz="1150" dirty="0"/>
          </a:p>
        </p:txBody>
      </p:sp>
      <p:sp>
        <p:nvSpPr>
          <p:cNvPr id="25" name="Text 23"/>
          <p:cNvSpPr/>
          <p:nvPr/>
        </p:nvSpPr>
        <p:spPr>
          <a:xfrm>
            <a:off x="859536" y="396392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6" name="Text 24"/>
          <p:cNvSpPr/>
          <p:nvPr/>
        </p:nvSpPr>
        <p:spPr>
          <a:xfrm>
            <a:off x="1152144" y="396392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War Room match table.</a:t>
            </a:r>
            <a:endParaRPr lang="en-US" sz="1150" dirty="0"/>
          </a:p>
        </p:txBody>
      </p:sp>
      <p:sp>
        <p:nvSpPr>
          <p:cNvPr id="27" name="Shape 25"/>
          <p:cNvSpPr/>
          <p:nvPr/>
        </p:nvSpPr>
        <p:spPr>
          <a:xfrm>
            <a:off x="7315200" y="2446020"/>
            <a:ext cx="4297680" cy="2336292"/>
          </a:xfrm>
          <a:prstGeom prst="roundRect">
            <a:avLst>
              <a:gd name="adj" fmla="val 1957"/>
            </a:avLst>
          </a:prstGeom>
          <a:solidFill>
            <a:srgbClr val="1C2026"/>
          </a:solidFill>
          <a:ln w="12700">
            <a:solidFill>
              <a:srgbClr val="1C2026"/>
            </a:solidFill>
            <a:prstDash val="solid"/>
          </a:ln>
        </p:spPr>
      </p:sp>
      <p:sp>
        <p:nvSpPr>
          <p:cNvPr id="28" name="Text 26"/>
          <p:cNvSpPr/>
          <p:nvPr/>
        </p:nvSpPr>
        <p:spPr>
          <a:xfrm>
            <a:off x="7626096" y="262890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9" name="Text 27"/>
          <p:cNvSpPr/>
          <p:nvPr/>
        </p:nvSpPr>
        <p:spPr>
          <a:xfrm>
            <a:off x="7626096" y="297637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297637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audit lists MCP servers at or above the threshold.</a:t>
            </a:r>
            <a:endParaRPr lang="en-US" sz="1150" dirty="0"/>
          </a:p>
        </p:txBody>
      </p:sp>
      <p:sp>
        <p:nvSpPr>
          <p:cNvPr id="31" name="Text 29"/>
          <p:cNvSpPr/>
          <p:nvPr/>
        </p:nvSpPr>
        <p:spPr>
          <a:xfrm>
            <a:off x="7626096" y="34930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349300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sweep runs its hunts and investigates what it finds.</a:t>
            </a:r>
            <a:endParaRPr lang="en-US" sz="1150" dirty="0"/>
          </a:p>
        </p:txBody>
      </p:sp>
      <p:sp>
        <p:nvSpPr>
          <p:cNvPr id="33" name="Text 31"/>
          <p:cNvSpPr/>
          <p:nvPr/>
        </p:nvSpPr>
        <p:spPr>
          <a:xfrm>
            <a:off x="7626096" y="40096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4" name="Text 32"/>
          <p:cNvSpPr/>
          <p:nvPr/>
        </p:nvSpPr>
        <p:spPr>
          <a:xfrm>
            <a:off x="7918704" y="400964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Block candidates are routed to an analyst gate, never blocked automatically.</a:t>
            </a:r>
            <a:endParaRPr lang="en-US" sz="1150" dirty="0"/>
          </a:p>
        </p:txBody>
      </p:sp>
      <p:sp>
        <p:nvSpPr>
          <p:cNvPr id="35" name="Shape 33"/>
          <p:cNvSpPr/>
          <p:nvPr/>
        </p:nvSpPr>
        <p:spPr>
          <a:xfrm>
            <a:off x="548640" y="4910328"/>
            <a:ext cx="11064240" cy="658368"/>
          </a:xfrm>
          <a:prstGeom prst="roundRect">
            <a:avLst>
              <a:gd name="adj" fmla="val 6944"/>
            </a:avLst>
          </a:prstGeom>
          <a:solidFill>
            <a:srgbClr val="1C2026"/>
          </a:solidFill>
          <a:ln w="12700">
            <a:solidFill>
              <a:srgbClr val="1C2026"/>
            </a:solidFill>
            <a:prstDash val="solid"/>
          </a:ln>
        </p:spPr>
      </p:sp>
      <p:sp>
        <p:nvSpPr>
          <p:cNvPr id="36" name="Shape 34"/>
          <p:cNvSpPr/>
          <p:nvPr/>
        </p:nvSpPr>
        <p:spPr>
          <a:xfrm>
            <a:off x="786384" y="5093208"/>
            <a:ext cx="292608" cy="292608"/>
          </a:xfrm>
          <a:prstGeom prst="roundRect">
            <a:avLst>
              <a:gd name="adj" fmla="val 28125"/>
            </a:avLst>
          </a:prstGeom>
          <a:solidFill>
            <a:srgbClr val="F5A524"/>
          </a:solidFill>
          <a:ln w="12700">
            <a:solidFill>
              <a:srgbClr val="F5A524"/>
            </a:solidFill>
            <a:prstDash val="solid"/>
          </a:ln>
        </p:spPr>
      </p:sp>
      <p:sp>
        <p:nvSpPr>
          <p:cNvPr id="37" name="Text 35"/>
          <p:cNvSpPr/>
          <p:nvPr/>
        </p:nvSpPr>
        <p:spPr>
          <a:xfrm>
            <a:off x="786384" y="509320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8" name="Text 36"/>
          <p:cNvSpPr/>
          <p:nvPr/>
        </p:nvSpPr>
        <p:spPr>
          <a:xfrm>
            <a:off x="1243584" y="5020056"/>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sweep checks the XQL engine is answering before it runs, and stops cleanly if not. On XSIAM the engine is provisioned by the platform, so that check should simply pass.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8</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 refresh the tracker</a:t>
            </a:r>
            <a:endParaRPr lang="en-US" sz="3100" dirty="0"/>
          </a:p>
        </p:txBody>
      </p:sp>
      <p:sp>
        <p:nvSpPr>
          <p:cNvPr id="4" name="Shape 2"/>
          <p:cNvSpPr/>
          <p:nvPr/>
        </p:nvSpPr>
        <p:spPr>
          <a:xfrm>
            <a:off x="548640" y="1280160"/>
            <a:ext cx="11064240" cy="1769364"/>
          </a:xfrm>
          <a:prstGeom prst="roundRect">
            <a:avLst>
              <a:gd name="adj" fmla="val 2584"/>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Script Runner - Refresh Job</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Script Runner - Refresh Entry</a:t>
            </a:r>
            <a:endParaRPr lang="en-US" sz="1000" dirty="0"/>
          </a:p>
        </p:txBody>
      </p:sp>
      <p:sp>
        <p:nvSpPr>
          <p:cNvPr id="10" name="Text 8"/>
          <p:cNvSpPr/>
          <p:nvPr/>
        </p:nvSpPr>
        <p:spPr>
          <a:xfrm>
            <a:off x="2139696" y="1856232"/>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1" name="Text 9"/>
          <p:cNvSpPr/>
          <p:nvPr/>
        </p:nvSpPr>
        <p:spPr>
          <a:xfrm>
            <a:off x="2286000" y="1856232"/>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KoiScanTracker  (our automation — not the KOI script)</a:t>
            </a:r>
            <a:endParaRPr lang="en-US" sz="1000" dirty="0"/>
          </a:p>
        </p:txBody>
      </p:sp>
      <p:sp>
        <p:nvSpPr>
          <p:cNvPr id="12" name="Text 10"/>
          <p:cNvSpPr/>
          <p:nvPr/>
        </p:nvSpPr>
        <p:spPr>
          <a:xfrm>
            <a:off x="2139696" y="2080260"/>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3" name="Text 11"/>
          <p:cNvSpPr/>
          <p:nvPr/>
        </p:nvSpPr>
        <p:spPr>
          <a:xfrm>
            <a:off x="2286000" y="2080260"/>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List: Koi Script Runner</a:t>
            </a:r>
            <a:endParaRPr lang="en-US" sz="1000" dirty="0"/>
          </a:p>
        </p:txBody>
      </p:sp>
      <p:sp>
        <p:nvSpPr>
          <p:cNvPr id="14" name="Text 12"/>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5" name="Text 13"/>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6" name="Text 14"/>
          <p:cNvSpPr/>
          <p:nvPr/>
        </p:nvSpPr>
        <p:spPr>
          <a:xfrm>
            <a:off x="7086600" y="1408176"/>
            <a:ext cx="4343400" cy="38404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Core REST API integration instance configured  ← the one people miss</a:t>
            </a:r>
            <a:endParaRPr lang="en-US" sz="1000" dirty="0"/>
          </a:p>
        </p:txBody>
      </p:sp>
      <p:sp>
        <p:nvSpPr>
          <p:cNvPr id="17" name="Text 15"/>
          <p:cNvSpPr/>
          <p:nvPr/>
        </p:nvSpPr>
        <p:spPr>
          <a:xfrm>
            <a:off x="6940296" y="181965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8" name="Text 16"/>
          <p:cNvSpPr/>
          <p:nvPr/>
        </p:nvSpPr>
        <p:spPr>
          <a:xfrm>
            <a:off x="7086600" y="1819656"/>
            <a:ext cx="4343400" cy="57607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KOI deployment script — download it from YOUR KOI console, then upload it to Action Center → Scripts Library. This is KOI's script, not a Cortex one. It must take no parameters</a:t>
            </a:r>
            <a:endParaRPr lang="en-US" sz="1000" dirty="0"/>
          </a:p>
        </p:txBody>
      </p:sp>
      <p:sp>
        <p:nvSpPr>
          <p:cNvPr id="19" name="Text 17"/>
          <p:cNvSpPr/>
          <p:nvPr/>
        </p:nvSpPr>
        <p:spPr>
          <a:xfrm>
            <a:off x="6940296" y="2418588"/>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20" name="Text 18"/>
          <p:cNvSpPr/>
          <p:nvPr/>
        </p:nvSpPr>
        <p:spPr>
          <a:xfrm>
            <a:off x="7086600" y="2418588"/>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An endpoint group — tag the agents, then use a dynamic group</a:t>
            </a:r>
            <a:endParaRPr lang="en-US" sz="1000" dirty="0"/>
          </a:p>
        </p:txBody>
      </p:sp>
      <p:sp>
        <p:nvSpPr>
          <p:cNvPr id="21" name="Text 19"/>
          <p:cNvSpPr/>
          <p:nvPr/>
        </p:nvSpPr>
        <p:spPr>
          <a:xfrm>
            <a:off x="6940296" y="264261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22" name="Text 20"/>
          <p:cNvSpPr/>
          <p:nvPr/>
        </p:nvSpPr>
        <p:spPr>
          <a:xfrm>
            <a:off x="7086600" y="264261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Koi Script Runner List created (step 1)</a:t>
            </a:r>
            <a:endParaRPr lang="en-US" sz="1000" dirty="0"/>
          </a:p>
        </p:txBody>
      </p:sp>
      <p:sp>
        <p:nvSpPr>
          <p:cNvPr id="23" name="Shape 21"/>
          <p:cNvSpPr/>
          <p:nvPr/>
        </p:nvSpPr>
        <p:spPr>
          <a:xfrm>
            <a:off x="548640" y="3232404"/>
            <a:ext cx="6400800" cy="2656332"/>
          </a:xfrm>
          <a:prstGeom prst="roundRect">
            <a:avLst>
              <a:gd name="adj" fmla="val 1721"/>
            </a:avLst>
          </a:prstGeom>
          <a:solidFill>
            <a:srgbClr val="15171B"/>
          </a:solidFill>
          <a:ln w="12700">
            <a:solidFill>
              <a:srgbClr val="15171B"/>
            </a:solidFill>
            <a:prstDash val="solid"/>
          </a:ln>
        </p:spPr>
      </p:sp>
      <p:sp>
        <p:nvSpPr>
          <p:cNvPr id="24" name="Text 22"/>
          <p:cNvSpPr/>
          <p:nvPr/>
        </p:nvSpPr>
        <p:spPr>
          <a:xfrm>
            <a:off x="859536" y="3415284"/>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25" name="Text 23"/>
          <p:cNvSpPr/>
          <p:nvPr/>
        </p:nvSpPr>
        <p:spPr>
          <a:xfrm>
            <a:off x="859536" y="37627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26" name="Text 24"/>
          <p:cNvSpPr/>
          <p:nvPr/>
        </p:nvSpPr>
        <p:spPr>
          <a:xfrm>
            <a:off x="1152144" y="3762756"/>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Settings → Object Setup → Lists → New List, type JSON, named exactly Koi Script Runner.</a:t>
            </a:r>
            <a:endParaRPr lang="en-US" sz="1150" dirty="0"/>
          </a:p>
        </p:txBody>
      </p:sp>
      <p:sp>
        <p:nvSpPr>
          <p:cNvPr id="27" name="Text 25"/>
          <p:cNvSpPr/>
          <p:nvPr/>
        </p:nvSpPr>
        <p:spPr>
          <a:xfrm>
            <a:off x="859536" y="427939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8" name="Text 26"/>
          <p:cNvSpPr/>
          <p:nvPr/>
        </p:nvSpPr>
        <p:spPr>
          <a:xfrm>
            <a:off x="1152144" y="4279392"/>
            <a:ext cx="5486400" cy="630936"/>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Lists/README.md in the pack and copy the JSON block — it is formatted ready to paste (do NOT copy from list-Koi_Script_Runner.json; its data field is escaped).</a:t>
            </a:r>
            <a:endParaRPr lang="en-US" sz="1150" dirty="0"/>
          </a:p>
        </p:txBody>
      </p:sp>
      <p:sp>
        <p:nvSpPr>
          <p:cNvPr id="29" name="Text 27"/>
          <p:cNvSpPr/>
          <p:nvPr/>
        </p:nvSpPr>
        <p:spPr>
          <a:xfrm>
            <a:off x="859536" y="498348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30" name="Text 28"/>
          <p:cNvSpPr/>
          <p:nvPr/>
        </p:nvSpPr>
        <p:spPr>
          <a:xfrm>
            <a:off x="1152144" y="4983480"/>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Edit two things only: endpoint_groups (your group) and script.name (the KOI script exactly as it appears in Action Center). One entry per OS.</a:t>
            </a:r>
            <a:endParaRPr lang="en-US" sz="1150" dirty="0"/>
          </a:p>
        </p:txBody>
      </p:sp>
      <p:sp>
        <p:nvSpPr>
          <p:cNvPr id="31" name="Text 29"/>
          <p:cNvSpPr/>
          <p:nvPr/>
        </p:nvSpPr>
        <p:spPr>
          <a:xfrm>
            <a:off x="859536" y="550011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32" name="Text 30"/>
          <p:cNvSpPr/>
          <p:nvPr/>
        </p:nvSpPr>
        <p:spPr>
          <a:xfrm>
            <a:off x="1152144" y="5500116"/>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Everything else — tracker_list, rescan_interval_hours, max_endpoints — already has working defaults.</a:t>
            </a:r>
            <a:endParaRPr lang="en-US" sz="1150" dirty="0"/>
          </a:p>
        </p:txBody>
      </p:sp>
      <p:sp>
        <p:nvSpPr>
          <p:cNvPr id="33" name="Text 31"/>
          <p:cNvSpPr/>
          <p:nvPr/>
        </p:nvSpPr>
        <p:spPr>
          <a:xfrm>
            <a:off x="859536" y="601675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5</a:t>
            </a:r>
            <a:endParaRPr lang="en-US" sz="1150" dirty="0"/>
          </a:p>
        </p:txBody>
      </p:sp>
      <p:sp>
        <p:nvSpPr>
          <p:cNvPr id="34" name="Text 32"/>
          <p:cNvSpPr/>
          <p:nvPr/>
        </p:nvSpPr>
        <p:spPr>
          <a:xfrm>
            <a:off x="1152144" y="6016752"/>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Jobs → New Job, time-triggered, playbook KOI Ext Script Runner - Refresh Job. Enable it, then Run now.</a:t>
            </a:r>
            <a:endParaRPr lang="en-US" sz="1150" dirty="0"/>
          </a:p>
        </p:txBody>
      </p:sp>
      <p:sp>
        <p:nvSpPr>
          <p:cNvPr id="35" name="Shape 33"/>
          <p:cNvSpPr/>
          <p:nvPr/>
        </p:nvSpPr>
        <p:spPr>
          <a:xfrm>
            <a:off x="7315200" y="3232404"/>
            <a:ext cx="4297680" cy="2656332"/>
          </a:xfrm>
          <a:prstGeom prst="roundRect">
            <a:avLst>
              <a:gd name="adj" fmla="val 1721"/>
            </a:avLst>
          </a:prstGeom>
          <a:solidFill>
            <a:srgbClr val="1C2026"/>
          </a:solidFill>
          <a:ln w="12700">
            <a:solidFill>
              <a:srgbClr val="1C2026"/>
            </a:solidFill>
            <a:prstDash val="solid"/>
          </a:ln>
        </p:spPr>
      </p:sp>
      <p:sp>
        <p:nvSpPr>
          <p:cNvPr id="36" name="Text 34"/>
          <p:cNvSpPr/>
          <p:nvPr/>
        </p:nvSpPr>
        <p:spPr>
          <a:xfrm>
            <a:off x="7626096" y="3415284"/>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37" name="Text 35"/>
          <p:cNvSpPr/>
          <p:nvPr/>
        </p:nvSpPr>
        <p:spPr>
          <a:xfrm>
            <a:off x="7626096" y="376275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8" name="Text 36"/>
          <p:cNvSpPr/>
          <p:nvPr/>
        </p:nvSpPr>
        <p:spPr>
          <a:xfrm>
            <a:off x="7918704" y="376275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 tracker List appears under Lists, named as in your entry.</a:t>
            </a:r>
            <a:endParaRPr lang="en-US" sz="1150" dirty="0"/>
          </a:p>
        </p:txBody>
      </p:sp>
      <p:sp>
        <p:nvSpPr>
          <p:cNvPr id="39" name="Text 37"/>
          <p:cNvSpPr/>
          <p:nvPr/>
        </p:nvSpPr>
        <p:spPr>
          <a:xfrm>
            <a:off x="7626096" y="427939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40" name="Text 38"/>
          <p:cNvSpPr/>
          <p:nvPr/>
        </p:nvSpPr>
        <p:spPr>
          <a:xfrm>
            <a:off x="7918704" y="427939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It fills with one row per endpoint: an id and a last-scan value.</a:t>
            </a:r>
            <a:endParaRPr lang="en-US" sz="1150" dirty="0"/>
          </a:p>
        </p:txBody>
      </p:sp>
      <p:sp>
        <p:nvSpPr>
          <p:cNvPr id="41" name="Text 39"/>
          <p:cNvSpPr/>
          <p:nvPr/>
        </p:nvSpPr>
        <p:spPr>
          <a:xfrm>
            <a:off x="7626096" y="479602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42" name="Text 40"/>
          <p:cNvSpPr/>
          <p:nvPr/>
        </p:nvSpPr>
        <p:spPr>
          <a:xfrm>
            <a:off x="7918704" y="479602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Re-running adds new endpoints without disturbing existing rows.</a:t>
            </a:r>
            <a:endParaRPr lang="en-US" sz="1150" dirty="0"/>
          </a:p>
        </p:txBody>
      </p:sp>
      <p:sp>
        <p:nvSpPr>
          <p:cNvPr id="43" name="Shape 41"/>
          <p:cNvSpPr/>
          <p:nvPr/>
        </p:nvSpPr>
        <p:spPr>
          <a:xfrm>
            <a:off x="548640" y="6016752"/>
            <a:ext cx="11064240" cy="658368"/>
          </a:xfrm>
          <a:prstGeom prst="roundRect">
            <a:avLst>
              <a:gd name="adj" fmla="val 6944"/>
            </a:avLst>
          </a:prstGeom>
          <a:solidFill>
            <a:srgbClr val="1C2026"/>
          </a:solidFill>
          <a:ln w="12700">
            <a:solidFill>
              <a:srgbClr val="1C2026"/>
            </a:solidFill>
            <a:prstDash val="solid"/>
          </a:ln>
        </p:spPr>
      </p:sp>
      <p:sp>
        <p:nvSpPr>
          <p:cNvPr id="44" name="Shape 42"/>
          <p:cNvSpPr/>
          <p:nvPr/>
        </p:nvSpPr>
        <p:spPr>
          <a:xfrm>
            <a:off x="786384" y="6199632"/>
            <a:ext cx="292608" cy="292608"/>
          </a:xfrm>
          <a:prstGeom prst="roundRect">
            <a:avLst>
              <a:gd name="adj" fmla="val 28125"/>
            </a:avLst>
          </a:prstGeom>
          <a:solidFill>
            <a:srgbClr val="F5A524"/>
          </a:solidFill>
          <a:ln w="12700">
            <a:solidFill>
              <a:srgbClr val="F5A524"/>
            </a:solidFill>
            <a:prstDash val="solid"/>
          </a:ln>
        </p:spPr>
      </p:sp>
      <p:sp>
        <p:nvSpPr>
          <p:cNvPr id="45" name="Text 43"/>
          <p:cNvSpPr/>
          <p:nvPr/>
        </p:nvSpPr>
        <p:spPr>
          <a:xfrm>
            <a:off x="786384" y="619963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6" name="Text 44"/>
          <p:cNvSpPr/>
          <p:nvPr/>
        </p:nvSpPr>
        <p:spPr>
          <a:xfrm>
            <a:off x="1243584" y="612648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Without a Core REST API instance this test cannot pass — the refresh reads endpoint groups through it, and the tracker simply stays empty.</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9</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Script Runner — scan due endpoints</a:t>
            </a:r>
            <a:endParaRPr lang="en-US" sz="3100" dirty="0"/>
          </a:p>
        </p:txBody>
      </p:sp>
      <p:sp>
        <p:nvSpPr>
          <p:cNvPr id="4" name="Shape 2"/>
          <p:cNvSpPr/>
          <p:nvPr/>
        </p:nvSpPr>
        <p:spPr>
          <a:xfrm>
            <a:off x="548640" y="1280160"/>
            <a:ext cx="11064240" cy="1207008"/>
          </a:xfrm>
          <a:prstGeom prst="roundRect">
            <a:avLst>
              <a:gd name="adj" fmla="val 3788"/>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Script Runner - Scan Job</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Script Runner - Process Config Entry</a:t>
            </a:r>
            <a:endParaRPr lang="en-US" sz="1000" dirty="0"/>
          </a:p>
        </p:txBody>
      </p:sp>
      <p:sp>
        <p:nvSpPr>
          <p:cNvPr id="10" name="Text 8"/>
          <p:cNvSpPr/>
          <p:nvPr/>
        </p:nvSpPr>
        <p:spPr>
          <a:xfrm>
            <a:off x="2139696" y="1856232"/>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1" name="Text 9"/>
          <p:cNvSpPr/>
          <p:nvPr/>
        </p:nvSpPr>
        <p:spPr>
          <a:xfrm>
            <a:off x="2286000" y="1856232"/>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Ext Script Runner - Execute Endpoint Script</a:t>
            </a:r>
            <a:endParaRPr lang="en-US" sz="1000" dirty="0"/>
          </a:p>
        </p:txBody>
      </p:sp>
      <p:sp>
        <p:nvSpPr>
          <p:cNvPr id="12" name="Text 10"/>
          <p:cNvSpPr/>
          <p:nvPr/>
        </p:nvSpPr>
        <p:spPr>
          <a:xfrm>
            <a:off x="2139696" y="2080260"/>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3" name="Text 11"/>
          <p:cNvSpPr/>
          <p:nvPr/>
        </p:nvSpPr>
        <p:spPr>
          <a:xfrm>
            <a:off x="2286000" y="2080260"/>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KoiScanTracker  (our automation)</a:t>
            </a:r>
            <a:endParaRPr lang="en-US" sz="1000" dirty="0"/>
          </a:p>
        </p:txBody>
      </p:sp>
      <p:sp>
        <p:nvSpPr>
          <p:cNvPr id="14" name="Text 12"/>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5" name="Text 13"/>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6" name="Text 14"/>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8 passing — the tracker List has rows</a:t>
            </a:r>
            <a:endParaRPr lang="en-US" sz="1000" dirty="0"/>
          </a:p>
        </p:txBody>
      </p:sp>
      <p:sp>
        <p:nvSpPr>
          <p:cNvPr id="17" name="Text 15"/>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8" name="Text 16"/>
          <p:cNvSpPr/>
          <p:nvPr/>
        </p:nvSpPr>
        <p:spPr>
          <a:xfrm>
            <a:off x="7086600" y="1632204"/>
            <a:ext cx="4343400" cy="384048"/>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Connected agents in the group, matching the entry's endpoint_os</a:t>
            </a:r>
            <a:endParaRPr lang="en-US" sz="1000" dirty="0"/>
          </a:p>
        </p:txBody>
      </p:sp>
      <p:sp>
        <p:nvSpPr>
          <p:cNvPr id="19" name="Shape 17"/>
          <p:cNvSpPr/>
          <p:nvPr/>
        </p:nvSpPr>
        <p:spPr>
          <a:xfrm>
            <a:off x="548640" y="2670048"/>
            <a:ext cx="6400800" cy="2852928"/>
          </a:xfrm>
          <a:prstGeom prst="roundRect">
            <a:avLst>
              <a:gd name="adj" fmla="val 1603"/>
            </a:avLst>
          </a:prstGeom>
          <a:solidFill>
            <a:srgbClr val="15171B"/>
          </a:solidFill>
          <a:ln w="12700">
            <a:solidFill>
              <a:srgbClr val="15171B"/>
            </a:solidFill>
            <a:prstDash val="solid"/>
          </a:ln>
        </p:spPr>
      </p:sp>
      <p:sp>
        <p:nvSpPr>
          <p:cNvPr id="20" name="Text 18"/>
          <p:cNvSpPr/>
          <p:nvPr/>
        </p:nvSpPr>
        <p:spPr>
          <a:xfrm>
            <a:off x="859536" y="2852928"/>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21" name="Text 19"/>
          <p:cNvSpPr/>
          <p:nvPr/>
        </p:nvSpPr>
        <p:spPr>
          <a:xfrm>
            <a:off x="859536" y="320040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22" name="Text 20"/>
          <p:cNvSpPr/>
          <p:nvPr/>
        </p:nvSpPr>
        <p:spPr>
          <a:xfrm>
            <a:off x="1152144" y="3200400"/>
            <a:ext cx="548640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Automation → Jobs → New Job → time-triggered → playbook KOI Ext Script Runner - Scan Job.</a:t>
            </a:r>
            <a:endParaRPr lang="en-US" sz="1150" dirty="0"/>
          </a:p>
        </p:txBody>
      </p:sp>
      <p:sp>
        <p:nvSpPr>
          <p:cNvPr id="23" name="Text 21"/>
          <p:cNvSpPr/>
          <p:nvPr/>
        </p:nvSpPr>
        <p:spPr>
          <a:xfrm>
            <a:off x="859536" y="371703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4" name="Text 22"/>
          <p:cNvSpPr/>
          <p:nvPr/>
        </p:nvSpPr>
        <p:spPr>
          <a:xfrm>
            <a:off x="1152144" y="371703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Enable the Job, then Run now.</a:t>
            </a:r>
            <a:endParaRPr lang="en-US" sz="1150" dirty="0"/>
          </a:p>
        </p:txBody>
      </p:sp>
      <p:sp>
        <p:nvSpPr>
          <p:cNvPr id="25" name="Text 23"/>
          <p:cNvSpPr/>
          <p:nvPr/>
        </p:nvSpPr>
        <p:spPr>
          <a:xfrm>
            <a:off x="859536" y="404622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6" name="Text 24"/>
          <p:cNvSpPr/>
          <p:nvPr/>
        </p:nvSpPr>
        <p:spPr>
          <a:xfrm>
            <a:off x="1152144" y="404622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the run, then check Action Center.</a:t>
            </a:r>
            <a:endParaRPr lang="en-US" sz="1150" dirty="0"/>
          </a:p>
        </p:txBody>
      </p:sp>
      <p:sp>
        <p:nvSpPr>
          <p:cNvPr id="27" name="Text 25"/>
          <p:cNvSpPr/>
          <p:nvPr/>
        </p:nvSpPr>
        <p:spPr>
          <a:xfrm>
            <a:off x="859536" y="4375404"/>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4</a:t>
            </a:r>
            <a:endParaRPr lang="en-US" sz="1150" dirty="0"/>
          </a:p>
        </p:txBody>
      </p:sp>
      <p:sp>
        <p:nvSpPr>
          <p:cNvPr id="28" name="Text 26"/>
          <p:cNvSpPr/>
          <p:nvPr/>
        </p:nvSpPr>
        <p:spPr>
          <a:xfrm>
            <a:off x="1152144" y="4375404"/>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Run it a second time immediately.</a:t>
            </a:r>
            <a:endParaRPr lang="en-US" sz="1150" dirty="0"/>
          </a:p>
        </p:txBody>
      </p:sp>
      <p:sp>
        <p:nvSpPr>
          <p:cNvPr id="29" name="Shape 27"/>
          <p:cNvSpPr/>
          <p:nvPr/>
        </p:nvSpPr>
        <p:spPr>
          <a:xfrm>
            <a:off x="7315200" y="2670048"/>
            <a:ext cx="4297680" cy="2852928"/>
          </a:xfrm>
          <a:prstGeom prst="roundRect">
            <a:avLst>
              <a:gd name="adj" fmla="val 1603"/>
            </a:avLst>
          </a:prstGeom>
          <a:solidFill>
            <a:srgbClr val="1C2026"/>
          </a:solidFill>
          <a:ln w="12700">
            <a:solidFill>
              <a:srgbClr val="1C2026"/>
            </a:solidFill>
            <a:prstDash val="solid"/>
          </a:ln>
        </p:spPr>
      </p:sp>
      <p:sp>
        <p:nvSpPr>
          <p:cNvPr id="30" name="Text 28"/>
          <p:cNvSpPr/>
          <p:nvPr/>
        </p:nvSpPr>
        <p:spPr>
          <a:xfrm>
            <a:off x="7626096" y="2852928"/>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31" name="Text 29"/>
          <p:cNvSpPr/>
          <p:nvPr/>
        </p:nvSpPr>
        <p:spPr>
          <a:xfrm>
            <a:off x="7626096" y="3200400"/>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3200400"/>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script is dispatched to due, connected endpoints.</a:t>
            </a:r>
            <a:endParaRPr lang="en-US" sz="1150" dirty="0"/>
          </a:p>
        </p:txBody>
      </p:sp>
      <p:sp>
        <p:nvSpPr>
          <p:cNvPr id="33" name="Text 31"/>
          <p:cNvSpPr/>
          <p:nvPr/>
        </p:nvSpPr>
        <p:spPr>
          <a:xfrm>
            <a:off x="7626096" y="3717036"/>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4" name="Text 32"/>
          <p:cNvSpPr/>
          <p:nvPr/>
        </p:nvSpPr>
        <p:spPr>
          <a:xfrm>
            <a:off x="7918704" y="3717036"/>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Those endpoints get a last-scan timestamp in the tracker.</a:t>
            </a:r>
            <a:endParaRPr lang="en-US" sz="1150" dirty="0"/>
          </a:p>
        </p:txBody>
      </p:sp>
      <p:sp>
        <p:nvSpPr>
          <p:cNvPr id="35" name="Text 33"/>
          <p:cNvSpPr/>
          <p:nvPr/>
        </p:nvSpPr>
        <p:spPr>
          <a:xfrm>
            <a:off x="7626096" y="423367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6" name="Text 34"/>
          <p:cNvSpPr/>
          <p:nvPr/>
        </p:nvSpPr>
        <p:spPr>
          <a:xfrm>
            <a:off x="7918704" y="423367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Offline and wrong-OS endpoints stay due and retry later.</a:t>
            </a:r>
            <a:endParaRPr lang="en-US" sz="1150" dirty="0"/>
          </a:p>
        </p:txBody>
      </p:sp>
      <p:sp>
        <p:nvSpPr>
          <p:cNvPr id="37" name="Text 35"/>
          <p:cNvSpPr/>
          <p:nvPr/>
        </p:nvSpPr>
        <p:spPr>
          <a:xfrm>
            <a:off x="7626096" y="47503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8" name="Text 36"/>
          <p:cNvSpPr/>
          <p:nvPr/>
        </p:nvSpPr>
        <p:spPr>
          <a:xfrm>
            <a:off x="7918704" y="475030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 second run does nothing — all inside the rescan interval.</a:t>
            </a:r>
            <a:endParaRPr lang="en-US" sz="1150" dirty="0"/>
          </a:p>
        </p:txBody>
      </p:sp>
      <p:sp>
        <p:nvSpPr>
          <p:cNvPr id="39" name="Shape 37"/>
          <p:cNvSpPr/>
          <p:nvPr/>
        </p:nvSpPr>
        <p:spPr>
          <a:xfrm>
            <a:off x="548640" y="5650992"/>
            <a:ext cx="11064240" cy="658368"/>
          </a:xfrm>
          <a:prstGeom prst="roundRect">
            <a:avLst>
              <a:gd name="adj" fmla="val 6944"/>
            </a:avLst>
          </a:prstGeom>
          <a:solidFill>
            <a:srgbClr val="1C2026"/>
          </a:solidFill>
          <a:ln w="12700">
            <a:solidFill>
              <a:srgbClr val="1C2026"/>
            </a:solidFill>
            <a:prstDash val="solid"/>
          </a:ln>
        </p:spPr>
      </p:sp>
      <p:sp>
        <p:nvSpPr>
          <p:cNvPr id="40" name="Shape 38"/>
          <p:cNvSpPr/>
          <p:nvPr/>
        </p:nvSpPr>
        <p:spPr>
          <a:xfrm>
            <a:off x="786384" y="5833872"/>
            <a:ext cx="292608" cy="292608"/>
          </a:xfrm>
          <a:prstGeom prst="roundRect">
            <a:avLst>
              <a:gd name="adj" fmla="val 28125"/>
            </a:avLst>
          </a:prstGeom>
          <a:solidFill>
            <a:srgbClr val="F5A524"/>
          </a:solidFill>
          <a:ln w="12700">
            <a:solidFill>
              <a:srgbClr val="F5A524"/>
            </a:solidFill>
            <a:prstDash val="solid"/>
          </a:ln>
        </p:spPr>
      </p:sp>
      <p:sp>
        <p:nvSpPr>
          <p:cNvPr id="41" name="Text 39"/>
          <p:cNvSpPr/>
          <p:nvPr/>
        </p:nvSpPr>
        <p:spPr>
          <a:xfrm>
            <a:off x="786384" y="5833872"/>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2" name="Text 40"/>
          <p:cNvSpPr/>
          <p:nvPr/>
        </p:nvSpPr>
        <p:spPr>
          <a:xfrm>
            <a:off x="1243584" y="5760720"/>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SKIPPED means nothing is due right now and sends no email, by design. STILL RUNNING means the script was dispatched and Action Center is finishing on its own. Neither is a failure.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TEST 10</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Alert fields and layout</a:t>
            </a:r>
            <a:endParaRPr lang="en-US" sz="3100" dirty="0"/>
          </a:p>
        </p:txBody>
      </p:sp>
      <p:sp>
        <p:nvSpPr>
          <p:cNvPr id="4" name="Shape 2"/>
          <p:cNvSpPr/>
          <p:nvPr/>
        </p:nvSpPr>
        <p:spPr>
          <a:xfrm>
            <a:off x="548640" y="1280160"/>
            <a:ext cx="11064240" cy="982980"/>
          </a:xfrm>
          <a:prstGeom prst="roundRect">
            <a:avLst>
              <a:gd name="adj" fmla="val 4651"/>
            </a:avLst>
          </a:prstGeom>
          <a:solidFill>
            <a:srgbClr val="1C2026"/>
          </a:solidFill>
          <a:ln w="12700">
            <a:solidFill>
              <a:srgbClr val="1C2026"/>
            </a:solidFill>
            <a:prstDash val="solid"/>
          </a:ln>
        </p:spPr>
      </p:sp>
      <p:sp>
        <p:nvSpPr>
          <p:cNvPr id="5" name="Text 3"/>
          <p:cNvSpPr/>
          <p:nvPr/>
        </p:nvSpPr>
        <p:spPr>
          <a:xfrm>
            <a:off x="804672" y="1408176"/>
            <a:ext cx="1463040" cy="201168"/>
          </a:xfrm>
          <a:prstGeom prst="rect">
            <a:avLst/>
          </a:prstGeom>
          <a:noFill/>
          <a:ln/>
        </p:spPr>
        <p:txBody>
          <a:bodyPr wrap="square" lIns="0" tIns="0" rIns="0" bIns="0" rtlCol="0" anchor="t"/>
          <a:lstStyle/>
          <a:p>
            <a:pPr indent="0" marL="0">
              <a:buNone/>
            </a:pPr>
            <a:r>
              <a:rPr lang="en-US" sz="900" b="1" spc="100" kern="0" dirty="0">
                <a:solidFill>
                  <a:srgbClr val="22D3EE"/>
                </a:solidFill>
                <a:latin typeface="Calibri" pitchFamily="34" charset="0"/>
                <a:ea typeface="Calibri" pitchFamily="34" charset="-122"/>
                <a:cs typeface="Calibri" pitchFamily="34" charset="-120"/>
              </a:rPr>
              <a:t>PACK CONTENT</a:t>
            </a:r>
            <a:endParaRPr lang="en-US" sz="900" dirty="0"/>
          </a:p>
        </p:txBody>
      </p:sp>
      <p:sp>
        <p:nvSpPr>
          <p:cNvPr id="6" name="Text 4"/>
          <p:cNvSpPr/>
          <p:nvPr/>
        </p:nvSpPr>
        <p:spPr>
          <a:xfrm>
            <a:off x="2139696" y="1408176"/>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7" name="Text 5"/>
          <p:cNvSpPr/>
          <p:nvPr/>
        </p:nvSpPr>
        <p:spPr>
          <a:xfrm>
            <a:off x="22860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19 KOI incident fields</a:t>
            </a:r>
            <a:endParaRPr lang="en-US" sz="1000" dirty="0"/>
          </a:p>
        </p:txBody>
      </p:sp>
      <p:sp>
        <p:nvSpPr>
          <p:cNvPr id="8" name="Text 6"/>
          <p:cNvSpPr/>
          <p:nvPr/>
        </p:nvSpPr>
        <p:spPr>
          <a:xfrm>
            <a:off x="2139696" y="1632204"/>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22860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KOI Supply Chain Alert incident type</a:t>
            </a:r>
            <a:endParaRPr lang="en-US" sz="1000" dirty="0"/>
          </a:p>
        </p:txBody>
      </p:sp>
      <p:sp>
        <p:nvSpPr>
          <p:cNvPr id="10" name="Text 8"/>
          <p:cNvSpPr/>
          <p:nvPr/>
        </p:nvSpPr>
        <p:spPr>
          <a:xfrm>
            <a:off x="2139696" y="1856232"/>
            <a:ext cx="128016" cy="201168"/>
          </a:xfrm>
          <a:prstGeom prst="rect">
            <a:avLst/>
          </a:prstGeom>
          <a:noFill/>
          <a:ln/>
        </p:spPr>
        <p:txBody>
          <a:bodyPr wrap="square" lIns="0" tIns="0" rIns="0" bIns="0" rtlCol="0" anchor="t"/>
          <a:lstStyle/>
          <a:p>
            <a:pPr indent="0" marL="0">
              <a:buNone/>
            </a:pPr>
            <a:r>
              <a:rPr lang="en-US" sz="1000" b="1" dirty="0">
                <a:solidFill>
                  <a:srgbClr val="22D3EE"/>
                </a:solidFill>
                <a:latin typeface="Calibri" pitchFamily="34" charset="0"/>
                <a:ea typeface="Calibri" pitchFamily="34" charset="-122"/>
                <a:cs typeface="Calibri" pitchFamily="34" charset="-120"/>
              </a:rPr>
              <a:t>•</a:t>
            </a:r>
            <a:endParaRPr lang="en-US" sz="1000" dirty="0"/>
          </a:p>
        </p:txBody>
      </p:sp>
      <p:sp>
        <p:nvSpPr>
          <p:cNvPr id="11" name="Text 9"/>
          <p:cNvSpPr/>
          <p:nvPr/>
        </p:nvSpPr>
        <p:spPr>
          <a:xfrm>
            <a:off x="2286000" y="1856232"/>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its layout</a:t>
            </a:r>
            <a:endParaRPr lang="en-US" sz="1000" dirty="0"/>
          </a:p>
        </p:txBody>
      </p:sp>
      <p:sp>
        <p:nvSpPr>
          <p:cNvPr id="12" name="Text 10"/>
          <p:cNvSpPr/>
          <p:nvPr/>
        </p:nvSpPr>
        <p:spPr>
          <a:xfrm>
            <a:off x="5669280" y="1408176"/>
            <a:ext cx="1371600" cy="201168"/>
          </a:xfrm>
          <a:prstGeom prst="rect">
            <a:avLst/>
          </a:prstGeom>
          <a:noFill/>
          <a:ln/>
        </p:spPr>
        <p:txBody>
          <a:bodyPr wrap="square" lIns="0" tIns="0" rIns="0" bIns="0" rtlCol="0" anchor="t"/>
          <a:lstStyle/>
          <a:p>
            <a:pPr indent="0" marL="0">
              <a:buNone/>
            </a:pPr>
            <a:r>
              <a:rPr lang="en-US" sz="900" b="1" spc="100" kern="0" dirty="0">
                <a:solidFill>
                  <a:srgbClr val="F5A524"/>
                </a:solidFill>
                <a:latin typeface="Calibri" pitchFamily="34" charset="0"/>
                <a:ea typeface="Calibri" pitchFamily="34" charset="-122"/>
                <a:cs typeface="Calibri" pitchFamily="34" charset="-120"/>
              </a:rPr>
              <a:t>TENANT SETUP</a:t>
            </a:r>
            <a:endParaRPr lang="en-US" sz="900" dirty="0"/>
          </a:p>
        </p:txBody>
      </p:sp>
      <p:sp>
        <p:nvSpPr>
          <p:cNvPr id="13" name="Text 11"/>
          <p:cNvSpPr/>
          <p:nvPr/>
        </p:nvSpPr>
        <p:spPr>
          <a:xfrm>
            <a:off x="6940296" y="1408176"/>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4" name="Text 12"/>
          <p:cNvSpPr/>
          <p:nvPr/>
        </p:nvSpPr>
        <p:spPr>
          <a:xfrm>
            <a:off x="7086600" y="1408176"/>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Test 4 passing — triage has run on an alert</a:t>
            </a:r>
            <a:endParaRPr lang="en-US" sz="1000" dirty="0"/>
          </a:p>
        </p:txBody>
      </p:sp>
      <p:sp>
        <p:nvSpPr>
          <p:cNvPr id="15" name="Text 13"/>
          <p:cNvSpPr/>
          <p:nvPr/>
        </p:nvSpPr>
        <p:spPr>
          <a:xfrm>
            <a:off x="6940296" y="1632204"/>
            <a:ext cx="128016" cy="201168"/>
          </a:xfrm>
          <a:prstGeom prst="rect">
            <a:avLst/>
          </a:prstGeom>
          <a:noFill/>
          <a:ln/>
        </p:spPr>
        <p:txBody>
          <a:bodyPr wrap="square" lIns="0" tIns="0" rIns="0" bIns="0" rtlCol="0" anchor="t"/>
          <a:lstStyle/>
          <a:p>
            <a:pPr indent="0" marL="0">
              <a:buNone/>
            </a:pPr>
            <a:r>
              <a:rPr lang="en-US" sz="1000" b="1" dirty="0">
                <a:solidFill>
                  <a:srgbClr val="F5A524"/>
                </a:solidFill>
                <a:latin typeface="Calibri" pitchFamily="34" charset="0"/>
                <a:ea typeface="Calibri" pitchFamily="34" charset="-122"/>
                <a:cs typeface="Calibri" pitchFamily="34" charset="-120"/>
              </a:rPr>
              <a:t>•</a:t>
            </a:r>
            <a:endParaRPr lang="en-US" sz="1000" dirty="0"/>
          </a:p>
        </p:txBody>
      </p:sp>
      <p:sp>
        <p:nvSpPr>
          <p:cNvPr id="16" name="Text 14"/>
          <p:cNvSpPr/>
          <p:nvPr/>
        </p:nvSpPr>
        <p:spPr>
          <a:xfrm>
            <a:off x="7086600" y="1632204"/>
            <a:ext cx="4343400" cy="192024"/>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The incident type and layout installed with this pack</a:t>
            </a:r>
            <a:endParaRPr lang="en-US" sz="1000" dirty="0"/>
          </a:p>
        </p:txBody>
      </p:sp>
      <p:sp>
        <p:nvSpPr>
          <p:cNvPr id="17" name="Shape 15"/>
          <p:cNvSpPr/>
          <p:nvPr/>
        </p:nvSpPr>
        <p:spPr>
          <a:xfrm>
            <a:off x="548640" y="2446020"/>
            <a:ext cx="6400800" cy="2336292"/>
          </a:xfrm>
          <a:prstGeom prst="roundRect">
            <a:avLst>
              <a:gd name="adj" fmla="val 1957"/>
            </a:avLst>
          </a:prstGeom>
          <a:solidFill>
            <a:srgbClr val="15171B"/>
          </a:solidFill>
          <a:ln w="12700">
            <a:solidFill>
              <a:srgbClr val="15171B"/>
            </a:solidFill>
            <a:prstDash val="solid"/>
          </a:ln>
        </p:spPr>
      </p:sp>
      <p:sp>
        <p:nvSpPr>
          <p:cNvPr id="18" name="Text 16"/>
          <p:cNvSpPr/>
          <p:nvPr/>
        </p:nvSpPr>
        <p:spPr>
          <a:xfrm>
            <a:off x="859536" y="2628900"/>
            <a:ext cx="2743200" cy="256032"/>
          </a:xfrm>
          <a:prstGeom prst="rect">
            <a:avLst/>
          </a:prstGeom>
          <a:noFill/>
          <a:ln/>
        </p:spPr>
        <p:txBody>
          <a:bodyPr wrap="square" lIns="0" tIns="0" rIns="0" bIns="0" rtlCol="0" anchor="t"/>
          <a:lstStyle/>
          <a:p>
            <a:pPr indent="0" marL="0">
              <a:buNone/>
            </a:pPr>
            <a:r>
              <a:rPr lang="en-US" sz="1200" b="1" spc="100" kern="0" dirty="0">
                <a:solidFill>
                  <a:srgbClr val="E8551F"/>
                </a:solidFill>
                <a:latin typeface="Calibri" pitchFamily="34" charset="0"/>
                <a:ea typeface="Calibri" pitchFamily="34" charset="-122"/>
                <a:cs typeface="Calibri" pitchFamily="34" charset="-120"/>
              </a:rPr>
              <a:t>Steps</a:t>
            </a:r>
            <a:endParaRPr lang="en-US" sz="1200" dirty="0"/>
          </a:p>
        </p:txBody>
      </p:sp>
      <p:sp>
        <p:nvSpPr>
          <p:cNvPr id="19" name="Text 17"/>
          <p:cNvSpPr/>
          <p:nvPr/>
        </p:nvSpPr>
        <p:spPr>
          <a:xfrm>
            <a:off x="859536" y="2976372"/>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1</a:t>
            </a:r>
            <a:endParaRPr lang="en-US" sz="1150" dirty="0"/>
          </a:p>
        </p:txBody>
      </p:sp>
      <p:sp>
        <p:nvSpPr>
          <p:cNvPr id="20" name="Text 18"/>
          <p:cNvSpPr/>
          <p:nvPr/>
        </p:nvSpPr>
        <p:spPr>
          <a:xfrm>
            <a:off x="1152144" y="2976372"/>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Open an alert that triage has processed.</a:t>
            </a:r>
            <a:endParaRPr lang="en-US" sz="1150" dirty="0"/>
          </a:p>
        </p:txBody>
      </p:sp>
      <p:sp>
        <p:nvSpPr>
          <p:cNvPr id="21" name="Text 19"/>
          <p:cNvSpPr/>
          <p:nvPr/>
        </p:nvSpPr>
        <p:spPr>
          <a:xfrm>
            <a:off x="859536" y="3305556"/>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2</a:t>
            </a:r>
            <a:endParaRPr lang="en-US" sz="1150" dirty="0"/>
          </a:p>
        </p:txBody>
      </p:sp>
      <p:sp>
        <p:nvSpPr>
          <p:cNvPr id="22" name="Text 20"/>
          <p:cNvSpPr/>
          <p:nvPr/>
        </p:nvSpPr>
        <p:spPr>
          <a:xfrm>
            <a:off x="1152144" y="3305556"/>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Check its type is KOI Supply Chain Alert.</a:t>
            </a:r>
            <a:endParaRPr lang="en-US" sz="1150" dirty="0"/>
          </a:p>
        </p:txBody>
      </p:sp>
      <p:sp>
        <p:nvSpPr>
          <p:cNvPr id="23" name="Text 21"/>
          <p:cNvSpPr/>
          <p:nvPr/>
        </p:nvSpPr>
        <p:spPr>
          <a:xfrm>
            <a:off x="859536" y="3634740"/>
            <a:ext cx="219456" cy="256032"/>
          </a:xfrm>
          <a:prstGeom prst="rect">
            <a:avLst/>
          </a:prstGeom>
          <a:noFill/>
          <a:ln/>
        </p:spPr>
        <p:txBody>
          <a:bodyPr wrap="square" lIns="0" tIns="0" rIns="0" bIns="0" rtlCol="0" anchor="t"/>
          <a:lstStyle/>
          <a:p>
            <a:pPr indent="0" marL="0">
              <a:buNone/>
            </a:pPr>
            <a:r>
              <a:rPr lang="en-US" sz="1150" b="1" dirty="0">
                <a:solidFill>
                  <a:srgbClr val="E8551F"/>
                </a:solidFill>
                <a:latin typeface="Calibri" pitchFamily="34" charset="0"/>
                <a:ea typeface="Calibri" pitchFamily="34" charset="-122"/>
                <a:cs typeface="Calibri" pitchFamily="34" charset="-120"/>
              </a:rPr>
              <a:t>3</a:t>
            </a:r>
            <a:endParaRPr lang="en-US" sz="1150" dirty="0"/>
          </a:p>
        </p:txBody>
      </p:sp>
      <p:sp>
        <p:nvSpPr>
          <p:cNvPr id="24" name="Text 22"/>
          <p:cNvSpPr/>
          <p:nvPr/>
        </p:nvSpPr>
        <p:spPr>
          <a:xfrm>
            <a:off x="1152144" y="3634740"/>
            <a:ext cx="5486400" cy="246888"/>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Read the KOI Alert tab.</a:t>
            </a:r>
            <a:endParaRPr lang="en-US" sz="1150" dirty="0"/>
          </a:p>
        </p:txBody>
      </p:sp>
      <p:sp>
        <p:nvSpPr>
          <p:cNvPr id="25" name="Shape 23"/>
          <p:cNvSpPr/>
          <p:nvPr/>
        </p:nvSpPr>
        <p:spPr>
          <a:xfrm>
            <a:off x="7315200" y="2446020"/>
            <a:ext cx="4297680" cy="2336292"/>
          </a:xfrm>
          <a:prstGeom prst="roundRect">
            <a:avLst>
              <a:gd name="adj" fmla="val 1957"/>
            </a:avLst>
          </a:prstGeom>
          <a:solidFill>
            <a:srgbClr val="1C2026"/>
          </a:solidFill>
          <a:ln w="12700">
            <a:solidFill>
              <a:srgbClr val="1C2026"/>
            </a:solidFill>
            <a:prstDash val="solid"/>
          </a:ln>
        </p:spPr>
      </p:sp>
      <p:sp>
        <p:nvSpPr>
          <p:cNvPr id="26" name="Text 24"/>
          <p:cNvSpPr/>
          <p:nvPr/>
        </p:nvSpPr>
        <p:spPr>
          <a:xfrm>
            <a:off x="7626096" y="2628900"/>
            <a:ext cx="3108960" cy="256032"/>
          </a:xfrm>
          <a:prstGeom prst="rect">
            <a:avLst/>
          </a:prstGeom>
          <a:noFill/>
          <a:ln/>
        </p:spPr>
        <p:txBody>
          <a:bodyPr wrap="square" lIns="0" tIns="0" rIns="0" bIns="0" rtlCol="0" anchor="t"/>
          <a:lstStyle/>
          <a:p>
            <a:pPr indent="0" marL="0">
              <a:buNone/>
            </a:pPr>
            <a:r>
              <a:rPr lang="en-US" sz="1200" b="1" spc="100" kern="0" dirty="0">
                <a:solidFill>
                  <a:srgbClr val="3FB950"/>
                </a:solidFill>
                <a:latin typeface="Calibri" pitchFamily="34" charset="0"/>
                <a:ea typeface="Calibri" pitchFamily="34" charset="-122"/>
                <a:cs typeface="Calibri" pitchFamily="34" charset="-120"/>
              </a:rPr>
              <a:t>What to expect</a:t>
            </a:r>
            <a:endParaRPr lang="en-US" sz="1200" dirty="0"/>
          </a:p>
        </p:txBody>
      </p:sp>
      <p:sp>
        <p:nvSpPr>
          <p:cNvPr id="27" name="Text 25"/>
          <p:cNvSpPr/>
          <p:nvPr/>
        </p:nvSpPr>
        <p:spPr>
          <a:xfrm>
            <a:off x="7626096" y="2976372"/>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28" name="Text 26"/>
          <p:cNvSpPr/>
          <p:nvPr/>
        </p:nvSpPr>
        <p:spPr>
          <a:xfrm>
            <a:off x="7918704" y="2976372"/>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19 KOI fields are populated on the alert itself.</a:t>
            </a:r>
            <a:endParaRPr lang="en-US" sz="1150" dirty="0"/>
          </a:p>
        </p:txBody>
      </p:sp>
      <p:sp>
        <p:nvSpPr>
          <p:cNvPr id="29" name="Text 27"/>
          <p:cNvSpPr/>
          <p:nvPr/>
        </p:nvSpPr>
        <p:spPr>
          <a:xfrm>
            <a:off x="7626096" y="3493008"/>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0" name="Text 28"/>
          <p:cNvSpPr/>
          <p:nvPr/>
        </p:nvSpPr>
        <p:spPr>
          <a:xfrm>
            <a:off x="7918704" y="3493008"/>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They are grouped: item, risk and verdict, affected host, governance, summary.</a:t>
            </a:r>
            <a:endParaRPr lang="en-US" sz="1150" dirty="0"/>
          </a:p>
        </p:txBody>
      </p:sp>
      <p:sp>
        <p:nvSpPr>
          <p:cNvPr id="31" name="Text 29"/>
          <p:cNvSpPr/>
          <p:nvPr/>
        </p:nvSpPr>
        <p:spPr>
          <a:xfrm>
            <a:off x="7626096" y="4009644"/>
            <a:ext cx="219456" cy="256032"/>
          </a:xfrm>
          <a:prstGeom prst="rect">
            <a:avLst/>
          </a:prstGeom>
          <a:noFill/>
          <a:ln/>
        </p:spPr>
        <p:txBody>
          <a:bodyPr wrap="square" lIns="0" tIns="0" rIns="0" bIns="0" rtlCol="0" anchor="t"/>
          <a:lstStyle/>
          <a:p>
            <a:pPr indent="0" marL="0">
              <a:buNone/>
            </a:pPr>
            <a:r>
              <a:rPr lang="en-US" sz="1150" b="1" dirty="0">
                <a:solidFill>
                  <a:srgbClr val="3FB950"/>
                </a:solidFill>
                <a:latin typeface="Calibri" pitchFamily="34" charset="0"/>
                <a:ea typeface="Calibri" pitchFamily="34" charset="-122"/>
                <a:cs typeface="Calibri" pitchFamily="34" charset="-120"/>
              </a:rPr>
              <a:t>✓</a:t>
            </a:r>
            <a:endParaRPr lang="en-US" sz="1150" dirty="0"/>
          </a:p>
        </p:txBody>
      </p:sp>
      <p:sp>
        <p:nvSpPr>
          <p:cNvPr id="32" name="Text 30"/>
          <p:cNvSpPr/>
          <p:nvPr/>
        </p:nvSpPr>
        <p:spPr>
          <a:xfrm>
            <a:off x="7918704" y="4009644"/>
            <a:ext cx="3383280" cy="438912"/>
          </a:xfrm>
          <a:prstGeom prst="rect">
            <a:avLst/>
          </a:prstGeom>
          <a:noFill/>
          <a:ln/>
        </p:spPr>
        <p:txBody>
          <a:bodyPr wrap="square" lIns="0" tIns="0" rIns="0" bIns="0" rtlCol="0" anchor="t"/>
          <a:lstStyle/>
          <a:p>
            <a:pPr indent="0" marL="0">
              <a:lnSpc>
                <a:spcPts val="1500"/>
              </a:lnSpc>
              <a:buNone/>
            </a:pPr>
            <a:r>
              <a:rPr lang="en-US" sz="1150" dirty="0">
                <a:solidFill>
                  <a:srgbClr val="B4B7BD"/>
                </a:solidFill>
                <a:latin typeface="Calibri" pitchFamily="34" charset="0"/>
                <a:ea typeface="Calibri" pitchFamily="34" charset="-122"/>
                <a:cs typeface="Calibri" pitchFamily="34" charset="-120"/>
              </a:rPr>
              <a:t>An analyst sees the picture without opening the War Room.</a:t>
            </a:r>
            <a:endParaRPr lang="en-US" sz="1150" dirty="0"/>
          </a:p>
        </p:txBody>
      </p:sp>
      <p:sp>
        <p:nvSpPr>
          <p:cNvPr id="33" name="Shape 31"/>
          <p:cNvSpPr/>
          <p:nvPr/>
        </p:nvSpPr>
        <p:spPr>
          <a:xfrm>
            <a:off x="548640" y="4910328"/>
            <a:ext cx="11064240" cy="658368"/>
          </a:xfrm>
          <a:prstGeom prst="roundRect">
            <a:avLst>
              <a:gd name="adj" fmla="val 6944"/>
            </a:avLst>
          </a:prstGeom>
          <a:solidFill>
            <a:srgbClr val="1C2026"/>
          </a:solidFill>
          <a:ln w="12700">
            <a:solidFill>
              <a:srgbClr val="1C2026"/>
            </a:solidFill>
            <a:prstDash val="solid"/>
          </a:ln>
        </p:spPr>
      </p:sp>
      <p:sp>
        <p:nvSpPr>
          <p:cNvPr id="34" name="Shape 32"/>
          <p:cNvSpPr/>
          <p:nvPr/>
        </p:nvSpPr>
        <p:spPr>
          <a:xfrm>
            <a:off x="786384" y="5093208"/>
            <a:ext cx="292608" cy="292608"/>
          </a:xfrm>
          <a:prstGeom prst="roundRect">
            <a:avLst>
              <a:gd name="adj" fmla="val 28125"/>
            </a:avLst>
          </a:prstGeom>
          <a:solidFill>
            <a:srgbClr val="F5A524"/>
          </a:solidFill>
          <a:ln w="12700">
            <a:solidFill>
              <a:srgbClr val="F5A524"/>
            </a:solidFill>
            <a:prstDash val="solid"/>
          </a:ln>
        </p:spPr>
      </p:sp>
      <p:sp>
        <p:nvSpPr>
          <p:cNvPr id="35" name="Text 33"/>
          <p:cNvSpPr/>
          <p:nvPr/>
        </p:nvSpPr>
        <p:spPr>
          <a:xfrm>
            <a:off x="786384" y="5093208"/>
            <a:ext cx="292608"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6" name="Text 34"/>
          <p:cNvSpPr/>
          <p:nvPr/>
        </p:nvSpPr>
        <p:spPr>
          <a:xfrm>
            <a:off x="1243584" y="5020056"/>
            <a:ext cx="10058400" cy="438912"/>
          </a:xfrm>
          <a:prstGeom prst="rect">
            <a:avLst/>
          </a:prstGeom>
          <a:noFill/>
          <a:ln/>
        </p:spPr>
        <p:txBody>
          <a:bodyPr wrap="square" lIns="0" tIns="0" rIns="0" bIns="0" rtlCol="0" anchor="t"/>
          <a:lstStyle/>
          <a:p>
            <a:pPr indent="0" marL="0">
              <a:lnSpc>
                <a:spcPts val="1200"/>
              </a:lnSpc>
              <a:buNone/>
            </a:pPr>
            <a:r>
              <a:rPr lang="en-US" sz="1000" dirty="0">
                <a:solidFill>
                  <a:srgbClr val="B4B7BD"/>
                </a:solidFill>
                <a:latin typeface="Calibri" pitchFamily="34" charset="0"/>
                <a:ea typeface="Calibri" pitchFamily="34" charset="-122"/>
                <a:cs typeface="Calibri" pitchFamily="34" charset="-120"/>
              </a:rPr>
              <a:t>This is what the extension adds over the Marketplace pack alone. If fields are empty, triage has not run on that alert yet — it is triage that writes them.</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IF SOMETHING FAILS</a:t>
            </a:r>
            <a:endParaRPr lang="en-US" sz="1100" dirty="0"/>
          </a:p>
        </p:txBody>
      </p:sp>
      <p:sp>
        <p:nvSpPr>
          <p:cNvPr id="3" name="Text 1"/>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Check the prerequisite before the product</a:t>
            </a:r>
            <a:endParaRPr lang="en-US" sz="3100" dirty="0"/>
          </a:p>
        </p:txBody>
      </p:sp>
      <p:sp>
        <p:nvSpPr>
          <p:cNvPr id="4" name="Shape 2"/>
          <p:cNvSpPr/>
          <p:nvPr/>
        </p:nvSpPr>
        <p:spPr>
          <a:xfrm>
            <a:off x="548640" y="1371600"/>
            <a:ext cx="11064240" cy="457200"/>
          </a:xfrm>
          <a:prstGeom prst="roundRect">
            <a:avLst>
              <a:gd name="adj" fmla="val 10000"/>
            </a:avLst>
          </a:prstGeom>
          <a:solidFill>
            <a:srgbClr val="15171B"/>
          </a:solidFill>
          <a:ln w="12700">
            <a:solidFill>
              <a:srgbClr val="15171B"/>
            </a:solidFill>
            <a:prstDash val="solid"/>
          </a:ln>
        </p:spPr>
      </p:sp>
      <p:sp>
        <p:nvSpPr>
          <p:cNvPr id="5" name="Text 3"/>
          <p:cNvSpPr/>
          <p:nvPr/>
        </p:nvSpPr>
        <p:spPr>
          <a:xfrm>
            <a:off x="822960" y="1499616"/>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Integration not offered</a:t>
            </a:r>
            <a:endParaRPr lang="en-US" sz="1100" dirty="0"/>
          </a:p>
        </p:txBody>
      </p:sp>
      <p:sp>
        <p:nvSpPr>
          <p:cNvPr id="6" name="Text 4"/>
          <p:cNvSpPr/>
          <p:nvPr/>
        </p:nvSpPr>
        <p:spPr>
          <a:xfrm>
            <a:off x="4023360" y="1508760"/>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Marketplace KOI pack not installed</a:t>
            </a:r>
            <a:endParaRPr lang="en-US" sz="1000" dirty="0"/>
          </a:p>
        </p:txBody>
      </p:sp>
      <p:sp>
        <p:nvSpPr>
          <p:cNvPr id="7" name="Text 5"/>
          <p:cNvSpPr/>
          <p:nvPr/>
        </p:nvSpPr>
        <p:spPr>
          <a:xfrm>
            <a:off x="7315200" y="1508760"/>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Install it first — this extension ships no integration</a:t>
            </a:r>
            <a:endParaRPr lang="en-US" sz="1000" dirty="0"/>
          </a:p>
        </p:txBody>
      </p:sp>
      <p:sp>
        <p:nvSpPr>
          <p:cNvPr id="8" name="Shape 6"/>
          <p:cNvSpPr/>
          <p:nvPr/>
        </p:nvSpPr>
        <p:spPr>
          <a:xfrm>
            <a:off x="548640" y="1929384"/>
            <a:ext cx="11064240" cy="457200"/>
          </a:xfrm>
          <a:prstGeom prst="roundRect">
            <a:avLst>
              <a:gd name="adj" fmla="val 10000"/>
            </a:avLst>
          </a:prstGeom>
          <a:solidFill>
            <a:srgbClr val="15171B"/>
          </a:solidFill>
          <a:ln w="12700">
            <a:solidFill>
              <a:srgbClr val="15171B"/>
            </a:solidFill>
            <a:prstDash val="solid"/>
          </a:ln>
        </p:spPr>
      </p:sp>
      <p:sp>
        <p:nvSpPr>
          <p:cNvPr id="9" name="Text 7"/>
          <p:cNvSpPr/>
          <p:nvPr/>
        </p:nvSpPr>
        <p:spPr>
          <a:xfrm>
            <a:off x="822960" y="2057400"/>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403 on KOI commands</a:t>
            </a:r>
            <a:endParaRPr lang="en-US" sz="1100" dirty="0"/>
          </a:p>
        </p:txBody>
      </p:sp>
      <p:sp>
        <p:nvSpPr>
          <p:cNvPr id="10" name="Text 8"/>
          <p:cNvSpPr/>
          <p:nvPr/>
        </p:nvSpPr>
        <p:spPr>
          <a:xfrm>
            <a:off x="4023360" y="2066544"/>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Source IP not accepted by KOI</a:t>
            </a:r>
            <a:endParaRPr lang="en-US" sz="1000" dirty="0"/>
          </a:p>
        </p:txBody>
      </p:sp>
      <p:sp>
        <p:nvSpPr>
          <p:cNvPr id="11" name="Text 9"/>
          <p:cNvSpPr/>
          <p:nvPr/>
        </p:nvSpPr>
        <p:spPr>
          <a:xfrm>
            <a:off x="7315200" y="2066544"/>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Run the instance on a Cortex engine KOI accepts</a:t>
            </a:r>
            <a:endParaRPr lang="en-US" sz="1000" dirty="0"/>
          </a:p>
        </p:txBody>
      </p:sp>
      <p:sp>
        <p:nvSpPr>
          <p:cNvPr id="12" name="Shape 10"/>
          <p:cNvSpPr/>
          <p:nvPr/>
        </p:nvSpPr>
        <p:spPr>
          <a:xfrm>
            <a:off x="548640" y="2487168"/>
            <a:ext cx="11064240" cy="457200"/>
          </a:xfrm>
          <a:prstGeom prst="roundRect">
            <a:avLst>
              <a:gd name="adj" fmla="val 10000"/>
            </a:avLst>
          </a:prstGeom>
          <a:solidFill>
            <a:srgbClr val="15171B"/>
          </a:solidFill>
          <a:ln w="12700">
            <a:solidFill>
              <a:srgbClr val="15171B"/>
            </a:solidFill>
            <a:prstDash val="solid"/>
          </a:ln>
        </p:spPr>
      </p:sp>
      <p:sp>
        <p:nvSpPr>
          <p:cNvPr id="13" name="Text 11"/>
          <p:cNvSpPr/>
          <p:nvPr/>
        </p:nvSpPr>
        <p:spPr>
          <a:xfrm>
            <a:off x="822960" y="2615184"/>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Promoted fields missing</a:t>
            </a:r>
            <a:endParaRPr lang="en-US" sz="1100" dirty="0"/>
          </a:p>
        </p:txBody>
      </p:sp>
      <p:sp>
        <p:nvSpPr>
          <p:cNvPr id="14" name="Text 12"/>
          <p:cNvSpPr/>
          <p:nvPr/>
        </p:nvSpPr>
        <p:spPr>
          <a:xfrm>
            <a:off x="4023360" y="2624328"/>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This extension not installed or not active</a:t>
            </a:r>
            <a:endParaRPr lang="en-US" sz="1000" dirty="0"/>
          </a:p>
        </p:txBody>
      </p:sp>
      <p:sp>
        <p:nvSpPr>
          <p:cNvPr id="15" name="Text 13"/>
          <p:cNvSpPr/>
          <p:nvPr/>
        </p:nvSpPr>
        <p:spPr>
          <a:xfrm>
            <a:off x="7315200" y="2624328"/>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Re-check the pack installed and events arrived after it</a:t>
            </a:r>
            <a:endParaRPr lang="en-US" sz="1000" dirty="0"/>
          </a:p>
        </p:txBody>
      </p:sp>
      <p:sp>
        <p:nvSpPr>
          <p:cNvPr id="16" name="Shape 14"/>
          <p:cNvSpPr/>
          <p:nvPr/>
        </p:nvSpPr>
        <p:spPr>
          <a:xfrm>
            <a:off x="548640" y="3044952"/>
            <a:ext cx="11064240" cy="457200"/>
          </a:xfrm>
          <a:prstGeom prst="roundRect">
            <a:avLst>
              <a:gd name="adj" fmla="val 10000"/>
            </a:avLst>
          </a:prstGeom>
          <a:solidFill>
            <a:srgbClr val="15171B"/>
          </a:solidFill>
          <a:ln w="12700">
            <a:solidFill>
              <a:srgbClr val="15171B"/>
            </a:solidFill>
            <a:prstDash val="solid"/>
          </a:ln>
        </p:spPr>
      </p:sp>
      <p:sp>
        <p:nvSpPr>
          <p:cNvPr id="17" name="Text 15"/>
          <p:cNvSpPr/>
          <p:nvPr/>
        </p:nvSpPr>
        <p:spPr>
          <a:xfrm>
            <a:off x="822960" y="3172968"/>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Everything triages Suspicious</a:t>
            </a:r>
            <a:endParaRPr lang="en-US" sz="1100" dirty="0"/>
          </a:p>
        </p:txBody>
      </p:sp>
      <p:sp>
        <p:nvSpPr>
          <p:cNvPr id="18" name="Text 16"/>
          <p:cNvSpPr/>
          <p:nvPr/>
        </p:nvSpPr>
        <p:spPr>
          <a:xfrm>
            <a:off x="4023360" y="3182112"/>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The alert carried no KOI detail</a:t>
            </a:r>
            <a:endParaRPr lang="en-US" sz="1000" dirty="0"/>
          </a:p>
        </p:txBody>
      </p:sp>
      <p:sp>
        <p:nvSpPr>
          <p:cNvPr id="19" name="Text 17"/>
          <p:cNvSpPr/>
          <p:nvPr/>
        </p:nvSpPr>
        <p:spPr>
          <a:xfrm>
            <a:off x="7315200" y="3182112"/>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Check the correlation rule passes KOI fields through</a:t>
            </a:r>
            <a:endParaRPr lang="en-US" sz="1000" dirty="0"/>
          </a:p>
        </p:txBody>
      </p:sp>
      <p:sp>
        <p:nvSpPr>
          <p:cNvPr id="20" name="Shape 18"/>
          <p:cNvSpPr/>
          <p:nvPr/>
        </p:nvSpPr>
        <p:spPr>
          <a:xfrm>
            <a:off x="548640" y="3602736"/>
            <a:ext cx="11064240" cy="457200"/>
          </a:xfrm>
          <a:prstGeom prst="roundRect">
            <a:avLst>
              <a:gd name="adj" fmla="val 10000"/>
            </a:avLst>
          </a:prstGeom>
          <a:solidFill>
            <a:srgbClr val="15171B"/>
          </a:solidFill>
          <a:ln w="12700">
            <a:solidFill>
              <a:srgbClr val="15171B"/>
            </a:solidFill>
            <a:prstDash val="solid"/>
          </a:ln>
        </p:spPr>
      </p:sp>
      <p:sp>
        <p:nvSpPr>
          <p:cNvPr id="21" name="Text 19"/>
          <p:cNvSpPr/>
          <p:nvPr/>
        </p:nvSpPr>
        <p:spPr>
          <a:xfrm>
            <a:off x="822960" y="3730752"/>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Alert fields empty</a:t>
            </a:r>
            <a:endParaRPr lang="en-US" sz="1100" dirty="0"/>
          </a:p>
        </p:txBody>
      </p:sp>
      <p:sp>
        <p:nvSpPr>
          <p:cNvPr id="22" name="Text 20"/>
          <p:cNvSpPr/>
          <p:nvPr/>
        </p:nvSpPr>
        <p:spPr>
          <a:xfrm>
            <a:off x="4023360" y="3739896"/>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Triage has not run on that alert</a:t>
            </a:r>
            <a:endParaRPr lang="en-US" sz="1000" dirty="0"/>
          </a:p>
        </p:txBody>
      </p:sp>
      <p:sp>
        <p:nvSpPr>
          <p:cNvPr id="23" name="Text 21"/>
          <p:cNvSpPr/>
          <p:nvPr/>
        </p:nvSpPr>
        <p:spPr>
          <a:xfrm>
            <a:off x="7315200" y="3739896"/>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Triage writes them — run it first</a:t>
            </a:r>
            <a:endParaRPr lang="en-US" sz="1000" dirty="0"/>
          </a:p>
        </p:txBody>
      </p:sp>
      <p:sp>
        <p:nvSpPr>
          <p:cNvPr id="24" name="Shape 22"/>
          <p:cNvSpPr/>
          <p:nvPr/>
        </p:nvSpPr>
        <p:spPr>
          <a:xfrm>
            <a:off x="548640" y="4160520"/>
            <a:ext cx="11064240" cy="457200"/>
          </a:xfrm>
          <a:prstGeom prst="roundRect">
            <a:avLst>
              <a:gd name="adj" fmla="val 10000"/>
            </a:avLst>
          </a:prstGeom>
          <a:solidFill>
            <a:srgbClr val="15171B"/>
          </a:solidFill>
          <a:ln w="12700">
            <a:solidFill>
              <a:srgbClr val="15171B"/>
            </a:solidFill>
            <a:prstDash val="solid"/>
          </a:ln>
        </p:spPr>
      </p:sp>
      <p:sp>
        <p:nvSpPr>
          <p:cNvPr id="25" name="Text 23"/>
          <p:cNvSpPr/>
          <p:nvPr/>
        </p:nvSpPr>
        <p:spPr>
          <a:xfrm>
            <a:off x="822960" y="4288536"/>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Hunt sweep skips immediately</a:t>
            </a:r>
            <a:endParaRPr lang="en-US" sz="1100" dirty="0"/>
          </a:p>
        </p:txBody>
      </p:sp>
      <p:sp>
        <p:nvSpPr>
          <p:cNvPr id="26" name="Text 24"/>
          <p:cNvSpPr/>
          <p:nvPr/>
        </p:nvSpPr>
        <p:spPr>
          <a:xfrm>
            <a:off x="4023360" y="4297680"/>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The XQL engine did not answer</a:t>
            </a:r>
            <a:endParaRPr lang="en-US" sz="1000" dirty="0"/>
          </a:p>
        </p:txBody>
      </p:sp>
      <p:sp>
        <p:nvSpPr>
          <p:cNvPr id="27" name="Text 25"/>
          <p:cNvSpPr/>
          <p:nvPr/>
        </p:nvSpPr>
        <p:spPr>
          <a:xfrm>
            <a:off x="7315200" y="4297680"/>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Re-run. XSIAM provisions the engine, so this should not persist</a:t>
            </a:r>
            <a:endParaRPr lang="en-US" sz="1000" dirty="0"/>
          </a:p>
        </p:txBody>
      </p:sp>
      <p:sp>
        <p:nvSpPr>
          <p:cNvPr id="28" name="Shape 26"/>
          <p:cNvSpPr/>
          <p:nvPr/>
        </p:nvSpPr>
        <p:spPr>
          <a:xfrm>
            <a:off x="548640" y="4718304"/>
            <a:ext cx="11064240" cy="457200"/>
          </a:xfrm>
          <a:prstGeom prst="roundRect">
            <a:avLst>
              <a:gd name="adj" fmla="val 10000"/>
            </a:avLst>
          </a:prstGeom>
          <a:solidFill>
            <a:srgbClr val="15171B"/>
          </a:solidFill>
          <a:ln w="12700">
            <a:solidFill>
              <a:srgbClr val="15171B"/>
            </a:solidFill>
            <a:prstDash val="solid"/>
          </a:ln>
        </p:spPr>
      </p:sp>
      <p:sp>
        <p:nvSpPr>
          <p:cNvPr id="29" name="Text 27"/>
          <p:cNvSpPr/>
          <p:nvPr/>
        </p:nvSpPr>
        <p:spPr>
          <a:xfrm>
            <a:off x="822960" y="4846320"/>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Tracker List stays empty</a:t>
            </a:r>
            <a:endParaRPr lang="en-US" sz="1100" dirty="0"/>
          </a:p>
        </p:txBody>
      </p:sp>
      <p:sp>
        <p:nvSpPr>
          <p:cNvPr id="30" name="Text 28"/>
          <p:cNvSpPr/>
          <p:nvPr/>
        </p:nvSpPr>
        <p:spPr>
          <a:xfrm>
            <a:off x="4023360" y="4855464"/>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No Core REST API instance</a:t>
            </a:r>
            <a:endParaRPr lang="en-US" sz="1000" dirty="0"/>
          </a:p>
        </p:txBody>
      </p:sp>
      <p:sp>
        <p:nvSpPr>
          <p:cNvPr id="31" name="Text 29"/>
          <p:cNvSpPr/>
          <p:nvPr/>
        </p:nvSpPr>
        <p:spPr>
          <a:xfrm>
            <a:off x="7315200" y="4855464"/>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Configure it — Test 8 cannot pass without it</a:t>
            </a:r>
            <a:endParaRPr lang="en-US" sz="1000" dirty="0"/>
          </a:p>
        </p:txBody>
      </p:sp>
      <p:sp>
        <p:nvSpPr>
          <p:cNvPr id="32" name="Shape 30"/>
          <p:cNvSpPr/>
          <p:nvPr/>
        </p:nvSpPr>
        <p:spPr>
          <a:xfrm>
            <a:off x="548640" y="5276088"/>
            <a:ext cx="11064240" cy="457200"/>
          </a:xfrm>
          <a:prstGeom prst="roundRect">
            <a:avLst>
              <a:gd name="adj" fmla="val 10000"/>
            </a:avLst>
          </a:prstGeom>
          <a:solidFill>
            <a:srgbClr val="15171B"/>
          </a:solidFill>
          <a:ln w="12700">
            <a:solidFill>
              <a:srgbClr val="15171B"/>
            </a:solidFill>
            <a:prstDash val="solid"/>
          </a:ln>
        </p:spPr>
      </p:sp>
      <p:sp>
        <p:nvSpPr>
          <p:cNvPr id="33" name="Text 31"/>
          <p:cNvSpPr/>
          <p:nvPr/>
        </p:nvSpPr>
        <p:spPr>
          <a:xfrm>
            <a:off x="822960" y="5404104"/>
            <a:ext cx="3017520" cy="237744"/>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A Job never fires</a:t>
            </a:r>
            <a:endParaRPr lang="en-US" sz="1100" dirty="0"/>
          </a:p>
        </p:txBody>
      </p:sp>
      <p:sp>
        <p:nvSpPr>
          <p:cNvPr id="34" name="Text 32"/>
          <p:cNvSpPr/>
          <p:nvPr/>
        </p:nvSpPr>
        <p:spPr>
          <a:xfrm>
            <a:off x="4023360" y="5413248"/>
            <a:ext cx="3108960" cy="237744"/>
          </a:xfrm>
          <a:prstGeom prst="rect">
            <a:avLst/>
          </a:prstGeom>
          <a:noFill/>
          <a:ln/>
        </p:spPr>
        <p:txBody>
          <a:bodyPr wrap="square" lIns="0" tIns="0" rIns="0" bIns="0" rtlCol="0" anchor="t"/>
          <a:lstStyle/>
          <a:p>
            <a:pPr indent="0" marL="0">
              <a:buNone/>
            </a:pPr>
            <a:r>
              <a:rPr lang="en-US" sz="1000" dirty="0">
                <a:solidFill>
                  <a:srgbClr val="F5A524"/>
                </a:solidFill>
                <a:latin typeface="Calibri" pitchFamily="34" charset="0"/>
                <a:ea typeface="Calibri" pitchFamily="34" charset="-122"/>
                <a:cs typeface="Calibri" pitchFamily="34" charset="-120"/>
              </a:rPr>
              <a:t>It was created disabled</a:t>
            </a:r>
            <a:endParaRPr lang="en-US" sz="1000" dirty="0"/>
          </a:p>
        </p:txBody>
      </p:sp>
      <p:sp>
        <p:nvSpPr>
          <p:cNvPr id="35" name="Text 33"/>
          <p:cNvSpPr/>
          <p:nvPr/>
        </p:nvSpPr>
        <p:spPr>
          <a:xfrm>
            <a:off x="7315200" y="5413248"/>
            <a:ext cx="4023360" cy="237744"/>
          </a:xfrm>
          <a:prstGeom prst="rect">
            <a:avLst/>
          </a:prstGeom>
          <a:noFill/>
          <a:ln/>
        </p:spPr>
        <p:txBody>
          <a:bodyPr wrap="square" lIns="0" tIns="0" rIns="0" bIns="0" rtlCol="0" anchor="t"/>
          <a:lstStyle/>
          <a:p>
            <a:pPr indent="0" marL="0">
              <a:buNone/>
            </a:pPr>
            <a:r>
              <a:rPr lang="en-US" sz="1000" dirty="0">
                <a:solidFill>
                  <a:srgbClr val="B4B7BD"/>
                </a:solidFill>
                <a:latin typeface="Calibri" pitchFamily="34" charset="0"/>
                <a:ea typeface="Calibri" pitchFamily="34" charset="-122"/>
                <a:cs typeface="Calibri" pitchFamily="34" charset="-120"/>
              </a:rPr>
              <a:t>Enable it and confirm a next-run time is shown</a:t>
            </a:r>
            <a:endParaRPr lang="en-US" sz="1000" dirty="0"/>
          </a:p>
        </p:txBody>
      </p:sp>
      <p:sp>
        <p:nvSpPr>
          <p:cNvPr id="36" name="Text 34"/>
          <p:cNvSpPr/>
          <p:nvPr/>
        </p:nvSpPr>
        <p:spPr>
          <a:xfrm>
            <a:off x="548640" y="5925312"/>
            <a:ext cx="11064240" cy="274320"/>
          </a:xfrm>
          <a:prstGeom prst="rect">
            <a:avLst/>
          </a:prstGeom>
          <a:noFill/>
          <a:ln/>
        </p:spPr>
        <p:txBody>
          <a:bodyPr wrap="square" lIns="0" tIns="0" rIns="0" bIns="0" rtlCol="0" anchor="t"/>
          <a:lstStyle/>
          <a:p>
            <a:pPr indent="0" marL="0">
              <a:buNone/>
            </a:pPr>
            <a:r>
              <a:rPr lang="en-US" sz="1050" i="1" dirty="0">
                <a:solidFill>
                  <a:srgbClr val="6E747E"/>
                </a:solidFill>
                <a:latin typeface="Calibri" pitchFamily="34" charset="0"/>
                <a:ea typeface="Calibri" pitchFamily="34" charset="-122"/>
                <a:cs typeface="Calibri" pitchFamily="34" charset="-120"/>
              </a:rPr>
              <a:t>Seven of these eight are tenant setup, not the pack. Check the amber panel on the test before raising a defect.</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10424160" y="-3108960"/>
            <a:ext cx="4389120" cy="4389120"/>
          </a:xfrm>
          <a:prstGeom prst="ellipse">
            <a:avLst/>
          </a:prstGeom>
          <a:solidFill>
            <a:srgbClr val="3FB950">
              <a:alpha val="7000"/>
            </a:srgbClr>
          </a:solidFill>
          <a:ln w="12700">
            <a:solidFill>
              <a:srgbClr val="3FB950"/>
            </a:solidFill>
            <a:prstDash val="solid"/>
          </a:ln>
        </p:spPr>
      </p:sp>
      <p:sp>
        <p:nvSpPr>
          <p:cNvPr id="3" name="Text 1"/>
          <p:cNvSpPr/>
          <p:nvPr/>
        </p:nvSpPr>
        <p:spPr>
          <a:xfrm>
            <a:off x="548640" y="384048"/>
            <a:ext cx="11064240" cy="237744"/>
          </a:xfrm>
          <a:prstGeom prst="rect">
            <a:avLst/>
          </a:prstGeom>
          <a:noFill/>
          <a:ln/>
        </p:spPr>
        <p:txBody>
          <a:bodyPr wrap="square" lIns="0" tIns="0" rIns="0" bIns="0" rtlCol="0" anchor="t"/>
          <a:lstStyle/>
          <a:p>
            <a:pPr indent="0" marL="0">
              <a:buNone/>
            </a:pPr>
            <a:r>
              <a:rPr lang="en-US" sz="1100" b="1" spc="200" kern="0" dirty="0">
                <a:solidFill>
                  <a:srgbClr val="E8551F"/>
                </a:solidFill>
                <a:latin typeface="Calibri" pitchFamily="34" charset="0"/>
                <a:ea typeface="Calibri" pitchFamily="34" charset="-122"/>
                <a:cs typeface="Calibri" pitchFamily="34" charset="-120"/>
              </a:rPr>
              <a:t>SIGN-OFF</a:t>
            </a:r>
            <a:endParaRPr lang="en-US" sz="1100" dirty="0"/>
          </a:p>
        </p:txBody>
      </p:sp>
      <p:sp>
        <p:nvSpPr>
          <p:cNvPr id="4" name="Text 2"/>
          <p:cNvSpPr/>
          <p:nvPr/>
        </p:nvSpPr>
        <p:spPr>
          <a:xfrm>
            <a:off x="548640" y="640080"/>
            <a:ext cx="11064240" cy="640080"/>
          </a:xfrm>
          <a:prstGeom prst="rect">
            <a:avLst/>
          </a:prstGeom>
          <a:noFill/>
          <a:ln/>
        </p:spPr>
        <p:txBody>
          <a:bodyPr wrap="square" lIns="0" tIns="0" rIns="0" bIns="0" rtlCol="0" anchor="t"/>
          <a:lstStyle/>
          <a:p>
            <a:pPr indent="0" marL="0">
              <a:buNone/>
            </a:pPr>
            <a:r>
              <a:rPr lang="en-US" sz="3100" b="1" dirty="0">
                <a:solidFill>
                  <a:srgbClr val="FFFFFF"/>
                </a:solidFill>
                <a:latin typeface="Calibri" pitchFamily="34" charset="0"/>
                <a:ea typeface="Calibri" pitchFamily="34" charset="-122"/>
                <a:cs typeface="Calibri" pitchFamily="34" charset="-120"/>
              </a:rPr>
              <a:t>One line of evidence per test</a:t>
            </a:r>
            <a:endParaRPr lang="en-US" sz="3100" dirty="0"/>
          </a:p>
        </p:txBody>
      </p:sp>
      <p:sp>
        <p:nvSpPr>
          <p:cNvPr id="5" name="Shape 3"/>
          <p:cNvSpPr/>
          <p:nvPr/>
        </p:nvSpPr>
        <p:spPr>
          <a:xfrm>
            <a:off x="548640" y="1463040"/>
            <a:ext cx="5349240" cy="603504"/>
          </a:xfrm>
          <a:prstGeom prst="roundRect">
            <a:avLst>
              <a:gd name="adj" fmla="val 7576"/>
            </a:avLst>
          </a:prstGeom>
          <a:solidFill>
            <a:srgbClr val="15171B"/>
          </a:solidFill>
          <a:ln w="12700">
            <a:solidFill>
              <a:srgbClr val="15171B"/>
            </a:solidFill>
            <a:prstDash val="solid"/>
          </a:ln>
        </p:spPr>
      </p:sp>
      <p:sp>
        <p:nvSpPr>
          <p:cNvPr id="6" name="Shape 4"/>
          <p:cNvSpPr/>
          <p:nvPr/>
        </p:nvSpPr>
        <p:spPr>
          <a:xfrm>
            <a:off x="749808" y="1609344"/>
            <a:ext cx="310896" cy="310896"/>
          </a:xfrm>
          <a:prstGeom prst="roundRect">
            <a:avLst>
              <a:gd name="adj" fmla="val 26471"/>
            </a:avLst>
          </a:prstGeom>
          <a:solidFill>
            <a:srgbClr val="3FB950"/>
          </a:solidFill>
          <a:ln w="12700">
            <a:solidFill>
              <a:srgbClr val="3FB950"/>
            </a:solidFill>
            <a:prstDash val="solid"/>
          </a:ln>
        </p:spPr>
      </p:sp>
      <p:sp>
        <p:nvSpPr>
          <p:cNvPr id="7" name="Text 5"/>
          <p:cNvSpPr/>
          <p:nvPr/>
        </p:nvSpPr>
        <p:spPr>
          <a:xfrm>
            <a:off x="749808" y="160934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1225296" y="162763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Test returns Success; inventory returns rows</a:t>
            </a:r>
            <a:endParaRPr lang="en-US" sz="1050" dirty="0"/>
          </a:p>
        </p:txBody>
      </p:sp>
      <p:sp>
        <p:nvSpPr>
          <p:cNvPr id="9" name="Shape 7"/>
          <p:cNvSpPr/>
          <p:nvPr/>
        </p:nvSpPr>
        <p:spPr>
          <a:xfrm>
            <a:off x="548640" y="2194560"/>
            <a:ext cx="5349240" cy="603504"/>
          </a:xfrm>
          <a:prstGeom prst="roundRect">
            <a:avLst>
              <a:gd name="adj" fmla="val 7576"/>
            </a:avLst>
          </a:prstGeom>
          <a:solidFill>
            <a:srgbClr val="15171B"/>
          </a:solidFill>
          <a:ln w="12700">
            <a:solidFill>
              <a:srgbClr val="15171B"/>
            </a:solidFill>
            <a:prstDash val="solid"/>
          </a:ln>
        </p:spPr>
      </p:sp>
      <p:sp>
        <p:nvSpPr>
          <p:cNvPr id="10" name="Shape 8"/>
          <p:cNvSpPr/>
          <p:nvPr/>
        </p:nvSpPr>
        <p:spPr>
          <a:xfrm>
            <a:off x="749808" y="2340864"/>
            <a:ext cx="310896" cy="310896"/>
          </a:xfrm>
          <a:prstGeom prst="roundRect">
            <a:avLst>
              <a:gd name="adj" fmla="val 26471"/>
            </a:avLst>
          </a:prstGeom>
          <a:solidFill>
            <a:srgbClr val="3FB950"/>
          </a:solidFill>
          <a:ln w="12700">
            <a:solidFill>
              <a:srgbClr val="3FB950"/>
            </a:solidFill>
            <a:prstDash val="solid"/>
          </a:ln>
        </p:spPr>
      </p:sp>
      <p:sp>
        <p:nvSpPr>
          <p:cNvPr id="11" name="Text 9"/>
          <p:cNvSpPr/>
          <p:nvPr/>
        </p:nvSpPr>
        <p:spPr>
          <a:xfrm>
            <a:off x="749808" y="23408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p:nvPr/>
        </p:nvSpPr>
        <p:spPr>
          <a:xfrm>
            <a:off x="1225296" y="235915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koi_koi_raw grows; promoted fields are populated</a:t>
            </a:r>
            <a:endParaRPr lang="en-US" sz="1050" dirty="0"/>
          </a:p>
        </p:txBody>
      </p:sp>
      <p:sp>
        <p:nvSpPr>
          <p:cNvPr id="13" name="Shape 11"/>
          <p:cNvSpPr/>
          <p:nvPr/>
        </p:nvSpPr>
        <p:spPr>
          <a:xfrm>
            <a:off x="548640" y="2926080"/>
            <a:ext cx="5349240" cy="603504"/>
          </a:xfrm>
          <a:prstGeom prst="roundRect">
            <a:avLst>
              <a:gd name="adj" fmla="val 7576"/>
            </a:avLst>
          </a:prstGeom>
          <a:solidFill>
            <a:srgbClr val="15171B"/>
          </a:solidFill>
          <a:ln w="12700">
            <a:solidFill>
              <a:srgbClr val="15171B"/>
            </a:solidFill>
            <a:prstDash val="solid"/>
          </a:ln>
        </p:spPr>
      </p:sp>
      <p:sp>
        <p:nvSpPr>
          <p:cNvPr id="14" name="Shape 12"/>
          <p:cNvSpPr/>
          <p:nvPr/>
        </p:nvSpPr>
        <p:spPr>
          <a:xfrm>
            <a:off x="749808" y="3072384"/>
            <a:ext cx="310896" cy="310896"/>
          </a:xfrm>
          <a:prstGeom prst="roundRect">
            <a:avLst>
              <a:gd name="adj" fmla="val 26471"/>
            </a:avLst>
          </a:prstGeom>
          <a:solidFill>
            <a:srgbClr val="3FB950"/>
          </a:solidFill>
          <a:ln w="12700">
            <a:solidFill>
              <a:srgbClr val="3FB950"/>
            </a:solidFill>
            <a:prstDash val="solid"/>
          </a:ln>
        </p:spPr>
      </p:sp>
      <p:sp>
        <p:nvSpPr>
          <p:cNvPr id="15" name="Text 13"/>
          <p:cNvSpPr/>
          <p:nvPr/>
        </p:nvSpPr>
        <p:spPr>
          <a:xfrm>
            <a:off x="749808" y="30723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6" name="Text 14"/>
          <p:cNvSpPr/>
          <p:nvPr/>
        </p:nvSpPr>
        <p:spPr>
          <a:xfrm>
            <a:off x="1225296" y="309067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Distinct alerts far below raw rows; dashboard matches</a:t>
            </a:r>
            <a:endParaRPr lang="en-US" sz="1050" dirty="0"/>
          </a:p>
        </p:txBody>
      </p:sp>
      <p:sp>
        <p:nvSpPr>
          <p:cNvPr id="17" name="Shape 15"/>
          <p:cNvSpPr/>
          <p:nvPr/>
        </p:nvSpPr>
        <p:spPr>
          <a:xfrm>
            <a:off x="548640" y="3657600"/>
            <a:ext cx="5349240" cy="603504"/>
          </a:xfrm>
          <a:prstGeom prst="roundRect">
            <a:avLst>
              <a:gd name="adj" fmla="val 7576"/>
            </a:avLst>
          </a:prstGeom>
          <a:solidFill>
            <a:srgbClr val="15171B"/>
          </a:solidFill>
          <a:ln w="12700">
            <a:solidFill>
              <a:srgbClr val="15171B"/>
            </a:solidFill>
            <a:prstDash val="solid"/>
          </a:ln>
        </p:spPr>
      </p:sp>
      <p:sp>
        <p:nvSpPr>
          <p:cNvPr id="18" name="Shape 16"/>
          <p:cNvSpPr/>
          <p:nvPr/>
        </p:nvSpPr>
        <p:spPr>
          <a:xfrm>
            <a:off x="749808" y="3803904"/>
            <a:ext cx="310896" cy="310896"/>
          </a:xfrm>
          <a:prstGeom prst="roundRect">
            <a:avLst>
              <a:gd name="adj" fmla="val 26471"/>
            </a:avLst>
          </a:prstGeom>
          <a:solidFill>
            <a:srgbClr val="3FB950"/>
          </a:solidFill>
          <a:ln w="12700">
            <a:solidFill>
              <a:srgbClr val="3FB950"/>
            </a:solidFill>
            <a:prstDash val="solid"/>
          </a:ln>
        </p:spPr>
      </p:sp>
      <p:sp>
        <p:nvSpPr>
          <p:cNvPr id="19" name="Text 17"/>
          <p:cNvSpPr/>
          <p:nvPr/>
        </p:nvSpPr>
        <p:spPr>
          <a:xfrm>
            <a:off x="749808" y="380390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0" name="Text 18"/>
          <p:cNvSpPr/>
          <p:nvPr/>
        </p:nvSpPr>
        <p:spPr>
          <a:xfrm>
            <a:off x="1225296" y="382219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A verdict is reached; low risk auto-closes</a:t>
            </a:r>
            <a:endParaRPr lang="en-US" sz="1050" dirty="0"/>
          </a:p>
        </p:txBody>
      </p:sp>
      <p:sp>
        <p:nvSpPr>
          <p:cNvPr id="21" name="Shape 19"/>
          <p:cNvSpPr/>
          <p:nvPr/>
        </p:nvSpPr>
        <p:spPr>
          <a:xfrm>
            <a:off x="548640" y="4389120"/>
            <a:ext cx="5349240" cy="603504"/>
          </a:xfrm>
          <a:prstGeom prst="roundRect">
            <a:avLst>
              <a:gd name="adj" fmla="val 7576"/>
            </a:avLst>
          </a:prstGeom>
          <a:solidFill>
            <a:srgbClr val="15171B"/>
          </a:solidFill>
          <a:ln w="12700">
            <a:solidFill>
              <a:srgbClr val="15171B"/>
            </a:solidFill>
            <a:prstDash val="solid"/>
          </a:ln>
        </p:spPr>
      </p:sp>
      <p:sp>
        <p:nvSpPr>
          <p:cNvPr id="22" name="Shape 20"/>
          <p:cNvSpPr/>
          <p:nvPr/>
        </p:nvSpPr>
        <p:spPr>
          <a:xfrm>
            <a:off x="749808" y="4535424"/>
            <a:ext cx="310896" cy="310896"/>
          </a:xfrm>
          <a:prstGeom prst="roundRect">
            <a:avLst>
              <a:gd name="adj" fmla="val 26471"/>
            </a:avLst>
          </a:prstGeom>
          <a:solidFill>
            <a:srgbClr val="3FB950"/>
          </a:solidFill>
          <a:ln w="12700">
            <a:solidFill>
              <a:srgbClr val="3FB950"/>
            </a:solidFill>
            <a:prstDash val="solid"/>
          </a:ln>
        </p:spPr>
      </p:sp>
      <p:sp>
        <p:nvSpPr>
          <p:cNvPr id="23" name="Text 21"/>
          <p:cNvSpPr/>
          <p:nvPr/>
        </p:nvSpPr>
        <p:spPr>
          <a:xfrm>
            <a:off x="749808" y="453542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4" name="Text 22"/>
          <p:cNvSpPr/>
          <p:nvPr/>
        </p:nvSpPr>
        <p:spPr>
          <a:xfrm>
            <a:off x="1225296" y="455371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Investigation shows exposure and both governance counts</a:t>
            </a:r>
            <a:endParaRPr lang="en-US" sz="1050" dirty="0"/>
          </a:p>
        </p:txBody>
      </p:sp>
      <p:sp>
        <p:nvSpPr>
          <p:cNvPr id="25" name="Shape 23"/>
          <p:cNvSpPr/>
          <p:nvPr/>
        </p:nvSpPr>
        <p:spPr>
          <a:xfrm>
            <a:off x="6263640" y="1463040"/>
            <a:ext cx="5349240" cy="603504"/>
          </a:xfrm>
          <a:prstGeom prst="roundRect">
            <a:avLst>
              <a:gd name="adj" fmla="val 7576"/>
            </a:avLst>
          </a:prstGeom>
          <a:solidFill>
            <a:srgbClr val="15171B"/>
          </a:solidFill>
          <a:ln w="12700">
            <a:solidFill>
              <a:srgbClr val="15171B"/>
            </a:solidFill>
            <a:prstDash val="solid"/>
          </a:ln>
        </p:spPr>
      </p:sp>
      <p:sp>
        <p:nvSpPr>
          <p:cNvPr id="26" name="Shape 24"/>
          <p:cNvSpPr/>
          <p:nvPr/>
        </p:nvSpPr>
        <p:spPr>
          <a:xfrm>
            <a:off x="6464808" y="1609344"/>
            <a:ext cx="310896" cy="310896"/>
          </a:xfrm>
          <a:prstGeom prst="roundRect">
            <a:avLst>
              <a:gd name="adj" fmla="val 26471"/>
            </a:avLst>
          </a:prstGeom>
          <a:solidFill>
            <a:srgbClr val="3FB950"/>
          </a:solidFill>
          <a:ln w="12700">
            <a:solidFill>
              <a:srgbClr val="3FB950"/>
            </a:solidFill>
            <a:prstDash val="solid"/>
          </a:ln>
        </p:spPr>
      </p:sp>
      <p:sp>
        <p:nvSpPr>
          <p:cNvPr id="27" name="Text 25"/>
          <p:cNvSpPr/>
          <p:nvPr/>
        </p:nvSpPr>
        <p:spPr>
          <a:xfrm>
            <a:off x="6464808" y="160934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8" name="Text 26"/>
          <p:cNvSpPr/>
          <p:nvPr/>
        </p:nvSpPr>
        <p:spPr>
          <a:xfrm>
            <a:off x="6940296" y="162763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Response parks on approval; blocklist untouched</a:t>
            </a:r>
            <a:endParaRPr lang="en-US" sz="1050" dirty="0"/>
          </a:p>
        </p:txBody>
      </p:sp>
      <p:sp>
        <p:nvSpPr>
          <p:cNvPr id="29" name="Shape 27"/>
          <p:cNvSpPr/>
          <p:nvPr/>
        </p:nvSpPr>
        <p:spPr>
          <a:xfrm>
            <a:off x="6263640" y="2194560"/>
            <a:ext cx="5349240" cy="603504"/>
          </a:xfrm>
          <a:prstGeom prst="roundRect">
            <a:avLst>
              <a:gd name="adj" fmla="val 7576"/>
            </a:avLst>
          </a:prstGeom>
          <a:solidFill>
            <a:srgbClr val="15171B"/>
          </a:solidFill>
          <a:ln w="12700">
            <a:solidFill>
              <a:srgbClr val="15171B"/>
            </a:solidFill>
            <a:prstDash val="solid"/>
          </a:ln>
        </p:spPr>
      </p:sp>
      <p:sp>
        <p:nvSpPr>
          <p:cNvPr id="30" name="Shape 28"/>
          <p:cNvSpPr/>
          <p:nvPr/>
        </p:nvSpPr>
        <p:spPr>
          <a:xfrm>
            <a:off x="6464808" y="2340864"/>
            <a:ext cx="310896" cy="310896"/>
          </a:xfrm>
          <a:prstGeom prst="roundRect">
            <a:avLst>
              <a:gd name="adj" fmla="val 26471"/>
            </a:avLst>
          </a:prstGeom>
          <a:solidFill>
            <a:srgbClr val="3FB950"/>
          </a:solidFill>
          <a:ln w="12700">
            <a:solidFill>
              <a:srgbClr val="3FB950"/>
            </a:solidFill>
            <a:prstDash val="solid"/>
          </a:ln>
        </p:spPr>
      </p:sp>
      <p:sp>
        <p:nvSpPr>
          <p:cNvPr id="31" name="Text 29"/>
          <p:cNvSpPr/>
          <p:nvPr/>
        </p:nvSpPr>
        <p:spPr>
          <a:xfrm>
            <a:off x="6464808" y="234086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2" name="Text 30"/>
          <p:cNvSpPr/>
          <p:nvPr/>
        </p:nvSpPr>
        <p:spPr>
          <a:xfrm>
            <a:off x="6940296" y="235915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MCP audit returns servers; hunt sweep completes</a:t>
            </a:r>
            <a:endParaRPr lang="en-US" sz="1050" dirty="0"/>
          </a:p>
        </p:txBody>
      </p:sp>
      <p:sp>
        <p:nvSpPr>
          <p:cNvPr id="33" name="Shape 31"/>
          <p:cNvSpPr/>
          <p:nvPr/>
        </p:nvSpPr>
        <p:spPr>
          <a:xfrm>
            <a:off x="6263640" y="2926080"/>
            <a:ext cx="5349240" cy="603504"/>
          </a:xfrm>
          <a:prstGeom prst="roundRect">
            <a:avLst>
              <a:gd name="adj" fmla="val 7576"/>
            </a:avLst>
          </a:prstGeom>
          <a:solidFill>
            <a:srgbClr val="15171B"/>
          </a:solidFill>
          <a:ln w="12700">
            <a:solidFill>
              <a:srgbClr val="15171B"/>
            </a:solidFill>
            <a:prstDash val="solid"/>
          </a:ln>
        </p:spPr>
      </p:sp>
      <p:sp>
        <p:nvSpPr>
          <p:cNvPr id="34" name="Shape 32"/>
          <p:cNvSpPr/>
          <p:nvPr/>
        </p:nvSpPr>
        <p:spPr>
          <a:xfrm>
            <a:off x="6464808" y="3072384"/>
            <a:ext cx="310896" cy="310896"/>
          </a:xfrm>
          <a:prstGeom prst="roundRect">
            <a:avLst>
              <a:gd name="adj" fmla="val 26471"/>
            </a:avLst>
          </a:prstGeom>
          <a:solidFill>
            <a:srgbClr val="3FB950"/>
          </a:solidFill>
          <a:ln w="12700">
            <a:solidFill>
              <a:srgbClr val="3FB950"/>
            </a:solidFill>
            <a:prstDash val="solid"/>
          </a:ln>
        </p:spPr>
      </p:sp>
      <p:sp>
        <p:nvSpPr>
          <p:cNvPr id="35" name="Text 33"/>
          <p:cNvSpPr/>
          <p:nvPr/>
        </p:nvSpPr>
        <p:spPr>
          <a:xfrm>
            <a:off x="6464808" y="30723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6" name="Text 34"/>
          <p:cNvSpPr/>
          <p:nvPr/>
        </p:nvSpPr>
        <p:spPr>
          <a:xfrm>
            <a:off x="6940296" y="309067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Tracker List is created and fills with endpoints</a:t>
            </a:r>
            <a:endParaRPr lang="en-US" sz="1050" dirty="0"/>
          </a:p>
        </p:txBody>
      </p:sp>
      <p:sp>
        <p:nvSpPr>
          <p:cNvPr id="37" name="Shape 35"/>
          <p:cNvSpPr/>
          <p:nvPr/>
        </p:nvSpPr>
        <p:spPr>
          <a:xfrm>
            <a:off x="6263640" y="3657600"/>
            <a:ext cx="5349240" cy="603504"/>
          </a:xfrm>
          <a:prstGeom prst="roundRect">
            <a:avLst>
              <a:gd name="adj" fmla="val 7576"/>
            </a:avLst>
          </a:prstGeom>
          <a:solidFill>
            <a:srgbClr val="15171B"/>
          </a:solidFill>
          <a:ln w="12700">
            <a:solidFill>
              <a:srgbClr val="15171B"/>
            </a:solidFill>
            <a:prstDash val="solid"/>
          </a:ln>
        </p:spPr>
      </p:sp>
      <p:sp>
        <p:nvSpPr>
          <p:cNvPr id="38" name="Shape 36"/>
          <p:cNvSpPr/>
          <p:nvPr/>
        </p:nvSpPr>
        <p:spPr>
          <a:xfrm>
            <a:off x="6464808" y="3803904"/>
            <a:ext cx="310896" cy="310896"/>
          </a:xfrm>
          <a:prstGeom prst="roundRect">
            <a:avLst>
              <a:gd name="adj" fmla="val 26471"/>
            </a:avLst>
          </a:prstGeom>
          <a:solidFill>
            <a:srgbClr val="3FB950"/>
          </a:solidFill>
          <a:ln w="12700">
            <a:solidFill>
              <a:srgbClr val="3FB950"/>
            </a:solidFill>
            <a:prstDash val="solid"/>
          </a:ln>
        </p:spPr>
      </p:sp>
      <p:sp>
        <p:nvSpPr>
          <p:cNvPr id="39" name="Text 37"/>
          <p:cNvSpPr/>
          <p:nvPr/>
        </p:nvSpPr>
        <p:spPr>
          <a:xfrm>
            <a:off x="6464808" y="380390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40" name="Text 38"/>
          <p:cNvSpPr/>
          <p:nvPr/>
        </p:nvSpPr>
        <p:spPr>
          <a:xfrm>
            <a:off x="6940296" y="382219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Scan marks only due, connected endpoints</a:t>
            </a:r>
            <a:endParaRPr lang="en-US" sz="1050" dirty="0"/>
          </a:p>
        </p:txBody>
      </p:sp>
      <p:sp>
        <p:nvSpPr>
          <p:cNvPr id="41" name="Shape 39"/>
          <p:cNvSpPr/>
          <p:nvPr/>
        </p:nvSpPr>
        <p:spPr>
          <a:xfrm>
            <a:off x="6263640" y="4389120"/>
            <a:ext cx="5349240" cy="603504"/>
          </a:xfrm>
          <a:prstGeom prst="roundRect">
            <a:avLst>
              <a:gd name="adj" fmla="val 7576"/>
            </a:avLst>
          </a:prstGeom>
          <a:solidFill>
            <a:srgbClr val="15171B"/>
          </a:solidFill>
          <a:ln w="12700">
            <a:solidFill>
              <a:srgbClr val="15171B"/>
            </a:solidFill>
            <a:prstDash val="solid"/>
          </a:ln>
        </p:spPr>
      </p:sp>
      <p:sp>
        <p:nvSpPr>
          <p:cNvPr id="42" name="Shape 40"/>
          <p:cNvSpPr/>
          <p:nvPr/>
        </p:nvSpPr>
        <p:spPr>
          <a:xfrm>
            <a:off x="6464808" y="4535424"/>
            <a:ext cx="310896" cy="310896"/>
          </a:xfrm>
          <a:prstGeom prst="roundRect">
            <a:avLst>
              <a:gd name="adj" fmla="val 26471"/>
            </a:avLst>
          </a:prstGeom>
          <a:solidFill>
            <a:srgbClr val="3FB950"/>
          </a:solidFill>
          <a:ln w="12700">
            <a:solidFill>
              <a:srgbClr val="3FB950"/>
            </a:solidFill>
            <a:prstDash val="solid"/>
          </a:ln>
        </p:spPr>
      </p:sp>
      <p:sp>
        <p:nvSpPr>
          <p:cNvPr id="43" name="Text 41"/>
          <p:cNvSpPr/>
          <p:nvPr/>
        </p:nvSpPr>
        <p:spPr>
          <a:xfrm>
            <a:off x="6464808" y="453542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4" name="Text 42"/>
          <p:cNvSpPr/>
          <p:nvPr/>
        </p:nvSpPr>
        <p:spPr>
          <a:xfrm>
            <a:off x="6940296" y="4553712"/>
            <a:ext cx="4453128" cy="365760"/>
          </a:xfrm>
          <a:prstGeom prst="rect">
            <a:avLst/>
          </a:prstGeom>
          <a:noFill/>
          <a:ln/>
        </p:spPr>
        <p:txBody>
          <a:bodyPr wrap="square" lIns="0" tIns="0" rIns="0" bIns="0" rtlCol="0" anchor="t"/>
          <a:lstStyle/>
          <a:p>
            <a:pPr indent="0" marL="0">
              <a:lnSpc>
                <a:spcPts val="1200"/>
              </a:lnSpc>
              <a:buNone/>
            </a:pPr>
            <a:r>
              <a:rPr lang="en-US" sz="1050" dirty="0">
                <a:solidFill>
                  <a:srgbClr val="B4B7BD"/>
                </a:solidFill>
                <a:latin typeface="Calibri" pitchFamily="34" charset="0"/>
                <a:ea typeface="Calibri" pitchFamily="34" charset="-122"/>
                <a:cs typeface="Calibri" pitchFamily="34" charset="-120"/>
              </a:rPr>
              <a:t>19 KOI fields populated on the alert layout</a:t>
            </a:r>
            <a:endParaRPr lang="en-US" sz="1050" dirty="0"/>
          </a:p>
        </p:txBody>
      </p:sp>
      <p:sp>
        <p:nvSpPr>
          <p:cNvPr id="45" name="Shape 43"/>
          <p:cNvSpPr/>
          <p:nvPr/>
        </p:nvSpPr>
        <p:spPr>
          <a:xfrm>
            <a:off x="548640" y="5394960"/>
            <a:ext cx="11064240" cy="731520"/>
          </a:xfrm>
          <a:prstGeom prst="roundRect">
            <a:avLst>
              <a:gd name="adj" fmla="val 6250"/>
            </a:avLst>
          </a:prstGeom>
          <a:solidFill>
            <a:srgbClr val="1C2026"/>
          </a:solidFill>
          <a:ln w="12700">
            <a:solidFill>
              <a:srgbClr val="1C2026"/>
            </a:solidFill>
            <a:prstDash val="solid"/>
          </a:ln>
        </p:spPr>
      </p:sp>
      <p:sp>
        <p:nvSpPr>
          <p:cNvPr id="46" name="Text 44"/>
          <p:cNvSpPr/>
          <p:nvPr/>
        </p:nvSpPr>
        <p:spPr>
          <a:xfrm>
            <a:off x="859536" y="5596128"/>
            <a:ext cx="7315200" cy="292608"/>
          </a:xfrm>
          <a:prstGeom prst="rect">
            <a:avLst/>
          </a:prstGeom>
          <a:noFill/>
          <a:ln/>
        </p:spPr>
        <p:txBody>
          <a:bodyPr wrap="square" lIns="0" tIns="0" rIns="0" bIns="0" rtlCol="0" anchor="t"/>
          <a:lstStyle/>
          <a:p>
            <a:pPr indent="0" marL="0">
              <a:buNone/>
            </a:pPr>
            <a:r>
              <a:rPr lang="en-US" sz="1300" b="1" i="1" dirty="0">
                <a:solidFill>
                  <a:srgbClr val="3FB950"/>
                </a:solidFill>
                <a:latin typeface="Calibri" pitchFamily="34" charset="0"/>
                <a:ea typeface="Calibri" pitchFamily="34" charset="-122"/>
                <a:cs typeface="Calibri" pitchFamily="34" charset="-120"/>
              </a:rPr>
              <a:t>All ten green — the extension is ready for production use.</a:t>
            </a:r>
            <a:endParaRPr lang="en-US" sz="1300" dirty="0"/>
          </a:p>
        </p:txBody>
      </p:sp>
      <p:sp>
        <p:nvSpPr>
          <p:cNvPr id="47" name="Text 45"/>
          <p:cNvSpPr/>
          <p:nvPr/>
        </p:nvSpPr>
        <p:spPr>
          <a:xfrm>
            <a:off x="548640" y="6263640"/>
            <a:ext cx="11064240" cy="274320"/>
          </a:xfrm>
          <a:prstGeom prst="rect">
            <a:avLst/>
          </a:prstGeom>
          <a:noFill/>
          <a:ln/>
        </p:spPr>
        <p:txBody>
          <a:bodyPr wrap="square" lIns="0" tIns="0" rIns="0" bIns="0" rtlCol="0" anchor="t"/>
          <a:lstStyle/>
          <a:p>
            <a:pPr indent="0" marL="0">
              <a:buNone/>
            </a:pPr>
            <a:r>
              <a:rPr lang="en-US" sz="1050" dirty="0">
                <a:solidFill>
                  <a:srgbClr val="6E747E"/>
                </a:solidFill>
                <a:latin typeface="Calibri" pitchFamily="34" charset="0"/>
                <a:ea typeface="Calibri" pitchFamily="34" charset="-122"/>
                <a:cs typeface="Calibri" pitchFamily="34" charset="-120"/>
              </a:rPr>
              <a:t>Considering the custom KOI integration instead? See the deployment comparison for what differs.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KOI Content Extension — Test Guide</dc:title>
  <dc:subject>PptxGenJS Presentation</dc:subject>
  <dc:creator>Cortex XSIAM</dc:creator>
  <cp:lastModifiedBy>Cortex XSIAM</cp:lastModifiedBy>
  <cp:revision>1</cp:revision>
  <dcterms:created xsi:type="dcterms:W3CDTF">2026-07-26T07:09:50Z</dcterms:created>
  <dcterms:modified xsi:type="dcterms:W3CDTF">2026-07-26T07:09:50Z</dcterms:modified>
</cp:coreProperties>
</file>