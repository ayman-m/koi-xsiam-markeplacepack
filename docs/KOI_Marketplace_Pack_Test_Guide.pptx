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pack ships content only. The integration comes from the Marketplace KOI pack and must be installed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778240" y="-2377440"/>
            <a:ext cx="5852160" cy="5852160"/>
          </a:xfrm>
          <a:prstGeom prst="ellipse">
            <a:avLst/>
          </a:prstGeom>
          <a:solidFill>
            <a:srgbClr val="E8551F">
              <a:alpha val="10000"/>
            </a:srgbClr>
          </a:solidFill>
          <a:ln w="12700">
            <a:solidFill>
              <a:srgbClr val="E8551F"/>
            </a:solidFill>
            <a:prstDash val="solid"/>
          </a:ln>
        </p:spPr>
      </p:sp>
      <p:sp>
        <p:nvSpPr>
          <p:cNvPr id="3" name="Text 1"/>
          <p:cNvSpPr/>
          <p:nvPr/>
        </p:nvSpPr>
        <p:spPr>
          <a:xfrm>
            <a:off x="548640" y="22860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EXTENSION</a:t>
            </a:r>
            <a:endParaRPr lang="en-US" sz="1200" dirty="0"/>
          </a:p>
        </p:txBody>
      </p:sp>
      <p:sp>
        <p:nvSpPr>
          <p:cNvPr id="4" name="Text 2"/>
          <p:cNvSpPr/>
          <p:nvPr/>
        </p:nvSpPr>
        <p:spPr>
          <a:xfrm>
            <a:off x="548640" y="2651760"/>
            <a:ext cx="1106424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Test Guide</a:t>
            </a:r>
            <a:endParaRPr lang="en-US" sz="4800" dirty="0"/>
          </a:p>
        </p:txBody>
      </p:sp>
      <p:sp>
        <p:nvSpPr>
          <p:cNvPr id="5" name="Text 3"/>
          <p:cNvSpPr/>
          <p:nvPr/>
        </p:nvSpPr>
        <p:spPr>
          <a:xfrm>
            <a:off x="548640" y="3611880"/>
            <a:ext cx="8961120" cy="365760"/>
          </a:xfrm>
          <a:prstGeom prst="rect">
            <a:avLst/>
          </a:prstGeom>
          <a:noFill/>
          <a:ln/>
        </p:spPr>
        <p:txBody>
          <a:bodyPr wrap="square" lIns="0" tIns="0" rIns="0" bIns="0" rtlCol="0" anchor="t"/>
          <a:lstStyle/>
          <a:p>
            <a:pPr indent="0" marL="0">
              <a:buNone/>
            </a:pPr>
            <a:r>
              <a:rPr lang="en-US" sz="1500" dirty="0">
                <a:solidFill>
                  <a:srgbClr val="B4B7BD"/>
                </a:solidFill>
                <a:latin typeface="Calibri" pitchFamily="34" charset="0"/>
                <a:ea typeface="Calibri" pitchFamily="34" charset="-122"/>
                <a:cs typeface="Calibri" pitchFamily="34" charset="-120"/>
              </a:rPr>
              <a:t>Ten tests for the content built on the Marketplace KOI integration — with the setup each one needs</a:t>
            </a:r>
            <a:endParaRPr lang="en-US" sz="1500" dirty="0"/>
          </a:p>
        </p:txBody>
      </p:sp>
      <p:sp>
        <p:nvSpPr>
          <p:cNvPr id="6" name="Text 4"/>
          <p:cNvSpPr/>
          <p:nvPr/>
        </p:nvSpPr>
        <p:spPr>
          <a:xfrm>
            <a:off x="548640" y="4069080"/>
            <a:ext cx="8778240" cy="365760"/>
          </a:xfrm>
          <a:prstGeom prst="rect">
            <a:avLst/>
          </a:prstGeom>
          <a:noFill/>
          <a:ln/>
        </p:spPr>
        <p:txBody>
          <a:bodyPr wrap="square" lIns="0" tIns="0" rIns="0" bIns="0" rtlCol="0" anchor="t"/>
          <a:lstStyle/>
          <a:p>
            <a:pPr indent="0" marL="0">
              <a:buNone/>
            </a:pPr>
            <a:r>
              <a:rPr lang="en-US" sz="1200" i="1" dirty="0">
                <a:solidFill>
                  <a:srgbClr val="6E747E"/>
                </a:solidFill>
                <a:latin typeface="Calibri" pitchFamily="34" charset="0"/>
                <a:ea typeface="Calibri" pitchFamily="34" charset="-122"/>
                <a:cs typeface="Calibri" pitchFamily="34" charset="-120"/>
              </a:rPr>
              <a:t>For anyone comfortable in the Cortex XSIAM console. No content development required.</a:t>
            </a:r>
            <a:endParaRPr lang="en-US" sz="1200" dirty="0"/>
          </a:p>
        </p:txBody>
      </p:sp>
      <p:sp>
        <p:nvSpPr>
          <p:cNvPr id="7" name="Text 5"/>
          <p:cNvSpPr/>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Extension 1.3.0  ·  requires the Marketplace KOI pack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CONTENTS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ships in this extension</a:t>
            </a:r>
            <a:endParaRPr lang="en-US" sz="3100" dirty="0"/>
          </a:p>
        </p:txBody>
      </p:sp>
      <p:sp>
        <p:nvSpPr>
          <p:cNvPr id="4" name="Shape 2"/>
          <p:cNvSpPr/>
          <p:nvPr/>
        </p:nvSpPr>
        <p:spPr>
          <a:xfrm>
            <a:off x="548640" y="1417320"/>
            <a:ext cx="11064240" cy="658368"/>
          </a:xfrm>
          <a:prstGeom prst="roundRect">
            <a:avLst>
              <a:gd name="adj" fmla="val 6944"/>
            </a:avLst>
          </a:prstGeom>
          <a:solidFill>
            <a:srgbClr val="15171B"/>
          </a:solidFill>
          <a:ln w="12700">
            <a:solidFill>
              <a:srgbClr val="15171B"/>
            </a:solidFill>
            <a:prstDash val="solid"/>
          </a:ln>
        </p:spPr>
      </p:sp>
      <p:sp>
        <p:nvSpPr>
          <p:cNvPr id="5" name="Shape 3"/>
          <p:cNvSpPr/>
          <p:nvPr/>
        </p:nvSpPr>
        <p:spPr>
          <a:xfrm>
            <a:off x="786384" y="1600200"/>
            <a:ext cx="292608" cy="292608"/>
          </a:xfrm>
          <a:prstGeom prst="roundRect">
            <a:avLst>
              <a:gd name="adj" fmla="val 28125"/>
            </a:avLst>
          </a:prstGeom>
          <a:solidFill>
            <a:srgbClr val="E8551F"/>
          </a:solidFill>
          <a:ln w="12700">
            <a:solidFill>
              <a:srgbClr val="E8551F"/>
            </a:solidFill>
            <a:prstDash val="solid"/>
          </a:ln>
        </p:spPr>
      </p:sp>
      <p:sp>
        <p:nvSpPr>
          <p:cNvPr id="6" name="Text 4"/>
          <p:cNvSpPr/>
          <p:nvPr/>
        </p:nvSpPr>
        <p:spPr>
          <a:xfrm>
            <a:off x="786384" y="160020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7" name="Text 5"/>
          <p:cNvSpPr/>
          <p:nvPr/>
        </p:nvSpPr>
        <p:spPr>
          <a:xfrm>
            <a:off x="1243584" y="153619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Parsing &amp; modeling rules</a:t>
            </a:r>
            <a:endParaRPr lang="en-US" sz="1200" dirty="0"/>
          </a:p>
        </p:txBody>
      </p:sp>
      <p:sp>
        <p:nvSpPr>
          <p:cNvPr id="8" name="Text 6"/>
          <p:cNvSpPr/>
          <p:nvPr/>
        </p:nvSpPr>
        <p:spPr>
          <a:xfrm>
            <a:off x="4937760" y="155448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Normalise KOI events and map them to the Cortex Data Model. The Marketplace pack ships none.</a:t>
            </a:r>
            <a:endParaRPr lang="en-US" sz="1050" dirty="0"/>
          </a:p>
        </p:txBody>
      </p:sp>
      <p:sp>
        <p:nvSpPr>
          <p:cNvPr id="9" name="Shape 7"/>
          <p:cNvSpPr/>
          <p:nvPr/>
        </p:nvSpPr>
        <p:spPr>
          <a:xfrm>
            <a:off x="548640" y="2194560"/>
            <a:ext cx="11064240" cy="658368"/>
          </a:xfrm>
          <a:prstGeom prst="roundRect">
            <a:avLst>
              <a:gd name="adj" fmla="val 6944"/>
            </a:avLst>
          </a:prstGeom>
          <a:solidFill>
            <a:srgbClr val="15171B"/>
          </a:solidFill>
          <a:ln w="12700">
            <a:solidFill>
              <a:srgbClr val="15171B"/>
            </a:solidFill>
            <a:prstDash val="solid"/>
          </a:ln>
        </p:spPr>
      </p:sp>
      <p:sp>
        <p:nvSpPr>
          <p:cNvPr id="10" name="Shape 8"/>
          <p:cNvSpPr/>
          <p:nvPr/>
        </p:nvSpPr>
        <p:spPr>
          <a:xfrm>
            <a:off x="786384" y="2377440"/>
            <a:ext cx="292608" cy="292608"/>
          </a:xfrm>
          <a:prstGeom prst="roundRect">
            <a:avLst>
              <a:gd name="adj" fmla="val 28125"/>
            </a:avLst>
          </a:prstGeom>
          <a:solidFill>
            <a:srgbClr val="E8551F"/>
          </a:solidFill>
          <a:ln w="12700">
            <a:solidFill>
              <a:srgbClr val="E8551F"/>
            </a:solidFill>
            <a:prstDash val="solid"/>
          </a:ln>
        </p:spPr>
      </p:sp>
      <p:sp>
        <p:nvSpPr>
          <p:cNvPr id="11" name="Text 9"/>
          <p:cNvSpPr/>
          <p:nvPr/>
        </p:nvSpPr>
        <p:spPr>
          <a:xfrm>
            <a:off x="786384" y="237744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2" name="Text 10"/>
          <p:cNvSpPr/>
          <p:nvPr/>
        </p:nvSpPr>
        <p:spPr>
          <a:xfrm>
            <a:off x="1243584" y="231343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dashboard</a:t>
            </a:r>
            <a:endParaRPr lang="en-US" sz="1200" dirty="0"/>
          </a:p>
        </p:txBody>
      </p:sp>
      <p:sp>
        <p:nvSpPr>
          <p:cNvPr id="13" name="Text 11"/>
          <p:cNvSpPr/>
          <p:nvPr/>
        </p:nvSpPr>
        <p:spPr>
          <a:xfrm>
            <a:off x="4937760" y="233172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Ready-made view of KOI alert activity.</a:t>
            </a:r>
            <a:endParaRPr lang="en-US" sz="1050" dirty="0"/>
          </a:p>
        </p:txBody>
      </p:sp>
      <p:sp>
        <p:nvSpPr>
          <p:cNvPr id="14" name="Shape 12"/>
          <p:cNvSpPr/>
          <p:nvPr/>
        </p:nvSpPr>
        <p:spPr>
          <a:xfrm>
            <a:off x="548640" y="2971800"/>
            <a:ext cx="11064240" cy="658368"/>
          </a:xfrm>
          <a:prstGeom prst="roundRect">
            <a:avLst>
              <a:gd name="adj" fmla="val 6944"/>
            </a:avLst>
          </a:prstGeom>
          <a:solidFill>
            <a:srgbClr val="15171B"/>
          </a:solidFill>
          <a:ln w="12700">
            <a:solidFill>
              <a:srgbClr val="15171B"/>
            </a:solidFill>
            <a:prstDash val="solid"/>
          </a:ln>
        </p:spPr>
      </p:sp>
      <p:sp>
        <p:nvSpPr>
          <p:cNvPr id="15" name="Shape 13"/>
          <p:cNvSpPr/>
          <p:nvPr/>
        </p:nvSpPr>
        <p:spPr>
          <a:xfrm>
            <a:off x="786384" y="3154680"/>
            <a:ext cx="292608" cy="292608"/>
          </a:xfrm>
          <a:prstGeom prst="roundRect">
            <a:avLst>
              <a:gd name="adj" fmla="val 28125"/>
            </a:avLst>
          </a:prstGeom>
          <a:solidFill>
            <a:srgbClr val="E8551F"/>
          </a:solidFill>
          <a:ln w="12700">
            <a:solidFill>
              <a:srgbClr val="E8551F"/>
            </a:solidFill>
            <a:prstDash val="solid"/>
          </a:ln>
        </p:spPr>
      </p:sp>
      <p:sp>
        <p:nvSpPr>
          <p:cNvPr id="16" name="Text 14"/>
          <p:cNvSpPr/>
          <p:nvPr/>
        </p:nvSpPr>
        <p:spPr>
          <a:xfrm>
            <a:off x="786384" y="31546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243584" y="309067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 fields, type &amp; layout</a:t>
            </a:r>
            <a:endParaRPr lang="en-US" sz="1200" dirty="0"/>
          </a:p>
        </p:txBody>
      </p:sp>
      <p:sp>
        <p:nvSpPr>
          <p:cNvPr id="18" name="Text 16"/>
          <p:cNvSpPr/>
          <p:nvPr/>
        </p:nvSpPr>
        <p:spPr>
          <a:xfrm>
            <a:off x="4937760" y="310896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19 KOI fields written onto each alert and shown in a purpose-built layout.</a:t>
            </a:r>
            <a:endParaRPr lang="en-US" sz="1050" dirty="0"/>
          </a:p>
        </p:txBody>
      </p:sp>
      <p:sp>
        <p:nvSpPr>
          <p:cNvPr id="19" name="Shape 17"/>
          <p:cNvSpPr/>
          <p:nvPr/>
        </p:nvSpPr>
        <p:spPr>
          <a:xfrm>
            <a:off x="548640" y="3749040"/>
            <a:ext cx="11064240" cy="658368"/>
          </a:xfrm>
          <a:prstGeom prst="roundRect">
            <a:avLst>
              <a:gd name="adj" fmla="val 6944"/>
            </a:avLst>
          </a:prstGeom>
          <a:solidFill>
            <a:srgbClr val="15171B"/>
          </a:solidFill>
          <a:ln w="12700">
            <a:solidFill>
              <a:srgbClr val="15171B"/>
            </a:solidFill>
            <a:prstDash val="solid"/>
          </a:ln>
        </p:spPr>
      </p:sp>
      <p:sp>
        <p:nvSpPr>
          <p:cNvPr id="20" name="Shape 18"/>
          <p:cNvSpPr/>
          <p:nvPr/>
        </p:nvSpPr>
        <p:spPr>
          <a:xfrm>
            <a:off x="786384" y="3931920"/>
            <a:ext cx="292608" cy="292608"/>
          </a:xfrm>
          <a:prstGeom prst="roundRect">
            <a:avLst>
              <a:gd name="adj" fmla="val 28125"/>
            </a:avLst>
          </a:prstGeom>
          <a:solidFill>
            <a:srgbClr val="22D3EE"/>
          </a:solidFill>
          <a:ln w="12700">
            <a:solidFill>
              <a:srgbClr val="22D3EE"/>
            </a:solidFill>
            <a:prstDash val="solid"/>
          </a:ln>
        </p:spPr>
      </p:sp>
      <p:sp>
        <p:nvSpPr>
          <p:cNvPr id="21" name="Text 19"/>
          <p:cNvSpPr/>
          <p:nvPr/>
        </p:nvSpPr>
        <p:spPr>
          <a:xfrm>
            <a:off x="786384" y="39319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p:nvPr/>
        </p:nvSpPr>
        <p:spPr>
          <a:xfrm>
            <a:off x="1243584" y="386791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Triage &amp; investigation playbooks</a:t>
            </a:r>
            <a:endParaRPr lang="en-US" sz="1200" dirty="0"/>
          </a:p>
        </p:txBody>
      </p:sp>
      <p:sp>
        <p:nvSpPr>
          <p:cNvPr id="23" name="Text 21"/>
          <p:cNvSpPr/>
          <p:nvPr/>
        </p:nvSpPr>
        <p:spPr>
          <a:xfrm>
            <a:off x="4937760" y="388620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6 playbooks: triage, item and device investigation, enrichment, gated response.</a:t>
            </a:r>
            <a:endParaRPr lang="en-US" sz="1050" dirty="0"/>
          </a:p>
        </p:txBody>
      </p:sp>
      <p:sp>
        <p:nvSpPr>
          <p:cNvPr id="24" name="Shape 22"/>
          <p:cNvSpPr/>
          <p:nvPr/>
        </p:nvSpPr>
        <p:spPr>
          <a:xfrm>
            <a:off x="548640" y="4526280"/>
            <a:ext cx="11064240" cy="658368"/>
          </a:xfrm>
          <a:prstGeom prst="roundRect">
            <a:avLst>
              <a:gd name="adj" fmla="val 6944"/>
            </a:avLst>
          </a:prstGeom>
          <a:solidFill>
            <a:srgbClr val="15171B"/>
          </a:solidFill>
          <a:ln w="12700">
            <a:solidFill>
              <a:srgbClr val="15171B"/>
            </a:solidFill>
            <a:prstDash val="solid"/>
          </a:ln>
        </p:spPr>
      </p:sp>
      <p:sp>
        <p:nvSpPr>
          <p:cNvPr id="25" name="Shape 23"/>
          <p:cNvSpPr/>
          <p:nvPr/>
        </p:nvSpPr>
        <p:spPr>
          <a:xfrm>
            <a:off x="786384" y="4709160"/>
            <a:ext cx="292608" cy="292608"/>
          </a:xfrm>
          <a:prstGeom prst="roundRect">
            <a:avLst>
              <a:gd name="adj" fmla="val 28125"/>
            </a:avLst>
          </a:prstGeom>
          <a:solidFill>
            <a:srgbClr val="22D3EE"/>
          </a:solidFill>
          <a:ln w="12700">
            <a:solidFill>
              <a:srgbClr val="22D3EE"/>
            </a:solidFill>
            <a:prstDash val="solid"/>
          </a:ln>
        </p:spPr>
      </p:sp>
      <p:sp>
        <p:nvSpPr>
          <p:cNvPr id="26" name="Text 24"/>
          <p:cNvSpPr/>
          <p:nvPr/>
        </p:nvSpPr>
        <p:spPr>
          <a:xfrm>
            <a:off x="786384" y="470916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a:t>
            </a:r>
            <a:endParaRPr lang="en-US" sz="1300" dirty="0"/>
          </a:p>
        </p:txBody>
      </p:sp>
      <p:sp>
        <p:nvSpPr>
          <p:cNvPr id="27" name="Text 25"/>
          <p:cNvSpPr/>
          <p:nvPr/>
        </p:nvSpPr>
        <p:spPr>
          <a:xfrm>
            <a:off x="1243584" y="464515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Hunting playbooks</a:t>
            </a:r>
            <a:endParaRPr lang="en-US" sz="1200" dirty="0"/>
          </a:p>
        </p:txBody>
      </p:sp>
      <p:sp>
        <p:nvSpPr>
          <p:cNvPr id="28" name="Text 26"/>
          <p:cNvSpPr/>
          <p:nvPr/>
        </p:nvSpPr>
        <p:spPr>
          <a:xfrm>
            <a:off x="4937760" y="466344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3 playbooks: MCP server audit, hunt sweep, and its investigation sub-playbook.</a:t>
            </a:r>
            <a:endParaRPr lang="en-US" sz="1050" dirty="0"/>
          </a:p>
        </p:txBody>
      </p:sp>
      <p:sp>
        <p:nvSpPr>
          <p:cNvPr id="29" name="Shape 27"/>
          <p:cNvSpPr/>
          <p:nvPr/>
        </p:nvSpPr>
        <p:spPr>
          <a:xfrm>
            <a:off x="548640" y="5303520"/>
            <a:ext cx="11064240" cy="658368"/>
          </a:xfrm>
          <a:prstGeom prst="roundRect">
            <a:avLst>
              <a:gd name="adj" fmla="val 6944"/>
            </a:avLst>
          </a:prstGeom>
          <a:solidFill>
            <a:srgbClr val="15171B"/>
          </a:solidFill>
          <a:ln w="12700">
            <a:solidFill>
              <a:srgbClr val="15171B"/>
            </a:solidFill>
            <a:prstDash val="solid"/>
          </a:ln>
        </p:spPr>
      </p:sp>
      <p:sp>
        <p:nvSpPr>
          <p:cNvPr id="30" name="Shape 28"/>
          <p:cNvSpPr/>
          <p:nvPr/>
        </p:nvSpPr>
        <p:spPr>
          <a:xfrm>
            <a:off x="786384" y="5486400"/>
            <a:ext cx="292608" cy="292608"/>
          </a:xfrm>
          <a:prstGeom prst="roundRect">
            <a:avLst>
              <a:gd name="adj" fmla="val 28125"/>
            </a:avLst>
          </a:prstGeom>
          <a:solidFill>
            <a:srgbClr val="22D3EE"/>
          </a:solidFill>
          <a:ln w="12700">
            <a:solidFill>
              <a:srgbClr val="22D3EE"/>
            </a:solidFill>
            <a:prstDash val="solid"/>
          </a:ln>
        </p:spPr>
      </p:sp>
      <p:sp>
        <p:nvSpPr>
          <p:cNvPr id="31" name="Text 29"/>
          <p:cNvSpPr/>
          <p:nvPr/>
        </p:nvSpPr>
        <p:spPr>
          <a:xfrm>
            <a:off x="786384" y="548640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t>
            </a:r>
            <a:endParaRPr lang="en-US" sz="1300" dirty="0"/>
          </a:p>
        </p:txBody>
      </p:sp>
      <p:sp>
        <p:nvSpPr>
          <p:cNvPr id="32" name="Text 30"/>
          <p:cNvSpPr/>
          <p:nvPr/>
        </p:nvSpPr>
        <p:spPr>
          <a:xfrm>
            <a:off x="1243584" y="542239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Script Runner playbooks</a:t>
            </a:r>
            <a:endParaRPr lang="en-US" sz="1200" dirty="0"/>
          </a:p>
        </p:txBody>
      </p:sp>
      <p:sp>
        <p:nvSpPr>
          <p:cNvPr id="33" name="Text 31"/>
          <p:cNvSpPr/>
          <p:nvPr/>
        </p:nvSpPr>
        <p:spPr>
          <a:xfrm>
            <a:off x="4937760" y="544068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5 playbooks plus the KoiScanTracker automation — run KOI scripts fleet-wide.</a:t>
            </a:r>
            <a:endParaRPr lang="en-US" sz="1050" dirty="0"/>
          </a:p>
        </p:txBody>
      </p:sp>
      <p:sp>
        <p:nvSpPr>
          <p:cNvPr id="34" name="Text 32"/>
          <p:cNvSpPr/>
          <p:nvPr/>
        </p:nvSpPr>
        <p:spPr>
          <a:xfrm>
            <a:off x="548640" y="6172200"/>
            <a:ext cx="11064240" cy="274320"/>
          </a:xfrm>
          <a:prstGeom prst="rect">
            <a:avLst/>
          </a:prstGeom>
          <a:noFill/>
          <a:ln/>
        </p:spPr>
        <p:txBody>
          <a:bodyPr wrap="square" lIns="0" tIns="0" rIns="0" bIns="0" rtlCol="0" anchor="t"/>
          <a:lstStyle/>
          <a:p>
            <a:pPr indent="0" marL="0">
              <a:buNone/>
            </a:pPr>
            <a:r>
              <a:rPr lang="en-US" sz="1050" i="1" dirty="0">
                <a:solidFill>
                  <a:srgbClr val="F5A524"/>
                </a:solidFill>
                <a:latin typeface="Calibri" pitchFamily="34" charset="0"/>
                <a:ea typeface="Calibri" pitchFamily="34" charset="-122"/>
                <a:cs typeface="Calibri" pitchFamily="34" charset="-120"/>
              </a:rPr>
              <a:t>The integration itself is NOT in this pack — it comes from the Marketplace KOI pack, which must be installed first.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HOW TO USE THIS GUIDE</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test is laid out the same way</a:t>
            </a:r>
            <a:endParaRPr lang="en-US" sz="3100" dirty="0"/>
          </a:p>
        </p:txBody>
      </p:sp>
      <p:sp>
        <p:nvSpPr>
          <p:cNvPr id="4" name="Shape 2"/>
          <p:cNvSpPr/>
          <p:nvPr/>
        </p:nvSpPr>
        <p:spPr>
          <a:xfrm>
            <a:off x="548640" y="1463040"/>
            <a:ext cx="3505200" cy="2286000"/>
          </a:xfrm>
          <a:prstGeom prst="roundRect">
            <a:avLst>
              <a:gd name="adj" fmla="val 2000"/>
            </a:avLst>
          </a:prstGeom>
          <a:solidFill>
            <a:srgbClr val="1C2026"/>
          </a:solidFill>
          <a:ln w="12700">
            <a:solidFill>
              <a:srgbClr val="1C2026"/>
            </a:solidFill>
            <a:prstDash val="solid"/>
          </a:ln>
        </p:spPr>
      </p:sp>
      <p:sp>
        <p:nvSpPr>
          <p:cNvPr id="5" name="Text 3"/>
          <p:cNvSpPr/>
          <p:nvPr/>
        </p:nvSpPr>
        <p:spPr>
          <a:xfrm>
            <a:off x="822960" y="1691640"/>
            <a:ext cx="2956560" cy="274320"/>
          </a:xfrm>
          <a:prstGeom prst="rect">
            <a:avLst/>
          </a:prstGeom>
          <a:noFill/>
          <a:ln/>
        </p:spPr>
        <p:txBody>
          <a:bodyPr wrap="square" lIns="0" tIns="0" rIns="0" bIns="0" rtlCol="0" anchor="t"/>
          <a:lstStyle/>
          <a:p>
            <a:pPr indent="0" marL="0">
              <a:buNone/>
            </a:pPr>
            <a:r>
              <a:rPr lang="en-US" sz="1100" b="1" spc="150" kern="0" dirty="0">
                <a:solidFill>
                  <a:srgbClr val="F5A524"/>
                </a:solidFill>
                <a:latin typeface="Calibri" pitchFamily="34" charset="0"/>
                <a:ea typeface="Calibri" pitchFamily="34" charset="-122"/>
                <a:cs typeface="Calibri" pitchFamily="34" charset="-120"/>
              </a:rPr>
              <a:t>WHAT YOU NEED FIRST</a:t>
            </a:r>
            <a:endParaRPr lang="en-US" sz="1100" dirty="0"/>
          </a:p>
        </p:txBody>
      </p:sp>
      <p:sp>
        <p:nvSpPr>
          <p:cNvPr id="6" name="Text 4"/>
          <p:cNvSpPr/>
          <p:nvPr/>
        </p:nvSpPr>
        <p:spPr>
          <a:xfrm>
            <a:off x="82296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The tenant setup this test depends on. If something here is missing the test cannot pass, and it will look like a product fault when it is not.</a:t>
            </a:r>
            <a:endParaRPr lang="en-US" sz="1100" dirty="0"/>
          </a:p>
        </p:txBody>
      </p:sp>
      <p:sp>
        <p:nvSpPr>
          <p:cNvPr id="7" name="Shape 5"/>
          <p:cNvSpPr/>
          <p:nvPr/>
        </p:nvSpPr>
        <p:spPr>
          <a:xfrm>
            <a:off x="4328160" y="1463040"/>
            <a:ext cx="3505200" cy="2286000"/>
          </a:xfrm>
          <a:prstGeom prst="roundRect">
            <a:avLst>
              <a:gd name="adj" fmla="val 2000"/>
            </a:avLst>
          </a:prstGeom>
          <a:solidFill>
            <a:srgbClr val="15171B"/>
          </a:solidFill>
          <a:ln w="12700">
            <a:solidFill>
              <a:srgbClr val="15171B"/>
            </a:solidFill>
            <a:prstDash val="solid"/>
          </a:ln>
        </p:spPr>
      </p:sp>
      <p:sp>
        <p:nvSpPr>
          <p:cNvPr id="8" name="Text 6"/>
          <p:cNvSpPr/>
          <p:nvPr/>
        </p:nvSpPr>
        <p:spPr>
          <a:xfrm>
            <a:off x="4602480" y="1691640"/>
            <a:ext cx="2956560" cy="274320"/>
          </a:xfrm>
          <a:prstGeom prst="rect">
            <a:avLst/>
          </a:prstGeom>
          <a:noFill/>
          <a:ln/>
        </p:spPr>
        <p:txBody>
          <a:bodyPr wrap="square" lIns="0" tIns="0" rIns="0" bIns="0" rtlCol="0" anchor="t"/>
          <a:lstStyle/>
          <a:p>
            <a:pPr indent="0" marL="0">
              <a:buNone/>
            </a:pPr>
            <a:r>
              <a:rPr lang="en-US" sz="1100" b="1" spc="150" kern="0" dirty="0">
                <a:solidFill>
                  <a:srgbClr val="E8551F"/>
                </a:solidFill>
                <a:latin typeface="Calibri" pitchFamily="34" charset="0"/>
                <a:ea typeface="Calibri" pitchFamily="34" charset="-122"/>
                <a:cs typeface="Calibri" pitchFamily="34" charset="-120"/>
              </a:rPr>
              <a:t>STEPS</a:t>
            </a:r>
            <a:endParaRPr lang="en-US" sz="1100" dirty="0"/>
          </a:p>
        </p:txBody>
      </p:sp>
      <p:sp>
        <p:nvSpPr>
          <p:cNvPr id="9" name="Text 7"/>
          <p:cNvSpPr/>
          <p:nvPr/>
        </p:nvSpPr>
        <p:spPr>
          <a:xfrm>
            <a:off x="460248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to click, in order, in the Cortex XSIAM console. Anything to paste is shown in monospace.</a:t>
            </a:r>
            <a:endParaRPr lang="en-US" sz="1100" dirty="0"/>
          </a:p>
        </p:txBody>
      </p:sp>
      <p:sp>
        <p:nvSpPr>
          <p:cNvPr id="10" name="Shape 8"/>
          <p:cNvSpPr/>
          <p:nvPr/>
        </p:nvSpPr>
        <p:spPr>
          <a:xfrm>
            <a:off x="8107680" y="1463040"/>
            <a:ext cx="3505200" cy="2286000"/>
          </a:xfrm>
          <a:prstGeom prst="roundRect">
            <a:avLst>
              <a:gd name="adj" fmla="val 2000"/>
            </a:avLst>
          </a:prstGeom>
          <a:solidFill>
            <a:srgbClr val="1C2026"/>
          </a:solidFill>
          <a:ln w="12700">
            <a:solidFill>
              <a:srgbClr val="1C2026"/>
            </a:solidFill>
            <a:prstDash val="solid"/>
          </a:ln>
        </p:spPr>
      </p:sp>
      <p:sp>
        <p:nvSpPr>
          <p:cNvPr id="11" name="Text 9"/>
          <p:cNvSpPr/>
          <p:nvPr/>
        </p:nvSpPr>
        <p:spPr>
          <a:xfrm>
            <a:off x="8382000" y="1691640"/>
            <a:ext cx="2956560" cy="274320"/>
          </a:xfrm>
          <a:prstGeom prst="rect">
            <a:avLst/>
          </a:prstGeom>
          <a:noFill/>
          <a:ln/>
        </p:spPr>
        <p:txBody>
          <a:bodyPr wrap="square" lIns="0" tIns="0" rIns="0" bIns="0" rtlCol="0" anchor="t"/>
          <a:lstStyle/>
          <a:p>
            <a:pPr indent="0" marL="0">
              <a:buNone/>
            </a:pPr>
            <a:r>
              <a:rPr lang="en-US" sz="1100" b="1" spc="150" kern="0" dirty="0">
                <a:solidFill>
                  <a:srgbClr val="3FB950"/>
                </a:solidFill>
                <a:latin typeface="Calibri" pitchFamily="34" charset="0"/>
                <a:ea typeface="Calibri" pitchFamily="34" charset="-122"/>
                <a:cs typeface="Calibri" pitchFamily="34" charset="-120"/>
              </a:rPr>
              <a:t>WHAT TO EXPECT</a:t>
            </a:r>
            <a:endParaRPr lang="en-US" sz="1100" dirty="0"/>
          </a:p>
        </p:txBody>
      </p:sp>
      <p:sp>
        <p:nvSpPr>
          <p:cNvPr id="12" name="Text 10"/>
          <p:cNvSpPr/>
          <p:nvPr/>
        </p:nvSpPr>
        <p:spPr>
          <a:xfrm>
            <a:off x="838200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a passing test looks like. Where a result commonly looks wrong but is correct, it says so.</a:t>
            </a:r>
            <a:endParaRPr lang="en-US" sz="1100" dirty="0"/>
          </a:p>
        </p:txBody>
      </p:sp>
      <p:sp>
        <p:nvSpPr>
          <p:cNvPr id="13" name="Shape 11"/>
          <p:cNvSpPr/>
          <p:nvPr/>
        </p:nvSpPr>
        <p:spPr>
          <a:xfrm>
            <a:off x="548640" y="3977640"/>
            <a:ext cx="11064240" cy="1371600"/>
          </a:xfrm>
          <a:prstGeom prst="roundRect">
            <a:avLst>
              <a:gd name="adj" fmla="val 3333"/>
            </a:avLst>
          </a:prstGeom>
          <a:solidFill>
            <a:srgbClr val="1C2026"/>
          </a:solidFill>
          <a:ln w="12700">
            <a:solidFill>
              <a:srgbClr val="1C2026"/>
            </a:solidFill>
            <a:prstDash val="solid"/>
          </a:ln>
        </p:spPr>
      </p:sp>
      <p:sp>
        <p:nvSpPr>
          <p:cNvPr id="14" name="Text 12"/>
          <p:cNvSpPr/>
          <p:nvPr/>
        </p:nvSpPr>
        <p:spPr>
          <a:xfrm>
            <a:off x="859536" y="4160520"/>
            <a:ext cx="45720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Run them in order the first time</a:t>
            </a:r>
            <a:endParaRPr lang="en-US" sz="1300" dirty="0"/>
          </a:p>
        </p:txBody>
      </p:sp>
      <p:sp>
        <p:nvSpPr>
          <p:cNvPr id="15" name="Text 13"/>
          <p:cNvSpPr/>
          <p:nvPr/>
        </p:nvSpPr>
        <p:spPr>
          <a:xfrm>
            <a:off x="859536" y="4498848"/>
            <a:ext cx="10442448" cy="73152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Tests 1 to 3 prove data is arriving and correct. Tests 4 to 7 prove the automation. Tests 8 and 9 prove fleet script execution — the only ones needing the Core REST API integration. Test 10 is the alert layout. Nothing here needs a Cortex XDR integration: XSIAM is the XDR, and its XQL engine is built in.</a:t>
            </a:r>
            <a:endParaRPr lang="en-US" sz="1100" dirty="0"/>
          </a:p>
        </p:txBody>
      </p:sp>
      <p:sp>
        <p:nvSpPr>
          <p:cNvPr id="16" name="Text 14"/>
          <p:cNvSpPr/>
          <p:nvPr/>
        </p:nvSpPr>
        <p:spPr>
          <a:xfrm>
            <a:off x="548640" y="5623560"/>
            <a:ext cx="11064240" cy="274320"/>
          </a:xfrm>
          <a:prstGeom prst="rect">
            <a:avLst/>
          </a:prstGeom>
          <a:noFill/>
          <a:ln/>
        </p:spPr>
        <p:txBody>
          <a:bodyPr wrap="square" lIns="0" tIns="0" rIns="0" bIns="0" rtlCol="0" anchor="t"/>
          <a:lstStyle/>
          <a:p>
            <a:pPr indent="0" marL="0">
              <a:buNone/>
            </a:pPr>
            <a:r>
              <a:rPr lang="en-US" sz="1100" i="1" dirty="0">
                <a:solidFill>
                  <a:srgbClr val="F5A524"/>
                </a:solidFill>
                <a:latin typeface="Calibri" pitchFamily="34" charset="0"/>
                <a:ea typeface="Calibri" pitchFamily="34" charset="-122"/>
                <a:cs typeface="Calibri" pitchFamily="34" charset="-120"/>
              </a:rPr>
              <a:t>A test that fails on a missing prerequisite is not a product defect — check the amber panel first.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BEGIN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Everything this pack depends on, and where to set it up</a:t>
            </a:r>
            <a:endParaRPr lang="en-US" sz="3100" dirty="0"/>
          </a:p>
        </p:txBody>
      </p:sp>
      <p:sp>
        <p:nvSpPr>
          <p:cNvPr id="4" name="Text 2"/>
          <p:cNvSpPr/>
          <p:nvPr/>
        </p:nvSpPr>
        <p:spPr>
          <a:xfrm>
            <a:off x="822960" y="1325880"/>
            <a:ext cx="292608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a:t>
            </a:r>
            <a:endParaRPr lang="en-US" sz="1050" dirty="0"/>
          </a:p>
        </p:txBody>
      </p:sp>
      <p:sp>
        <p:nvSpPr>
          <p:cNvPr id="5" name="Text 3"/>
          <p:cNvSpPr/>
          <p:nvPr/>
        </p:nvSpPr>
        <p:spPr>
          <a:xfrm>
            <a:off x="384048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Where in XSIAM</a:t>
            </a:r>
            <a:endParaRPr lang="en-US" sz="1050" dirty="0"/>
          </a:p>
        </p:txBody>
      </p:sp>
      <p:sp>
        <p:nvSpPr>
          <p:cNvPr id="6" name="Text 4"/>
          <p:cNvSpPr/>
          <p:nvPr/>
        </p:nvSpPr>
        <p:spPr>
          <a:xfrm>
            <a:off x="7772400" y="1325880"/>
            <a:ext cx="356616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Needed for</a:t>
            </a:r>
            <a:endParaRPr lang="en-US" sz="1050" dirty="0"/>
          </a:p>
        </p:txBody>
      </p:sp>
      <p:sp>
        <p:nvSpPr>
          <p:cNvPr id="7" name="Shape 5"/>
          <p:cNvSpPr/>
          <p:nvPr/>
        </p:nvSpPr>
        <p:spPr>
          <a:xfrm>
            <a:off x="548640" y="1609344"/>
            <a:ext cx="11064240" cy="365760"/>
          </a:xfrm>
          <a:prstGeom prst="roundRect">
            <a:avLst>
              <a:gd name="adj" fmla="val 12500"/>
            </a:avLst>
          </a:prstGeom>
          <a:solidFill>
            <a:srgbClr val="15171B"/>
          </a:solidFill>
          <a:ln w="12700">
            <a:solidFill>
              <a:srgbClr val="15171B"/>
            </a:solidFill>
            <a:prstDash val="solid"/>
          </a:ln>
        </p:spPr>
      </p:sp>
      <p:sp>
        <p:nvSpPr>
          <p:cNvPr id="8" name="Text 6"/>
          <p:cNvSpPr/>
          <p:nvPr/>
        </p:nvSpPr>
        <p:spPr>
          <a:xfrm>
            <a:off x="822960" y="1700784"/>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Marketplace KOI pack</a:t>
            </a:r>
            <a:endParaRPr lang="en-US" sz="1050" dirty="0"/>
          </a:p>
        </p:txBody>
      </p:sp>
      <p:sp>
        <p:nvSpPr>
          <p:cNvPr id="9" name="Text 7"/>
          <p:cNvSpPr/>
          <p:nvPr/>
        </p:nvSpPr>
        <p:spPr>
          <a:xfrm>
            <a:off x="3840480" y="170078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Marketplace → search KOI → Install</a:t>
            </a:r>
            <a:endParaRPr lang="en-US" sz="1000" dirty="0"/>
          </a:p>
        </p:txBody>
      </p:sp>
      <p:sp>
        <p:nvSpPr>
          <p:cNvPr id="10" name="Text 8"/>
          <p:cNvSpPr/>
          <p:nvPr/>
        </p:nvSpPr>
        <p:spPr>
          <a:xfrm>
            <a:off x="7772400" y="1700784"/>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Everything — it holds the integration</a:t>
            </a:r>
            <a:endParaRPr lang="en-US" sz="1000" dirty="0"/>
          </a:p>
        </p:txBody>
      </p:sp>
      <p:sp>
        <p:nvSpPr>
          <p:cNvPr id="11" name="Shape 9"/>
          <p:cNvSpPr/>
          <p:nvPr/>
        </p:nvSpPr>
        <p:spPr>
          <a:xfrm>
            <a:off x="548640" y="2029968"/>
            <a:ext cx="11064240" cy="365760"/>
          </a:xfrm>
          <a:prstGeom prst="roundRect">
            <a:avLst>
              <a:gd name="adj" fmla="val 12500"/>
            </a:avLst>
          </a:prstGeom>
          <a:solidFill>
            <a:srgbClr val="15171B"/>
          </a:solidFill>
          <a:ln w="12700">
            <a:solidFill>
              <a:srgbClr val="15171B"/>
            </a:solidFill>
            <a:prstDash val="solid"/>
          </a:ln>
        </p:spPr>
      </p:sp>
      <p:sp>
        <p:nvSpPr>
          <p:cNvPr id="12" name="Text 10"/>
          <p:cNvSpPr/>
          <p:nvPr/>
        </p:nvSpPr>
        <p:spPr>
          <a:xfrm>
            <a:off x="822960" y="2121408"/>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API key</a:t>
            </a:r>
            <a:endParaRPr lang="en-US" sz="1050" dirty="0"/>
          </a:p>
        </p:txBody>
      </p:sp>
      <p:sp>
        <p:nvSpPr>
          <p:cNvPr id="13" name="Text 11"/>
          <p:cNvSpPr/>
          <p:nvPr/>
        </p:nvSpPr>
        <p:spPr>
          <a:xfrm>
            <a:off x="3840480" y="212140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KOI console → Settings → API Access</a:t>
            </a:r>
            <a:endParaRPr lang="en-US" sz="1000" dirty="0"/>
          </a:p>
        </p:txBody>
      </p:sp>
      <p:sp>
        <p:nvSpPr>
          <p:cNvPr id="14" name="Text 12"/>
          <p:cNvSpPr/>
          <p:nvPr/>
        </p:nvSpPr>
        <p:spPr>
          <a:xfrm>
            <a:off x="7772400" y="2121408"/>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1-7, 10</a:t>
            </a:r>
            <a:endParaRPr lang="en-US" sz="1000" dirty="0"/>
          </a:p>
        </p:txBody>
      </p:sp>
      <p:sp>
        <p:nvSpPr>
          <p:cNvPr id="15" name="Shape 13"/>
          <p:cNvSpPr/>
          <p:nvPr/>
        </p:nvSpPr>
        <p:spPr>
          <a:xfrm>
            <a:off x="548640" y="2450592"/>
            <a:ext cx="11064240" cy="365760"/>
          </a:xfrm>
          <a:prstGeom prst="roundRect">
            <a:avLst>
              <a:gd name="adj" fmla="val 12500"/>
            </a:avLst>
          </a:prstGeom>
          <a:solidFill>
            <a:srgbClr val="15171B"/>
          </a:solidFill>
          <a:ln w="12700">
            <a:solidFill>
              <a:srgbClr val="15171B"/>
            </a:solidFill>
            <a:prstDash val="solid"/>
          </a:ln>
        </p:spPr>
      </p:sp>
      <p:sp>
        <p:nvSpPr>
          <p:cNvPr id="16" name="Text 14"/>
          <p:cNvSpPr/>
          <p:nvPr/>
        </p:nvSpPr>
        <p:spPr>
          <a:xfrm>
            <a:off x="822960" y="2542032"/>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integration instance</a:t>
            </a:r>
            <a:endParaRPr lang="en-US" sz="1050" dirty="0"/>
          </a:p>
        </p:txBody>
      </p:sp>
      <p:sp>
        <p:nvSpPr>
          <p:cNvPr id="17" name="Text 15"/>
          <p:cNvSpPr/>
          <p:nvPr/>
        </p:nvSpPr>
        <p:spPr>
          <a:xfrm>
            <a:off x="3840480" y="254203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KOI</a:t>
            </a:r>
            <a:endParaRPr lang="en-US" sz="1000" dirty="0"/>
          </a:p>
        </p:txBody>
      </p:sp>
      <p:sp>
        <p:nvSpPr>
          <p:cNvPr id="18" name="Text 16"/>
          <p:cNvSpPr/>
          <p:nvPr/>
        </p:nvSpPr>
        <p:spPr>
          <a:xfrm>
            <a:off x="7772400" y="2542032"/>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1-7, 10</a:t>
            </a:r>
            <a:endParaRPr lang="en-US" sz="1000" dirty="0"/>
          </a:p>
        </p:txBody>
      </p:sp>
      <p:sp>
        <p:nvSpPr>
          <p:cNvPr id="19" name="Shape 17"/>
          <p:cNvSpPr/>
          <p:nvPr/>
        </p:nvSpPr>
        <p:spPr>
          <a:xfrm>
            <a:off x="548640" y="2871216"/>
            <a:ext cx="11064240" cy="365760"/>
          </a:xfrm>
          <a:prstGeom prst="roundRect">
            <a:avLst>
              <a:gd name="adj" fmla="val 12500"/>
            </a:avLst>
          </a:prstGeom>
          <a:solidFill>
            <a:srgbClr val="15171B"/>
          </a:solidFill>
          <a:ln w="12700">
            <a:solidFill>
              <a:srgbClr val="15171B"/>
            </a:solidFill>
            <a:prstDash val="solid"/>
          </a:ln>
        </p:spPr>
      </p:sp>
      <p:sp>
        <p:nvSpPr>
          <p:cNvPr id="20" name="Text 18"/>
          <p:cNvSpPr/>
          <p:nvPr/>
        </p:nvSpPr>
        <p:spPr>
          <a:xfrm>
            <a:off x="822960" y="2962656"/>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egress IP KOI accepts</a:t>
            </a:r>
            <a:endParaRPr lang="en-US" sz="1050" dirty="0"/>
          </a:p>
        </p:txBody>
      </p:sp>
      <p:sp>
        <p:nvSpPr>
          <p:cNvPr id="21" name="Text 19"/>
          <p:cNvSpPr/>
          <p:nvPr/>
        </p:nvSpPr>
        <p:spPr>
          <a:xfrm>
            <a:off x="3840480" y="2962656"/>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if needed</a:t>
            </a:r>
            <a:endParaRPr lang="en-US" sz="1000" dirty="0"/>
          </a:p>
        </p:txBody>
      </p:sp>
      <p:sp>
        <p:nvSpPr>
          <p:cNvPr id="22" name="Text 20"/>
          <p:cNvSpPr/>
          <p:nvPr/>
        </p:nvSpPr>
        <p:spPr>
          <a:xfrm>
            <a:off x="7772400" y="2962656"/>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1-7, 10</a:t>
            </a:r>
            <a:endParaRPr lang="en-US" sz="1000" dirty="0"/>
          </a:p>
        </p:txBody>
      </p:sp>
      <p:sp>
        <p:nvSpPr>
          <p:cNvPr id="23" name="Shape 21"/>
          <p:cNvSpPr/>
          <p:nvPr/>
        </p:nvSpPr>
        <p:spPr>
          <a:xfrm>
            <a:off x="548640" y="3291840"/>
            <a:ext cx="11064240" cy="365760"/>
          </a:xfrm>
          <a:prstGeom prst="roundRect">
            <a:avLst>
              <a:gd name="adj" fmla="val 12500"/>
            </a:avLst>
          </a:prstGeom>
          <a:solidFill>
            <a:srgbClr val="15171B"/>
          </a:solidFill>
          <a:ln w="12700">
            <a:solidFill>
              <a:srgbClr val="15171B"/>
            </a:solidFill>
            <a:prstDash val="solid"/>
          </a:ln>
        </p:spPr>
      </p:sp>
      <p:sp>
        <p:nvSpPr>
          <p:cNvPr id="24" name="Text 22"/>
          <p:cNvSpPr/>
          <p:nvPr/>
        </p:nvSpPr>
        <p:spPr>
          <a:xfrm>
            <a:off x="822960" y="3383280"/>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Core REST API instance</a:t>
            </a:r>
            <a:endParaRPr lang="en-US" sz="1050" dirty="0"/>
          </a:p>
        </p:txBody>
      </p:sp>
      <p:sp>
        <p:nvSpPr>
          <p:cNvPr id="25" name="Text 23"/>
          <p:cNvSpPr/>
          <p:nvPr/>
        </p:nvSpPr>
        <p:spPr>
          <a:xfrm>
            <a:off x="3840480" y="338328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Core REST API</a:t>
            </a:r>
            <a:endParaRPr lang="en-US" sz="1000" dirty="0"/>
          </a:p>
        </p:txBody>
      </p:sp>
      <p:sp>
        <p:nvSpPr>
          <p:cNvPr id="26" name="Text 24"/>
          <p:cNvSpPr/>
          <p:nvPr/>
        </p:nvSpPr>
        <p:spPr>
          <a:xfrm>
            <a:off x="7772400" y="3383280"/>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8-9 only</a:t>
            </a:r>
            <a:endParaRPr lang="en-US" sz="1000" dirty="0"/>
          </a:p>
        </p:txBody>
      </p:sp>
      <p:sp>
        <p:nvSpPr>
          <p:cNvPr id="27" name="Shape 25"/>
          <p:cNvSpPr/>
          <p:nvPr/>
        </p:nvSpPr>
        <p:spPr>
          <a:xfrm>
            <a:off x="548640" y="3712464"/>
            <a:ext cx="11064240" cy="365760"/>
          </a:xfrm>
          <a:prstGeom prst="roundRect">
            <a:avLst>
              <a:gd name="adj" fmla="val 12500"/>
            </a:avLst>
          </a:prstGeom>
          <a:solidFill>
            <a:srgbClr val="15171B"/>
          </a:solidFill>
          <a:ln w="12700">
            <a:solidFill>
              <a:srgbClr val="15171B"/>
            </a:solidFill>
            <a:prstDash val="solid"/>
          </a:ln>
        </p:spPr>
      </p:sp>
      <p:sp>
        <p:nvSpPr>
          <p:cNvPr id="28" name="Text 26"/>
          <p:cNvSpPr/>
          <p:nvPr/>
        </p:nvSpPr>
        <p:spPr>
          <a:xfrm>
            <a:off x="822960" y="3803904"/>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in Action Center</a:t>
            </a:r>
            <a:endParaRPr lang="en-US" sz="1050" dirty="0"/>
          </a:p>
        </p:txBody>
      </p:sp>
      <p:sp>
        <p:nvSpPr>
          <p:cNvPr id="29" name="Text 27"/>
          <p:cNvSpPr/>
          <p:nvPr/>
        </p:nvSpPr>
        <p:spPr>
          <a:xfrm>
            <a:off x="3840480" y="380390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Action Center → Scripts Library → upload</a:t>
            </a:r>
            <a:endParaRPr lang="en-US" sz="1000" dirty="0"/>
          </a:p>
        </p:txBody>
      </p:sp>
      <p:sp>
        <p:nvSpPr>
          <p:cNvPr id="30" name="Text 28"/>
          <p:cNvSpPr/>
          <p:nvPr/>
        </p:nvSpPr>
        <p:spPr>
          <a:xfrm>
            <a:off x="7772400" y="3803904"/>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1" name="Shape 29"/>
          <p:cNvSpPr/>
          <p:nvPr/>
        </p:nvSpPr>
        <p:spPr>
          <a:xfrm>
            <a:off x="548640" y="4133088"/>
            <a:ext cx="11064240" cy="365760"/>
          </a:xfrm>
          <a:prstGeom prst="roundRect">
            <a:avLst>
              <a:gd name="adj" fmla="val 12500"/>
            </a:avLst>
          </a:prstGeom>
          <a:solidFill>
            <a:srgbClr val="15171B"/>
          </a:solidFill>
          <a:ln w="12700">
            <a:solidFill>
              <a:srgbClr val="15171B"/>
            </a:solidFill>
            <a:prstDash val="solid"/>
          </a:ln>
        </p:spPr>
      </p:sp>
      <p:sp>
        <p:nvSpPr>
          <p:cNvPr id="32" name="Text 30"/>
          <p:cNvSpPr/>
          <p:nvPr/>
        </p:nvSpPr>
        <p:spPr>
          <a:xfrm>
            <a:off x="822960" y="4224528"/>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endpoint group</a:t>
            </a:r>
            <a:endParaRPr lang="en-US" sz="1050" dirty="0"/>
          </a:p>
        </p:txBody>
      </p:sp>
      <p:sp>
        <p:nvSpPr>
          <p:cNvPr id="33" name="Text 31"/>
          <p:cNvSpPr/>
          <p:nvPr/>
        </p:nvSpPr>
        <p:spPr>
          <a:xfrm>
            <a:off x="3840480" y="422452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Endpoints → tag agents, then Endpoint Groups → dynamic</a:t>
            </a:r>
            <a:endParaRPr lang="en-US" sz="1000" dirty="0"/>
          </a:p>
        </p:txBody>
      </p:sp>
      <p:sp>
        <p:nvSpPr>
          <p:cNvPr id="34" name="Text 32"/>
          <p:cNvSpPr/>
          <p:nvPr/>
        </p:nvSpPr>
        <p:spPr>
          <a:xfrm>
            <a:off x="7772400" y="4224528"/>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5" name="Shape 33"/>
          <p:cNvSpPr/>
          <p:nvPr/>
        </p:nvSpPr>
        <p:spPr>
          <a:xfrm>
            <a:off x="548640" y="4553712"/>
            <a:ext cx="11064240" cy="365760"/>
          </a:xfrm>
          <a:prstGeom prst="roundRect">
            <a:avLst>
              <a:gd name="adj" fmla="val 12500"/>
            </a:avLst>
          </a:prstGeom>
          <a:solidFill>
            <a:srgbClr val="15171B"/>
          </a:solidFill>
          <a:ln w="12700">
            <a:solidFill>
              <a:srgbClr val="15171B"/>
            </a:solidFill>
            <a:prstDash val="solid"/>
          </a:ln>
        </p:spPr>
      </p:sp>
      <p:sp>
        <p:nvSpPr>
          <p:cNvPr id="36" name="Text 34"/>
          <p:cNvSpPr/>
          <p:nvPr/>
        </p:nvSpPr>
        <p:spPr>
          <a:xfrm>
            <a:off x="822960" y="4645152"/>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Runner" JSON List</a:t>
            </a:r>
            <a:endParaRPr lang="en-US" sz="1050" dirty="0"/>
          </a:p>
        </p:txBody>
      </p:sp>
      <p:sp>
        <p:nvSpPr>
          <p:cNvPr id="37" name="Text 35"/>
          <p:cNvSpPr/>
          <p:nvPr/>
        </p:nvSpPr>
        <p:spPr>
          <a:xfrm>
            <a:off x="3840480" y="464515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Object Setup → Lists</a:t>
            </a:r>
            <a:endParaRPr lang="en-US" sz="1000" dirty="0"/>
          </a:p>
        </p:txBody>
      </p:sp>
      <p:sp>
        <p:nvSpPr>
          <p:cNvPr id="38" name="Text 36"/>
          <p:cNvSpPr/>
          <p:nvPr/>
        </p:nvSpPr>
        <p:spPr>
          <a:xfrm>
            <a:off x="7772400" y="4645152"/>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9" name="Shape 37"/>
          <p:cNvSpPr/>
          <p:nvPr/>
        </p:nvSpPr>
        <p:spPr>
          <a:xfrm>
            <a:off x="548640" y="5532120"/>
            <a:ext cx="11064240" cy="777240"/>
          </a:xfrm>
          <a:prstGeom prst="roundRect">
            <a:avLst>
              <a:gd name="adj" fmla="val 5882"/>
            </a:avLst>
          </a:prstGeom>
          <a:solidFill>
            <a:srgbClr val="1C2026"/>
          </a:solidFill>
          <a:ln w="12700">
            <a:solidFill>
              <a:srgbClr val="1C2026"/>
            </a:solidFill>
            <a:prstDash val="solid"/>
          </a:ln>
        </p:spPr>
      </p:sp>
      <p:sp>
        <p:nvSpPr>
          <p:cNvPr id="40" name="Shape 38"/>
          <p:cNvSpPr/>
          <p:nvPr/>
        </p:nvSpPr>
        <p:spPr>
          <a:xfrm>
            <a:off x="786384" y="57607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760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650992"/>
            <a:ext cx="10058400" cy="54864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Two are easy to miss. The Marketplace KOI pack must be installed first — this extension ships no integration. And the Core REST API instance: without it the Script Runner's tracker stays empty and every scan run does nothing, which looks exactly like a broken playbook.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and authorisation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Marketplace KOI pack installed (it holds the integration)</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API key from the KOI console</a:t>
            </a:r>
            <a:endParaRPr lang="en-US" sz="1050" dirty="0"/>
          </a:p>
        </p:txBody>
      </p:sp>
      <p:sp>
        <p:nvSpPr>
          <p:cNvPr id="10" name="Shape 8"/>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Add an instance → search KOI.</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click Test, then Save.</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on any incident and run:</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22" name="Shape 20"/>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3" name="Text 21"/>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6" name="Text 24"/>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1181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command returns a table of inventory items.</a:t>
            </a:r>
            <a:endParaRPr lang="en-US" sz="1150" dirty="0"/>
          </a:p>
        </p:txBody>
      </p:sp>
      <p:sp>
        <p:nvSpPr>
          <p:cNvPr id="28" name="Shape 26"/>
          <p:cNvSpPr/>
          <p:nvPr/>
        </p:nvSpPr>
        <p:spPr>
          <a:xfrm>
            <a:off x="548640" y="4800600"/>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983480"/>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9834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9103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403 here almost always means egress rather than a bad key — KOI restricts its sensitive endpoints by source IP. Run the instance on a Cortex engine whose address KOI accepts. A 401 means the key itself.</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Fetch events enabled on the KOI instance</a:t>
            </a:r>
            <a:endParaRPr lang="en-US" sz="1050" dirty="0"/>
          </a:p>
        </p:txBody>
      </p:sp>
      <p:sp>
        <p:nvSpPr>
          <p:cNvPr id="10" name="Shape 8"/>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the KOI instance and tick Fetch events, then Save.</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two collection cycles.</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Query Builder and run:</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by source_log_type</a:t>
            </a:r>
            <a:endParaRPr lang="en-US" sz="1050" dirty="0"/>
          </a:p>
        </p:txBody>
      </p:sp>
      <p:sp>
        <p:nvSpPr>
          <p:cNvPr id="22" name="Shape 20"/>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3" name="Text 21"/>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appear under Alerts, Audit, or both.</a:t>
            </a:r>
            <a:endParaRPr lang="en-US" sz="1150" dirty="0"/>
          </a:p>
        </p:txBody>
      </p:sp>
      <p:sp>
        <p:nvSpPr>
          <p:cNvPr id="26" name="Text 24"/>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1181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grow between cycles.</a:t>
            </a:r>
            <a:endParaRPr lang="en-US" sz="1150" dirty="0"/>
          </a:p>
        </p:txBody>
      </p:sp>
      <p:sp>
        <p:nvSpPr>
          <p:cNvPr id="28" name="Text 26"/>
          <p:cNvSpPr/>
          <p:nvPr/>
        </p:nvSpPr>
        <p:spPr>
          <a:xfrm>
            <a:off x="7626096" y="34472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4472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Fields such as item_id and marketplace are populated — this pack's parsing rule does that.</a:t>
            </a:r>
            <a:endParaRPr lang="en-US" sz="1150" dirty="0"/>
          </a:p>
        </p:txBody>
      </p:sp>
      <p:sp>
        <p:nvSpPr>
          <p:cNvPr id="30" name="Shape 28"/>
          <p:cNvSpPr/>
          <p:nvPr/>
        </p:nvSpPr>
        <p:spPr>
          <a:xfrm>
            <a:off x="548640" y="4800600"/>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4983480"/>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49834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49103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Marketplace KOI pack ships no parsing or modeling rules. If those promoted fields are missing, this extension is not installed or has not activated yet.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Counting alerts correctly</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 in koi_koi_raw</a:t>
            </a:r>
            <a:endParaRPr lang="en-US" sz="1050" dirty="0"/>
          </a:p>
        </p:txBody>
      </p:sp>
      <p:sp>
        <p:nvSpPr>
          <p:cNvPr id="8" name="Shape 6"/>
          <p:cNvSpPr/>
          <p:nvPr/>
        </p:nvSpPr>
        <p:spPr>
          <a:xfrm>
            <a:off x="548640" y="2007108"/>
            <a:ext cx="6400800" cy="2619756"/>
          </a:xfrm>
          <a:prstGeom prst="roundRect">
            <a:avLst>
              <a:gd name="adj" fmla="val 1745"/>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Query Builder run:</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filter source_log_type = "Alerts"</a:t>
            </a:r>
            <a:endParaRPr lang="en-US" sz="1050" dirty="0"/>
          </a:p>
        </p:txBody>
      </p:sp>
      <p:sp>
        <p:nvSpPr>
          <p:cNvPr id="16" name="Text 14"/>
          <p:cNvSpPr/>
          <p:nvPr/>
        </p:nvSpPr>
        <p:spPr>
          <a:xfrm>
            <a:off x="859536" y="35615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7" name="Text 15"/>
          <p:cNvSpPr/>
          <p:nvPr/>
        </p:nvSpPr>
        <p:spPr>
          <a:xfrm>
            <a:off x="1152144" y="3561588"/>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count_distinct(koi_notification_id) as real_alerts</a:t>
            </a:r>
            <a:endParaRPr lang="en-US" sz="1050" dirty="0"/>
          </a:p>
        </p:txBody>
      </p:sp>
      <p:sp>
        <p:nvSpPr>
          <p:cNvPr id="18" name="Text 16"/>
          <p:cNvSpPr/>
          <p:nvPr/>
        </p:nvSpPr>
        <p:spPr>
          <a:xfrm>
            <a:off x="859536" y="40782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9" name="Text 17"/>
          <p:cNvSpPr/>
          <p:nvPr/>
        </p:nvSpPr>
        <p:spPr>
          <a:xfrm>
            <a:off x="1152144" y="40782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open the KOI Alerts Dashboard and compare.</a:t>
            </a:r>
            <a:endParaRPr lang="en-US" sz="1150" dirty="0"/>
          </a:p>
        </p:txBody>
      </p:sp>
      <p:sp>
        <p:nvSpPr>
          <p:cNvPr id="20" name="Shape 18"/>
          <p:cNvSpPr/>
          <p:nvPr/>
        </p:nvSpPr>
        <p:spPr>
          <a:xfrm>
            <a:off x="7315200" y="2007108"/>
            <a:ext cx="4297680" cy="2619756"/>
          </a:xfrm>
          <a:prstGeom prst="roundRect">
            <a:avLst>
              <a:gd name="adj" fmla="val 1745"/>
            </a:avLst>
          </a:prstGeom>
          <a:solidFill>
            <a:srgbClr val="1C2026"/>
          </a:solidFill>
          <a:ln w="12700">
            <a:solidFill>
              <a:srgbClr val="1C2026"/>
            </a:solidFill>
            <a:prstDash val="solid"/>
          </a:ln>
        </p:spPr>
      </p:sp>
      <p:sp>
        <p:nvSpPr>
          <p:cNvPr id="21" name="Text 19"/>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57403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is far larger than real_alerts.</a:t>
            </a:r>
            <a:endParaRPr lang="en-US" sz="1150" dirty="0"/>
          </a:p>
        </p:txBody>
      </p:sp>
      <p:sp>
        <p:nvSpPr>
          <p:cNvPr id="24" name="Text 22"/>
          <p:cNvSpPr/>
          <p:nvPr/>
        </p:nvSpPr>
        <p:spPr>
          <a:xfrm>
            <a:off x="7626096" y="29032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9032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 alert counts match real_alerts, not rows.</a:t>
            </a:r>
            <a:endParaRPr lang="en-US" sz="1150" dirty="0"/>
          </a:p>
        </p:txBody>
      </p:sp>
      <p:sp>
        <p:nvSpPr>
          <p:cNvPr id="26" name="Text 24"/>
          <p:cNvSpPr/>
          <p:nvPr/>
        </p:nvSpPr>
        <p:spPr>
          <a:xfrm>
            <a:off x="7626096" y="34198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4198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stay stable as fetches repeat.</a:t>
            </a:r>
            <a:endParaRPr lang="en-US" sz="1150" dirty="0"/>
          </a:p>
        </p:txBody>
      </p:sp>
      <p:sp>
        <p:nvSpPr>
          <p:cNvPr id="28" name="Shape 26"/>
          <p:cNvSpPr/>
          <p:nvPr/>
        </p:nvSpPr>
        <p:spPr>
          <a:xfrm>
            <a:off x="548640" y="4773168"/>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956048"/>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9560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88289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rows greatly exceeding real_alerts is CORRECT — the Marketplace integration re-sends every still-open alert on each fetch. Only koi_notification_id identifies an alert. Every widget here de-duplicates on it first.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alert in XSIAM</a:t>
            </a:r>
            <a:endParaRPr lang="en-US" sz="1050" dirty="0"/>
          </a:p>
        </p:txBody>
      </p:sp>
      <p:sp>
        <p:nvSpPr>
          <p:cNvPr id="10" name="Shape 8"/>
          <p:cNvSpPr/>
          <p:nvPr/>
        </p:nvSpPr>
        <p:spPr>
          <a:xfrm>
            <a:off x="548640" y="2221992"/>
            <a:ext cx="6400800" cy="2665476"/>
          </a:xfrm>
          <a:prstGeom prst="roundRect">
            <a:avLst>
              <a:gd name="adj" fmla="val 1715"/>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 KOI alert.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the triage playbook, or run:</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!setPlaybook playbookId="KOI Ext IR - Alert Triage"</a:t>
            </a:r>
            <a:endParaRPr lang="en-US" sz="10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then read the War Room.</a:t>
            </a:r>
            <a:endParaRPr lang="en-US" sz="1150" dirty="0"/>
          </a:p>
        </p:txBody>
      </p:sp>
      <p:sp>
        <p:nvSpPr>
          <p:cNvPr id="20" name="Shape 18"/>
          <p:cNvSpPr/>
          <p:nvPr/>
        </p:nvSpPr>
        <p:spPr>
          <a:xfrm>
            <a:off x="7315200" y="2221992"/>
            <a:ext cx="4297680" cy="2665476"/>
          </a:xfrm>
          <a:prstGeom prst="roundRect">
            <a:avLst>
              <a:gd name="adj" fmla="val 1715"/>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is extracted from the alert payload.</a:t>
            </a:r>
            <a:endParaRPr lang="en-US" sz="1150" dirty="0"/>
          </a:p>
        </p:txBody>
      </p:sp>
      <p:sp>
        <p:nvSpPr>
          <p:cNvPr id="24" name="Text 22"/>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1181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verdict is posted: Malicious, Suspicious or Benign.</a:t>
            </a:r>
            <a:endParaRPr lang="en-US" sz="1150" dirty="0"/>
          </a:p>
        </p:txBody>
      </p:sp>
      <p:sp>
        <p:nvSpPr>
          <p:cNvPr id="26" name="Text 24"/>
          <p:cNvSpPr/>
          <p:nvPr/>
        </p:nvSpPr>
        <p:spPr>
          <a:xfrm>
            <a:off x="7626096" y="36347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6347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Low risk auto-closes; critical and high escalate.</a:t>
            </a:r>
            <a:endParaRPr lang="en-US" sz="1150" dirty="0"/>
          </a:p>
        </p:txBody>
      </p:sp>
      <p:sp>
        <p:nvSpPr>
          <p:cNvPr id="28" name="Text 26"/>
          <p:cNvSpPr/>
          <p:nvPr/>
        </p:nvSpPr>
        <p:spPr>
          <a:xfrm>
            <a:off x="7626096" y="41513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15137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19 KOI alert fields are written onto the alert.</a:t>
            </a:r>
            <a:endParaRPr lang="en-US" sz="1150" dirty="0"/>
          </a:p>
        </p:txBody>
      </p:sp>
      <p:sp>
        <p:nvSpPr>
          <p:cNvPr id="30" name="Shape 28"/>
          <p:cNvSpPr/>
          <p:nvPr/>
        </p:nvSpPr>
        <p:spPr>
          <a:xfrm>
            <a:off x="548640" y="5033772"/>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216652"/>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2166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14350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If everything comes out Suspicious, the alert carried no KOI detail for the playbook to read. Check that your correlation rule passes the KOI fields through.</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Item and device investigation</a:t>
            </a:r>
            <a:endParaRPr lang="en-US" sz="3100" dirty="0"/>
          </a:p>
        </p:txBody>
      </p:sp>
      <p:sp>
        <p:nvSpPr>
          <p:cNvPr id="4" name="Shape 2"/>
          <p:cNvSpPr/>
          <p:nvPr/>
        </p:nvSpPr>
        <p:spPr>
          <a:xfrm>
            <a:off x="548640" y="1316736"/>
            <a:ext cx="11064240" cy="918972"/>
          </a:xfrm>
          <a:prstGeom prst="roundRect">
            <a:avLst>
              <a:gd name="adj" fmla="val 4975"/>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item id and its marketplace, and a hostname</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Nothing else — the XQL engine XSIAM uses for execution evidence is built in</a:t>
            </a:r>
            <a:endParaRPr lang="en-US" sz="1050" dirty="0"/>
          </a:p>
        </p:txBody>
      </p:sp>
      <p:sp>
        <p:nvSpPr>
          <p:cNvPr id="12" name="Shape 10"/>
          <p:cNvSpPr/>
          <p:nvPr/>
        </p:nvSpPr>
        <p:spPr>
          <a:xfrm>
            <a:off x="548640" y="2436876"/>
            <a:ext cx="6400800" cy="2852928"/>
          </a:xfrm>
          <a:prstGeom prst="roundRect">
            <a:avLst>
              <a:gd name="adj" fmla="val 1603"/>
            </a:avLst>
          </a:prstGeom>
          <a:solidFill>
            <a:srgbClr val="15171B"/>
          </a:solidFill>
          <a:ln w="12700">
            <a:solidFill>
              <a:srgbClr val="15171B"/>
            </a:solidFill>
            <a:prstDash val="solid"/>
          </a:ln>
        </p:spPr>
      </p:sp>
      <p:sp>
        <p:nvSpPr>
          <p:cNvPr id="13" name="Text 11"/>
          <p:cNvSpPr/>
          <p:nvPr/>
        </p:nvSpPr>
        <p:spPr>
          <a:xfrm>
            <a:off x="859536" y="263804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4" name="Text 12"/>
          <p:cNvSpPr/>
          <p:nvPr/>
        </p:nvSpPr>
        <p:spPr>
          <a:xfrm>
            <a:off x="859536" y="30038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5" name="Text 13"/>
          <p:cNvSpPr/>
          <p:nvPr/>
        </p:nvSpPr>
        <p:spPr>
          <a:xfrm>
            <a:off x="1152144" y="30038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IR - Investigate Item → Run.</a:t>
            </a:r>
            <a:endParaRPr lang="en-US" sz="1150" dirty="0"/>
          </a:p>
        </p:txBody>
      </p:sp>
      <p:sp>
        <p:nvSpPr>
          <p:cNvPr id="16" name="Text 14"/>
          <p:cNvSpPr/>
          <p:nvPr/>
        </p:nvSpPr>
        <p:spPr>
          <a:xfrm>
            <a:off x="859536" y="33329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7" name="Text 15"/>
          <p:cNvSpPr/>
          <p:nvPr/>
        </p:nvSpPr>
        <p:spPr>
          <a:xfrm>
            <a:off x="1152144" y="33329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18" name="Text 16"/>
          <p:cNvSpPr/>
          <p:nvPr/>
        </p:nvSpPr>
        <p:spPr>
          <a:xfrm>
            <a:off x="859536" y="36621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9" name="Text 17"/>
          <p:cNvSpPr/>
          <p:nvPr/>
        </p:nvSpPr>
        <p:spPr>
          <a:xfrm>
            <a:off x="1152144" y="36621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with KOI Ext IR - Investigate Device and a hostname.</a:t>
            </a:r>
            <a:endParaRPr lang="en-US" sz="1150" dirty="0"/>
          </a:p>
        </p:txBody>
      </p:sp>
      <p:sp>
        <p:nvSpPr>
          <p:cNvPr id="20" name="Shape 18"/>
          <p:cNvSpPr/>
          <p:nvPr/>
        </p:nvSpPr>
        <p:spPr>
          <a:xfrm>
            <a:off x="7315200" y="2436876"/>
            <a:ext cx="4297680" cy="2852928"/>
          </a:xfrm>
          <a:prstGeom prst="roundRect">
            <a:avLst>
              <a:gd name="adj" fmla="val 1603"/>
            </a:avLst>
          </a:prstGeom>
          <a:solidFill>
            <a:srgbClr val="1C2026"/>
          </a:solidFill>
          <a:ln w="12700">
            <a:solidFill>
              <a:srgbClr val="1C2026"/>
            </a:solidFill>
            <a:prstDash val="solid"/>
          </a:ln>
        </p:spPr>
      </p:sp>
      <p:sp>
        <p:nvSpPr>
          <p:cNvPr id="21" name="Text 19"/>
          <p:cNvSpPr/>
          <p:nvPr/>
        </p:nvSpPr>
        <p:spPr>
          <a:xfrm>
            <a:off x="7626096" y="263804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30038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0038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investigation summary with organisation exposure.</a:t>
            </a:r>
            <a:endParaRPr lang="en-US" sz="1150" dirty="0"/>
          </a:p>
        </p:txBody>
      </p:sp>
      <p:sp>
        <p:nvSpPr>
          <p:cNvPr id="24" name="Text 22"/>
          <p:cNvSpPr/>
          <p:nvPr/>
        </p:nvSpPr>
        <p:spPr>
          <a:xfrm>
            <a:off x="7626096" y="3520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520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governance counts — on blocklist AND on allowlist.</a:t>
            </a:r>
            <a:endParaRPr lang="en-US" sz="1150" dirty="0"/>
          </a:p>
        </p:txBody>
      </p:sp>
      <p:sp>
        <p:nvSpPr>
          <p:cNvPr id="26" name="Text 24"/>
          <p:cNvSpPr/>
          <p:nvPr/>
        </p:nvSpPr>
        <p:spPr>
          <a:xfrm>
            <a:off x="7626096" y="4037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403707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device view lists what KOI inventoried on that host.</a:t>
            </a:r>
            <a:endParaRPr lang="en-US" sz="1150" dirty="0"/>
          </a:p>
        </p:txBody>
      </p:sp>
      <p:sp>
        <p:nvSpPr>
          <p:cNvPr id="28" name="Text 26"/>
          <p:cNvSpPr/>
          <p:nvPr/>
        </p:nvSpPr>
        <p:spPr>
          <a:xfrm>
            <a:off x="7626096" y="45537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55371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With Cortex XDR present, execution evidence is added.</a:t>
            </a:r>
            <a:endParaRPr lang="en-US" sz="1150" dirty="0"/>
          </a:p>
        </p:txBody>
      </p:sp>
      <p:sp>
        <p:nvSpPr>
          <p:cNvPr id="30" name="Shape 28"/>
          <p:cNvSpPr/>
          <p:nvPr/>
        </p:nvSpPr>
        <p:spPr>
          <a:xfrm>
            <a:off x="548640" y="5436108"/>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618988"/>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61898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54583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pack builds its device view from inventory filtered by host plus Cortex XDR data. KOI's own device record — last seen, registration, logged-on user — needs the custom integration's device commands and is not available here.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Gated response</a:t>
            </a:r>
            <a:endParaRPr lang="en-US" sz="3100" dirty="0"/>
          </a:p>
        </p:txBody>
      </p:sp>
      <p:sp>
        <p:nvSpPr>
          <p:cNvPr id="4" name="Shape 2"/>
          <p:cNvSpPr/>
          <p:nvPr/>
        </p:nvSpPr>
        <p:spPr>
          <a:xfrm>
            <a:off x="548640" y="1316736"/>
            <a:ext cx="11064240" cy="918972"/>
          </a:xfrm>
          <a:prstGeom prst="roundRect">
            <a:avLst>
              <a:gd name="adj" fmla="val 4975"/>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item id and marketplace</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Permission to approve a task</a:t>
            </a:r>
            <a:endParaRPr lang="en-US" sz="1050" dirty="0"/>
          </a:p>
        </p:txBody>
      </p:sp>
      <p:sp>
        <p:nvSpPr>
          <p:cNvPr id="12" name="Shape 10"/>
          <p:cNvSpPr/>
          <p:nvPr/>
        </p:nvSpPr>
        <p:spPr>
          <a:xfrm>
            <a:off x="548640" y="2436876"/>
            <a:ext cx="6400800" cy="2478024"/>
          </a:xfrm>
          <a:prstGeom prst="roundRect">
            <a:avLst>
              <a:gd name="adj" fmla="val 1845"/>
            </a:avLst>
          </a:prstGeom>
          <a:solidFill>
            <a:srgbClr val="15171B"/>
          </a:solidFill>
          <a:ln w="12700">
            <a:solidFill>
              <a:srgbClr val="15171B"/>
            </a:solidFill>
            <a:prstDash val="solid"/>
          </a:ln>
        </p:spPr>
      </p:sp>
      <p:sp>
        <p:nvSpPr>
          <p:cNvPr id="13" name="Text 11"/>
          <p:cNvSpPr/>
          <p:nvPr/>
        </p:nvSpPr>
        <p:spPr>
          <a:xfrm>
            <a:off x="859536" y="263804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4" name="Text 12"/>
          <p:cNvSpPr/>
          <p:nvPr/>
        </p:nvSpPr>
        <p:spPr>
          <a:xfrm>
            <a:off x="859536" y="30038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5" name="Text 13"/>
          <p:cNvSpPr/>
          <p:nvPr/>
        </p:nvSpPr>
        <p:spPr>
          <a:xfrm>
            <a:off x="1152144" y="30038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IR - Block and Remediate → Run.</a:t>
            </a:r>
            <a:endParaRPr lang="en-US" sz="1150" dirty="0"/>
          </a:p>
        </p:txBody>
      </p:sp>
      <p:sp>
        <p:nvSpPr>
          <p:cNvPr id="16" name="Text 14"/>
          <p:cNvSpPr/>
          <p:nvPr/>
        </p:nvSpPr>
        <p:spPr>
          <a:xfrm>
            <a:off x="859536" y="33329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7" name="Text 15"/>
          <p:cNvSpPr/>
          <p:nvPr/>
        </p:nvSpPr>
        <p:spPr>
          <a:xfrm>
            <a:off x="1152144" y="33329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18" name="Text 16"/>
          <p:cNvSpPr/>
          <p:nvPr/>
        </p:nvSpPr>
        <p:spPr>
          <a:xfrm>
            <a:off x="859536" y="36621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9" name="Text 17"/>
          <p:cNvSpPr/>
          <p:nvPr/>
        </p:nvSpPr>
        <p:spPr>
          <a:xfrm>
            <a:off x="1152144" y="36621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pending approval task and read it.</a:t>
            </a:r>
            <a:endParaRPr lang="en-US" sz="1150" dirty="0"/>
          </a:p>
        </p:txBody>
      </p:sp>
      <p:sp>
        <p:nvSpPr>
          <p:cNvPr id="20" name="Text 18"/>
          <p:cNvSpPr/>
          <p:nvPr/>
        </p:nvSpPr>
        <p:spPr>
          <a:xfrm>
            <a:off x="859536" y="39913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1" name="Text 19"/>
          <p:cNvSpPr/>
          <p:nvPr/>
        </p:nvSpPr>
        <p:spPr>
          <a:xfrm>
            <a:off x="1152144" y="39913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Approve, or leave it pending.</a:t>
            </a:r>
            <a:endParaRPr lang="en-US" sz="1150" dirty="0"/>
          </a:p>
        </p:txBody>
      </p:sp>
      <p:sp>
        <p:nvSpPr>
          <p:cNvPr id="22" name="Shape 20"/>
          <p:cNvSpPr/>
          <p:nvPr/>
        </p:nvSpPr>
        <p:spPr>
          <a:xfrm>
            <a:off x="7315200" y="2436876"/>
            <a:ext cx="4297680" cy="2478024"/>
          </a:xfrm>
          <a:prstGeom prst="roundRect">
            <a:avLst>
              <a:gd name="adj" fmla="val 1845"/>
            </a:avLst>
          </a:prstGeom>
          <a:solidFill>
            <a:srgbClr val="1C2026"/>
          </a:solidFill>
          <a:ln w="12700">
            <a:solidFill>
              <a:srgbClr val="1C2026"/>
            </a:solidFill>
            <a:prstDash val="solid"/>
          </a:ln>
        </p:spPr>
      </p:sp>
      <p:sp>
        <p:nvSpPr>
          <p:cNvPr id="23" name="Text 21"/>
          <p:cNvSpPr/>
          <p:nvPr/>
        </p:nvSpPr>
        <p:spPr>
          <a:xfrm>
            <a:off x="7626096" y="263804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30038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038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on an approval task and waits.</a:t>
            </a:r>
            <a:endParaRPr lang="en-US" sz="1150" dirty="0"/>
          </a:p>
        </p:txBody>
      </p:sp>
      <p:sp>
        <p:nvSpPr>
          <p:cNvPr id="26" name="Text 24"/>
          <p:cNvSpPr/>
          <p:nvPr/>
        </p:nvSpPr>
        <p:spPr>
          <a:xfrm>
            <a:off x="7626096" y="33329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3329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investigation and governance state.</a:t>
            </a:r>
            <a:endParaRPr lang="en-US" sz="1150" dirty="0"/>
          </a:p>
        </p:txBody>
      </p:sp>
      <p:sp>
        <p:nvSpPr>
          <p:cNvPr id="28" name="Text 26"/>
          <p:cNvSpPr/>
          <p:nvPr/>
        </p:nvSpPr>
        <p:spPr>
          <a:xfrm>
            <a:off x="7626096" y="3849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8496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Nothing reaches the blocklist until a human approves.</a:t>
            </a:r>
            <a:endParaRPr lang="en-US" sz="1150" dirty="0"/>
          </a:p>
        </p:txBody>
      </p:sp>
      <p:sp>
        <p:nvSpPr>
          <p:cNvPr id="30" name="Text 28"/>
          <p:cNvSpPr/>
          <p:nvPr/>
        </p:nvSpPr>
        <p:spPr>
          <a:xfrm>
            <a:off x="7626096" y="43662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36626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already blocked short-circuits.</a:t>
            </a:r>
            <a:endParaRPr lang="en-US" sz="1150" dirty="0"/>
          </a:p>
        </p:txBody>
      </p:sp>
      <p:sp>
        <p:nvSpPr>
          <p:cNvPr id="32" name="Shape 30"/>
          <p:cNvSpPr/>
          <p:nvPr/>
        </p:nvSpPr>
        <p:spPr>
          <a:xfrm>
            <a:off x="548640" y="5061204"/>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244084"/>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24408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17093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Re-run this after any change to the response playbook. If a run ever completes without stopping for approval, stop and investigate before using the pack in production.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Proactive hunting</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Nothing else — the hunt sweep queries xdr_data, which XSIAM holds natively</a:t>
            </a:r>
            <a:endParaRPr lang="en-US" sz="1050" dirty="0"/>
          </a:p>
        </p:txBody>
      </p:sp>
      <p:sp>
        <p:nvSpPr>
          <p:cNvPr id="10" name="Shape 8"/>
          <p:cNvSpPr/>
          <p:nvPr/>
        </p:nvSpPr>
        <p:spPr>
          <a:xfrm>
            <a:off x="548640" y="2221992"/>
            <a:ext cx="6400800" cy="2336292"/>
          </a:xfrm>
          <a:prstGeom prst="roundRect">
            <a:avLst>
              <a:gd name="adj" fmla="val 1957"/>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Hunting - MCP Server Audit → Run.</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run KOI Ext Hunting - Hunt Sweep.</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set hunt_set and min_risk.</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match table.</a:t>
            </a:r>
            <a:endParaRPr lang="en-US" sz="1150" dirty="0"/>
          </a:p>
        </p:txBody>
      </p:sp>
      <p:sp>
        <p:nvSpPr>
          <p:cNvPr id="20" name="Shape 18"/>
          <p:cNvSpPr/>
          <p:nvPr/>
        </p:nvSpPr>
        <p:spPr>
          <a:xfrm>
            <a:off x="7315200" y="2221992"/>
            <a:ext cx="4297680" cy="2336292"/>
          </a:xfrm>
          <a:prstGeom prst="roundRect">
            <a:avLst>
              <a:gd name="adj" fmla="val 1957"/>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audit lists MCP servers at or above the threshold.</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sweep runs its hunts and investigates what it finds.</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Block candidates are routed to an analyst gate, never blocked automatically.</a:t>
            </a:r>
            <a:endParaRPr lang="en-US" sz="1150" dirty="0"/>
          </a:p>
        </p:txBody>
      </p:sp>
      <p:sp>
        <p:nvSpPr>
          <p:cNvPr id="28" name="Shape 26"/>
          <p:cNvSpPr/>
          <p:nvPr/>
        </p:nvSpPr>
        <p:spPr>
          <a:xfrm>
            <a:off x="548640" y="4704588"/>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887468"/>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8874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81431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sweep checks the XQL engine is answering before it runs, and stops cleanly if not. On XSIAM the engine is provisioned by the platform, so that check should simply pass.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refresh the tracker</a:t>
            </a:r>
            <a:endParaRPr lang="en-US" sz="3100" dirty="0"/>
          </a:p>
        </p:txBody>
      </p:sp>
      <p:sp>
        <p:nvSpPr>
          <p:cNvPr id="4" name="Shape 2"/>
          <p:cNvSpPr/>
          <p:nvPr/>
        </p:nvSpPr>
        <p:spPr>
          <a:xfrm>
            <a:off x="548640" y="1316736"/>
            <a:ext cx="11064240" cy="1133856"/>
          </a:xfrm>
          <a:prstGeom prst="roundRect">
            <a:avLst>
              <a:gd name="adj" fmla="val 4032"/>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Core REST API integration instance configured  ← the one people miss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KOI deployment script — download it from YOUR KOI console, then upload it to Action Center → Scripts Library. This is KOI's script, not a Cortex one. It must take no parameters</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endpoint group — easiest is to tag the agents, then make a dynamic group on that tag</a:t>
            </a:r>
            <a:endParaRPr lang="en-US" sz="1050" dirty="0"/>
          </a:p>
        </p:txBody>
      </p:sp>
      <p:sp>
        <p:nvSpPr>
          <p:cNvPr id="12" name="Text 10"/>
          <p:cNvSpPr/>
          <p:nvPr/>
        </p:nvSpPr>
        <p:spPr>
          <a:xfrm>
            <a:off x="3749040" y="2061972"/>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3" name="Text 11"/>
          <p:cNvSpPr/>
          <p:nvPr/>
        </p:nvSpPr>
        <p:spPr>
          <a:xfrm>
            <a:off x="3950208" y="2061972"/>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JSON List named exactly "Koi Script Runner" — sample content ships with this pack</a:t>
            </a:r>
            <a:endParaRPr lang="en-US" sz="1050" dirty="0"/>
          </a:p>
        </p:txBody>
      </p:sp>
      <p:sp>
        <p:nvSpPr>
          <p:cNvPr id="14" name="Shape 12"/>
          <p:cNvSpPr/>
          <p:nvPr/>
        </p:nvSpPr>
        <p:spPr>
          <a:xfrm>
            <a:off x="548640" y="2651760"/>
            <a:ext cx="6400800" cy="3200400"/>
          </a:xfrm>
          <a:prstGeom prst="roundRect">
            <a:avLst>
              <a:gd name="adj" fmla="val 1429"/>
            </a:avLst>
          </a:prstGeom>
          <a:solidFill>
            <a:srgbClr val="15171B"/>
          </a:solidFill>
          <a:ln w="12700">
            <a:solidFill>
              <a:srgbClr val="15171B"/>
            </a:solidFill>
            <a:prstDash val="solid"/>
          </a:ln>
        </p:spPr>
      </p:sp>
      <p:sp>
        <p:nvSpPr>
          <p:cNvPr id="15" name="Text 13"/>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6" name="Text 14"/>
          <p:cNvSpPr/>
          <p:nvPr/>
        </p:nvSpPr>
        <p:spPr>
          <a:xfrm>
            <a:off x="859536" y="32186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7" name="Text 15"/>
          <p:cNvSpPr/>
          <p:nvPr/>
        </p:nvSpPr>
        <p:spPr>
          <a:xfrm>
            <a:off x="1152144" y="321868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Object Setup → Lists → New List, type JSON, named exactly Koi Script Runner.</a:t>
            </a:r>
            <a:endParaRPr lang="en-US" sz="1150" dirty="0"/>
          </a:p>
        </p:txBody>
      </p:sp>
      <p:sp>
        <p:nvSpPr>
          <p:cNvPr id="18" name="Text 16"/>
          <p:cNvSpPr/>
          <p:nvPr/>
        </p:nvSpPr>
        <p:spPr>
          <a:xfrm>
            <a:off x="859536" y="37353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9" name="Text 17"/>
          <p:cNvSpPr/>
          <p:nvPr/>
        </p:nvSpPr>
        <p:spPr>
          <a:xfrm>
            <a:off x="1152144" y="373532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sample list content that ships with this pack (see the pack README), then edit it.</a:t>
            </a:r>
            <a:endParaRPr lang="en-US" sz="1150" dirty="0"/>
          </a:p>
        </p:txBody>
      </p:sp>
      <p:sp>
        <p:nvSpPr>
          <p:cNvPr id="20" name="Text 18"/>
          <p:cNvSpPr/>
          <p:nvPr/>
        </p:nvSpPr>
        <p:spPr>
          <a:xfrm>
            <a:off x="859536" y="42519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1" name="Text 19"/>
          <p:cNvSpPr/>
          <p:nvPr/>
        </p:nvSpPr>
        <p:spPr>
          <a:xfrm>
            <a:off x="1152144" y="425196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 endpoint_groups to your group name and script.name to the KOI script exactly as it appears in Action Center.</a:t>
            </a:r>
            <a:endParaRPr lang="en-US" sz="1150" dirty="0"/>
          </a:p>
        </p:txBody>
      </p:sp>
      <p:sp>
        <p:nvSpPr>
          <p:cNvPr id="22" name="Text 20"/>
          <p:cNvSpPr/>
          <p:nvPr/>
        </p:nvSpPr>
        <p:spPr>
          <a:xfrm>
            <a:off x="859536" y="47685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3" name="Text 21"/>
          <p:cNvSpPr/>
          <p:nvPr/>
        </p:nvSpPr>
        <p:spPr>
          <a:xfrm>
            <a:off x="1152144" y="4768596"/>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Add one entry per operating system you deploy to — each entry pairs one script with one OS.</a:t>
            </a:r>
            <a:endParaRPr lang="en-US" sz="1150" dirty="0"/>
          </a:p>
        </p:txBody>
      </p:sp>
      <p:sp>
        <p:nvSpPr>
          <p:cNvPr id="24" name="Text 22"/>
          <p:cNvSpPr/>
          <p:nvPr/>
        </p:nvSpPr>
        <p:spPr>
          <a:xfrm>
            <a:off x="859536" y="528523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5" name="Text 23"/>
          <p:cNvSpPr/>
          <p:nvPr/>
        </p:nvSpPr>
        <p:spPr>
          <a:xfrm>
            <a:off x="1152144" y="5285232"/>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tracker_list and rescan_interval_hours already carry working defaults — leave them unless you want a different rescan window.</a:t>
            </a:r>
            <a:endParaRPr lang="en-US" sz="1150" dirty="0"/>
          </a:p>
        </p:txBody>
      </p:sp>
      <p:sp>
        <p:nvSpPr>
          <p:cNvPr id="26" name="Text 24"/>
          <p:cNvSpPr/>
          <p:nvPr/>
        </p:nvSpPr>
        <p:spPr>
          <a:xfrm>
            <a:off x="859536" y="580186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7" name="Text 25"/>
          <p:cNvSpPr/>
          <p:nvPr/>
        </p:nvSpPr>
        <p:spPr>
          <a:xfrm>
            <a:off x="1152144" y="580186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Ext Script Runner - Refresh Job.</a:t>
            </a:r>
            <a:endParaRPr lang="en-US" sz="1150" dirty="0"/>
          </a:p>
        </p:txBody>
      </p:sp>
      <p:sp>
        <p:nvSpPr>
          <p:cNvPr id="28" name="Text 26"/>
          <p:cNvSpPr/>
          <p:nvPr/>
        </p:nvSpPr>
        <p:spPr>
          <a:xfrm>
            <a:off x="859536" y="63185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29" name="Text 27"/>
          <p:cNvSpPr/>
          <p:nvPr/>
        </p:nvSpPr>
        <p:spPr>
          <a:xfrm>
            <a:off x="1152144" y="63185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30" name="Shape 28"/>
          <p:cNvSpPr/>
          <p:nvPr/>
        </p:nvSpPr>
        <p:spPr>
          <a:xfrm>
            <a:off x="7315200" y="2651760"/>
            <a:ext cx="4297680" cy="3200400"/>
          </a:xfrm>
          <a:prstGeom prst="roundRect">
            <a:avLst>
              <a:gd name="adj" fmla="val 1429"/>
            </a:avLst>
          </a:prstGeom>
          <a:solidFill>
            <a:srgbClr val="1C2026"/>
          </a:solidFill>
          <a:ln w="12700">
            <a:solidFill>
              <a:srgbClr val="1C2026"/>
            </a:solidFill>
            <a:prstDash val="solid"/>
          </a:ln>
        </p:spPr>
      </p:sp>
      <p:sp>
        <p:nvSpPr>
          <p:cNvPr id="31" name="Text 29"/>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2" name="Text 30"/>
          <p:cNvSpPr/>
          <p:nvPr/>
        </p:nvSpPr>
        <p:spPr>
          <a:xfrm>
            <a:off x="7626096" y="32186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3" name="Text 31"/>
          <p:cNvSpPr/>
          <p:nvPr/>
        </p:nvSpPr>
        <p:spPr>
          <a:xfrm>
            <a:off x="7918704" y="32186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tracker List appears under Lists, named as in your entry.</a:t>
            </a:r>
            <a:endParaRPr lang="en-US" sz="1150" dirty="0"/>
          </a:p>
        </p:txBody>
      </p:sp>
      <p:sp>
        <p:nvSpPr>
          <p:cNvPr id="34" name="Text 32"/>
          <p:cNvSpPr/>
          <p:nvPr/>
        </p:nvSpPr>
        <p:spPr>
          <a:xfrm>
            <a:off x="7626096" y="37353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5" name="Text 33"/>
          <p:cNvSpPr/>
          <p:nvPr/>
        </p:nvSpPr>
        <p:spPr>
          <a:xfrm>
            <a:off x="7918704" y="37353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 fills with one row per endpoint: an id and a last-scan value.</a:t>
            </a:r>
            <a:endParaRPr lang="en-US" sz="1150" dirty="0"/>
          </a:p>
        </p:txBody>
      </p:sp>
      <p:sp>
        <p:nvSpPr>
          <p:cNvPr id="36" name="Text 34"/>
          <p:cNvSpPr/>
          <p:nvPr/>
        </p:nvSpPr>
        <p:spPr>
          <a:xfrm>
            <a:off x="7626096" y="42519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7" name="Text 35"/>
          <p:cNvSpPr/>
          <p:nvPr/>
        </p:nvSpPr>
        <p:spPr>
          <a:xfrm>
            <a:off x="7918704" y="425196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Re-running adds new endpoints without disturbing existing rows.</a:t>
            </a:r>
            <a:endParaRPr lang="en-US" sz="1150" dirty="0"/>
          </a:p>
        </p:txBody>
      </p:sp>
      <p:sp>
        <p:nvSpPr>
          <p:cNvPr id="38" name="Shape 36"/>
          <p:cNvSpPr/>
          <p:nvPr/>
        </p:nvSpPr>
        <p:spPr>
          <a:xfrm>
            <a:off x="548640" y="5998464"/>
            <a:ext cx="11064240" cy="658368"/>
          </a:xfrm>
          <a:prstGeom prst="roundRect">
            <a:avLst>
              <a:gd name="adj" fmla="val 6944"/>
            </a:avLst>
          </a:prstGeom>
          <a:solidFill>
            <a:srgbClr val="1C2026"/>
          </a:solidFill>
          <a:ln w="12700">
            <a:solidFill>
              <a:srgbClr val="1C2026"/>
            </a:solidFill>
            <a:prstDash val="solid"/>
          </a:ln>
        </p:spPr>
      </p:sp>
      <p:sp>
        <p:nvSpPr>
          <p:cNvPr id="39" name="Shape 37"/>
          <p:cNvSpPr/>
          <p:nvPr/>
        </p:nvSpPr>
        <p:spPr>
          <a:xfrm>
            <a:off x="786384" y="6181344"/>
            <a:ext cx="292608" cy="292608"/>
          </a:xfrm>
          <a:prstGeom prst="roundRect">
            <a:avLst>
              <a:gd name="adj" fmla="val 28125"/>
            </a:avLst>
          </a:prstGeom>
          <a:solidFill>
            <a:srgbClr val="F5A524"/>
          </a:solidFill>
          <a:ln w="12700">
            <a:solidFill>
              <a:srgbClr val="F5A524"/>
            </a:solidFill>
            <a:prstDash val="solid"/>
          </a:ln>
        </p:spPr>
      </p:sp>
      <p:sp>
        <p:nvSpPr>
          <p:cNvPr id="40" name="Text 38"/>
          <p:cNvSpPr/>
          <p:nvPr/>
        </p:nvSpPr>
        <p:spPr>
          <a:xfrm>
            <a:off x="786384" y="61813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1" name="Text 39"/>
          <p:cNvSpPr/>
          <p:nvPr/>
        </p:nvSpPr>
        <p:spPr>
          <a:xfrm>
            <a:off x="1243584" y="610819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Without a Core REST API instance this test cannot pass — the refresh reads endpoint groups through it, and the tracker simply stays empty.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scan due endpoints</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8 passing — the tracker List has rows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Connected agents in the group, matching the entry's endpoint_os</a:t>
            </a:r>
            <a:endParaRPr lang="en-US" sz="1050" dirty="0"/>
          </a:p>
        </p:txBody>
      </p:sp>
      <p:sp>
        <p:nvSpPr>
          <p:cNvPr id="10" name="Shape 8"/>
          <p:cNvSpPr/>
          <p:nvPr/>
        </p:nvSpPr>
        <p:spPr>
          <a:xfrm>
            <a:off x="548640" y="2221992"/>
            <a:ext cx="6400800" cy="2852928"/>
          </a:xfrm>
          <a:prstGeom prst="roundRect">
            <a:avLst>
              <a:gd name="adj" fmla="val 1603"/>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Ext Script Runner - Scan Job.</a:t>
            </a:r>
            <a:endParaRPr lang="en-US" sz="1150" dirty="0"/>
          </a:p>
        </p:txBody>
      </p:sp>
      <p:sp>
        <p:nvSpPr>
          <p:cNvPr id="14" name="Text 12"/>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16" name="Text 14"/>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check Action Center.</a:t>
            </a:r>
            <a:endParaRPr lang="en-US" sz="1150" dirty="0"/>
          </a:p>
        </p:txBody>
      </p:sp>
      <p:sp>
        <p:nvSpPr>
          <p:cNvPr id="18" name="Text 16"/>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a second time immediately.</a:t>
            </a:r>
            <a:endParaRPr lang="en-US" sz="1150" dirty="0"/>
          </a:p>
        </p:txBody>
      </p:sp>
      <p:sp>
        <p:nvSpPr>
          <p:cNvPr id="20" name="Shape 18"/>
          <p:cNvSpPr/>
          <p:nvPr/>
        </p:nvSpPr>
        <p:spPr>
          <a:xfrm>
            <a:off x="7315200" y="2221992"/>
            <a:ext cx="4297680" cy="2852928"/>
          </a:xfrm>
          <a:prstGeom prst="roundRect">
            <a:avLst>
              <a:gd name="adj" fmla="val 1603"/>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script is dispatched to due, connected endpoints.</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Those endpoints get a last-scan timestamp in the tracker.</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Offline and wrong-OS endpoints stay due and retry later.</a:t>
            </a:r>
            <a:endParaRPr lang="en-US" sz="1150" dirty="0"/>
          </a:p>
        </p:txBody>
      </p:sp>
      <p:sp>
        <p:nvSpPr>
          <p:cNvPr id="28" name="Text 26"/>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second run does nothing — all inside the rescan interval.</a:t>
            </a:r>
            <a:endParaRPr lang="en-US" sz="1150" dirty="0"/>
          </a:p>
        </p:txBody>
      </p:sp>
      <p:sp>
        <p:nvSpPr>
          <p:cNvPr id="30" name="Shape 28"/>
          <p:cNvSpPr/>
          <p:nvPr/>
        </p:nvSpPr>
        <p:spPr>
          <a:xfrm>
            <a:off x="548640" y="5221224"/>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404104"/>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404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33095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SKIPPED means nothing is due right now and sends no email, by design. STILL RUNNING means the script was dispatched and Action Center is finishing on its own. Neither is a failure.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fields and layout</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4 passing — triage has run on an alert</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incident type and layout installed with this pack</a:t>
            </a:r>
            <a:endParaRPr lang="en-US" sz="1050" dirty="0"/>
          </a:p>
        </p:txBody>
      </p:sp>
      <p:sp>
        <p:nvSpPr>
          <p:cNvPr id="10" name="Shape 8"/>
          <p:cNvSpPr/>
          <p:nvPr/>
        </p:nvSpPr>
        <p:spPr>
          <a:xfrm>
            <a:off x="548640" y="2221992"/>
            <a:ext cx="6400800" cy="2336292"/>
          </a:xfrm>
          <a:prstGeom prst="roundRect">
            <a:avLst>
              <a:gd name="adj" fmla="val 1957"/>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an alert that triage has processed.</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Check its type is KOI Supply Chain Alert.</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KOI Alert tab.</a:t>
            </a:r>
            <a:endParaRPr lang="en-US" sz="1150" dirty="0"/>
          </a:p>
        </p:txBody>
      </p:sp>
      <p:sp>
        <p:nvSpPr>
          <p:cNvPr id="18" name="Shape 16"/>
          <p:cNvSpPr/>
          <p:nvPr/>
        </p:nvSpPr>
        <p:spPr>
          <a:xfrm>
            <a:off x="7315200" y="2221992"/>
            <a:ext cx="4297680" cy="2336292"/>
          </a:xfrm>
          <a:prstGeom prst="roundRect">
            <a:avLst>
              <a:gd name="adj" fmla="val 1957"/>
            </a:avLst>
          </a:prstGeom>
          <a:solidFill>
            <a:srgbClr val="1C2026"/>
          </a:solidFill>
          <a:ln w="12700">
            <a:solidFill>
              <a:srgbClr val="1C2026"/>
            </a:solidFill>
            <a:prstDash val="solid"/>
          </a:ln>
        </p:spPr>
      </p:sp>
      <p:sp>
        <p:nvSpPr>
          <p:cNvPr id="19" name="Text 17"/>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0" name="Text 18"/>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19 KOI fields are populated on the alert itself.</a:t>
            </a:r>
            <a:endParaRPr lang="en-US" sz="1150" dirty="0"/>
          </a:p>
        </p:txBody>
      </p:sp>
      <p:sp>
        <p:nvSpPr>
          <p:cNvPr id="22" name="Text 20"/>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They are grouped: item, risk and verdict, affected host, governance, summary.</a:t>
            </a:r>
            <a:endParaRPr lang="en-US" sz="1150" dirty="0"/>
          </a:p>
        </p:txBody>
      </p:sp>
      <p:sp>
        <p:nvSpPr>
          <p:cNvPr id="24" name="Text 22"/>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analyst sees the picture without opening the War Room.</a:t>
            </a:r>
            <a:endParaRPr lang="en-US" sz="1150" dirty="0"/>
          </a:p>
        </p:txBody>
      </p:sp>
      <p:sp>
        <p:nvSpPr>
          <p:cNvPr id="26" name="Shape 24"/>
          <p:cNvSpPr/>
          <p:nvPr/>
        </p:nvSpPr>
        <p:spPr>
          <a:xfrm>
            <a:off x="548640" y="4704588"/>
            <a:ext cx="11064240" cy="658368"/>
          </a:xfrm>
          <a:prstGeom prst="roundRect">
            <a:avLst>
              <a:gd name="adj" fmla="val 6944"/>
            </a:avLst>
          </a:prstGeom>
          <a:solidFill>
            <a:srgbClr val="1C2026"/>
          </a:solidFill>
          <a:ln w="12700">
            <a:solidFill>
              <a:srgbClr val="1C2026"/>
            </a:solidFill>
            <a:prstDash val="solid"/>
          </a:ln>
        </p:spPr>
      </p:sp>
      <p:sp>
        <p:nvSpPr>
          <p:cNvPr id="27" name="Shape 25"/>
          <p:cNvSpPr/>
          <p:nvPr/>
        </p:nvSpPr>
        <p:spPr>
          <a:xfrm>
            <a:off x="786384" y="4887468"/>
            <a:ext cx="292608" cy="292608"/>
          </a:xfrm>
          <a:prstGeom prst="roundRect">
            <a:avLst>
              <a:gd name="adj" fmla="val 28125"/>
            </a:avLst>
          </a:prstGeom>
          <a:solidFill>
            <a:srgbClr val="F5A524"/>
          </a:solidFill>
          <a:ln w="12700">
            <a:solidFill>
              <a:srgbClr val="F5A524"/>
            </a:solidFill>
            <a:prstDash val="solid"/>
          </a:ln>
        </p:spPr>
      </p:sp>
      <p:sp>
        <p:nvSpPr>
          <p:cNvPr id="28" name="Text 26"/>
          <p:cNvSpPr/>
          <p:nvPr/>
        </p:nvSpPr>
        <p:spPr>
          <a:xfrm>
            <a:off x="786384" y="48874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43584" y="481431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is what the extension adds over the Marketplace pack alone. If fields are empty, triage has not run on that alert yet — it is triage that writes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Check the prerequisite before the product</a:t>
            </a:r>
            <a:endParaRPr lang="en-US" sz="3100" dirty="0"/>
          </a:p>
        </p:txBody>
      </p:sp>
      <p:sp>
        <p:nvSpPr>
          <p:cNvPr id="4" name="Shape 2"/>
          <p:cNvSpPr/>
          <p:nvPr/>
        </p:nvSpPr>
        <p:spPr>
          <a:xfrm>
            <a:off x="548640" y="1371600"/>
            <a:ext cx="11064240" cy="457200"/>
          </a:xfrm>
          <a:prstGeom prst="roundRect">
            <a:avLst>
              <a:gd name="adj" fmla="val 10000"/>
            </a:avLst>
          </a:prstGeom>
          <a:solidFill>
            <a:srgbClr val="15171B"/>
          </a:solidFill>
          <a:ln w="12700">
            <a:solidFill>
              <a:srgbClr val="15171B"/>
            </a:solidFill>
            <a:prstDash val="solid"/>
          </a:ln>
        </p:spPr>
      </p:sp>
      <p:sp>
        <p:nvSpPr>
          <p:cNvPr id="5" name="Text 3"/>
          <p:cNvSpPr/>
          <p:nvPr/>
        </p:nvSpPr>
        <p:spPr>
          <a:xfrm>
            <a:off x="822960" y="149961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Integration not offered</a:t>
            </a:r>
            <a:endParaRPr lang="en-US" sz="1100" dirty="0"/>
          </a:p>
        </p:txBody>
      </p:sp>
      <p:sp>
        <p:nvSpPr>
          <p:cNvPr id="6" name="Text 4"/>
          <p:cNvSpPr/>
          <p:nvPr/>
        </p:nvSpPr>
        <p:spPr>
          <a:xfrm>
            <a:off x="4023360" y="150876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Marketplace KOI pack not installed</a:t>
            </a:r>
            <a:endParaRPr lang="en-US" sz="1000" dirty="0"/>
          </a:p>
        </p:txBody>
      </p:sp>
      <p:sp>
        <p:nvSpPr>
          <p:cNvPr id="7" name="Text 5"/>
          <p:cNvSpPr/>
          <p:nvPr/>
        </p:nvSpPr>
        <p:spPr>
          <a:xfrm>
            <a:off x="7315200" y="150876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Install it first — this extension ships no integration</a:t>
            </a:r>
            <a:endParaRPr lang="en-US" sz="1000" dirty="0"/>
          </a:p>
        </p:txBody>
      </p:sp>
      <p:sp>
        <p:nvSpPr>
          <p:cNvPr id="8" name="Shape 6"/>
          <p:cNvSpPr/>
          <p:nvPr/>
        </p:nvSpPr>
        <p:spPr>
          <a:xfrm>
            <a:off x="548640" y="19293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05740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403 on KOI commands</a:t>
            </a:r>
            <a:endParaRPr lang="en-US" sz="1100" dirty="0"/>
          </a:p>
        </p:txBody>
      </p:sp>
      <p:sp>
        <p:nvSpPr>
          <p:cNvPr id="10" name="Text 8"/>
          <p:cNvSpPr/>
          <p:nvPr/>
        </p:nvSpPr>
        <p:spPr>
          <a:xfrm>
            <a:off x="4023360" y="206654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Source IP not accepted by KOI</a:t>
            </a:r>
            <a:endParaRPr lang="en-US" sz="1000" dirty="0"/>
          </a:p>
        </p:txBody>
      </p:sp>
      <p:sp>
        <p:nvSpPr>
          <p:cNvPr id="11" name="Text 9"/>
          <p:cNvSpPr/>
          <p:nvPr/>
        </p:nvSpPr>
        <p:spPr>
          <a:xfrm>
            <a:off x="7315200" y="206654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KOI accepts</a:t>
            </a:r>
            <a:endParaRPr lang="en-US" sz="1000" dirty="0"/>
          </a:p>
        </p:txBody>
      </p:sp>
      <p:sp>
        <p:nvSpPr>
          <p:cNvPr id="12" name="Shape 10"/>
          <p:cNvSpPr/>
          <p:nvPr/>
        </p:nvSpPr>
        <p:spPr>
          <a:xfrm>
            <a:off x="548640" y="2487168"/>
            <a:ext cx="11064240" cy="457200"/>
          </a:xfrm>
          <a:prstGeom prst="roundRect">
            <a:avLst>
              <a:gd name="adj" fmla="val 10000"/>
            </a:avLst>
          </a:prstGeom>
          <a:solidFill>
            <a:srgbClr val="15171B"/>
          </a:solidFill>
          <a:ln w="12700">
            <a:solidFill>
              <a:srgbClr val="15171B"/>
            </a:solidFill>
            <a:prstDash val="solid"/>
          </a:ln>
        </p:spPr>
      </p:sp>
      <p:sp>
        <p:nvSpPr>
          <p:cNvPr id="13" name="Text 11"/>
          <p:cNvSpPr/>
          <p:nvPr/>
        </p:nvSpPr>
        <p:spPr>
          <a:xfrm>
            <a:off x="822960" y="261518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Promoted fields missing</a:t>
            </a:r>
            <a:endParaRPr lang="en-US" sz="1100" dirty="0"/>
          </a:p>
        </p:txBody>
      </p:sp>
      <p:sp>
        <p:nvSpPr>
          <p:cNvPr id="14" name="Text 12"/>
          <p:cNvSpPr/>
          <p:nvPr/>
        </p:nvSpPr>
        <p:spPr>
          <a:xfrm>
            <a:off x="4023360" y="262432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This extension not installed or not active</a:t>
            </a:r>
            <a:endParaRPr lang="en-US" sz="1000" dirty="0"/>
          </a:p>
        </p:txBody>
      </p:sp>
      <p:sp>
        <p:nvSpPr>
          <p:cNvPr id="15" name="Text 13"/>
          <p:cNvSpPr/>
          <p:nvPr/>
        </p:nvSpPr>
        <p:spPr>
          <a:xfrm>
            <a:off x="7315200" y="262432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Re-check the pack installed and events arrived after it</a:t>
            </a:r>
            <a:endParaRPr lang="en-US" sz="1000" dirty="0"/>
          </a:p>
        </p:txBody>
      </p:sp>
      <p:sp>
        <p:nvSpPr>
          <p:cNvPr id="16" name="Shape 14"/>
          <p:cNvSpPr/>
          <p:nvPr/>
        </p:nvSpPr>
        <p:spPr>
          <a:xfrm>
            <a:off x="548640" y="3044952"/>
            <a:ext cx="11064240" cy="457200"/>
          </a:xfrm>
          <a:prstGeom prst="roundRect">
            <a:avLst>
              <a:gd name="adj" fmla="val 10000"/>
            </a:avLst>
          </a:prstGeom>
          <a:solidFill>
            <a:srgbClr val="15171B"/>
          </a:solidFill>
          <a:ln w="12700">
            <a:solidFill>
              <a:srgbClr val="15171B"/>
            </a:solidFill>
            <a:prstDash val="solid"/>
          </a:ln>
        </p:spPr>
      </p:sp>
      <p:sp>
        <p:nvSpPr>
          <p:cNvPr id="17" name="Text 15"/>
          <p:cNvSpPr/>
          <p:nvPr/>
        </p:nvSpPr>
        <p:spPr>
          <a:xfrm>
            <a:off x="822960" y="3172968"/>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Everything triages Suspicious</a:t>
            </a:r>
            <a:endParaRPr lang="en-US" sz="1100" dirty="0"/>
          </a:p>
        </p:txBody>
      </p:sp>
      <p:sp>
        <p:nvSpPr>
          <p:cNvPr id="18" name="Text 16"/>
          <p:cNvSpPr/>
          <p:nvPr/>
        </p:nvSpPr>
        <p:spPr>
          <a:xfrm>
            <a:off x="4023360" y="3182112"/>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alert carried no KOI detail</a:t>
            </a:r>
            <a:endParaRPr lang="en-US" sz="1000" dirty="0"/>
          </a:p>
        </p:txBody>
      </p:sp>
      <p:sp>
        <p:nvSpPr>
          <p:cNvPr id="19" name="Text 17"/>
          <p:cNvSpPr/>
          <p:nvPr/>
        </p:nvSpPr>
        <p:spPr>
          <a:xfrm>
            <a:off x="7315200" y="3182112"/>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Check the correlation rule passes KOI fields through</a:t>
            </a:r>
            <a:endParaRPr lang="en-US" sz="1000" dirty="0"/>
          </a:p>
        </p:txBody>
      </p:sp>
      <p:sp>
        <p:nvSpPr>
          <p:cNvPr id="20" name="Shape 18"/>
          <p:cNvSpPr/>
          <p:nvPr/>
        </p:nvSpPr>
        <p:spPr>
          <a:xfrm>
            <a:off x="548640" y="3602736"/>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3730752"/>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Alert fields empty</a:t>
            </a:r>
            <a:endParaRPr lang="en-US" sz="1100" dirty="0"/>
          </a:p>
        </p:txBody>
      </p:sp>
      <p:sp>
        <p:nvSpPr>
          <p:cNvPr id="22" name="Text 20"/>
          <p:cNvSpPr/>
          <p:nvPr/>
        </p:nvSpPr>
        <p:spPr>
          <a:xfrm>
            <a:off x="4023360" y="3739896"/>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Triage has not run on that alert</a:t>
            </a:r>
            <a:endParaRPr lang="en-US" sz="1000" dirty="0"/>
          </a:p>
        </p:txBody>
      </p:sp>
      <p:sp>
        <p:nvSpPr>
          <p:cNvPr id="23" name="Text 21"/>
          <p:cNvSpPr/>
          <p:nvPr/>
        </p:nvSpPr>
        <p:spPr>
          <a:xfrm>
            <a:off x="7315200" y="3739896"/>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Triage writes them — run it first</a:t>
            </a:r>
            <a:endParaRPr lang="en-US" sz="1000" dirty="0"/>
          </a:p>
        </p:txBody>
      </p:sp>
      <p:sp>
        <p:nvSpPr>
          <p:cNvPr id="24" name="Shape 22"/>
          <p:cNvSpPr/>
          <p:nvPr/>
        </p:nvSpPr>
        <p:spPr>
          <a:xfrm>
            <a:off x="548640" y="4160520"/>
            <a:ext cx="11064240" cy="457200"/>
          </a:xfrm>
          <a:prstGeom prst="roundRect">
            <a:avLst>
              <a:gd name="adj" fmla="val 10000"/>
            </a:avLst>
          </a:prstGeom>
          <a:solidFill>
            <a:srgbClr val="15171B"/>
          </a:solidFill>
          <a:ln w="12700">
            <a:solidFill>
              <a:srgbClr val="15171B"/>
            </a:solidFill>
            <a:prstDash val="solid"/>
          </a:ln>
        </p:spPr>
      </p:sp>
      <p:sp>
        <p:nvSpPr>
          <p:cNvPr id="25" name="Text 23"/>
          <p:cNvSpPr/>
          <p:nvPr/>
        </p:nvSpPr>
        <p:spPr>
          <a:xfrm>
            <a:off x="822960" y="428853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Hunt sweep skips immediately</a:t>
            </a:r>
            <a:endParaRPr lang="en-US" sz="1100" dirty="0"/>
          </a:p>
        </p:txBody>
      </p:sp>
      <p:sp>
        <p:nvSpPr>
          <p:cNvPr id="26" name="Text 24"/>
          <p:cNvSpPr/>
          <p:nvPr/>
        </p:nvSpPr>
        <p:spPr>
          <a:xfrm>
            <a:off x="4023360" y="429768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XQL engine did not answer</a:t>
            </a:r>
            <a:endParaRPr lang="en-US" sz="1000" dirty="0"/>
          </a:p>
        </p:txBody>
      </p:sp>
      <p:sp>
        <p:nvSpPr>
          <p:cNvPr id="27" name="Text 25"/>
          <p:cNvSpPr/>
          <p:nvPr/>
        </p:nvSpPr>
        <p:spPr>
          <a:xfrm>
            <a:off x="7315200" y="429768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Re-run. XSIAM provisions the engine, so this should not persist</a:t>
            </a:r>
            <a:endParaRPr lang="en-US" sz="1000" dirty="0"/>
          </a:p>
        </p:txBody>
      </p:sp>
      <p:sp>
        <p:nvSpPr>
          <p:cNvPr id="28" name="Shape 26"/>
          <p:cNvSpPr/>
          <p:nvPr/>
        </p:nvSpPr>
        <p:spPr>
          <a:xfrm>
            <a:off x="548640" y="4718304"/>
            <a:ext cx="11064240" cy="457200"/>
          </a:xfrm>
          <a:prstGeom prst="roundRect">
            <a:avLst>
              <a:gd name="adj" fmla="val 10000"/>
            </a:avLst>
          </a:prstGeom>
          <a:solidFill>
            <a:srgbClr val="15171B"/>
          </a:solidFill>
          <a:ln w="12700">
            <a:solidFill>
              <a:srgbClr val="15171B"/>
            </a:solidFill>
            <a:prstDash val="solid"/>
          </a:ln>
        </p:spPr>
      </p:sp>
      <p:sp>
        <p:nvSpPr>
          <p:cNvPr id="29" name="Text 27"/>
          <p:cNvSpPr/>
          <p:nvPr/>
        </p:nvSpPr>
        <p:spPr>
          <a:xfrm>
            <a:off x="822960" y="484632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Tracker List stays empty</a:t>
            </a:r>
            <a:endParaRPr lang="en-US" sz="1100" dirty="0"/>
          </a:p>
        </p:txBody>
      </p:sp>
      <p:sp>
        <p:nvSpPr>
          <p:cNvPr id="30" name="Text 28"/>
          <p:cNvSpPr/>
          <p:nvPr/>
        </p:nvSpPr>
        <p:spPr>
          <a:xfrm>
            <a:off x="4023360" y="485546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No Core REST API instance</a:t>
            </a:r>
            <a:endParaRPr lang="en-US" sz="1000" dirty="0"/>
          </a:p>
        </p:txBody>
      </p:sp>
      <p:sp>
        <p:nvSpPr>
          <p:cNvPr id="31" name="Text 29"/>
          <p:cNvSpPr/>
          <p:nvPr/>
        </p:nvSpPr>
        <p:spPr>
          <a:xfrm>
            <a:off x="7315200" y="485546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Configure it — Test 8 cannot pass without it</a:t>
            </a:r>
            <a:endParaRPr lang="en-US" sz="1000" dirty="0"/>
          </a:p>
        </p:txBody>
      </p:sp>
      <p:sp>
        <p:nvSpPr>
          <p:cNvPr id="32" name="Shape 30"/>
          <p:cNvSpPr/>
          <p:nvPr/>
        </p:nvSpPr>
        <p:spPr>
          <a:xfrm>
            <a:off x="548640" y="5276088"/>
            <a:ext cx="11064240" cy="457200"/>
          </a:xfrm>
          <a:prstGeom prst="roundRect">
            <a:avLst>
              <a:gd name="adj" fmla="val 10000"/>
            </a:avLst>
          </a:prstGeom>
          <a:solidFill>
            <a:srgbClr val="15171B"/>
          </a:solidFill>
          <a:ln w="12700">
            <a:solidFill>
              <a:srgbClr val="15171B"/>
            </a:solidFill>
            <a:prstDash val="solid"/>
          </a:ln>
        </p:spPr>
      </p:sp>
      <p:sp>
        <p:nvSpPr>
          <p:cNvPr id="33" name="Text 31"/>
          <p:cNvSpPr/>
          <p:nvPr/>
        </p:nvSpPr>
        <p:spPr>
          <a:xfrm>
            <a:off x="822960" y="540410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 Job never fires</a:t>
            </a:r>
            <a:endParaRPr lang="en-US" sz="1100" dirty="0"/>
          </a:p>
        </p:txBody>
      </p:sp>
      <p:sp>
        <p:nvSpPr>
          <p:cNvPr id="34" name="Text 32"/>
          <p:cNvSpPr/>
          <p:nvPr/>
        </p:nvSpPr>
        <p:spPr>
          <a:xfrm>
            <a:off x="4023360" y="541324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It was created disabled</a:t>
            </a:r>
            <a:endParaRPr lang="en-US" sz="1000" dirty="0"/>
          </a:p>
        </p:txBody>
      </p:sp>
      <p:sp>
        <p:nvSpPr>
          <p:cNvPr id="35" name="Text 33"/>
          <p:cNvSpPr/>
          <p:nvPr/>
        </p:nvSpPr>
        <p:spPr>
          <a:xfrm>
            <a:off x="7315200" y="541324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Enable it and confirm a next-run time is shown</a:t>
            </a:r>
            <a:endParaRPr lang="en-US" sz="1000" dirty="0"/>
          </a:p>
        </p:txBody>
      </p:sp>
      <p:sp>
        <p:nvSpPr>
          <p:cNvPr id="36" name="Text 34"/>
          <p:cNvSpPr/>
          <p:nvPr/>
        </p:nvSpPr>
        <p:spPr>
          <a:xfrm>
            <a:off x="548640" y="592531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Seven of these eight are tenant setup, not the pack. Check the amber panel on the test before raising a defect.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463040"/>
            <a:ext cx="5349240" cy="603504"/>
          </a:xfrm>
          <a:prstGeom prst="roundRect">
            <a:avLst>
              <a:gd name="adj" fmla="val 7576"/>
            </a:avLst>
          </a:prstGeom>
          <a:solidFill>
            <a:srgbClr val="15171B"/>
          </a:solidFill>
          <a:ln w="12700">
            <a:solidFill>
              <a:srgbClr val="15171B"/>
            </a:solidFill>
            <a:prstDash val="solid"/>
          </a:ln>
        </p:spPr>
      </p:sp>
      <p:sp>
        <p:nvSpPr>
          <p:cNvPr id="6" name="Shape 4"/>
          <p:cNvSpPr/>
          <p:nvPr/>
        </p:nvSpPr>
        <p:spPr>
          <a:xfrm>
            <a:off x="749808" y="1609344"/>
            <a:ext cx="310896" cy="310896"/>
          </a:xfrm>
          <a:prstGeom prst="roundRect">
            <a:avLst>
              <a:gd name="adj" fmla="val 26471"/>
            </a:avLst>
          </a:prstGeom>
          <a:solidFill>
            <a:srgbClr val="3FB950"/>
          </a:solidFill>
          <a:ln w="12700">
            <a:solidFill>
              <a:srgbClr val="3FB950"/>
            </a:solidFill>
            <a:prstDash val="solid"/>
          </a:ln>
        </p:spPr>
      </p:sp>
      <p:sp>
        <p:nvSpPr>
          <p:cNvPr id="7" name="Text 5"/>
          <p:cNvSpPr/>
          <p:nvPr/>
        </p:nvSpPr>
        <p:spPr>
          <a:xfrm>
            <a:off x="749808" y="16093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25296" y="162763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Test returns Success; inventory returns rows</a:t>
            </a:r>
            <a:endParaRPr lang="en-US" sz="1050" dirty="0"/>
          </a:p>
        </p:txBody>
      </p:sp>
      <p:sp>
        <p:nvSpPr>
          <p:cNvPr id="9" name="Shape 7"/>
          <p:cNvSpPr/>
          <p:nvPr/>
        </p:nvSpPr>
        <p:spPr>
          <a:xfrm>
            <a:off x="548640" y="2194560"/>
            <a:ext cx="5349240" cy="603504"/>
          </a:xfrm>
          <a:prstGeom prst="roundRect">
            <a:avLst>
              <a:gd name="adj" fmla="val 7576"/>
            </a:avLst>
          </a:prstGeom>
          <a:solidFill>
            <a:srgbClr val="15171B"/>
          </a:solidFill>
          <a:ln w="12700">
            <a:solidFill>
              <a:srgbClr val="15171B"/>
            </a:solidFill>
            <a:prstDash val="solid"/>
          </a:ln>
        </p:spPr>
      </p:sp>
      <p:sp>
        <p:nvSpPr>
          <p:cNvPr id="10" name="Shape 8"/>
          <p:cNvSpPr/>
          <p:nvPr/>
        </p:nvSpPr>
        <p:spPr>
          <a:xfrm>
            <a:off x="749808" y="2340864"/>
            <a:ext cx="310896" cy="310896"/>
          </a:xfrm>
          <a:prstGeom prst="roundRect">
            <a:avLst>
              <a:gd name="adj" fmla="val 26471"/>
            </a:avLst>
          </a:prstGeom>
          <a:solidFill>
            <a:srgbClr val="3FB950"/>
          </a:solidFill>
          <a:ln w="12700">
            <a:solidFill>
              <a:srgbClr val="3FB950"/>
            </a:solidFill>
            <a:prstDash val="solid"/>
          </a:ln>
        </p:spPr>
      </p:sp>
      <p:sp>
        <p:nvSpPr>
          <p:cNvPr id="11" name="Text 9"/>
          <p:cNvSpPr/>
          <p:nvPr/>
        </p:nvSpPr>
        <p:spPr>
          <a:xfrm>
            <a:off x="749808" y="2340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25296" y="235915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koi_koi_raw grows; promoted fields are populated</a:t>
            </a:r>
            <a:endParaRPr lang="en-US" sz="1050" dirty="0"/>
          </a:p>
        </p:txBody>
      </p:sp>
      <p:sp>
        <p:nvSpPr>
          <p:cNvPr id="13" name="Shape 11"/>
          <p:cNvSpPr/>
          <p:nvPr/>
        </p:nvSpPr>
        <p:spPr>
          <a:xfrm>
            <a:off x="548640" y="2926080"/>
            <a:ext cx="5349240" cy="603504"/>
          </a:xfrm>
          <a:prstGeom prst="roundRect">
            <a:avLst>
              <a:gd name="adj" fmla="val 7576"/>
            </a:avLst>
          </a:prstGeom>
          <a:solidFill>
            <a:srgbClr val="15171B"/>
          </a:solidFill>
          <a:ln w="12700">
            <a:solidFill>
              <a:srgbClr val="15171B"/>
            </a:solidFill>
            <a:prstDash val="solid"/>
          </a:ln>
        </p:spPr>
      </p:sp>
      <p:sp>
        <p:nvSpPr>
          <p:cNvPr id="14" name="Shape 12"/>
          <p:cNvSpPr/>
          <p:nvPr/>
        </p:nvSpPr>
        <p:spPr>
          <a:xfrm>
            <a:off x="749808" y="3072384"/>
            <a:ext cx="310896" cy="310896"/>
          </a:xfrm>
          <a:prstGeom prst="roundRect">
            <a:avLst>
              <a:gd name="adj" fmla="val 26471"/>
            </a:avLst>
          </a:prstGeom>
          <a:solidFill>
            <a:srgbClr val="3FB950"/>
          </a:solidFill>
          <a:ln w="12700">
            <a:solidFill>
              <a:srgbClr val="3FB950"/>
            </a:solidFill>
            <a:prstDash val="solid"/>
          </a:ln>
        </p:spPr>
      </p:sp>
      <p:sp>
        <p:nvSpPr>
          <p:cNvPr id="15" name="Text 13"/>
          <p:cNvSpPr/>
          <p:nvPr/>
        </p:nvSpPr>
        <p:spPr>
          <a:xfrm>
            <a:off x="749808" y="30723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25296" y="309067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Distinct alerts far below raw rows; dashboard matches</a:t>
            </a:r>
            <a:endParaRPr lang="en-US" sz="1050" dirty="0"/>
          </a:p>
        </p:txBody>
      </p:sp>
      <p:sp>
        <p:nvSpPr>
          <p:cNvPr id="17" name="Shape 15"/>
          <p:cNvSpPr/>
          <p:nvPr/>
        </p:nvSpPr>
        <p:spPr>
          <a:xfrm>
            <a:off x="548640" y="3657600"/>
            <a:ext cx="5349240" cy="603504"/>
          </a:xfrm>
          <a:prstGeom prst="roundRect">
            <a:avLst>
              <a:gd name="adj" fmla="val 7576"/>
            </a:avLst>
          </a:prstGeom>
          <a:solidFill>
            <a:srgbClr val="15171B"/>
          </a:solidFill>
          <a:ln w="12700">
            <a:solidFill>
              <a:srgbClr val="15171B"/>
            </a:solidFill>
            <a:prstDash val="solid"/>
          </a:ln>
        </p:spPr>
      </p:sp>
      <p:sp>
        <p:nvSpPr>
          <p:cNvPr id="18" name="Shape 16"/>
          <p:cNvSpPr/>
          <p:nvPr/>
        </p:nvSpPr>
        <p:spPr>
          <a:xfrm>
            <a:off x="749808" y="3803904"/>
            <a:ext cx="310896" cy="310896"/>
          </a:xfrm>
          <a:prstGeom prst="roundRect">
            <a:avLst>
              <a:gd name="adj" fmla="val 26471"/>
            </a:avLst>
          </a:prstGeom>
          <a:solidFill>
            <a:srgbClr val="3FB950"/>
          </a:solidFill>
          <a:ln w="12700">
            <a:solidFill>
              <a:srgbClr val="3FB950"/>
            </a:solidFill>
            <a:prstDash val="solid"/>
          </a:ln>
        </p:spPr>
      </p:sp>
      <p:sp>
        <p:nvSpPr>
          <p:cNvPr id="19" name="Text 17"/>
          <p:cNvSpPr/>
          <p:nvPr/>
        </p:nvSpPr>
        <p:spPr>
          <a:xfrm>
            <a:off x="749808" y="38039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25296" y="382219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 verdict is reached; low risk auto-closes</a:t>
            </a:r>
            <a:endParaRPr lang="en-US" sz="1050" dirty="0"/>
          </a:p>
        </p:txBody>
      </p:sp>
      <p:sp>
        <p:nvSpPr>
          <p:cNvPr id="21" name="Shape 19"/>
          <p:cNvSpPr/>
          <p:nvPr/>
        </p:nvSpPr>
        <p:spPr>
          <a:xfrm>
            <a:off x="548640" y="4389120"/>
            <a:ext cx="5349240" cy="603504"/>
          </a:xfrm>
          <a:prstGeom prst="roundRect">
            <a:avLst>
              <a:gd name="adj" fmla="val 7576"/>
            </a:avLst>
          </a:prstGeom>
          <a:solidFill>
            <a:srgbClr val="15171B"/>
          </a:solidFill>
          <a:ln w="12700">
            <a:solidFill>
              <a:srgbClr val="15171B"/>
            </a:solidFill>
            <a:prstDash val="solid"/>
          </a:ln>
        </p:spPr>
      </p:sp>
      <p:sp>
        <p:nvSpPr>
          <p:cNvPr id="22" name="Shape 20"/>
          <p:cNvSpPr/>
          <p:nvPr/>
        </p:nvSpPr>
        <p:spPr>
          <a:xfrm>
            <a:off x="749808" y="4535424"/>
            <a:ext cx="310896" cy="310896"/>
          </a:xfrm>
          <a:prstGeom prst="roundRect">
            <a:avLst>
              <a:gd name="adj" fmla="val 26471"/>
            </a:avLst>
          </a:prstGeom>
          <a:solidFill>
            <a:srgbClr val="3FB950"/>
          </a:solidFill>
          <a:ln w="12700">
            <a:solidFill>
              <a:srgbClr val="3FB950"/>
            </a:solidFill>
            <a:prstDash val="solid"/>
          </a:ln>
        </p:spPr>
      </p:sp>
      <p:sp>
        <p:nvSpPr>
          <p:cNvPr id="23" name="Text 21"/>
          <p:cNvSpPr/>
          <p:nvPr/>
        </p:nvSpPr>
        <p:spPr>
          <a:xfrm>
            <a:off x="749808" y="45354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25296" y="455371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Investigation shows exposure and both governance counts</a:t>
            </a:r>
            <a:endParaRPr lang="en-US" sz="1050" dirty="0"/>
          </a:p>
        </p:txBody>
      </p:sp>
      <p:sp>
        <p:nvSpPr>
          <p:cNvPr id="25" name="Shape 23"/>
          <p:cNvSpPr/>
          <p:nvPr/>
        </p:nvSpPr>
        <p:spPr>
          <a:xfrm>
            <a:off x="6263640" y="1463040"/>
            <a:ext cx="5349240" cy="603504"/>
          </a:xfrm>
          <a:prstGeom prst="roundRect">
            <a:avLst>
              <a:gd name="adj" fmla="val 7576"/>
            </a:avLst>
          </a:prstGeom>
          <a:solidFill>
            <a:srgbClr val="15171B"/>
          </a:solidFill>
          <a:ln w="12700">
            <a:solidFill>
              <a:srgbClr val="15171B"/>
            </a:solidFill>
            <a:prstDash val="solid"/>
          </a:ln>
        </p:spPr>
      </p:sp>
      <p:sp>
        <p:nvSpPr>
          <p:cNvPr id="26" name="Shape 24"/>
          <p:cNvSpPr/>
          <p:nvPr/>
        </p:nvSpPr>
        <p:spPr>
          <a:xfrm>
            <a:off x="6464808" y="1609344"/>
            <a:ext cx="310896" cy="310896"/>
          </a:xfrm>
          <a:prstGeom prst="roundRect">
            <a:avLst>
              <a:gd name="adj" fmla="val 26471"/>
            </a:avLst>
          </a:prstGeom>
          <a:solidFill>
            <a:srgbClr val="3FB950"/>
          </a:solidFill>
          <a:ln w="12700">
            <a:solidFill>
              <a:srgbClr val="3FB950"/>
            </a:solidFill>
            <a:prstDash val="solid"/>
          </a:ln>
        </p:spPr>
      </p:sp>
      <p:sp>
        <p:nvSpPr>
          <p:cNvPr id="27" name="Text 25"/>
          <p:cNvSpPr/>
          <p:nvPr/>
        </p:nvSpPr>
        <p:spPr>
          <a:xfrm>
            <a:off x="6464808" y="16093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6940296" y="162763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Response parks on approval; blocklist untouched</a:t>
            </a:r>
            <a:endParaRPr lang="en-US" sz="1050" dirty="0"/>
          </a:p>
        </p:txBody>
      </p:sp>
      <p:sp>
        <p:nvSpPr>
          <p:cNvPr id="29" name="Shape 27"/>
          <p:cNvSpPr/>
          <p:nvPr/>
        </p:nvSpPr>
        <p:spPr>
          <a:xfrm>
            <a:off x="6263640" y="2194560"/>
            <a:ext cx="5349240" cy="603504"/>
          </a:xfrm>
          <a:prstGeom prst="roundRect">
            <a:avLst>
              <a:gd name="adj" fmla="val 7576"/>
            </a:avLst>
          </a:prstGeom>
          <a:solidFill>
            <a:srgbClr val="15171B"/>
          </a:solidFill>
          <a:ln w="12700">
            <a:solidFill>
              <a:srgbClr val="15171B"/>
            </a:solidFill>
            <a:prstDash val="solid"/>
          </a:ln>
        </p:spPr>
      </p:sp>
      <p:sp>
        <p:nvSpPr>
          <p:cNvPr id="30" name="Shape 28"/>
          <p:cNvSpPr/>
          <p:nvPr/>
        </p:nvSpPr>
        <p:spPr>
          <a:xfrm>
            <a:off x="6464808" y="2340864"/>
            <a:ext cx="310896" cy="310896"/>
          </a:xfrm>
          <a:prstGeom prst="roundRect">
            <a:avLst>
              <a:gd name="adj" fmla="val 26471"/>
            </a:avLst>
          </a:prstGeom>
          <a:solidFill>
            <a:srgbClr val="3FB950"/>
          </a:solidFill>
          <a:ln w="12700">
            <a:solidFill>
              <a:srgbClr val="3FB950"/>
            </a:solidFill>
            <a:prstDash val="solid"/>
          </a:ln>
        </p:spPr>
      </p:sp>
      <p:sp>
        <p:nvSpPr>
          <p:cNvPr id="31" name="Text 29"/>
          <p:cNvSpPr/>
          <p:nvPr/>
        </p:nvSpPr>
        <p:spPr>
          <a:xfrm>
            <a:off x="6464808" y="2340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40296" y="235915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MCP audit returns servers; hunt sweep completes</a:t>
            </a:r>
            <a:endParaRPr lang="en-US" sz="1050" dirty="0"/>
          </a:p>
        </p:txBody>
      </p:sp>
      <p:sp>
        <p:nvSpPr>
          <p:cNvPr id="33" name="Shape 31"/>
          <p:cNvSpPr/>
          <p:nvPr/>
        </p:nvSpPr>
        <p:spPr>
          <a:xfrm>
            <a:off x="6263640" y="2926080"/>
            <a:ext cx="5349240" cy="603504"/>
          </a:xfrm>
          <a:prstGeom prst="roundRect">
            <a:avLst>
              <a:gd name="adj" fmla="val 7576"/>
            </a:avLst>
          </a:prstGeom>
          <a:solidFill>
            <a:srgbClr val="15171B"/>
          </a:solidFill>
          <a:ln w="12700">
            <a:solidFill>
              <a:srgbClr val="15171B"/>
            </a:solidFill>
            <a:prstDash val="solid"/>
          </a:ln>
        </p:spPr>
      </p:sp>
      <p:sp>
        <p:nvSpPr>
          <p:cNvPr id="34" name="Shape 32"/>
          <p:cNvSpPr/>
          <p:nvPr/>
        </p:nvSpPr>
        <p:spPr>
          <a:xfrm>
            <a:off x="6464808" y="3072384"/>
            <a:ext cx="310896" cy="310896"/>
          </a:xfrm>
          <a:prstGeom prst="roundRect">
            <a:avLst>
              <a:gd name="adj" fmla="val 26471"/>
            </a:avLst>
          </a:prstGeom>
          <a:solidFill>
            <a:srgbClr val="3FB950"/>
          </a:solidFill>
          <a:ln w="12700">
            <a:solidFill>
              <a:srgbClr val="3FB950"/>
            </a:solidFill>
            <a:prstDash val="solid"/>
          </a:ln>
        </p:spPr>
      </p:sp>
      <p:sp>
        <p:nvSpPr>
          <p:cNvPr id="35" name="Text 33"/>
          <p:cNvSpPr/>
          <p:nvPr/>
        </p:nvSpPr>
        <p:spPr>
          <a:xfrm>
            <a:off x="6464808" y="30723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40296" y="309067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Tracker List is created and fills with endpoints</a:t>
            </a:r>
            <a:endParaRPr lang="en-US" sz="1050" dirty="0"/>
          </a:p>
        </p:txBody>
      </p:sp>
      <p:sp>
        <p:nvSpPr>
          <p:cNvPr id="37" name="Shape 35"/>
          <p:cNvSpPr/>
          <p:nvPr/>
        </p:nvSpPr>
        <p:spPr>
          <a:xfrm>
            <a:off x="6263640" y="3657600"/>
            <a:ext cx="5349240" cy="603504"/>
          </a:xfrm>
          <a:prstGeom prst="roundRect">
            <a:avLst>
              <a:gd name="adj" fmla="val 7576"/>
            </a:avLst>
          </a:prstGeom>
          <a:solidFill>
            <a:srgbClr val="15171B"/>
          </a:solidFill>
          <a:ln w="12700">
            <a:solidFill>
              <a:srgbClr val="15171B"/>
            </a:solidFill>
            <a:prstDash val="solid"/>
          </a:ln>
        </p:spPr>
      </p:sp>
      <p:sp>
        <p:nvSpPr>
          <p:cNvPr id="38" name="Shape 36"/>
          <p:cNvSpPr/>
          <p:nvPr/>
        </p:nvSpPr>
        <p:spPr>
          <a:xfrm>
            <a:off x="6464808" y="3803904"/>
            <a:ext cx="310896" cy="310896"/>
          </a:xfrm>
          <a:prstGeom prst="roundRect">
            <a:avLst>
              <a:gd name="adj" fmla="val 26471"/>
            </a:avLst>
          </a:prstGeom>
          <a:solidFill>
            <a:srgbClr val="3FB950"/>
          </a:solidFill>
          <a:ln w="12700">
            <a:solidFill>
              <a:srgbClr val="3FB950"/>
            </a:solidFill>
            <a:prstDash val="solid"/>
          </a:ln>
        </p:spPr>
      </p:sp>
      <p:sp>
        <p:nvSpPr>
          <p:cNvPr id="39" name="Text 37"/>
          <p:cNvSpPr/>
          <p:nvPr/>
        </p:nvSpPr>
        <p:spPr>
          <a:xfrm>
            <a:off x="6464808" y="38039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40296" y="382219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Scan marks only due, connected endpoints</a:t>
            </a:r>
            <a:endParaRPr lang="en-US" sz="1050" dirty="0"/>
          </a:p>
        </p:txBody>
      </p:sp>
      <p:sp>
        <p:nvSpPr>
          <p:cNvPr id="41" name="Shape 39"/>
          <p:cNvSpPr/>
          <p:nvPr/>
        </p:nvSpPr>
        <p:spPr>
          <a:xfrm>
            <a:off x="6263640" y="4389120"/>
            <a:ext cx="5349240" cy="603504"/>
          </a:xfrm>
          <a:prstGeom prst="roundRect">
            <a:avLst>
              <a:gd name="adj" fmla="val 7576"/>
            </a:avLst>
          </a:prstGeom>
          <a:solidFill>
            <a:srgbClr val="15171B"/>
          </a:solidFill>
          <a:ln w="12700">
            <a:solidFill>
              <a:srgbClr val="15171B"/>
            </a:solidFill>
            <a:prstDash val="solid"/>
          </a:ln>
        </p:spPr>
      </p:sp>
      <p:sp>
        <p:nvSpPr>
          <p:cNvPr id="42" name="Shape 40"/>
          <p:cNvSpPr/>
          <p:nvPr/>
        </p:nvSpPr>
        <p:spPr>
          <a:xfrm>
            <a:off x="6464808" y="4535424"/>
            <a:ext cx="310896" cy="310896"/>
          </a:xfrm>
          <a:prstGeom prst="roundRect">
            <a:avLst>
              <a:gd name="adj" fmla="val 26471"/>
            </a:avLst>
          </a:prstGeom>
          <a:solidFill>
            <a:srgbClr val="3FB950"/>
          </a:solidFill>
          <a:ln w="12700">
            <a:solidFill>
              <a:srgbClr val="3FB950"/>
            </a:solidFill>
            <a:prstDash val="solid"/>
          </a:ln>
        </p:spPr>
      </p:sp>
      <p:sp>
        <p:nvSpPr>
          <p:cNvPr id="43" name="Text 41"/>
          <p:cNvSpPr/>
          <p:nvPr/>
        </p:nvSpPr>
        <p:spPr>
          <a:xfrm>
            <a:off x="6464808" y="45354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p:nvPr/>
        </p:nvSpPr>
        <p:spPr>
          <a:xfrm>
            <a:off x="6940296" y="455371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19 KOI fields populated on the alert layout</a:t>
            </a:r>
            <a:endParaRPr lang="en-US" sz="1050" dirty="0"/>
          </a:p>
        </p:txBody>
      </p:sp>
      <p:sp>
        <p:nvSpPr>
          <p:cNvPr id="45" name="Shape 43"/>
          <p:cNvSpPr/>
          <p:nvPr/>
        </p:nvSpPr>
        <p:spPr>
          <a:xfrm>
            <a:off x="548640" y="5394960"/>
            <a:ext cx="11064240" cy="731520"/>
          </a:xfrm>
          <a:prstGeom prst="roundRect">
            <a:avLst>
              <a:gd name="adj" fmla="val 6250"/>
            </a:avLst>
          </a:prstGeom>
          <a:solidFill>
            <a:srgbClr val="1C2026"/>
          </a:solidFill>
          <a:ln w="12700">
            <a:solidFill>
              <a:srgbClr val="1C2026"/>
            </a:solidFill>
            <a:prstDash val="solid"/>
          </a:ln>
        </p:spPr>
      </p:sp>
      <p:sp>
        <p:nvSpPr>
          <p:cNvPr id="46" name="Text 44"/>
          <p:cNvSpPr/>
          <p:nvPr/>
        </p:nvSpPr>
        <p:spPr>
          <a:xfrm>
            <a:off x="859536" y="5596128"/>
            <a:ext cx="7315200" cy="292608"/>
          </a:xfrm>
          <a:prstGeom prst="rect">
            <a:avLst/>
          </a:prstGeom>
          <a:noFill/>
          <a:ln/>
        </p:spPr>
        <p:txBody>
          <a:bodyPr wrap="square" lIns="0" tIns="0" rIns="0" bIns="0" rtlCol="0" anchor="t"/>
          <a:lstStyle/>
          <a:p>
            <a:pPr indent="0" marL="0">
              <a:buNone/>
            </a:pPr>
            <a:r>
              <a:rPr lang="en-US" sz="1300" b="1" i="1" dirty="0">
                <a:solidFill>
                  <a:srgbClr val="3FB950"/>
                </a:solidFill>
                <a:latin typeface="Calibri" pitchFamily="34" charset="0"/>
                <a:ea typeface="Calibri" pitchFamily="34" charset="-122"/>
                <a:cs typeface="Calibri" pitchFamily="34" charset="-120"/>
              </a:rPr>
              <a:t>All ten green — the extension is ready for production use.</a:t>
            </a:r>
            <a:endParaRPr lang="en-US" sz="1300" dirty="0"/>
          </a:p>
        </p:txBody>
      </p:sp>
      <p:sp>
        <p:nvSpPr>
          <p:cNvPr id="47" name="Text 45"/>
          <p:cNvSpPr/>
          <p:nvPr/>
        </p:nvSpPr>
        <p:spPr>
          <a:xfrm>
            <a:off x="548640" y="6263640"/>
            <a:ext cx="1106424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Considering the custom KOI integration instead? See the deployment comparison for what differs.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Extension — Test Guide</dc:title>
  <dc:subject>PptxGenJS Presentation</dc:subject>
  <dc:creator>Cortex XSIAM</dc:creator>
  <cp:lastModifiedBy>Cortex XSIAM</cp:lastModifiedBy>
  <cp:revision>1</cp:revision>
  <dcterms:created xsi:type="dcterms:W3CDTF">2026-07-26T06:44:37Z</dcterms:created>
  <dcterms:modified xsi:type="dcterms:W3CDTF">2026-07-26T06:44:37Z</dcterms:modified>
</cp:coreProperties>
</file>